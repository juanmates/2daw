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303" r:id="rId9"/>
    <p:sldId id="304" r:id="rId10"/>
    <p:sldId id="263" r:id="rId11"/>
    <p:sldId id="274" r:id="rId12"/>
    <p:sldId id="305" r:id="rId13"/>
    <p:sldId id="306" r:id="rId14"/>
    <p:sldId id="307" r:id="rId15"/>
    <p:sldId id="308" r:id="rId16"/>
    <p:sldId id="309" r:id="rId17"/>
    <p:sldId id="310" r:id="rId18"/>
    <p:sldId id="292" r:id="rId19"/>
    <p:sldId id="311" r:id="rId20"/>
    <p:sldId id="312" r:id="rId21"/>
    <p:sldId id="313" r:id="rId22"/>
    <p:sldId id="314" r:id="rId23"/>
    <p:sldId id="315" r:id="rId24"/>
    <p:sldId id="316" r:id="rId25"/>
    <p:sldId id="317" r:id="rId26"/>
    <p:sldId id="318" r:id="rId27"/>
    <p:sldId id="319" r:id="rId28"/>
    <p:sldId id="320" r:id="rId29"/>
    <p:sldId id="321" r:id="rId30"/>
    <p:sldId id="323" r:id="rId31"/>
    <p:sldId id="324" r:id="rId32"/>
    <p:sldId id="325" r:id="rId33"/>
    <p:sldId id="322" r:id="rId34"/>
    <p:sldId id="326" r:id="rId35"/>
    <p:sldId id="327" r:id="rId36"/>
    <p:sldId id="328" r:id="rId37"/>
    <p:sldId id="329" r:id="rId38"/>
    <p:sldId id="330" r:id="rId39"/>
    <p:sldId id="331" r:id="rId40"/>
    <p:sldId id="332" r:id="rId41"/>
    <p:sldId id="333" r:id="rId42"/>
    <p:sldId id="334" r:id="rId43"/>
    <p:sldId id="335" r:id="rId44"/>
    <p:sldId id="336" r:id="rId45"/>
    <p:sldId id="337" r:id="rId46"/>
    <p:sldId id="338" r:id="rId47"/>
    <p:sldId id="339" r:id="rId48"/>
    <p:sldId id="340" r:id="rId49"/>
  </p:sldIdLst>
  <p:sldSz cx="18288000" cy="10287000"/>
  <p:notesSz cx="6858000" cy="9144000"/>
  <p:embeddedFontLst>
    <p:embeddedFont>
      <p:font typeface="Borel" panose="020B0604020202020204" charset="0"/>
      <p:regular r:id="rId50"/>
    </p:embeddedFont>
    <p:embeddedFont>
      <p:font typeface="Helios" panose="020B0604020202020204" charset="0"/>
      <p:regular r:id="rId51"/>
    </p:embeddedFont>
    <p:embeddedFont>
      <p:font typeface="Helios Bold" panose="020B0604020202020204" charset="0"/>
      <p:regular r:id="rId52"/>
    </p:embeddedFont>
    <p:embeddedFont>
      <p:font typeface="TS Deniz Bold" panose="020B0604020202020204" charset="-78"/>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1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youtube.com/embed/10DX-oXG4SY?si=Dy3uaAnuO7tiNV5G%22%20title="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AutoShape 2"/>
          <p:cNvSpPr/>
          <p:nvPr/>
        </p:nvSpPr>
        <p:spPr>
          <a:xfrm flipV="1">
            <a:off x="1028700" y="1009650"/>
            <a:ext cx="12867103" cy="0"/>
          </a:xfrm>
          <a:prstGeom prst="line">
            <a:avLst/>
          </a:prstGeom>
          <a:ln w="85725" cap="flat">
            <a:solidFill>
              <a:srgbClr val="B8BB87"/>
            </a:solidFill>
            <a:prstDash val="solid"/>
            <a:headEnd type="none" w="sm" len="sm"/>
            <a:tailEnd type="none" w="sm" len="sm"/>
          </a:ln>
        </p:spPr>
        <p:txBody>
          <a:bodyPr/>
          <a:lstStyle/>
          <a:p>
            <a:endParaRPr lang="es-ES" dirty="0"/>
          </a:p>
        </p:txBody>
      </p:sp>
      <p:grpSp>
        <p:nvGrpSpPr>
          <p:cNvPr id="3" name="Group 3"/>
          <p:cNvGrpSpPr/>
          <p:nvPr/>
        </p:nvGrpSpPr>
        <p:grpSpPr>
          <a:xfrm rot="-5400000">
            <a:off x="-3185427" y="8404843"/>
            <a:ext cx="7715406" cy="3535431"/>
            <a:chOff x="0" y="0"/>
            <a:chExt cx="886891" cy="406400"/>
          </a:xfrm>
        </p:grpSpPr>
        <p:sp>
          <p:nvSpPr>
            <p:cNvPr id="4" name="Freeform 4"/>
            <p:cNvSpPr/>
            <p:nvPr/>
          </p:nvSpPr>
          <p:spPr>
            <a:xfrm>
              <a:off x="0" y="0"/>
              <a:ext cx="886891" cy="406400"/>
            </a:xfrm>
            <a:custGeom>
              <a:avLst/>
              <a:gdLst/>
              <a:ahLst/>
              <a:cxnLst/>
              <a:rect l="l" t="t" r="r" b="b"/>
              <a:pathLst>
                <a:path w="886891" h="406400">
                  <a:moveTo>
                    <a:pt x="683691" y="0"/>
                  </a:moveTo>
                  <a:cubicBezTo>
                    <a:pt x="795915" y="0"/>
                    <a:pt x="886891" y="90976"/>
                    <a:pt x="886891" y="203200"/>
                  </a:cubicBezTo>
                  <a:cubicBezTo>
                    <a:pt x="886891" y="315424"/>
                    <a:pt x="795915" y="406400"/>
                    <a:pt x="68369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dirty="0"/>
            </a:p>
          </p:txBody>
        </p:sp>
        <p:sp>
          <p:nvSpPr>
            <p:cNvPr id="5" name="TextBox 5"/>
            <p:cNvSpPr txBox="1"/>
            <p:nvPr/>
          </p:nvSpPr>
          <p:spPr>
            <a:xfrm>
              <a:off x="0" y="-47625"/>
              <a:ext cx="886891" cy="454025"/>
            </a:xfrm>
            <a:prstGeom prst="rect">
              <a:avLst/>
            </a:prstGeom>
          </p:spPr>
          <p:txBody>
            <a:bodyPr lIns="50800" tIns="50800" rIns="50800" bIns="50800" rtlCol="0" anchor="ctr"/>
            <a:lstStyle/>
            <a:p>
              <a:pPr algn="ctr">
                <a:lnSpc>
                  <a:spcPts val="3079"/>
                </a:lnSpc>
              </a:pPr>
              <a:endParaRPr dirty="0"/>
            </a:p>
          </p:txBody>
        </p:sp>
      </p:grpSp>
      <p:grpSp>
        <p:nvGrpSpPr>
          <p:cNvPr id="6" name="Group 6"/>
          <p:cNvGrpSpPr/>
          <p:nvPr/>
        </p:nvGrpSpPr>
        <p:grpSpPr>
          <a:xfrm rot="5400000">
            <a:off x="14081410" y="-1868588"/>
            <a:ext cx="7426906" cy="3737176"/>
            <a:chOff x="0" y="0"/>
            <a:chExt cx="807640" cy="406400"/>
          </a:xfrm>
        </p:grpSpPr>
        <p:sp>
          <p:nvSpPr>
            <p:cNvPr id="7" name="Freeform 7"/>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dirty="0"/>
            </a:p>
          </p:txBody>
        </p:sp>
        <p:sp>
          <p:nvSpPr>
            <p:cNvPr id="8" name="TextBox 8"/>
            <p:cNvSpPr txBox="1"/>
            <p:nvPr/>
          </p:nvSpPr>
          <p:spPr>
            <a:xfrm>
              <a:off x="0" y="-47625"/>
              <a:ext cx="807640" cy="454025"/>
            </a:xfrm>
            <a:prstGeom prst="rect">
              <a:avLst/>
            </a:prstGeom>
          </p:spPr>
          <p:txBody>
            <a:bodyPr lIns="50800" tIns="50800" rIns="50800" bIns="50800" rtlCol="0" anchor="ctr"/>
            <a:lstStyle/>
            <a:p>
              <a:pPr algn="ctr">
                <a:lnSpc>
                  <a:spcPts val="3079"/>
                </a:lnSpc>
              </a:pPr>
              <a:endParaRPr dirty="0"/>
            </a:p>
          </p:txBody>
        </p:sp>
      </p:grpSp>
      <p:sp>
        <p:nvSpPr>
          <p:cNvPr id="9" name="TextBox 9"/>
          <p:cNvSpPr txBox="1"/>
          <p:nvPr/>
        </p:nvSpPr>
        <p:spPr>
          <a:xfrm>
            <a:off x="2439991" y="5078637"/>
            <a:ext cx="15015477" cy="2846933"/>
          </a:xfrm>
          <a:prstGeom prst="rect">
            <a:avLst/>
          </a:prstGeom>
        </p:spPr>
        <p:txBody>
          <a:bodyPr lIns="0" tIns="0" rIns="0" bIns="0" rtlCol="0" anchor="t">
            <a:spAutoFit/>
          </a:bodyPr>
          <a:lstStyle/>
          <a:p>
            <a:pPr algn="ctr">
              <a:lnSpc>
                <a:spcPts val="11124"/>
              </a:lnSpc>
              <a:spcBef>
                <a:spcPct val="0"/>
              </a:spcBef>
            </a:pPr>
            <a:r>
              <a:rPr lang="en-US" sz="7946" b="1" spc="-262" dirty="0">
                <a:solidFill>
                  <a:srgbClr val="4D4C4C"/>
                </a:solidFill>
                <a:latin typeface="TS Deniz Bold"/>
                <a:ea typeface="TS Deniz Bold"/>
                <a:cs typeface="TS Deniz Bold"/>
                <a:sym typeface="TS Deniz Bold"/>
              </a:rPr>
              <a:t>TEMA  4: ESTRATEGIAS  PARA LA INSERCIÓN LABORAL</a:t>
            </a:r>
          </a:p>
        </p:txBody>
      </p:sp>
      <p:grpSp>
        <p:nvGrpSpPr>
          <p:cNvPr id="10" name="Group 10"/>
          <p:cNvGrpSpPr/>
          <p:nvPr/>
        </p:nvGrpSpPr>
        <p:grpSpPr>
          <a:xfrm rot="-5400000">
            <a:off x="15751254" y="2375175"/>
            <a:ext cx="959812" cy="95981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dirty="0"/>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dirty="0"/>
            </a:p>
          </p:txBody>
        </p:sp>
      </p:grpSp>
      <p:sp>
        <p:nvSpPr>
          <p:cNvPr id="13" name="AutoShape 13"/>
          <p:cNvSpPr/>
          <p:nvPr/>
        </p:nvSpPr>
        <p:spPr>
          <a:xfrm flipV="1">
            <a:off x="4168622" y="9301162"/>
            <a:ext cx="13090678" cy="0"/>
          </a:xfrm>
          <a:prstGeom prst="line">
            <a:avLst/>
          </a:prstGeom>
          <a:ln w="85725" cap="flat">
            <a:solidFill>
              <a:srgbClr val="B8BB87"/>
            </a:solidFill>
            <a:prstDash val="solid"/>
            <a:headEnd type="none" w="sm" len="sm"/>
            <a:tailEnd type="none" w="sm" len="sm"/>
          </a:ln>
        </p:spPr>
        <p:txBody>
          <a:bodyPr/>
          <a:lstStyle/>
          <a:p>
            <a:endParaRPr lang="es-ES" dirty="0"/>
          </a:p>
        </p:txBody>
      </p:sp>
      <p:grpSp>
        <p:nvGrpSpPr>
          <p:cNvPr id="14" name="Group 14"/>
          <p:cNvGrpSpPr/>
          <p:nvPr/>
        </p:nvGrpSpPr>
        <p:grpSpPr>
          <a:xfrm>
            <a:off x="643702" y="8715761"/>
            <a:ext cx="3524919" cy="352491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dirty="0"/>
            </a:p>
          </p:txBody>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dirty="0"/>
            </a:p>
          </p:txBody>
        </p:sp>
      </p:grpSp>
      <p:grpSp>
        <p:nvGrpSpPr>
          <p:cNvPr id="17" name="Group 17"/>
          <p:cNvGrpSpPr/>
          <p:nvPr/>
        </p:nvGrpSpPr>
        <p:grpSpPr>
          <a:xfrm>
            <a:off x="1227849" y="6229506"/>
            <a:ext cx="1212142" cy="1165796"/>
            <a:chOff x="0" y="0"/>
            <a:chExt cx="1616189" cy="1554394"/>
          </a:xfrm>
        </p:grpSpPr>
        <p:grpSp>
          <p:nvGrpSpPr>
            <p:cNvPr id="18" name="Group 18"/>
            <p:cNvGrpSpPr/>
            <p:nvPr/>
          </p:nvGrpSpPr>
          <p:grpSpPr>
            <a:xfrm>
              <a:off x="0" y="0"/>
              <a:ext cx="1554394" cy="155439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DF7"/>
              </a:solidFill>
            </p:spPr>
            <p:txBody>
              <a:bodyPr/>
              <a:lstStyle/>
              <a:p>
                <a:endParaRPr lang="es-ES" dirty="0"/>
              </a:p>
            </p:txBody>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dirty="0"/>
              </a:p>
            </p:txBody>
          </p:sp>
        </p:grpSp>
        <p:sp>
          <p:nvSpPr>
            <p:cNvPr id="21" name="Freeform 21"/>
            <p:cNvSpPr/>
            <p:nvPr/>
          </p:nvSpPr>
          <p:spPr>
            <a:xfrm>
              <a:off x="107634" y="45839"/>
              <a:ext cx="1508555" cy="1508555"/>
            </a:xfrm>
            <a:custGeom>
              <a:avLst/>
              <a:gdLst/>
              <a:ahLst/>
              <a:cxnLst/>
              <a:rect l="l" t="t" r="r" b="b"/>
              <a:pathLst>
                <a:path w="1508555" h="1508555">
                  <a:moveTo>
                    <a:pt x="0" y="0"/>
                  </a:moveTo>
                  <a:lnTo>
                    <a:pt x="1508555" y="0"/>
                  </a:lnTo>
                  <a:lnTo>
                    <a:pt x="1508555" y="1508555"/>
                  </a:lnTo>
                  <a:lnTo>
                    <a:pt x="0" y="15085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grpSp>
      <p:sp>
        <p:nvSpPr>
          <p:cNvPr id="22" name="Freeform 22"/>
          <p:cNvSpPr/>
          <p:nvPr/>
        </p:nvSpPr>
        <p:spPr>
          <a:xfrm rot="-5400000">
            <a:off x="13895803" y="-2200160"/>
            <a:ext cx="3899060" cy="3899060"/>
          </a:xfrm>
          <a:custGeom>
            <a:avLst/>
            <a:gdLst/>
            <a:ahLst/>
            <a:cxnLst/>
            <a:rect l="l" t="t" r="r" b="b"/>
            <a:pathLst>
              <a:path w="3899060" h="3899060">
                <a:moveTo>
                  <a:pt x="0" y="0"/>
                </a:moveTo>
                <a:lnTo>
                  <a:pt x="3899060" y="0"/>
                </a:lnTo>
                <a:lnTo>
                  <a:pt x="3899060" y="3899060"/>
                </a:lnTo>
                <a:lnTo>
                  <a:pt x="0" y="38990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23" name="TextBox 23"/>
          <p:cNvSpPr txBox="1"/>
          <p:nvPr/>
        </p:nvSpPr>
        <p:spPr>
          <a:xfrm>
            <a:off x="1490700" y="1971643"/>
            <a:ext cx="13539970" cy="2583813"/>
          </a:xfrm>
          <a:prstGeom prst="rect">
            <a:avLst/>
          </a:prstGeom>
        </p:spPr>
        <p:txBody>
          <a:bodyPr lIns="0" tIns="0" rIns="0" bIns="0" rtlCol="0" anchor="t">
            <a:spAutoFit/>
          </a:bodyPr>
          <a:lstStyle/>
          <a:p>
            <a:pPr algn="ctr">
              <a:lnSpc>
                <a:spcPts val="10360"/>
              </a:lnSpc>
              <a:spcBef>
                <a:spcPct val="0"/>
              </a:spcBef>
            </a:pPr>
            <a:r>
              <a:rPr lang="en-US" sz="7400" dirty="0">
                <a:solidFill>
                  <a:srgbClr val="71743C"/>
                </a:solidFill>
                <a:latin typeface="Borel"/>
                <a:ea typeface="Borel"/>
                <a:cs typeface="Borel"/>
                <a:sym typeface="Borel"/>
              </a:rPr>
              <a:t>ITINERARIO PERSONAL PARA LA EMPLEABILIDAD II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TextBox 2"/>
          <p:cNvSpPr txBox="1"/>
          <p:nvPr/>
        </p:nvSpPr>
        <p:spPr>
          <a:xfrm>
            <a:off x="1391517" y="1810706"/>
            <a:ext cx="7548515" cy="1492038"/>
          </a:xfrm>
          <a:prstGeom prst="rect">
            <a:avLst/>
          </a:prstGeom>
        </p:spPr>
        <p:txBody>
          <a:bodyPr lIns="0" tIns="0" rIns="0" bIns="0" rtlCol="0" anchor="t">
            <a:spAutoFit/>
          </a:bodyPr>
          <a:lstStyle/>
          <a:p>
            <a:pPr algn="l">
              <a:lnSpc>
                <a:spcPts val="12292"/>
              </a:lnSpc>
              <a:spcBef>
                <a:spcPct val="0"/>
              </a:spcBef>
            </a:pPr>
            <a:r>
              <a:rPr lang="en-US" sz="8780" dirty="0" err="1">
                <a:solidFill>
                  <a:srgbClr val="71743C"/>
                </a:solidFill>
                <a:latin typeface="Borel"/>
                <a:ea typeface="Borel"/>
                <a:cs typeface="Borel"/>
                <a:sym typeface="Borel"/>
              </a:rPr>
              <a:t>Índice</a:t>
            </a:r>
            <a:r>
              <a:rPr lang="en-US" sz="8780">
                <a:solidFill>
                  <a:srgbClr val="71743C"/>
                </a:solidFill>
                <a:latin typeface="Borel"/>
                <a:ea typeface="Borel"/>
                <a:cs typeface="Borel"/>
                <a:sym typeface="Borel"/>
              </a:rPr>
              <a:t> de</a:t>
            </a:r>
          </a:p>
        </p:txBody>
      </p:sp>
      <p:sp>
        <p:nvSpPr>
          <p:cNvPr id="3" name="Freeform 3"/>
          <p:cNvSpPr/>
          <p:nvPr/>
        </p:nvSpPr>
        <p:spPr>
          <a:xfrm>
            <a:off x="1463801" y="4416154"/>
            <a:ext cx="681026" cy="682266"/>
          </a:xfrm>
          <a:custGeom>
            <a:avLst/>
            <a:gdLst/>
            <a:ahLst/>
            <a:cxnLst/>
            <a:rect l="l" t="t" r="r" b="b"/>
            <a:pathLst>
              <a:path w="681026" h="682266">
                <a:moveTo>
                  <a:pt x="0" y="0"/>
                </a:moveTo>
                <a:lnTo>
                  <a:pt x="681026" y="0"/>
                </a:lnTo>
                <a:lnTo>
                  <a:pt x="681026" y="682266"/>
                </a:lnTo>
                <a:lnTo>
                  <a:pt x="0" y="6822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grpSp>
        <p:nvGrpSpPr>
          <p:cNvPr id="4" name="Group 4"/>
          <p:cNvGrpSpPr/>
          <p:nvPr/>
        </p:nvGrpSpPr>
        <p:grpSpPr>
          <a:xfrm>
            <a:off x="-3028275" y="7957867"/>
            <a:ext cx="8846265" cy="4053624"/>
            <a:chOff x="0" y="0"/>
            <a:chExt cx="886891" cy="406400"/>
          </a:xfrm>
        </p:grpSpPr>
        <p:sp>
          <p:nvSpPr>
            <p:cNvPr id="5" name="Freeform 5"/>
            <p:cNvSpPr/>
            <p:nvPr/>
          </p:nvSpPr>
          <p:spPr>
            <a:xfrm>
              <a:off x="0" y="0"/>
              <a:ext cx="886891" cy="406400"/>
            </a:xfrm>
            <a:custGeom>
              <a:avLst/>
              <a:gdLst/>
              <a:ahLst/>
              <a:cxnLst/>
              <a:rect l="l" t="t" r="r" b="b"/>
              <a:pathLst>
                <a:path w="886891" h="406400">
                  <a:moveTo>
                    <a:pt x="683691" y="0"/>
                  </a:moveTo>
                  <a:cubicBezTo>
                    <a:pt x="795915" y="0"/>
                    <a:pt x="886891" y="90976"/>
                    <a:pt x="886891" y="203200"/>
                  </a:cubicBezTo>
                  <a:cubicBezTo>
                    <a:pt x="886891" y="315424"/>
                    <a:pt x="795915" y="406400"/>
                    <a:pt x="68369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6" name="TextBox 6"/>
            <p:cNvSpPr txBox="1"/>
            <p:nvPr/>
          </p:nvSpPr>
          <p:spPr>
            <a:xfrm>
              <a:off x="0" y="-47625"/>
              <a:ext cx="886891" cy="454025"/>
            </a:xfrm>
            <a:prstGeom prst="rect">
              <a:avLst/>
            </a:prstGeom>
          </p:spPr>
          <p:txBody>
            <a:bodyPr lIns="50800" tIns="50800" rIns="50800" bIns="50800" rtlCol="0" anchor="ctr"/>
            <a:lstStyle/>
            <a:p>
              <a:pPr algn="ctr">
                <a:lnSpc>
                  <a:spcPts val="3079"/>
                </a:lnSpc>
              </a:pPr>
              <a:endParaRPr/>
            </a:p>
          </p:txBody>
        </p:sp>
      </p:grpSp>
      <p:sp>
        <p:nvSpPr>
          <p:cNvPr id="7" name="TextBox 7"/>
          <p:cNvSpPr txBox="1"/>
          <p:nvPr/>
        </p:nvSpPr>
        <p:spPr>
          <a:xfrm>
            <a:off x="1391517" y="2814314"/>
            <a:ext cx="8536993" cy="1554215"/>
          </a:xfrm>
          <a:prstGeom prst="rect">
            <a:avLst/>
          </a:prstGeom>
        </p:spPr>
        <p:txBody>
          <a:bodyPr lIns="0" tIns="0" rIns="0" bIns="0" rtlCol="0" anchor="t">
            <a:spAutoFit/>
          </a:bodyPr>
          <a:lstStyle/>
          <a:p>
            <a:pPr algn="l">
              <a:lnSpc>
                <a:spcPts val="12719"/>
              </a:lnSpc>
              <a:spcBef>
                <a:spcPct val="0"/>
              </a:spcBef>
            </a:pPr>
            <a:r>
              <a:rPr lang="en-US" sz="9085" b="1" spc="-299">
                <a:solidFill>
                  <a:srgbClr val="4D4C4C"/>
                </a:solidFill>
                <a:latin typeface="TS Deniz Bold"/>
                <a:ea typeface="TS Deniz Bold"/>
                <a:cs typeface="TS Deniz Bold"/>
                <a:sym typeface="TS Deniz Bold"/>
              </a:rPr>
              <a:t>CONTENIDOS</a:t>
            </a:r>
          </a:p>
        </p:txBody>
      </p:sp>
      <p:grpSp>
        <p:nvGrpSpPr>
          <p:cNvPr id="8" name="Group 8"/>
          <p:cNvGrpSpPr/>
          <p:nvPr/>
        </p:nvGrpSpPr>
        <p:grpSpPr>
          <a:xfrm>
            <a:off x="1394858" y="8320921"/>
            <a:ext cx="1028463" cy="10284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1" name="Freeform 11"/>
          <p:cNvSpPr/>
          <p:nvPr/>
        </p:nvSpPr>
        <p:spPr>
          <a:xfrm>
            <a:off x="-1391517" y="6566350"/>
            <a:ext cx="2783034" cy="2783034"/>
          </a:xfrm>
          <a:custGeom>
            <a:avLst/>
            <a:gdLst/>
            <a:ahLst/>
            <a:cxnLst/>
            <a:rect l="l" t="t" r="r" b="b"/>
            <a:pathLst>
              <a:path w="2783034" h="2783034">
                <a:moveTo>
                  <a:pt x="0" y="0"/>
                </a:moveTo>
                <a:lnTo>
                  <a:pt x="2783034" y="0"/>
                </a:lnTo>
                <a:lnTo>
                  <a:pt x="2783034" y="2783034"/>
                </a:lnTo>
                <a:lnTo>
                  <a:pt x="0" y="27830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ES"/>
          </a:p>
        </p:txBody>
      </p:sp>
      <p:sp>
        <p:nvSpPr>
          <p:cNvPr id="12" name="AutoShape 12"/>
          <p:cNvSpPr/>
          <p:nvPr/>
        </p:nvSpPr>
        <p:spPr>
          <a:xfrm>
            <a:off x="10239873" y="945367"/>
            <a:ext cx="717216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3" name="AutoShape 13"/>
          <p:cNvSpPr/>
          <p:nvPr/>
        </p:nvSpPr>
        <p:spPr>
          <a:xfrm>
            <a:off x="10239763" y="3058834"/>
            <a:ext cx="717227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4" name="AutoShape 14"/>
          <p:cNvSpPr/>
          <p:nvPr/>
        </p:nvSpPr>
        <p:spPr>
          <a:xfrm>
            <a:off x="10239763" y="4368529"/>
            <a:ext cx="717227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5" name="AutoShape 15"/>
          <p:cNvSpPr/>
          <p:nvPr/>
        </p:nvSpPr>
        <p:spPr>
          <a:xfrm>
            <a:off x="10275130" y="6362700"/>
            <a:ext cx="717227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6" name="AutoShape 16"/>
          <p:cNvSpPr/>
          <p:nvPr/>
        </p:nvSpPr>
        <p:spPr>
          <a:xfrm>
            <a:off x="10239763" y="1694646"/>
            <a:ext cx="717227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7" name="AutoShape 17"/>
          <p:cNvSpPr/>
          <p:nvPr/>
        </p:nvSpPr>
        <p:spPr>
          <a:xfrm>
            <a:off x="10325776" y="7734300"/>
            <a:ext cx="7172274" cy="0"/>
          </a:xfrm>
          <a:prstGeom prst="line">
            <a:avLst/>
          </a:prstGeom>
          <a:ln w="57150" cap="flat">
            <a:solidFill>
              <a:srgbClr val="71743C"/>
            </a:solidFill>
            <a:prstDash val="solid"/>
            <a:headEnd type="none" w="sm" len="sm"/>
            <a:tailEnd type="none" w="sm" len="sm"/>
          </a:ln>
        </p:spPr>
        <p:txBody>
          <a:bodyPr/>
          <a:lstStyle/>
          <a:p>
            <a:endParaRPr lang="es-ES"/>
          </a:p>
        </p:txBody>
      </p:sp>
      <p:sp>
        <p:nvSpPr>
          <p:cNvPr id="18" name="TextBox 18"/>
          <p:cNvSpPr txBox="1"/>
          <p:nvPr/>
        </p:nvSpPr>
        <p:spPr>
          <a:xfrm>
            <a:off x="10275130" y="1067412"/>
            <a:ext cx="6777929" cy="541367"/>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1. La </a:t>
            </a:r>
            <a:r>
              <a:rPr lang="en-US" sz="3270" b="1" spc="192" dirty="0" err="1">
                <a:solidFill>
                  <a:srgbClr val="4D4C4C"/>
                </a:solidFill>
                <a:latin typeface="Helios Bold"/>
                <a:ea typeface="Helios Bold"/>
                <a:cs typeface="Helios Bold"/>
                <a:sym typeface="Helios Bold"/>
              </a:rPr>
              <a:t>busqueda</a:t>
            </a:r>
            <a:r>
              <a:rPr lang="en-US" sz="3270" b="1" spc="192" dirty="0">
                <a:solidFill>
                  <a:srgbClr val="4D4C4C"/>
                </a:solidFill>
                <a:latin typeface="Helios Bold"/>
                <a:ea typeface="Helios Bold"/>
                <a:cs typeface="Helios Bold"/>
                <a:sym typeface="Helios Bold"/>
              </a:rPr>
              <a:t> de Empleo.</a:t>
            </a:r>
          </a:p>
        </p:txBody>
      </p:sp>
      <p:sp>
        <p:nvSpPr>
          <p:cNvPr id="19" name="TextBox 19"/>
          <p:cNvSpPr txBox="1"/>
          <p:nvPr/>
        </p:nvSpPr>
        <p:spPr>
          <a:xfrm>
            <a:off x="10325776" y="1859892"/>
            <a:ext cx="6777929" cy="1131272"/>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2. </a:t>
            </a:r>
            <a:r>
              <a:rPr lang="en-US" sz="3270" b="1" spc="192" dirty="0" err="1">
                <a:solidFill>
                  <a:srgbClr val="4D4C4C"/>
                </a:solidFill>
                <a:latin typeface="Helios Bold"/>
                <a:ea typeface="Helios Bold"/>
                <a:cs typeface="Helios Bold"/>
                <a:sym typeface="Helios Bold"/>
              </a:rPr>
              <a:t>Preparación</a:t>
            </a:r>
            <a:r>
              <a:rPr lang="en-US" sz="3270" b="1" spc="192" dirty="0">
                <a:solidFill>
                  <a:srgbClr val="4D4C4C"/>
                </a:solidFill>
                <a:latin typeface="Helios Bold"/>
                <a:ea typeface="Helios Bold"/>
                <a:cs typeface="Helios Bold"/>
                <a:sym typeface="Helios Bold"/>
              </a:rPr>
              <a:t> del Curriculum y Carta de Presentación.</a:t>
            </a:r>
          </a:p>
        </p:txBody>
      </p:sp>
      <p:sp>
        <p:nvSpPr>
          <p:cNvPr id="20" name="TextBox 20"/>
          <p:cNvSpPr txBox="1"/>
          <p:nvPr/>
        </p:nvSpPr>
        <p:spPr>
          <a:xfrm>
            <a:off x="10325776" y="3126505"/>
            <a:ext cx="7671130" cy="1131272"/>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3. La </a:t>
            </a:r>
            <a:r>
              <a:rPr lang="en-US" sz="3270" b="1" spc="192" dirty="0" err="1">
                <a:solidFill>
                  <a:srgbClr val="4D4C4C"/>
                </a:solidFill>
                <a:latin typeface="Helios Bold"/>
                <a:ea typeface="Helios Bold"/>
                <a:cs typeface="Helios Bold"/>
                <a:sym typeface="Helios Bold"/>
              </a:rPr>
              <a:t>aplicación</a:t>
            </a:r>
            <a:r>
              <a:rPr lang="en-US" sz="3270" b="1" spc="192" dirty="0">
                <a:solidFill>
                  <a:srgbClr val="4D4C4C"/>
                </a:solidFill>
                <a:latin typeface="Helios Bold"/>
                <a:ea typeface="Helios Bold"/>
                <a:cs typeface="Helios Bold"/>
                <a:sym typeface="Helios Bold"/>
              </a:rPr>
              <a:t> de </a:t>
            </a:r>
            <a:r>
              <a:rPr lang="en-US" sz="3270" b="1" spc="192" dirty="0" err="1">
                <a:solidFill>
                  <a:srgbClr val="4D4C4C"/>
                </a:solidFill>
                <a:latin typeface="Helios Bold"/>
                <a:ea typeface="Helios Bold"/>
                <a:cs typeface="Helios Bold"/>
                <a:sym typeface="Helios Bold"/>
              </a:rPr>
              <a:t>técnicas</a:t>
            </a:r>
            <a:r>
              <a:rPr lang="en-US" sz="3270" b="1" spc="192" dirty="0">
                <a:solidFill>
                  <a:srgbClr val="4D4C4C"/>
                </a:solidFill>
                <a:latin typeface="Helios Bold"/>
                <a:ea typeface="Helios Bold"/>
                <a:cs typeface="Helios Bold"/>
                <a:sym typeface="Helios Bold"/>
              </a:rPr>
              <a:t> de </a:t>
            </a:r>
            <a:r>
              <a:rPr lang="en-US" sz="3270" b="1" spc="192" dirty="0" err="1">
                <a:solidFill>
                  <a:srgbClr val="4D4C4C"/>
                </a:solidFill>
                <a:latin typeface="Helios Bold"/>
                <a:ea typeface="Helios Bold"/>
                <a:cs typeface="Helios Bold"/>
                <a:sym typeface="Helios Bold"/>
              </a:rPr>
              <a:t>busqueda</a:t>
            </a:r>
            <a:r>
              <a:rPr lang="en-US" sz="3270" b="1" spc="192" dirty="0">
                <a:solidFill>
                  <a:srgbClr val="4D4C4C"/>
                </a:solidFill>
                <a:latin typeface="Helios Bold"/>
                <a:ea typeface="Helios Bold"/>
                <a:cs typeface="Helios Bold"/>
                <a:sym typeface="Helios Bold"/>
              </a:rPr>
              <a:t> de Empleo.</a:t>
            </a:r>
          </a:p>
        </p:txBody>
      </p:sp>
      <p:sp>
        <p:nvSpPr>
          <p:cNvPr id="21" name="TextBox 21"/>
          <p:cNvSpPr txBox="1"/>
          <p:nvPr/>
        </p:nvSpPr>
        <p:spPr>
          <a:xfrm>
            <a:off x="10357621" y="4503746"/>
            <a:ext cx="7671130" cy="1721177"/>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4. </a:t>
            </a:r>
            <a:r>
              <a:rPr lang="en-US" sz="3270" b="1" spc="192" dirty="0" err="1">
                <a:solidFill>
                  <a:srgbClr val="4D4C4C"/>
                </a:solidFill>
                <a:latin typeface="Helios Bold"/>
                <a:ea typeface="Helios Bold"/>
                <a:cs typeface="Helios Bold"/>
                <a:sym typeface="Helios Bold"/>
              </a:rPr>
              <a:t>Participar</a:t>
            </a:r>
            <a:r>
              <a:rPr lang="en-US" sz="3270" b="1" spc="192" dirty="0">
                <a:solidFill>
                  <a:srgbClr val="4D4C4C"/>
                </a:solidFill>
                <a:latin typeface="Helios Bold"/>
                <a:ea typeface="Helios Bold"/>
                <a:cs typeface="Helios Bold"/>
                <a:sym typeface="Helios Bold"/>
              </a:rPr>
              <a:t> </a:t>
            </a:r>
            <a:r>
              <a:rPr lang="en-US" sz="3270" b="1" spc="192" dirty="0" err="1">
                <a:solidFill>
                  <a:srgbClr val="4D4C4C"/>
                </a:solidFill>
                <a:latin typeface="Helios Bold"/>
                <a:ea typeface="Helios Bold"/>
                <a:cs typeface="Helios Bold"/>
                <a:sym typeface="Helios Bold"/>
              </a:rPr>
              <a:t>en</a:t>
            </a:r>
            <a:r>
              <a:rPr lang="en-US" sz="3270" b="1" spc="192" dirty="0">
                <a:solidFill>
                  <a:srgbClr val="4D4C4C"/>
                </a:solidFill>
                <a:latin typeface="Helios Bold"/>
                <a:ea typeface="Helios Bold"/>
                <a:cs typeface="Helios Bold"/>
                <a:sym typeface="Helios Bold"/>
              </a:rPr>
              <a:t> un </a:t>
            </a:r>
            <a:r>
              <a:rPr lang="en-US" sz="3270" b="1" spc="192" dirty="0" err="1">
                <a:solidFill>
                  <a:srgbClr val="4D4C4C"/>
                </a:solidFill>
                <a:latin typeface="Helios Bold"/>
                <a:ea typeface="Helios Bold"/>
                <a:cs typeface="Helios Bold"/>
                <a:sym typeface="Helios Bold"/>
              </a:rPr>
              <a:t>proceso</a:t>
            </a:r>
            <a:r>
              <a:rPr lang="en-US" sz="3270" b="1" spc="192" dirty="0">
                <a:solidFill>
                  <a:srgbClr val="4D4C4C"/>
                </a:solidFill>
                <a:latin typeface="Helios Bold"/>
                <a:ea typeface="Helios Bold"/>
                <a:cs typeface="Helios Bold"/>
                <a:sym typeface="Helios Bold"/>
              </a:rPr>
              <a:t> de </a:t>
            </a:r>
            <a:r>
              <a:rPr lang="en-US" sz="3270" b="1" spc="192" dirty="0" err="1">
                <a:solidFill>
                  <a:srgbClr val="4D4C4C"/>
                </a:solidFill>
                <a:latin typeface="Helios Bold"/>
                <a:ea typeface="Helios Bold"/>
                <a:cs typeface="Helios Bold"/>
                <a:sym typeface="Helios Bold"/>
              </a:rPr>
              <a:t>selección</a:t>
            </a:r>
            <a:r>
              <a:rPr lang="en-US" sz="3270" b="1" spc="192" dirty="0">
                <a:solidFill>
                  <a:srgbClr val="4D4C4C"/>
                </a:solidFill>
                <a:latin typeface="Helios Bold"/>
                <a:ea typeface="Helios Bold"/>
                <a:cs typeface="Helios Bold"/>
                <a:sym typeface="Helios Bold"/>
              </a:rPr>
              <a:t>. La </a:t>
            </a:r>
            <a:r>
              <a:rPr lang="en-US" sz="3270" b="1" spc="192" dirty="0" err="1">
                <a:solidFill>
                  <a:srgbClr val="4D4C4C"/>
                </a:solidFill>
                <a:latin typeface="Helios Bold"/>
                <a:ea typeface="Helios Bold"/>
                <a:cs typeface="Helios Bold"/>
                <a:sym typeface="Helios Bold"/>
              </a:rPr>
              <a:t>entrevista</a:t>
            </a:r>
            <a:r>
              <a:rPr lang="en-US" sz="3270" b="1" spc="192" dirty="0">
                <a:solidFill>
                  <a:srgbClr val="4D4C4C"/>
                </a:solidFill>
                <a:latin typeface="Helios Bold"/>
                <a:ea typeface="Helios Bold"/>
                <a:cs typeface="Helios Bold"/>
                <a:sym typeface="Helios Bold"/>
              </a:rPr>
              <a:t> de </a:t>
            </a:r>
            <a:r>
              <a:rPr lang="en-US" sz="3270" b="1" spc="192" dirty="0" err="1">
                <a:solidFill>
                  <a:srgbClr val="4D4C4C"/>
                </a:solidFill>
                <a:latin typeface="Helios Bold"/>
                <a:ea typeface="Helios Bold"/>
                <a:cs typeface="Helios Bold"/>
                <a:sym typeface="Helios Bold"/>
              </a:rPr>
              <a:t>trabajo</a:t>
            </a:r>
            <a:r>
              <a:rPr lang="en-US" sz="3270" b="1" spc="192" dirty="0">
                <a:solidFill>
                  <a:srgbClr val="4D4C4C"/>
                </a:solidFill>
                <a:latin typeface="Helios Bold"/>
                <a:ea typeface="Helios Bold"/>
                <a:cs typeface="Helios Bold"/>
                <a:sym typeface="Helios Bold"/>
              </a:rPr>
              <a:t>.</a:t>
            </a:r>
          </a:p>
        </p:txBody>
      </p:sp>
      <p:sp>
        <p:nvSpPr>
          <p:cNvPr id="22" name="TextBox 22"/>
          <p:cNvSpPr txBox="1"/>
          <p:nvPr/>
        </p:nvSpPr>
        <p:spPr>
          <a:xfrm>
            <a:off x="10357621" y="6438914"/>
            <a:ext cx="7671130" cy="1131272"/>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5. </a:t>
            </a:r>
            <a:r>
              <a:rPr lang="en-US" sz="3270" b="1" spc="192" dirty="0" err="1">
                <a:solidFill>
                  <a:srgbClr val="4D4C4C"/>
                </a:solidFill>
                <a:latin typeface="Helios Bold"/>
                <a:ea typeface="Helios Bold"/>
                <a:cs typeface="Helios Bold"/>
                <a:sym typeface="Helios Bold"/>
              </a:rPr>
              <a:t>Busqueda</a:t>
            </a:r>
            <a:r>
              <a:rPr lang="en-US" sz="3270" b="1" spc="192" dirty="0">
                <a:solidFill>
                  <a:srgbClr val="4D4C4C"/>
                </a:solidFill>
                <a:latin typeface="Helios Bold"/>
                <a:ea typeface="Helios Bold"/>
                <a:cs typeface="Helios Bold"/>
                <a:sym typeface="Helios Bold"/>
              </a:rPr>
              <a:t> de Empleo </a:t>
            </a:r>
            <a:r>
              <a:rPr lang="en-US" sz="3270" b="1" spc="192" dirty="0" err="1">
                <a:solidFill>
                  <a:srgbClr val="4D4C4C"/>
                </a:solidFill>
                <a:latin typeface="Helios Bold"/>
                <a:ea typeface="Helios Bold"/>
                <a:cs typeface="Helios Bold"/>
                <a:sym typeface="Helios Bold"/>
              </a:rPr>
              <a:t>en</a:t>
            </a:r>
            <a:r>
              <a:rPr lang="en-US" sz="3270" b="1" spc="192" dirty="0">
                <a:solidFill>
                  <a:srgbClr val="4D4C4C"/>
                </a:solidFill>
                <a:latin typeface="Helios Bold"/>
                <a:ea typeface="Helios Bold"/>
                <a:cs typeface="Helios Bold"/>
                <a:sym typeface="Helios Bold"/>
              </a:rPr>
              <a:t> </a:t>
            </a:r>
            <a:r>
              <a:rPr lang="en-US" sz="3270" b="1" spc="192" dirty="0" err="1">
                <a:solidFill>
                  <a:srgbClr val="4D4C4C"/>
                </a:solidFill>
                <a:latin typeface="Helios Bold"/>
                <a:ea typeface="Helios Bold"/>
                <a:cs typeface="Helios Bold"/>
                <a:sym typeface="Helios Bold"/>
              </a:rPr>
              <a:t>el</a:t>
            </a:r>
            <a:r>
              <a:rPr lang="en-US" sz="3270" b="1" spc="192" dirty="0">
                <a:solidFill>
                  <a:srgbClr val="4D4C4C"/>
                </a:solidFill>
                <a:latin typeface="Helios Bold"/>
                <a:ea typeface="Helios Bold"/>
                <a:cs typeface="Helios Bold"/>
                <a:sym typeface="Helios Bold"/>
              </a:rPr>
              <a:t> sector </a:t>
            </a:r>
            <a:r>
              <a:rPr lang="en-US" sz="3270" b="1" spc="192" dirty="0" err="1">
                <a:solidFill>
                  <a:srgbClr val="4D4C4C"/>
                </a:solidFill>
                <a:latin typeface="Helios Bold"/>
                <a:ea typeface="Helios Bold"/>
                <a:cs typeface="Helios Bold"/>
                <a:sym typeface="Helios Bold"/>
              </a:rPr>
              <a:t>público</a:t>
            </a:r>
            <a:r>
              <a:rPr lang="en-US" sz="3270" b="1" spc="192" dirty="0">
                <a:solidFill>
                  <a:srgbClr val="4D4C4C"/>
                </a:solidFill>
                <a:latin typeface="Helios Bold"/>
                <a:ea typeface="Helios Bold"/>
                <a:cs typeface="Helios Bold"/>
                <a:sym typeface="Helios Bold"/>
              </a:rPr>
              <a:t>.</a:t>
            </a:r>
          </a:p>
        </p:txBody>
      </p:sp>
      <p:sp>
        <p:nvSpPr>
          <p:cNvPr id="23" name="TextBox 22">
            <a:extLst>
              <a:ext uri="{FF2B5EF4-FFF2-40B4-BE49-F238E27FC236}">
                <a16:creationId xmlns:a16="http://schemas.microsoft.com/office/drawing/2014/main" id="{2EEDE635-C274-AE99-17B5-D3B2C78EBCE4}"/>
              </a:ext>
            </a:extLst>
          </p:cNvPr>
          <p:cNvSpPr txBox="1"/>
          <p:nvPr/>
        </p:nvSpPr>
        <p:spPr>
          <a:xfrm>
            <a:off x="10357621" y="7957867"/>
            <a:ext cx="7671130" cy="1131272"/>
          </a:xfrm>
          <a:prstGeom prst="rect">
            <a:avLst/>
          </a:prstGeom>
        </p:spPr>
        <p:txBody>
          <a:bodyPr lIns="0" tIns="0" rIns="0" bIns="0" rtlCol="0" anchor="t">
            <a:spAutoFit/>
          </a:bodyPr>
          <a:lstStyle/>
          <a:p>
            <a:pPr algn="l">
              <a:lnSpc>
                <a:spcPts val="4579"/>
              </a:lnSpc>
              <a:spcBef>
                <a:spcPct val="0"/>
              </a:spcBef>
            </a:pPr>
            <a:r>
              <a:rPr lang="en-US" sz="3270" b="1" spc="192" dirty="0">
                <a:solidFill>
                  <a:srgbClr val="4D4C4C"/>
                </a:solidFill>
                <a:latin typeface="Helios Bold"/>
                <a:ea typeface="Helios Bold"/>
                <a:cs typeface="Helios Bold"/>
                <a:sym typeface="Helios Bold"/>
              </a:rPr>
              <a:t>6. Marca personal y </a:t>
            </a:r>
            <a:r>
              <a:rPr lang="en-US" sz="3270" b="1" spc="192" dirty="0" err="1">
                <a:solidFill>
                  <a:srgbClr val="4D4C4C"/>
                </a:solidFill>
                <a:latin typeface="Helios Bold"/>
                <a:ea typeface="Helios Bold"/>
                <a:cs typeface="Helios Bold"/>
                <a:sym typeface="Helios Bold"/>
              </a:rPr>
              <a:t>empleabilidad</a:t>
            </a:r>
            <a:r>
              <a:rPr lang="en-US" sz="3270" b="1" spc="192" dirty="0">
                <a:solidFill>
                  <a:srgbClr val="4D4C4C"/>
                </a:solidFill>
                <a:latin typeface="Helios Bold"/>
                <a:ea typeface="Helios Bold"/>
                <a:cs typeface="Helios Bold"/>
                <a:sym typeface="Helios Bold"/>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3986999" y="-2149600"/>
            <a:ext cx="6316248" cy="3178300"/>
            <a:chOff x="0" y="0"/>
            <a:chExt cx="807640" cy="406400"/>
          </a:xfrm>
        </p:grpSpPr>
        <p:sp>
          <p:nvSpPr>
            <p:cNvPr id="3" name="Freeform 3"/>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4" name="TextBox 4"/>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7259300" y="-565845"/>
            <a:ext cx="15452455" cy="11836184"/>
            <a:chOff x="0" y="0"/>
            <a:chExt cx="4069782" cy="3117349"/>
          </a:xfrm>
        </p:grpSpPr>
        <p:sp>
          <p:nvSpPr>
            <p:cNvPr id="6" name="Freeform 6"/>
            <p:cNvSpPr/>
            <p:nvPr/>
          </p:nvSpPr>
          <p:spPr>
            <a:xfrm>
              <a:off x="0" y="0"/>
              <a:ext cx="4069783" cy="3117349"/>
            </a:xfrm>
            <a:custGeom>
              <a:avLst/>
              <a:gdLst/>
              <a:ahLst/>
              <a:cxnLst/>
              <a:rect l="l" t="t" r="r" b="b"/>
              <a:pathLst>
                <a:path w="4069783" h="3117349">
                  <a:moveTo>
                    <a:pt x="0" y="0"/>
                  </a:moveTo>
                  <a:lnTo>
                    <a:pt x="4069783" y="0"/>
                  </a:lnTo>
                  <a:lnTo>
                    <a:pt x="4069783" y="3117349"/>
                  </a:lnTo>
                  <a:lnTo>
                    <a:pt x="0" y="3117349"/>
                  </a:lnTo>
                  <a:close/>
                </a:path>
              </a:pathLst>
            </a:custGeom>
            <a:solidFill>
              <a:srgbClr val="B8BB87"/>
            </a:solidFill>
          </p:spPr>
          <p:txBody>
            <a:bodyPr/>
            <a:lstStyle/>
            <a:p>
              <a:endParaRPr lang="es-ES"/>
            </a:p>
          </p:txBody>
        </p:sp>
        <p:sp>
          <p:nvSpPr>
            <p:cNvPr id="7" name="TextBox 7"/>
            <p:cNvSpPr txBox="1"/>
            <p:nvPr/>
          </p:nvSpPr>
          <p:spPr>
            <a:xfrm>
              <a:off x="0" y="-47625"/>
              <a:ext cx="4069782" cy="3164974"/>
            </a:xfrm>
            <a:prstGeom prst="rect">
              <a:avLst/>
            </a:prstGeom>
          </p:spPr>
          <p:txBody>
            <a:bodyPr lIns="50800" tIns="50800" rIns="50800" bIns="50800" rtlCol="0" anchor="ctr"/>
            <a:lstStyle/>
            <a:p>
              <a:pPr algn="ctr">
                <a:lnSpc>
                  <a:spcPts val="3079"/>
                </a:lnSpc>
              </a:pPr>
              <a:endParaRPr/>
            </a:p>
          </p:txBody>
        </p:sp>
      </p:grpSp>
      <p:sp>
        <p:nvSpPr>
          <p:cNvPr id="8" name="TextBox 8"/>
          <p:cNvSpPr txBox="1"/>
          <p:nvPr/>
        </p:nvSpPr>
        <p:spPr>
          <a:xfrm>
            <a:off x="1428627" y="3319928"/>
            <a:ext cx="4216185" cy="3664588"/>
          </a:xfrm>
          <a:prstGeom prst="rect">
            <a:avLst/>
          </a:prstGeom>
        </p:spPr>
        <p:txBody>
          <a:bodyPr lIns="0" tIns="0" rIns="0" bIns="0" rtlCol="0" anchor="t">
            <a:spAutoFit/>
          </a:bodyPr>
          <a:lstStyle/>
          <a:p>
            <a:pPr algn="ctr">
              <a:lnSpc>
                <a:spcPts val="30064"/>
              </a:lnSpc>
              <a:spcBef>
                <a:spcPct val="0"/>
              </a:spcBef>
            </a:pPr>
            <a:r>
              <a:rPr lang="en-US" sz="21474" b="1">
                <a:solidFill>
                  <a:srgbClr val="4D4C4C"/>
                </a:solidFill>
                <a:latin typeface="TS Deniz Bold"/>
                <a:ea typeface="TS Deniz Bold"/>
                <a:cs typeface="TS Deniz Bold"/>
                <a:sym typeface="TS Deniz Bold"/>
              </a:rPr>
              <a:t>01</a:t>
            </a:r>
          </a:p>
        </p:txBody>
      </p:sp>
      <p:sp>
        <p:nvSpPr>
          <p:cNvPr id="9" name="TextBox 9"/>
          <p:cNvSpPr txBox="1"/>
          <p:nvPr/>
        </p:nvSpPr>
        <p:spPr>
          <a:xfrm>
            <a:off x="6622171" y="3353449"/>
            <a:ext cx="10637129" cy="3443891"/>
          </a:xfrm>
          <a:prstGeom prst="rect">
            <a:avLst/>
          </a:prstGeom>
        </p:spPr>
        <p:txBody>
          <a:bodyPr lIns="0" tIns="0" rIns="0" bIns="0" rtlCol="0" anchor="t">
            <a:spAutoFit/>
          </a:bodyPr>
          <a:lstStyle/>
          <a:p>
            <a:pPr>
              <a:lnSpc>
                <a:spcPts val="13721"/>
              </a:lnSpc>
              <a:spcBef>
                <a:spcPct val="0"/>
              </a:spcBef>
            </a:pPr>
            <a:r>
              <a:rPr lang="en-US" sz="9600" b="1" spc="192" dirty="0">
                <a:solidFill>
                  <a:srgbClr val="4D4C4C"/>
                </a:solidFill>
                <a:latin typeface="Helios Bold"/>
                <a:ea typeface="Helios Bold"/>
                <a:cs typeface="Helios Bold"/>
                <a:sym typeface="Helios Bold"/>
              </a:rPr>
              <a:t>La </a:t>
            </a:r>
            <a:r>
              <a:rPr lang="en-US" sz="9600" b="1" spc="192" dirty="0" err="1">
                <a:solidFill>
                  <a:srgbClr val="4D4C4C"/>
                </a:solidFill>
                <a:latin typeface="Helios Bold"/>
                <a:ea typeface="Helios Bold"/>
                <a:cs typeface="Helios Bold"/>
                <a:sym typeface="Helios Bold"/>
              </a:rPr>
              <a:t>busqueda</a:t>
            </a:r>
            <a:r>
              <a:rPr lang="en-US" sz="9600" b="1" spc="192" dirty="0">
                <a:solidFill>
                  <a:srgbClr val="4D4C4C"/>
                </a:solidFill>
                <a:latin typeface="Helios Bold"/>
                <a:ea typeface="Helios Bold"/>
                <a:cs typeface="Helios Bold"/>
                <a:sym typeface="Helios Bold"/>
              </a:rPr>
              <a:t> de Empleo.</a:t>
            </a:r>
            <a:endParaRPr lang="en-US" sz="9801" b="1" dirty="0">
              <a:solidFill>
                <a:srgbClr val="4D4C4C"/>
              </a:solidFill>
              <a:latin typeface="TS Deniz Bold"/>
              <a:ea typeface="TS Deniz Bold"/>
              <a:cs typeface="TS Deniz Bold"/>
              <a:sym typeface="TS Deniz Bold"/>
            </a:endParaRPr>
          </a:p>
        </p:txBody>
      </p:sp>
      <p:grpSp>
        <p:nvGrpSpPr>
          <p:cNvPr id="10" name="Group 10"/>
          <p:cNvGrpSpPr/>
          <p:nvPr/>
        </p:nvGrpSpPr>
        <p:grpSpPr>
          <a:xfrm rot="-10800000">
            <a:off x="-1698802" y="3282112"/>
            <a:ext cx="8227978" cy="4140271"/>
            <a:chOff x="0" y="0"/>
            <a:chExt cx="807640" cy="406400"/>
          </a:xfrm>
        </p:grpSpPr>
        <p:sp>
          <p:nvSpPr>
            <p:cNvPr id="11" name="Freeform 11"/>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12" name="TextBox 12"/>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879387" y="2646483"/>
            <a:ext cx="1098480" cy="10984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6" name="Freeform 16"/>
          <p:cNvSpPr/>
          <p:nvPr/>
        </p:nvSpPr>
        <p:spPr>
          <a:xfrm>
            <a:off x="-1698802" y="5514834"/>
            <a:ext cx="3397604" cy="3397604"/>
          </a:xfrm>
          <a:custGeom>
            <a:avLst/>
            <a:gdLst/>
            <a:ahLst/>
            <a:cxnLst/>
            <a:rect l="l" t="t" r="r" b="b"/>
            <a:pathLst>
              <a:path w="3397604" h="3397604">
                <a:moveTo>
                  <a:pt x="0" y="0"/>
                </a:moveTo>
                <a:lnTo>
                  <a:pt x="3397604" y="0"/>
                </a:lnTo>
                <a:lnTo>
                  <a:pt x="3397604" y="3397603"/>
                </a:lnTo>
                <a:lnTo>
                  <a:pt x="0" y="33976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p:cNvSpPr txBox="1"/>
          <p:nvPr/>
        </p:nvSpPr>
        <p:spPr>
          <a:xfrm>
            <a:off x="342495" y="1218470"/>
            <a:ext cx="17603009" cy="8079135"/>
          </a:xfrm>
          <a:prstGeom prst="rect">
            <a:avLst/>
          </a:prstGeom>
        </p:spPr>
        <p:txBody>
          <a:bodyPr lIns="0" tIns="0" rIns="0" bIns="0" rtlCol="0" anchor="t">
            <a:spAutoFit/>
          </a:bodyPr>
          <a:lstStyle/>
          <a:p>
            <a:pPr algn="l">
              <a:lnSpc>
                <a:spcPts val="4224"/>
              </a:lnSpc>
            </a:pPr>
            <a:r>
              <a:rPr lang="en-US" sz="3462" dirty="0">
                <a:solidFill>
                  <a:srgbClr val="71743C"/>
                </a:solidFill>
                <a:latin typeface="Borel"/>
                <a:ea typeface="Borel"/>
                <a:sym typeface="Helios"/>
              </a:rPr>
              <a:t>La </a:t>
            </a:r>
            <a:r>
              <a:rPr lang="en-US" sz="3462" dirty="0" err="1">
                <a:solidFill>
                  <a:srgbClr val="71743C"/>
                </a:solidFill>
                <a:latin typeface="Borel"/>
                <a:ea typeface="Borel"/>
                <a:sym typeface="Helios"/>
              </a:rPr>
              <a:t>busqueda</a:t>
            </a:r>
            <a:r>
              <a:rPr lang="en-US" sz="3462" dirty="0">
                <a:solidFill>
                  <a:srgbClr val="71743C"/>
                </a:solidFill>
                <a:latin typeface="Borel"/>
                <a:ea typeface="Borel"/>
                <a:sym typeface="Helios"/>
              </a:rPr>
              <a:t> de Empleo es un </a:t>
            </a:r>
            <a:r>
              <a:rPr lang="en-US" sz="3462" dirty="0" err="1">
                <a:solidFill>
                  <a:srgbClr val="71743C"/>
                </a:solidFill>
                <a:latin typeface="Borel"/>
                <a:ea typeface="Borel"/>
                <a:sym typeface="Helios"/>
              </a:rPr>
              <a:t>proceso</a:t>
            </a:r>
            <a:r>
              <a:rPr lang="en-US" sz="3462" dirty="0">
                <a:solidFill>
                  <a:srgbClr val="71743C"/>
                </a:solidFill>
                <a:latin typeface="Borel"/>
                <a:ea typeface="Borel"/>
                <a:sym typeface="Helios"/>
              </a:rPr>
              <a:t> clave </a:t>
            </a:r>
            <a:r>
              <a:rPr lang="en-US" sz="3462" dirty="0" err="1">
                <a:solidFill>
                  <a:srgbClr val="71743C"/>
                </a:solidFill>
                <a:latin typeface="Borel"/>
                <a:ea typeface="Borel"/>
                <a:sym typeface="Helios"/>
              </a:rPr>
              <a:t>en</a:t>
            </a:r>
            <a:r>
              <a:rPr lang="en-US" sz="3462" dirty="0">
                <a:solidFill>
                  <a:srgbClr val="71743C"/>
                </a:solidFill>
                <a:latin typeface="Borel"/>
                <a:ea typeface="Borel"/>
                <a:sym typeface="Helios"/>
              </a:rPr>
              <a:t> la </a:t>
            </a:r>
            <a:r>
              <a:rPr lang="en-US" sz="3462" dirty="0" err="1">
                <a:solidFill>
                  <a:srgbClr val="71743C"/>
                </a:solidFill>
                <a:latin typeface="Borel"/>
                <a:ea typeface="Borel"/>
                <a:sym typeface="Helios"/>
              </a:rPr>
              <a:t>transición</a:t>
            </a:r>
            <a:r>
              <a:rPr lang="en-US" sz="3462" dirty="0">
                <a:solidFill>
                  <a:srgbClr val="71743C"/>
                </a:solidFill>
                <a:latin typeface="Borel"/>
                <a:ea typeface="Borel"/>
                <a:sym typeface="Helios"/>
              </a:rPr>
              <a:t> de la </a:t>
            </a:r>
            <a:r>
              <a:rPr lang="en-US" sz="3462" dirty="0" err="1">
                <a:solidFill>
                  <a:srgbClr val="71743C"/>
                </a:solidFill>
                <a:latin typeface="Borel"/>
                <a:ea typeface="Borel"/>
                <a:sym typeface="Helios"/>
              </a:rPr>
              <a:t>educación</a:t>
            </a:r>
            <a:r>
              <a:rPr lang="en-US" sz="3462" dirty="0">
                <a:solidFill>
                  <a:srgbClr val="71743C"/>
                </a:solidFill>
                <a:latin typeface="Borel"/>
                <a:ea typeface="Borel"/>
                <a:sym typeface="Helios"/>
              </a:rPr>
              <a:t> al </a:t>
            </a:r>
            <a:r>
              <a:rPr lang="en-US" sz="3462" dirty="0" err="1">
                <a:solidFill>
                  <a:srgbClr val="71743C"/>
                </a:solidFill>
                <a:latin typeface="Borel"/>
                <a:ea typeface="Borel"/>
                <a:sym typeface="Helios"/>
              </a:rPr>
              <a:t>mundo</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laboral</a:t>
            </a:r>
            <a:r>
              <a:rPr lang="en-US" sz="3462" dirty="0">
                <a:solidFill>
                  <a:srgbClr val="71743C"/>
                </a:solidFill>
                <a:latin typeface="Borel"/>
                <a:ea typeface="Borel"/>
                <a:sym typeface="Helios"/>
              </a:rPr>
              <a:t>. Para </a:t>
            </a:r>
            <a:r>
              <a:rPr lang="en-US" sz="3462" dirty="0" err="1">
                <a:solidFill>
                  <a:srgbClr val="71743C"/>
                </a:solidFill>
                <a:latin typeface="Borel"/>
                <a:ea typeface="Borel"/>
                <a:sym typeface="Helios"/>
              </a:rPr>
              <a:t>ello</a:t>
            </a:r>
            <a:r>
              <a:rPr lang="en-US" sz="3462" dirty="0">
                <a:solidFill>
                  <a:srgbClr val="71743C"/>
                </a:solidFill>
                <a:latin typeface="Borel"/>
                <a:ea typeface="Borel"/>
                <a:sym typeface="Helios"/>
              </a:rPr>
              <a:t> es </a:t>
            </a:r>
            <a:r>
              <a:rPr lang="en-US" sz="3462" dirty="0" err="1">
                <a:solidFill>
                  <a:srgbClr val="71743C"/>
                </a:solidFill>
                <a:latin typeface="Borel"/>
                <a:ea typeface="Borel"/>
                <a:sym typeface="Helios"/>
              </a:rPr>
              <a:t>básico</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conocer</a:t>
            </a:r>
            <a:r>
              <a:rPr lang="en-US" sz="3462" dirty="0">
                <a:solidFill>
                  <a:srgbClr val="71743C"/>
                </a:solidFill>
                <a:latin typeface="Borel"/>
                <a:ea typeface="Borel"/>
                <a:sym typeface="Helios"/>
              </a:rPr>
              <a:t> y </a:t>
            </a:r>
            <a:r>
              <a:rPr lang="en-US" sz="3462" dirty="0" err="1">
                <a:solidFill>
                  <a:srgbClr val="71743C"/>
                </a:solidFill>
                <a:latin typeface="Borel"/>
                <a:ea typeface="Borel"/>
                <a:sym typeface="Helios"/>
              </a:rPr>
              <a:t>aplicar</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diversas</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estratégias</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que</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nos</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ayudarán</a:t>
            </a:r>
            <a:r>
              <a:rPr lang="en-US" sz="3462" dirty="0">
                <a:solidFill>
                  <a:srgbClr val="71743C"/>
                </a:solidFill>
                <a:latin typeface="Borel"/>
                <a:ea typeface="Borel"/>
                <a:sym typeface="Helios"/>
              </a:rPr>
              <a:t> a </a:t>
            </a:r>
            <a:r>
              <a:rPr lang="en-US" sz="3462" dirty="0" err="1">
                <a:solidFill>
                  <a:srgbClr val="71743C"/>
                </a:solidFill>
                <a:latin typeface="Borel"/>
                <a:ea typeface="Borel"/>
                <a:sym typeface="Helios"/>
              </a:rPr>
              <a:t>destacar</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frente</a:t>
            </a:r>
            <a:r>
              <a:rPr lang="en-US" sz="3462" dirty="0">
                <a:solidFill>
                  <a:srgbClr val="71743C"/>
                </a:solidFill>
                <a:latin typeface="Borel"/>
                <a:ea typeface="Borel"/>
                <a:sym typeface="Helios"/>
              </a:rPr>
              <a:t> a </a:t>
            </a:r>
            <a:r>
              <a:rPr lang="en-US" sz="3462" dirty="0" err="1">
                <a:solidFill>
                  <a:srgbClr val="71743C"/>
                </a:solidFill>
                <a:latin typeface="Borel"/>
                <a:ea typeface="Borel"/>
                <a:sym typeface="Helios"/>
              </a:rPr>
              <a:t>otros</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candidato</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Estos</a:t>
            </a:r>
            <a:r>
              <a:rPr lang="en-US" sz="3462" dirty="0">
                <a:solidFill>
                  <a:srgbClr val="71743C"/>
                </a:solidFill>
                <a:latin typeface="Borel"/>
                <a:ea typeface="Borel"/>
                <a:sym typeface="Helios"/>
              </a:rPr>
              <a:t> son:</a:t>
            </a:r>
          </a:p>
          <a:p>
            <a:pPr marL="457200" indent="-457200" algn="l">
              <a:lnSpc>
                <a:spcPts val="4224"/>
              </a:lnSpc>
              <a:buFont typeface="Arial" panose="020B0604020202020204" pitchFamily="34" charset="0"/>
              <a:buChar char="•"/>
            </a:pPr>
            <a:r>
              <a:rPr lang="en-US" sz="3017" b="1" spc="178" dirty="0">
                <a:solidFill>
                  <a:srgbClr val="000000"/>
                </a:solidFill>
                <a:latin typeface="Helios"/>
                <a:ea typeface="Helios"/>
                <a:cs typeface="Helios"/>
                <a:sym typeface="Helios"/>
              </a:rPr>
              <a:t>Tener </a:t>
            </a:r>
            <a:r>
              <a:rPr lang="en-US" sz="3017" b="1" spc="178" dirty="0" err="1">
                <a:solidFill>
                  <a:srgbClr val="000000"/>
                </a:solidFill>
                <a:latin typeface="Helios"/>
                <a:ea typeface="Helios"/>
                <a:cs typeface="Helios"/>
                <a:sym typeface="Helios"/>
              </a:rPr>
              <a:t>buen</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conocimiento</a:t>
            </a:r>
            <a:r>
              <a:rPr lang="en-US" sz="3017" b="1" spc="178" dirty="0">
                <a:solidFill>
                  <a:srgbClr val="000000"/>
                </a:solidFill>
                <a:latin typeface="Helios"/>
                <a:ea typeface="Helios"/>
                <a:cs typeface="Helios"/>
                <a:sym typeface="Helios"/>
              </a:rPr>
              <a:t> del mercado de </a:t>
            </a:r>
            <a:r>
              <a:rPr lang="en-US" sz="3017" b="1" spc="178" dirty="0" err="1">
                <a:solidFill>
                  <a:srgbClr val="000000"/>
                </a:solidFill>
                <a:latin typeface="Helios"/>
                <a:ea typeface="Helios"/>
                <a:cs typeface="Helios"/>
                <a:sym typeface="Helios"/>
              </a:rPr>
              <a:t>trabajo</a:t>
            </a:r>
            <a:r>
              <a:rPr lang="en-US" sz="3017" spc="178" dirty="0">
                <a:solidFill>
                  <a:srgbClr val="000000"/>
                </a:solidFill>
                <a:latin typeface="Helios"/>
                <a:ea typeface="Helios"/>
                <a:cs typeface="Helios"/>
                <a:sym typeface="Helios"/>
              </a:rPr>
              <a:t> y </a:t>
            </a:r>
            <a:r>
              <a:rPr lang="en-US" sz="3017" spc="178" dirty="0" err="1">
                <a:solidFill>
                  <a:srgbClr val="000000"/>
                </a:solidFill>
                <a:latin typeface="Helios"/>
                <a:ea typeface="Helios"/>
                <a:cs typeface="Helios"/>
                <a:sym typeface="Helios"/>
              </a:rPr>
              <a:t>experiencia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a:t>
            </a:r>
            <a:r>
              <a:rPr lang="en-US" sz="3017" spc="178" dirty="0">
                <a:solidFill>
                  <a:srgbClr val="000000"/>
                </a:solidFill>
                <a:latin typeface="Helios"/>
                <a:ea typeface="Helios"/>
                <a:cs typeface="Helios"/>
                <a:sym typeface="Helios"/>
              </a:rPr>
              <a:t> sector </a:t>
            </a:r>
            <a:r>
              <a:rPr lang="en-US" sz="3017" spc="178" dirty="0" err="1">
                <a:solidFill>
                  <a:srgbClr val="000000"/>
                </a:solidFill>
                <a:latin typeface="Helios"/>
                <a:ea typeface="Helios"/>
                <a:cs typeface="Helios"/>
                <a:sym typeface="Helios"/>
              </a:rPr>
              <a:t>profesional</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elegido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considerar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tendencias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oportunidades</a:t>
            </a:r>
            <a:r>
              <a:rPr lang="en-US" sz="3017" spc="178" dirty="0">
                <a:solidFill>
                  <a:srgbClr val="000000"/>
                </a:solidFill>
                <a:latin typeface="Helios"/>
                <a:ea typeface="Helios"/>
                <a:cs typeface="Helios"/>
                <a:sym typeface="Helios"/>
              </a:rPr>
              <a:t> y </a:t>
            </a:r>
            <a:r>
              <a:rPr lang="en-US" sz="3017" spc="178" dirty="0" err="1">
                <a:solidFill>
                  <a:srgbClr val="000000"/>
                </a:solidFill>
                <a:latin typeface="Helios"/>
                <a:ea typeface="Helios"/>
                <a:cs typeface="Helios"/>
                <a:sym typeface="Helios"/>
              </a:rPr>
              <a:t>posibles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amenazas</a:t>
            </a:r>
            <a:r>
              <a:rPr lang="en-US" sz="3017" spc="178" dirty="0">
                <a:solidFill>
                  <a:srgbClr val="000000"/>
                </a:solidFill>
                <a:latin typeface="Helios"/>
                <a:ea typeface="Helios"/>
                <a:cs typeface="Helios"/>
                <a:sym typeface="Helios"/>
              </a:rPr>
              <a:t>.</a:t>
            </a:r>
          </a:p>
          <a:p>
            <a:pPr marL="457200" indent="-457200" algn="l">
              <a:lnSpc>
                <a:spcPts val="4224"/>
              </a:lnSpc>
              <a:buFont typeface="Arial" panose="020B0604020202020204" pitchFamily="34" charset="0"/>
              <a:buChar char="•"/>
            </a:pPr>
            <a:r>
              <a:rPr lang="en-US" sz="3017" b="1" spc="178" dirty="0">
                <a:solidFill>
                  <a:srgbClr val="000000"/>
                </a:solidFill>
                <a:latin typeface="Helios"/>
                <a:ea typeface="Helios"/>
                <a:cs typeface="Helios"/>
                <a:sym typeface="Helios"/>
              </a:rPr>
              <a:t>Tener </a:t>
            </a:r>
            <a:r>
              <a:rPr lang="en-US" sz="3017" b="1" spc="178" dirty="0" err="1">
                <a:solidFill>
                  <a:srgbClr val="000000"/>
                </a:solidFill>
                <a:latin typeface="Helios"/>
                <a:ea typeface="Helios"/>
                <a:cs typeface="Helios"/>
                <a:sym typeface="Helios"/>
              </a:rPr>
              <a:t>una</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percepción</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ajustada</a:t>
            </a:r>
            <a:r>
              <a:rPr lang="en-US" sz="3017" b="1" spc="178" dirty="0">
                <a:solidFill>
                  <a:srgbClr val="000000"/>
                </a:solidFill>
                <a:latin typeface="Helios"/>
                <a:ea typeface="Helios"/>
                <a:cs typeface="Helios"/>
                <a:sym typeface="Helios"/>
              </a:rPr>
              <a:t> de las </a:t>
            </a:r>
            <a:r>
              <a:rPr lang="en-US" sz="3017" spc="178" dirty="0" err="1">
                <a:solidFill>
                  <a:srgbClr val="000000"/>
                </a:solidFill>
                <a:latin typeface="Helios"/>
                <a:ea typeface="Helios"/>
                <a:cs typeface="Helios"/>
                <a:sym typeface="Helios"/>
              </a:rPr>
              <a:t>competencias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propias</a:t>
            </a:r>
            <a:r>
              <a:rPr lang="en-US" sz="3017" spc="178" dirty="0">
                <a:solidFill>
                  <a:srgbClr val="000000"/>
                </a:solidFill>
                <a:latin typeface="Helios"/>
                <a:ea typeface="Helios"/>
                <a:cs typeface="Helios"/>
                <a:sym typeface="Helios"/>
              </a:rPr>
              <a:t>, tanto </a:t>
            </a:r>
            <a:r>
              <a:rPr lang="en-US" sz="3017" spc="178" dirty="0" err="1">
                <a:solidFill>
                  <a:srgbClr val="000000"/>
                </a:solidFill>
                <a:latin typeface="Helios"/>
                <a:ea typeface="Helios"/>
                <a:cs typeface="Helios"/>
                <a:sym typeface="Helios"/>
              </a:rPr>
              <a:t>profesionales</a:t>
            </a:r>
            <a:r>
              <a:rPr lang="en-US" sz="3017" spc="178" dirty="0">
                <a:solidFill>
                  <a:srgbClr val="000000"/>
                </a:solidFill>
                <a:latin typeface="Helios"/>
                <a:ea typeface="Helios"/>
                <a:cs typeface="Helios"/>
                <a:sym typeface="Helios"/>
              </a:rPr>
              <a:t> (hard) </a:t>
            </a:r>
            <a:r>
              <a:rPr lang="en-US" sz="3017" spc="178" dirty="0" err="1">
                <a:solidFill>
                  <a:srgbClr val="000000"/>
                </a:solidFill>
                <a:latin typeface="Helios"/>
                <a:ea typeface="Helios"/>
                <a:cs typeface="Helios"/>
                <a:sym typeface="Helios"/>
              </a:rPr>
              <a:t>como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personales</a:t>
            </a:r>
            <a:r>
              <a:rPr lang="en-US" sz="3017" spc="178" dirty="0">
                <a:solidFill>
                  <a:srgbClr val="000000"/>
                </a:solidFill>
                <a:latin typeface="Helios"/>
                <a:ea typeface="Helios"/>
                <a:cs typeface="Helios"/>
                <a:sym typeface="Helios"/>
              </a:rPr>
              <a:t> (soft).</a:t>
            </a:r>
          </a:p>
          <a:p>
            <a:pPr marL="457200" indent="-457200" algn="l">
              <a:lnSpc>
                <a:spcPts val="4224"/>
              </a:lnSpc>
              <a:buFont typeface="Arial" panose="020B0604020202020204" pitchFamily="34" charset="0"/>
              <a:buChar char="•"/>
            </a:pPr>
            <a:r>
              <a:rPr lang="en-US" sz="3017" b="1" spc="178" dirty="0">
                <a:solidFill>
                  <a:srgbClr val="000000"/>
                </a:solidFill>
                <a:latin typeface="Helios"/>
                <a:ea typeface="Helios"/>
                <a:cs typeface="Helios"/>
                <a:sym typeface="Helios"/>
              </a:rPr>
              <a:t>Haber </a:t>
            </a:r>
            <a:r>
              <a:rPr lang="en-US" sz="3017" b="1" spc="178" dirty="0" err="1">
                <a:solidFill>
                  <a:srgbClr val="000000"/>
                </a:solidFill>
                <a:latin typeface="Helios"/>
                <a:ea typeface="Helios"/>
                <a:cs typeface="Helios"/>
                <a:sym typeface="Helios"/>
              </a:rPr>
              <a:t>definido</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tus</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objetivos</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profesionales</a:t>
            </a:r>
            <a:r>
              <a:rPr lang="en-US" sz="3017" spc="178" dirty="0">
                <a:solidFill>
                  <a:srgbClr val="000000"/>
                </a:solidFill>
                <a:latin typeface="Helios"/>
                <a:ea typeface="Helios"/>
                <a:cs typeface="Helios"/>
                <a:sym typeface="Helios"/>
              </a:rPr>
              <a:t> con la mayor precision </a:t>
            </a:r>
            <a:r>
              <a:rPr lang="en-US" sz="3017" spc="178" dirty="0" err="1">
                <a:solidFill>
                  <a:srgbClr val="000000"/>
                </a:solidFill>
                <a:latin typeface="Helios"/>
                <a:ea typeface="Helios"/>
                <a:cs typeface="Helios"/>
                <a:sym typeface="Helios"/>
              </a:rPr>
              <a:t>posible</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por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ejemplo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aplicando</a:t>
            </a:r>
            <a:r>
              <a:rPr lang="en-US" sz="3017" spc="178" dirty="0">
                <a:solidFill>
                  <a:srgbClr val="000000"/>
                </a:solidFill>
                <a:latin typeface="Helios"/>
                <a:ea typeface="Helios"/>
                <a:cs typeface="Helios"/>
                <a:sym typeface="Helios"/>
              </a:rPr>
              <a:t> la </a:t>
            </a:r>
            <a:r>
              <a:rPr lang="en-US" sz="3017" spc="178" dirty="0" err="1">
                <a:solidFill>
                  <a:srgbClr val="000000"/>
                </a:solidFill>
                <a:latin typeface="Helios"/>
                <a:ea typeface="Helios"/>
                <a:cs typeface="Helios"/>
                <a:sym typeface="Helios"/>
              </a:rPr>
              <a:t>metodología</a:t>
            </a:r>
            <a:r>
              <a:rPr lang="en-US" sz="3017" spc="178" dirty="0">
                <a:solidFill>
                  <a:srgbClr val="000000"/>
                </a:solidFill>
                <a:latin typeface="Helios"/>
                <a:ea typeface="Helios"/>
                <a:cs typeface="Helios"/>
                <a:sym typeface="Helios"/>
              </a:rPr>
              <a:t> SMART.</a:t>
            </a: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
        <p:nvSpPr>
          <p:cNvPr id="4" name="TextBox 4"/>
          <p:cNvSpPr txBox="1"/>
          <p:nvPr/>
        </p:nvSpPr>
        <p:spPr>
          <a:xfrm>
            <a:off x="789161" y="267891"/>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1. LA BUSQUEDA DE EMPLEO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p:cNvSpPr txBox="1"/>
          <p:nvPr/>
        </p:nvSpPr>
        <p:spPr>
          <a:xfrm>
            <a:off x="990600" y="2781300"/>
            <a:ext cx="17603009" cy="2104807"/>
          </a:xfrm>
          <a:prstGeom prst="rect">
            <a:avLst/>
          </a:prstGeom>
        </p:spPr>
        <p:txBody>
          <a:bodyPr lIns="0" tIns="0" rIns="0" bIns="0" rtlCol="0" anchor="t">
            <a:spAutoFit/>
          </a:bodyPr>
          <a:lstStyle/>
          <a:p>
            <a:pPr marL="514350" indent="-514350" algn="l">
              <a:lnSpc>
                <a:spcPts val="4224"/>
              </a:lnSpc>
              <a:spcBef>
                <a:spcPct val="0"/>
              </a:spcBef>
              <a:buFont typeface="+mj-lt"/>
              <a:buAutoNum type="arabicPeriod"/>
            </a:pPr>
            <a:r>
              <a:rPr lang="en-US" sz="3017" spc="178" dirty="0" err="1">
                <a:solidFill>
                  <a:srgbClr val="000000"/>
                </a:solidFill>
                <a:latin typeface="Helios"/>
                <a:ea typeface="Helios"/>
                <a:cs typeface="Helios"/>
                <a:sym typeface="Helios"/>
              </a:rPr>
              <a:t>Preparar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a:t>
            </a:r>
            <a:r>
              <a:rPr lang="en-US" sz="3017" spc="178" dirty="0">
                <a:solidFill>
                  <a:srgbClr val="000000"/>
                </a:solidFill>
                <a:latin typeface="Helios"/>
                <a:ea typeface="Helios"/>
                <a:cs typeface="Helios"/>
                <a:sym typeface="Helios"/>
              </a:rPr>
              <a:t> Curriculum.</a:t>
            </a:r>
          </a:p>
          <a:p>
            <a:pPr marL="514350" indent="-514350" algn="l">
              <a:lnSpc>
                <a:spcPts val="4224"/>
              </a:lnSpc>
              <a:spcBef>
                <a:spcPct val="0"/>
              </a:spcBef>
              <a:buFont typeface="+mj-lt"/>
              <a:buAutoNum type="arabicPeriod"/>
            </a:pPr>
            <a:r>
              <a:rPr lang="en-US" sz="3017" spc="178" dirty="0" err="1">
                <a:solidFill>
                  <a:srgbClr val="000000"/>
                </a:solidFill>
                <a:latin typeface="Helios"/>
                <a:ea typeface="Helios"/>
                <a:cs typeface="Helios"/>
                <a:sym typeface="Helios"/>
              </a:rPr>
              <a:t>Hacerlo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llegar</a:t>
            </a:r>
            <a:r>
              <a:rPr lang="en-US" sz="3017" spc="178" dirty="0">
                <a:solidFill>
                  <a:srgbClr val="000000"/>
                </a:solidFill>
                <a:latin typeface="Helios"/>
                <a:ea typeface="Helios"/>
                <a:cs typeface="Helios"/>
                <a:sym typeface="Helios"/>
              </a:rPr>
              <a:t>, junto con </a:t>
            </a:r>
            <a:r>
              <a:rPr lang="en-US" sz="3017" spc="178" dirty="0" err="1">
                <a:solidFill>
                  <a:srgbClr val="000000"/>
                </a:solidFill>
                <a:latin typeface="Helios"/>
                <a:ea typeface="Helios"/>
                <a:cs typeface="Helios"/>
                <a:sym typeface="Helios"/>
              </a:rPr>
              <a:t>una</a:t>
            </a:r>
            <a:r>
              <a:rPr lang="en-US" sz="3017" spc="178" dirty="0">
                <a:solidFill>
                  <a:srgbClr val="000000"/>
                </a:solidFill>
                <a:latin typeface="Helios"/>
                <a:ea typeface="Helios"/>
                <a:cs typeface="Helios"/>
                <a:sym typeface="Helios"/>
              </a:rPr>
              <a:t> carta de </a:t>
            </a:r>
            <a:r>
              <a:rPr lang="en-US" sz="3017" spc="178" dirty="0" err="1">
                <a:solidFill>
                  <a:srgbClr val="000000"/>
                </a:solidFill>
                <a:latin typeface="Helios"/>
                <a:ea typeface="Helios"/>
                <a:cs typeface="Helios"/>
                <a:sym typeface="Helios"/>
              </a:rPr>
              <a:t>presentación</a:t>
            </a:r>
            <a:r>
              <a:rPr lang="en-US" sz="3017" spc="178" dirty="0">
                <a:solidFill>
                  <a:srgbClr val="000000"/>
                </a:solidFill>
                <a:latin typeface="Helios"/>
                <a:ea typeface="Helios"/>
                <a:cs typeface="Helios"/>
                <a:sym typeface="Helios"/>
              </a:rPr>
              <a:t>.</a:t>
            </a:r>
          </a:p>
          <a:p>
            <a:pPr marL="514350" indent="-514350" algn="l">
              <a:lnSpc>
                <a:spcPts val="4224"/>
              </a:lnSpc>
              <a:spcBef>
                <a:spcPct val="0"/>
              </a:spcBef>
              <a:buFont typeface="+mj-lt"/>
              <a:buAutoNum type="arabicPeriod"/>
            </a:pPr>
            <a:r>
              <a:rPr lang="en-US" sz="3017" spc="178" dirty="0" err="1">
                <a:solidFill>
                  <a:srgbClr val="000000"/>
                </a:solidFill>
                <a:latin typeface="Helios"/>
                <a:ea typeface="Helios"/>
                <a:cs typeface="Helios"/>
                <a:sym typeface="Helios"/>
              </a:rPr>
              <a:t>Informarnos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sobre</a:t>
            </a:r>
            <a:r>
              <a:rPr lang="en-US" sz="3017" spc="178" dirty="0">
                <a:solidFill>
                  <a:srgbClr val="000000"/>
                </a:solidFill>
                <a:latin typeface="Helios"/>
                <a:ea typeface="Helios"/>
                <a:cs typeface="Helios"/>
                <a:sym typeface="Helios"/>
              </a:rPr>
              <a:t> la </a:t>
            </a:r>
            <a:r>
              <a:rPr lang="en-US" sz="3017" spc="178" dirty="0" err="1">
                <a:solidFill>
                  <a:srgbClr val="000000"/>
                </a:solidFill>
                <a:latin typeface="Helios"/>
                <a:ea typeface="Helios"/>
                <a:cs typeface="Helios"/>
                <a:sym typeface="Helios"/>
              </a:rPr>
              <a:t>empresa</a:t>
            </a:r>
            <a:r>
              <a:rPr lang="en-US" sz="3017" spc="178" dirty="0">
                <a:solidFill>
                  <a:srgbClr val="000000"/>
                </a:solidFill>
                <a:latin typeface="Helios"/>
                <a:ea typeface="Helios"/>
                <a:cs typeface="Helios"/>
                <a:sym typeface="Helios"/>
              </a:rPr>
              <a:t>.</a:t>
            </a:r>
          </a:p>
          <a:p>
            <a:pPr marL="514350" indent="-514350" algn="l">
              <a:lnSpc>
                <a:spcPts val="4224"/>
              </a:lnSpc>
              <a:spcBef>
                <a:spcPct val="0"/>
              </a:spcBef>
              <a:buFont typeface="+mj-lt"/>
              <a:buAutoNum type="arabicPeriod"/>
            </a:pPr>
            <a:r>
              <a:rPr lang="en-US" sz="3017" spc="178" dirty="0" err="1">
                <a:solidFill>
                  <a:srgbClr val="000000"/>
                </a:solidFill>
                <a:latin typeface="Helios"/>
                <a:ea typeface="Helios"/>
                <a:cs typeface="Helios"/>
                <a:sym typeface="Helios"/>
              </a:rPr>
              <a:t>Participar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proceso</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selección</a:t>
            </a:r>
            <a:r>
              <a:rPr lang="en-US" sz="3017" spc="178" dirty="0">
                <a:solidFill>
                  <a:srgbClr val="000000"/>
                </a:solidFill>
                <a:latin typeface="Helios"/>
                <a:ea typeface="Helios"/>
                <a:cs typeface="Helios"/>
                <a:sym typeface="Helios"/>
              </a:rPr>
              <a:t>.</a:t>
            </a:r>
          </a:p>
        </p:txBody>
      </p:sp>
      <p:sp>
        <p:nvSpPr>
          <p:cNvPr id="5" name="TextBox 5"/>
          <p:cNvSpPr txBox="1"/>
          <p:nvPr/>
        </p:nvSpPr>
        <p:spPr>
          <a:xfrm>
            <a:off x="138860" y="647700"/>
            <a:ext cx="18010279" cy="1777794"/>
          </a:xfrm>
          <a:prstGeom prst="rect">
            <a:avLst/>
          </a:prstGeom>
        </p:spPr>
        <p:txBody>
          <a:bodyPr lIns="0" tIns="0" rIns="0" bIns="0" rtlCol="0" anchor="t">
            <a:spAutoFit/>
          </a:bodyPr>
          <a:lstStyle/>
          <a:p>
            <a:pPr algn="l">
              <a:lnSpc>
                <a:spcPts val="4847"/>
              </a:lnSpc>
              <a:spcBef>
                <a:spcPct val="0"/>
              </a:spcBef>
            </a:pPr>
            <a:r>
              <a:rPr lang="en-US" sz="3017" spc="178" dirty="0" err="1">
                <a:solidFill>
                  <a:srgbClr val="000000"/>
                </a:solidFill>
                <a:latin typeface="Helios"/>
                <a:sym typeface="Borel"/>
              </a:rPr>
              <a:t>Cumpliendo</a:t>
            </a:r>
            <a:r>
              <a:rPr lang="en-US" sz="3017" spc="178" dirty="0">
                <a:solidFill>
                  <a:srgbClr val="000000"/>
                </a:solidFill>
                <a:latin typeface="Helios"/>
                <a:sym typeface="Borel"/>
              </a:rPr>
              <a:t> </a:t>
            </a:r>
            <a:r>
              <a:rPr lang="en-US" sz="3017" spc="178" dirty="0" err="1">
                <a:solidFill>
                  <a:srgbClr val="000000"/>
                </a:solidFill>
                <a:latin typeface="Helios"/>
                <a:sym typeface="Borel"/>
              </a:rPr>
              <a:t>estos</a:t>
            </a:r>
            <a:r>
              <a:rPr lang="en-US" sz="3017" spc="178" dirty="0">
                <a:solidFill>
                  <a:srgbClr val="000000"/>
                </a:solidFill>
                <a:latin typeface="Helios"/>
                <a:sym typeface="Borel"/>
              </a:rPr>
              <a:t> </a:t>
            </a:r>
            <a:r>
              <a:rPr lang="en-US" sz="3017" spc="178" dirty="0" err="1">
                <a:solidFill>
                  <a:srgbClr val="000000"/>
                </a:solidFill>
                <a:latin typeface="Helios"/>
                <a:sym typeface="Borel"/>
              </a:rPr>
              <a:t>requisitos</a:t>
            </a:r>
            <a:r>
              <a:rPr lang="en-US" sz="3017" spc="178" dirty="0">
                <a:solidFill>
                  <a:srgbClr val="000000"/>
                </a:solidFill>
                <a:latin typeface="Helios"/>
                <a:sym typeface="Borel"/>
              </a:rPr>
              <a:t> </a:t>
            </a:r>
            <a:r>
              <a:rPr lang="en-US" sz="3017" spc="178" dirty="0" err="1">
                <a:solidFill>
                  <a:srgbClr val="000000"/>
                </a:solidFill>
                <a:latin typeface="Helios"/>
                <a:sym typeface="Borel"/>
              </a:rPr>
              <a:t>iniciales</a:t>
            </a:r>
            <a:r>
              <a:rPr lang="en-US" sz="3017" spc="178" dirty="0">
                <a:solidFill>
                  <a:srgbClr val="000000"/>
                </a:solidFill>
                <a:latin typeface="Helios"/>
                <a:sym typeface="Borel"/>
              </a:rPr>
              <a:t>, se </a:t>
            </a:r>
            <a:r>
              <a:rPr lang="en-US" sz="3017" spc="178" dirty="0" err="1">
                <a:solidFill>
                  <a:srgbClr val="000000"/>
                </a:solidFill>
                <a:latin typeface="Helios"/>
                <a:sym typeface="Borel"/>
              </a:rPr>
              <a:t>estara</a:t>
            </a:r>
            <a:r>
              <a:rPr lang="en-US" sz="3017" spc="178" dirty="0">
                <a:solidFill>
                  <a:srgbClr val="000000"/>
                </a:solidFill>
                <a:latin typeface="Helios"/>
                <a:sym typeface="Borel"/>
              </a:rPr>
              <a:t> </a:t>
            </a:r>
            <a:r>
              <a:rPr lang="en-US" sz="3017" spc="178" dirty="0" err="1">
                <a:solidFill>
                  <a:srgbClr val="000000"/>
                </a:solidFill>
                <a:latin typeface="Helios"/>
                <a:sym typeface="Borel"/>
              </a:rPr>
              <a:t>en</a:t>
            </a:r>
            <a:r>
              <a:rPr lang="en-US" sz="3017" spc="178" dirty="0">
                <a:solidFill>
                  <a:srgbClr val="000000"/>
                </a:solidFill>
                <a:latin typeface="Helios"/>
                <a:sym typeface="Borel"/>
              </a:rPr>
              <a:t> </a:t>
            </a:r>
            <a:r>
              <a:rPr lang="en-US" sz="3017" spc="178" dirty="0" err="1">
                <a:solidFill>
                  <a:srgbClr val="000000"/>
                </a:solidFill>
                <a:latin typeface="Helios"/>
                <a:sym typeface="Borel"/>
              </a:rPr>
              <a:t>mejores</a:t>
            </a:r>
            <a:r>
              <a:rPr lang="en-US" sz="3017" spc="178" dirty="0">
                <a:solidFill>
                  <a:srgbClr val="000000"/>
                </a:solidFill>
                <a:latin typeface="Helios"/>
                <a:sym typeface="Borel"/>
              </a:rPr>
              <a:t> </a:t>
            </a:r>
            <a:r>
              <a:rPr lang="en-US" sz="3017" spc="178" dirty="0" err="1">
                <a:solidFill>
                  <a:srgbClr val="000000"/>
                </a:solidFill>
                <a:latin typeface="Helios"/>
                <a:sym typeface="Borel"/>
              </a:rPr>
              <a:t>condiciones</a:t>
            </a:r>
            <a:r>
              <a:rPr lang="en-US" sz="3017" spc="178" dirty="0">
                <a:solidFill>
                  <a:srgbClr val="000000"/>
                </a:solidFill>
                <a:latin typeface="Helios"/>
                <a:sym typeface="Borel"/>
              </a:rPr>
              <a:t> para </a:t>
            </a:r>
            <a:r>
              <a:rPr lang="en-US" sz="3017" spc="178" dirty="0" err="1">
                <a:solidFill>
                  <a:srgbClr val="000000"/>
                </a:solidFill>
                <a:latin typeface="Helios"/>
                <a:sym typeface="Borel"/>
              </a:rPr>
              <a:t>enfocarte</a:t>
            </a:r>
            <a:r>
              <a:rPr lang="en-US" sz="3017" spc="178" dirty="0">
                <a:solidFill>
                  <a:srgbClr val="000000"/>
                </a:solidFill>
                <a:latin typeface="Helios"/>
                <a:sym typeface="Borel"/>
              </a:rPr>
              <a:t> </a:t>
            </a:r>
            <a:r>
              <a:rPr lang="en-US" sz="3017" spc="178" dirty="0" err="1">
                <a:solidFill>
                  <a:srgbClr val="000000"/>
                </a:solidFill>
                <a:latin typeface="Helios"/>
                <a:sym typeface="Borel"/>
              </a:rPr>
              <a:t>en</a:t>
            </a:r>
            <a:r>
              <a:rPr lang="en-US" sz="3017" spc="178" dirty="0">
                <a:solidFill>
                  <a:srgbClr val="000000"/>
                </a:solidFill>
                <a:latin typeface="Helios"/>
                <a:sym typeface="Borel"/>
              </a:rPr>
              <a:t> las </a:t>
            </a:r>
            <a:r>
              <a:rPr lang="en-US" sz="3017" spc="178" dirty="0" err="1">
                <a:solidFill>
                  <a:srgbClr val="000000"/>
                </a:solidFill>
                <a:latin typeface="Helios"/>
                <a:sym typeface="Borel"/>
              </a:rPr>
              <a:t>opciones</a:t>
            </a:r>
            <a:r>
              <a:rPr lang="en-US" sz="3017" spc="178" dirty="0">
                <a:solidFill>
                  <a:srgbClr val="000000"/>
                </a:solidFill>
                <a:latin typeface="Helios"/>
                <a:sym typeface="Borel"/>
              </a:rPr>
              <a:t> de </a:t>
            </a:r>
            <a:r>
              <a:rPr lang="en-US" sz="3017" spc="178" dirty="0" err="1">
                <a:solidFill>
                  <a:srgbClr val="000000"/>
                </a:solidFill>
                <a:latin typeface="Helios"/>
                <a:sym typeface="Borel"/>
              </a:rPr>
              <a:t>trabajo</a:t>
            </a:r>
            <a:r>
              <a:rPr lang="en-US" sz="3017" spc="178" dirty="0">
                <a:solidFill>
                  <a:srgbClr val="000000"/>
                </a:solidFill>
                <a:latin typeface="Helios"/>
                <a:sym typeface="Borel"/>
              </a:rPr>
              <a:t> </a:t>
            </a:r>
            <a:r>
              <a:rPr lang="en-US" sz="3017" spc="178" dirty="0" err="1">
                <a:solidFill>
                  <a:srgbClr val="000000"/>
                </a:solidFill>
                <a:latin typeface="Helios"/>
                <a:sym typeface="Borel"/>
              </a:rPr>
              <a:t>que</a:t>
            </a:r>
            <a:r>
              <a:rPr lang="en-US" sz="3017" spc="178" dirty="0">
                <a:solidFill>
                  <a:srgbClr val="000000"/>
                </a:solidFill>
                <a:latin typeface="Helios"/>
                <a:sym typeface="Borel"/>
              </a:rPr>
              <a:t> </a:t>
            </a:r>
            <a:r>
              <a:rPr lang="en-US" sz="3017" spc="178" dirty="0" err="1">
                <a:solidFill>
                  <a:srgbClr val="000000"/>
                </a:solidFill>
                <a:latin typeface="Helios"/>
                <a:sym typeface="Borel"/>
              </a:rPr>
              <a:t>mejor</a:t>
            </a:r>
            <a:r>
              <a:rPr lang="en-US" sz="3017" spc="178" dirty="0">
                <a:solidFill>
                  <a:srgbClr val="000000"/>
                </a:solidFill>
                <a:latin typeface="Helios"/>
                <a:sym typeface="Borel"/>
              </a:rPr>
              <a:t> se </a:t>
            </a:r>
            <a:r>
              <a:rPr lang="en-US" sz="3017" spc="178" dirty="0" err="1">
                <a:solidFill>
                  <a:srgbClr val="000000"/>
                </a:solidFill>
                <a:latin typeface="Helios"/>
                <a:sym typeface="Borel"/>
              </a:rPr>
              <a:t>alineen</a:t>
            </a:r>
            <a:r>
              <a:rPr lang="en-US" sz="3017" spc="178" dirty="0">
                <a:solidFill>
                  <a:srgbClr val="000000"/>
                </a:solidFill>
                <a:latin typeface="Helios"/>
                <a:sym typeface="Borel"/>
              </a:rPr>
              <a:t> con </a:t>
            </a:r>
            <a:r>
              <a:rPr lang="en-US" sz="3017" spc="178" dirty="0" err="1">
                <a:solidFill>
                  <a:srgbClr val="000000"/>
                </a:solidFill>
                <a:latin typeface="Helios"/>
                <a:sym typeface="Borel"/>
              </a:rPr>
              <a:t>tu</a:t>
            </a:r>
            <a:r>
              <a:rPr lang="en-US" sz="3017" spc="178" dirty="0">
                <a:solidFill>
                  <a:srgbClr val="000000"/>
                </a:solidFill>
                <a:latin typeface="Helios"/>
                <a:sym typeface="Borel"/>
              </a:rPr>
              <a:t> </a:t>
            </a:r>
            <a:r>
              <a:rPr lang="en-US" sz="3017" spc="178" dirty="0" err="1">
                <a:solidFill>
                  <a:srgbClr val="000000"/>
                </a:solidFill>
                <a:latin typeface="Helios"/>
                <a:sym typeface="Borel"/>
              </a:rPr>
              <a:t>perfil</a:t>
            </a:r>
            <a:r>
              <a:rPr lang="en-US" sz="3017" spc="178" dirty="0">
                <a:solidFill>
                  <a:srgbClr val="000000"/>
                </a:solidFill>
                <a:latin typeface="Helios"/>
                <a:sym typeface="Borel"/>
              </a:rPr>
              <a:t> </a:t>
            </a:r>
            <a:r>
              <a:rPr lang="en-US" sz="3017" spc="178" dirty="0" err="1">
                <a:solidFill>
                  <a:srgbClr val="000000"/>
                </a:solidFill>
                <a:latin typeface="Helios"/>
                <a:sym typeface="Borel"/>
              </a:rPr>
              <a:t>profesional.Las</a:t>
            </a:r>
            <a:r>
              <a:rPr lang="en-US" sz="3017" spc="178" dirty="0">
                <a:solidFill>
                  <a:srgbClr val="000000"/>
                </a:solidFill>
                <a:latin typeface="Helios"/>
                <a:sym typeface="Borel"/>
              </a:rPr>
              <a:t> </a:t>
            </a:r>
            <a:r>
              <a:rPr lang="en-US" sz="3017" spc="178" dirty="0" err="1">
                <a:solidFill>
                  <a:srgbClr val="000000"/>
                </a:solidFill>
                <a:latin typeface="Helios"/>
                <a:sym typeface="Borel"/>
              </a:rPr>
              <a:t>fases</a:t>
            </a:r>
            <a:r>
              <a:rPr lang="en-US" sz="3017" spc="178" dirty="0">
                <a:solidFill>
                  <a:srgbClr val="000000"/>
                </a:solidFill>
                <a:latin typeface="Helios"/>
                <a:sym typeface="Borel"/>
              </a:rPr>
              <a:t> </a:t>
            </a:r>
            <a:r>
              <a:rPr lang="en-US" sz="3017" spc="178" dirty="0" err="1">
                <a:solidFill>
                  <a:srgbClr val="000000"/>
                </a:solidFill>
                <a:latin typeface="Helios"/>
                <a:sym typeface="Borel"/>
              </a:rPr>
              <a:t>que</a:t>
            </a:r>
            <a:r>
              <a:rPr lang="en-US" sz="3017" spc="178" dirty="0">
                <a:solidFill>
                  <a:srgbClr val="000000"/>
                </a:solidFill>
                <a:latin typeface="Helios"/>
                <a:sym typeface="Borel"/>
              </a:rPr>
              <a:t> se </a:t>
            </a:r>
            <a:r>
              <a:rPr lang="en-US" sz="3017" spc="178" dirty="0" err="1">
                <a:solidFill>
                  <a:srgbClr val="000000"/>
                </a:solidFill>
                <a:latin typeface="Helios"/>
                <a:sym typeface="Borel"/>
              </a:rPr>
              <a:t>deberan</a:t>
            </a:r>
            <a:r>
              <a:rPr lang="en-US" sz="3017" spc="178" dirty="0">
                <a:solidFill>
                  <a:srgbClr val="000000"/>
                </a:solidFill>
                <a:latin typeface="Helios"/>
                <a:sym typeface="Borel"/>
              </a:rPr>
              <a:t> de </a:t>
            </a:r>
            <a:r>
              <a:rPr lang="en-US" sz="3017" spc="178" dirty="0" err="1">
                <a:solidFill>
                  <a:srgbClr val="000000"/>
                </a:solidFill>
                <a:latin typeface="Helios"/>
                <a:sym typeface="Borel"/>
              </a:rPr>
              <a:t>seguir</a:t>
            </a:r>
            <a:r>
              <a:rPr lang="en-US" sz="3017" spc="178" dirty="0">
                <a:solidFill>
                  <a:srgbClr val="000000"/>
                </a:solidFill>
                <a:latin typeface="Helios"/>
                <a:sym typeface="Borel"/>
              </a:rPr>
              <a:t> </a:t>
            </a:r>
            <a:r>
              <a:rPr lang="en-US" sz="3017" spc="178" dirty="0" err="1">
                <a:solidFill>
                  <a:srgbClr val="000000"/>
                </a:solidFill>
                <a:latin typeface="Helios"/>
                <a:sym typeface="Borel"/>
              </a:rPr>
              <a:t>en</a:t>
            </a:r>
            <a:r>
              <a:rPr lang="en-US" sz="3017" spc="178" dirty="0">
                <a:solidFill>
                  <a:srgbClr val="000000"/>
                </a:solidFill>
                <a:latin typeface="Helios"/>
                <a:sym typeface="Borel"/>
              </a:rPr>
              <a:t> un </a:t>
            </a:r>
            <a:r>
              <a:rPr lang="en-US" sz="3017" spc="178" dirty="0" err="1">
                <a:solidFill>
                  <a:srgbClr val="000000"/>
                </a:solidFill>
                <a:latin typeface="Helios"/>
                <a:sym typeface="Borel"/>
              </a:rPr>
              <a:t>proceso</a:t>
            </a:r>
            <a:r>
              <a:rPr lang="en-US" sz="3017" spc="178" dirty="0">
                <a:solidFill>
                  <a:srgbClr val="000000"/>
                </a:solidFill>
                <a:latin typeface="Helios"/>
                <a:sym typeface="Borel"/>
              </a:rPr>
              <a:t> de </a:t>
            </a:r>
            <a:r>
              <a:rPr lang="en-US" sz="3017" spc="178" dirty="0" err="1">
                <a:solidFill>
                  <a:srgbClr val="000000"/>
                </a:solidFill>
                <a:latin typeface="Helios"/>
                <a:sym typeface="Borel"/>
              </a:rPr>
              <a:t>busqueda</a:t>
            </a:r>
            <a:r>
              <a:rPr lang="en-US" sz="3017" spc="178" dirty="0">
                <a:solidFill>
                  <a:srgbClr val="000000"/>
                </a:solidFill>
                <a:latin typeface="Helios"/>
                <a:sym typeface="Borel"/>
              </a:rPr>
              <a:t> de </a:t>
            </a:r>
            <a:r>
              <a:rPr lang="en-US" sz="3017" spc="178" dirty="0" err="1">
                <a:solidFill>
                  <a:srgbClr val="000000"/>
                </a:solidFill>
                <a:latin typeface="Helios"/>
                <a:sym typeface="Borel"/>
              </a:rPr>
              <a:t>empleo</a:t>
            </a:r>
            <a:r>
              <a:rPr lang="en-US" sz="3017" spc="178" dirty="0">
                <a:solidFill>
                  <a:srgbClr val="000000"/>
                </a:solidFill>
                <a:latin typeface="Helios"/>
                <a:sym typeface="Borel"/>
              </a:rPr>
              <a:t> 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4" name="TextBox 4"/>
          <p:cNvSpPr txBox="1"/>
          <p:nvPr/>
        </p:nvSpPr>
        <p:spPr>
          <a:xfrm>
            <a:off x="789161" y="267891"/>
            <a:ext cx="16095525" cy="2287229"/>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2. PREPARACIÓN DEL CURRICULUM Y LA CARTA DE PRESENTACIÓN</a:t>
            </a:r>
          </a:p>
          <a:p>
            <a:pPr algn="l">
              <a:lnSpc>
                <a:spcPts val="5852"/>
              </a:lnSpc>
            </a:pPr>
            <a:endParaRPr lang="en-US" sz="5369" b="1" spc="-177" dirty="0">
              <a:solidFill>
                <a:srgbClr val="4D4C4C"/>
              </a:solidFill>
              <a:latin typeface="TS Deniz Bold"/>
              <a:ea typeface="TS Deniz Bold"/>
              <a:cs typeface="TS Deniz Bold"/>
              <a:sym typeface="TS Deniz Bold"/>
            </a:endParaRPr>
          </a:p>
        </p:txBody>
      </p:sp>
      <p:sp>
        <p:nvSpPr>
          <p:cNvPr id="5" name="TextBox 4">
            <a:extLst>
              <a:ext uri="{FF2B5EF4-FFF2-40B4-BE49-F238E27FC236}">
                <a16:creationId xmlns:a16="http://schemas.microsoft.com/office/drawing/2014/main" id="{BE05F535-64C1-C937-E6EE-61EF5915339F}"/>
              </a:ext>
            </a:extLst>
          </p:cNvPr>
          <p:cNvSpPr txBox="1"/>
          <p:nvPr/>
        </p:nvSpPr>
        <p:spPr>
          <a:xfrm>
            <a:off x="789160" y="1772133"/>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2.1. El </a:t>
            </a:r>
            <a:r>
              <a:rPr lang="en-US" sz="5369" b="1" spc="-177" dirty="0" err="1">
                <a:solidFill>
                  <a:srgbClr val="4D4C4C"/>
                </a:solidFill>
                <a:latin typeface="TS Deniz Bold"/>
                <a:ea typeface="TS Deniz Bold"/>
                <a:cs typeface="TS Deniz Bold"/>
                <a:sym typeface="TS Deniz Bold"/>
              </a:rPr>
              <a:t>Currículum</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6E6CE5CB-C14F-2E6F-A8C6-8C9F8E21CF19}"/>
              </a:ext>
            </a:extLst>
          </p:cNvPr>
          <p:cNvSpPr txBox="1"/>
          <p:nvPr/>
        </p:nvSpPr>
        <p:spPr>
          <a:xfrm>
            <a:off x="648342" y="3369892"/>
            <a:ext cx="17603009" cy="4308872"/>
          </a:xfrm>
          <a:prstGeom prst="rect">
            <a:avLst/>
          </a:prstGeom>
        </p:spPr>
        <p:txBody>
          <a:bodyPr lIns="0" tIns="0" rIns="0" bIns="0" rtlCol="0" anchor="t">
            <a:spAutoFit/>
          </a:bodyPr>
          <a:lstStyle/>
          <a:p>
            <a:pPr algn="l">
              <a:lnSpc>
                <a:spcPts val="4224"/>
              </a:lnSpc>
            </a:pPr>
            <a:r>
              <a:rPr lang="en-US" sz="3462" dirty="0">
                <a:solidFill>
                  <a:srgbClr val="71743C"/>
                </a:solidFill>
                <a:latin typeface="Borel"/>
                <a:ea typeface="Borel"/>
                <a:sym typeface="Helios"/>
              </a:rPr>
              <a:t>El curriculum, o curriculum vitae (CV), es un </a:t>
            </a:r>
            <a:r>
              <a:rPr lang="en-US" sz="3462" dirty="0" err="1">
                <a:solidFill>
                  <a:srgbClr val="71743C"/>
                </a:solidFill>
                <a:latin typeface="Borel"/>
                <a:ea typeface="Borel"/>
                <a:sym typeface="Helios"/>
              </a:rPr>
              <a:t>documento</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que</a:t>
            </a:r>
            <a:r>
              <a:rPr lang="en-US" sz="3462" dirty="0">
                <a:solidFill>
                  <a:srgbClr val="71743C"/>
                </a:solidFill>
                <a:latin typeface="Borel"/>
                <a:ea typeface="Borel"/>
                <a:sym typeface="Helios"/>
              </a:rPr>
              <a:t> resume de </a:t>
            </a:r>
            <a:r>
              <a:rPr lang="en-US" sz="3462" dirty="0" err="1">
                <a:solidFill>
                  <a:srgbClr val="71743C"/>
                </a:solidFill>
                <a:latin typeface="Borel"/>
                <a:ea typeface="Borel"/>
                <a:sym typeface="Helios"/>
              </a:rPr>
              <a:t>manera</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estructurada</a:t>
            </a:r>
            <a:r>
              <a:rPr lang="en-US" sz="3462" dirty="0">
                <a:solidFill>
                  <a:srgbClr val="71743C"/>
                </a:solidFill>
                <a:latin typeface="Borel"/>
                <a:ea typeface="Borel"/>
                <a:sym typeface="Helios"/>
              </a:rPr>
              <a:t> la </a:t>
            </a:r>
            <a:r>
              <a:rPr lang="en-US" sz="3462" dirty="0" err="1">
                <a:solidFill>
                  <a:srgbClr val="71743C"/>
                </a:solidFill>
                <a:latin typeface="Borel"/>
                <a:ea typeface="Borel"/>
                <a:sym typeface="Helios"/>
              </a:rPr>
              <a:t>formación</a:t>
            </a:r>
            <a:r>
              <a:rPr lang="en-US" sz="3462" dirty="0">
                <a:solidFill>
                  <a:srgbClr val="71743C"/>
                </a:solidFill>
                <a:latin typeface="Borel"/>
                <a:ea typeface="Borel"/>
                <a:sym typeface="Helios"/>
              </a:rPr>
              <a:t>, la </a:t>
            </a:r>
            <a:r>
              <a:rPr lang="en-US" sz="3462" dirty="0" err="1">
                <a:solidFill>
                  <a:srgbClr val="71743C"/>
                </a:solidFill>
                <a:latin typeface="Borel"/>
                <a:ea typeface="Borel"/>
                <a:sym typeface="Helios"/>
              </a:rPr>
              <a:t>experiencia</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laboral</a:t>
            </a:r>
            <a:r>
              <a:rPr lang="en-US" sz="3462" dirty="0">
                <a:solidFill>
                  <a:srgbClr val="71743C"/>
                </a:solidFill>
                <a:latin typeface="Borel"/>
                <a:ea typeface="Borel"/>
                <a:sym typeface="Helios"/>
              </a:rPr>
              <a:t> y </a:t>
            </a:r>
            <a:r>
              <a:rPr lang="en-US" sz="3462" dirty="0" err="1">
                <a:solidFill>
                  <a:srgbClr val="71743C"/>
                </a:solidFill>
                <a:latin typeface="Borel"/>
                <a:ea typeface="Borel"/>
                <a:sym typeface="Helios"/>
              </a:rPr>
              <a:t>en</a:t>
            </a:r>
            <a:r>
              <a:rPr lang="en-US" sz="3462" dirty="0">
                <a:solidFill>
                  <a:srgbClr val="71743C"/>
                </a:solidFill>
                <a:latin typeface="Borel"/>
                <a:ea typeface="Borel"/>
                <a:sym typeface="Helios"/>
              </a:rPr>
              <a:t> general, </a:t>
            </a:r>
            <a:r>
              <a:rPr lang="en-US" sz="3462" dirty="0" err="1">
                <a:solidFill>
                  <a:srgbClr val="71743C"/>
                </a:solidFill>
                <a:latin typeface="Borel"/>
                <a:ea typeface="Borel"/>
                <a:sym typeface="Helios"/>
              </a:rPr>
              <a:t>todas</a:t>
            </a:r>
            <a:r>
              <a:rPr lang="en-US" sz="3462" dirty="0">
                <a:solidFill>
                  <a:srgbClr val="71743C"/>
                </a:solidFill>
                <a:latin typeface="Borel"/>
                <a:ea typeface="Borel"/>
                <a:sym typeface="Helios"/>
              </a:rPr>
              <a:t> las </a:t>
            </a:r>
            <a:r>
              <a:rPr lang="en-US" sz="3462" dirty="0" err="1">
                <a:solidFill>
                  <a:srgbClr val="71743C"/>
                </a:solidFill>
                <a:latin typeface="Borel"/>
                <a:ea typeface="Borel"/>
                <a:sym typeface="Helios"/>
              </a:rPr>
              <a:t>informaciones</a:t>
            </a:r>
            <a:r>
              <a:rPr lang="en-US" sz="3462" dirty="0">
                <a:solidFill>
                  <a:srgbClr val="71743C"/>
                </a:solidFill>
                <a:latin typeface="Borel"/>
                <a:ea typeface="Borel"/>
                <a:sym typeface="Helios"/>
              </a:rPr>
              <a:t> </a:t>
            </a:r>
            <a:r>
              <a:rPr lang="en-US" sz="3462" dirty="0" err="1">
                <a:solidFill>
                  <a:srgbClr val="71743C"/>
                </a:solidFill>
                <a:latin typeface="Borel"/>
                <a:ea typeface="Borel"/>
                <a:sym typeface="Helios"/>
              </a:rPr>
              <a:t>relacionadas</a:t>
            </a:r>
            <a:r>
              <a:rPr lang="en-US" sz="3462" dirty="0">
                <a:solidFill>
                  <a:srgbClr val="71743C"/>
                </a:solidFill>
                <a:latin typeface="Borel"/>
                <a:ea typeface="Borel"/>
                <a:sym typeface="Helios"/>
              </a:rPr>
              <a:t> con la </a:t>
            </a:r>
            <a:r>
              <a:rPr lang="en-US" sz="3462" dirty="0" err="1">
                <a:solidFill>
                  <a:srgbClr val="71743C"/>
                </a:solidFill>
                <a:latin typeface="Borel"/>
                <a:ea typeface="Borel"/>
                <a:sym typeface="Helios"/>
              </a:rPr>
              <a:t>empleabilidad</a:t>
            </a:r>
            <a:r>
              <a:rPr lang="en-US" sz="3462" dirty="0">
                <a:solidFill>
                  <a:srgbClr val="71743C"/>
                </a:solidFill>
                <a:latin typeface="Borel"/>
                <a:ea typeface="Borel"/>
                <a:sym typeface="Helios"/>
              </a:rPr>
              <a:t> de la persona.</a:t>
            </a: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p:cNvSpPr txBox="1"/>
          <p:nvPr/>
        </p:nvSpPr>
        <p:spPr>
          <a:xfrm>
            <a:off x="342495" y="1381349"/>
            <a:ext cx="17603009" cy="4797852"/>
          </a:xfrm>
          <a:prstGeom prst="rect">
            <a:avLst/>
          </a:prstGeom>
        </p:spPr>
        <p:txBody>
          <a:bodyPr lIns="0" tIns="0" rIns="0" bIns="0" rtlCol="0" anchor="t">
            <a:spAutoFit/>
          </a:bodyPr>
          <a:lstStyle/>
          <a:p>
            <a:pPr algn="l">
              <a:lnSpc>
                <a:spcPts val="4224"/>
              </a:lnSpc>
            </a:pPr>
            <a:r>
              <a:rPr lang="en-US" sz="3017" spc="178" dirty="0" err="1">
                <a:solidFill>
                  <a:srgbClr val="000000"/>
                </a:solidFill>
                <a:latin typeface="Helios"/>
                <a:ea typeface="Helios"/>
                <a:cs typeface="Helios"/>
                <a:sym typeface="Helios"/>
              </a:rPr>
              <a:t>Existen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muchos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modelos</a:t>
            </a:r>
            <a:r>
              <a:rPr lang="en-US" sz="3017" spc="178" dirty="0">
                <a:solidFill>
                  <a:srgbClr val="000000"/>
                </a:solidFill>
                <a:latin typeface="Helios"/>
                <a:ea typeface="Helios"/>
                <a:cs typeface="Helios"/>
                <a:sym typeface="Helios"/>
              </a:rPr>
              <a:t> de CV, </a:t>
            </a:r>
            <a:r>
              <a:rPr lang="en-US" sz="3017" spc="178" dirty="0" err="1">
                <a:solidFill>
                  <a:srgbClr val="000000"/>
                </a:solidFill>
                <a:latin typeface="Helios"/>
                <a:ea typeface="Helios"/>
                <a:cs typeface="Helios"/>
                <a:sym typeface="Helios"/>
              </a:rPr>
              <a:t>pero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todos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ellos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deben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contener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esta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información</a:t>
            </a:r>
            <a:r>
              <a:rPr lang="en-US" sz="3017" spc="178" dirty="0">
                <a:solidFill>
                  <a:srgbClr val="000000"/>
                </a:solidFill>
                <a:latin typeface="Helios"/>
                <a:ea typeface="Helios"/>
                <a:cs typeface="Helios"/>
                <a:sym typeface="Helios"/>
              </a:rPr>
              <a:t>:</a:t>
            </a:r>
          </a:p>
          <a:p>
            <a:pPr algn="l">
              <a:lnSpc>
                <a:spcPts val="4224"/>
              </a:lnSpc>
              <a:spcBef>
                <a:spcPct val="0"/>
              </a:spcBef>
            </a:pPr>
            <a:endParaRPr lang="en-US" sz="3017" spc="178" dirty="0">
              <a:solidFill>
                <a:srgbClr val="000000"/>
              </a:solidFill>
              <a:latin typeface="Helios"/>
              <a:ea typeface="Helios"/>
              <a:cs typeface="Helios"/>
              <a:sym typeface="Helios"/>
            </a:endParaRPr>
          </a:p>
          <a:p>
            <a:pPr algn="l">
              <a:lnSpc>
                <a:spcPts val="4224"/>
              </a:lnSpc>
              <a:spcBef>
                <a:spcPct val="0"/>
              </a:spcBef>
            </a:pPr>
            <a:r>
              <a:rPr lang="en-US" sz="3017" b="1" spc="178" dirty="0">
                <a:solidFill>
                  <a:srgbClr val="000000"/>
                </a:solidFill>
                <a:latin typeface="Helios"/>
                <a:ea typeface="Helios"/>
                <a:cs typeface="Helios"/>
                <a:sym typeface="Helios"/>
              </a:rPr>
              <a:t>Datos </a:t>
            </a:r>
            <a:r>
              <a:rPr lang="en-US" sz="3017" b="1" spc="178" dirty="0" err="1">
                <a:solidFill>
                  <a:srgbClr val="000000"/>
                </a:solidFill>
                <a:latin typeface="Helios"/>
                <a:ea typeface="Helios"/>
                <a:cs typeface="Helios"/>
                <a:sym typeface="Helios"/>
              </a:rPr>
              <a:t>básicos</a:t>
            </a:r>
            <a:r>
              <a:rPr lang="en-US" sz="3017" b="1" spc="178" dirty="0">
                <a:solidFill>
                  <a:srgbClr val="000000"/>
                </a:solidFill>
                <a:latin typeface="Helios"/>
                <a:ea typeface="Helios"/>
                <a:cs typeface="Helios"/>
                <a:sym typeface="Helios"/>
              </a:rPr>
              <a:t> de la persona</a:t>
            </a:r>
            <a:r>
              <a:rPr lang="en-US" sz="3017" spc="178" dirty="0">
                <a:solidFill>
                  <a:srgbClr val="000000"/>
                </a:solidFill>
                <a:latin typeface="Helios"/>
                <a:ea typeface="Helios"/>
                <a:cs typeface="Helios"/>
                <a:sym typeface="Helios"/>
              </a:rPr>
              <a:t>: Nombre y </a:t>
            </a:r>
            <a:r>
              <a:rPr lang="en-US" sz="3017" spc="178" dirty="0" err="1">
                <a:solidFill>
                  <a:srgbClr val="000000"/>
                </a:solidFill>
                <a:latin typeface="Helios"/>
                <a:ea typeface="Helios"/>
                <a:cs typeface="Helios"/>
                <a:sym typeface="Helios"/>
              </a:rPr>
              <a:t>apellidos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datos</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contacto</a:t>
            </a:r>
            <a:r>
              <a:rPr lang="en-US" sz="3017" spc="178" dirty="0">
                <a:solidFill>
                  <a:srgbClr val="000000"/>
                </a:solidFill>
                <a:latin typeface="Helios"/>
                <a:ea typeface="Helios"/>
                <a:cs typeface="Helios"/>
                <a:sym typeface="Helios"/>
              </a:rPr>
              <a:t>.</a:t>
            </a:r>
          </a:p>
          <a:p>
            <a:pPr algn="l">
              <a:lnSpc>
                <a:spcPts val="4224"/>
              </a:lnSpc>
              <a:spcBef>
                <a:spcPct val="0"/>
              </a:spcBef>
            </a:pPr>
            <a:r>
              <a:rPr lang="en-US" sz="3017" b="1" spc="178" dirty="0">
                <a:solidFill>
                  <a:srgbClr val="000000"/>
                </a:solidFill>
                <a:latin typeface="Helios"/>
                <a:ea typeface="Helios"/>
                <a:cs typeface="Helios"/>
                <a:sym typeface="Helios"/>
              </a:rPr>
              <a:t>Datos de </a:t>
            </a:r>
            <a:r>
              <a:rPr lang="en-US" sz="3017" b="1" spc="178" dirty="0" err="1">
                <a:solidFill>
                  <a:srgbClr val="000000"/>
                </a:solidFill>
                <a:latin typeface="Helios"/>
                <a:ea typeface="Helios"/>
                <a:cs typeface="Helios"/>
                <a:sym typeface="Helios"/>
              </a:rPr>
              <a:t>formación</a:t>
            </a:r>
            <a:r>
              <a:rPr lang="en-US" sz="3017" b="1"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Formación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reglada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titulaciones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académicas</a:t>
            </a:r>
            <a:r>
              <a:rPr lang="en-US" sz="3017" spc="178" dirty="0">
                <a:solidFill>
                  <a:srgbClr val="000000"/>
                </a:solidFill>
                <a:latin typeface="Helios"/>
                <a:ea typeface="Helios"/>
                <a:cs typeface="Helios"/>
                <a:sym typeface="Helios"/>
              </a:rPr>
              <a:t> y </a:t>
            </a:r>
            <a:r>
              <a:rPr lang="en-US" sz="3017" spc="178" dirty="0" err="1">
                <a:solidFill>
                  <a:srgbClr val="000000"/>
                </a:solidFill>
                <a:latin typeface="Helios"/>
                <a:ea typeface="Helios"/>
                <a:cs typeface="Helios"/>
                <a:sym typeface="Helios"/>
              </a:rPr>
              <a:t>profesionales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formación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especializada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Formaciones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complementarias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Idiomas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cursos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informática</a:t>
            </a:r>
            <a:r>
              <a:rPr lang="en-US" sz="3017" spc="178" dirty="0">
                <a:solidFill>
                  <a:srgbClr val="000000"/>
                </a:solidFill>
                <a:latin typeface="Helios"/>
                <a:ea typeface="Helios"/>
                <a:cs typeface="Helios"/>
                <a:sym typeface="Helios"/>
              </a:rPr>
              <a:t>…</a:t>
            </a:r>
          </a:p>
          <a:p>
            <a:pPr algn="l">
              <a:lnSpc>
                <a:spcPts val="4224"/>
              </a:lnSpc>
              <a:spcBef>
                <a:spcPct val="0"/>
              </a:spcBef>
            </a:pPr>
            <a:r>
              <a:rPr lang="en-US" sz="3017" b="1" spc="178" dirty="0">
                <a:solidFill>
                  <a:srgbClr val="000000"/>
                </a:solidFill>
                <a:latin typeface="Helios"/>
                <a:ea typeface="Helios"/>
                <a:cs typeface="Helios"/>
                <a:sym typeface="Helios"/>
              </a:rPr>
              <a:t>Datos </a:t>
            </a:r>
            <a:r>
              <a:rPr lang="en-US" sz="3017" b="1" spc="178" dirty="0" err="1">
                <a:solidFill>
                  <a:srgbClr val="000000"/>
                </a:solidFill>
                <a:latin typeface="Helios"/>
                <a:ea typeface="Helios"/>
                <a:cs typeface="Helios"/>
                <a:sym typeface="Helios"/>
              </a:rPr>
              <a:t>profesionales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Trabajos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realizados</a:t>
            </a:r>
            <a:r>
              <a:rPr lang="en-US" sz="3017" spc="178" dirty="0">
                <a:solidFill>
                  <a:srgbClr val="000000"/>
                </a:solidFill>
                <a:latin typeface="Helios"/>
                <a:ea typeface="Helios"/>
                <a:cs typeface="Helios"/>
                <a:sym typeface="Helios"/>
              </a:rPr>
              <a:t>, cargos y </a:t>
            </a:r>
            <a:r>
              <a:rPr lang="en-US" sz="3017" spc="178" dirty="0" err="1">
                <a:solidFill>
                  <a:srgbClr val="000000"/>
                </a:solidFill>
                <a:latin typeface="Helios"/>
                <a:ea typeface="Helios"/>
                <a:cs typeface="Helios"/>
                <a:sym typeface="Helios"/>
              </a:rPr>
              <a:t>funciones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asignadas</a:t>
            </a:r>
            <a:r>
              <a:rPr lang="en-US" sz="3017" spc="178" dirty="0">
                <a:solidFill>
                  <a:srgbClr val="000000"/>
                </a:solidFill>
                <a:latin typeface="Helios"/>
                <a:ea typeface="Helios"/>
                <a:cs typeface="Helios"/>
                <a:sym typeface="Helios"/>
              </a:rPr>
              <a:t> a </a:t>
            </a:r>
            <a:r>
              <a:rPr lang="en-US" sz="3017" spc="178" dirty="0" err="1">
                <a:solidFill>
                  <a:srgbClr val="000000"/>
                </a:solidFill>
                <a:latin typeface="Helios"/>
                <a:ea typeface="Helios"/>
                <a:cs typeface="Helios"/>
                <a:sym typeface="Helios"/>
              </a:rPr>
              <a:t>cada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puesto</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trabajo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competencias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técnicas</a:t>
            </a:r>
            <a:r>
              <a:rPr lang="en-US" sz="3017" spc="178" dirty="0">
                <a:solidFill>
                  <a:srgbClr val="000000"/>
                </a:solidFill>
                <a:latin typeface="Helios"/>
                <a:ea typeface="Helios"/>
                <a:cs typeface="Helios"/>
                <a:sym typeface="Helios"/>
              </a:rPr>
              <a:t> y </a:t>
            </a:r>
            <a:r>
              <a:rPr lang="en-US" sz="3017" spc="178" dirty="0" err="1">
                <a:solidFill>
                  <a:srgbClr val="000000"/>
                </a:solidFill>
                <a:latin typeface="Helios"/>
                <a:ea typeface="Helios"/>
                <a:cs typeface="Helios"/>
                <a:sym typeface="Helios"/>
              </a:rPr>
              <a:t>transversales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que</a:t>
            </a:r>
            <a:r>
              <a:rPr lang="en-US" sz="3017" spc="178" dirty="0">
                <a:solidFill>
                  <a:srgbClr val="000000"/>
                </a:solidFill>
                <a:latin typeface="Helios"/>
                <a:ea typeface="Helios"/>
                <a:cs typeface="Helios"/>
                <a:sym typeface="Helios"/>
              </a:rPr>
              <a:t> se </a:t>
            </a:r>
            <a:r>
              <a:rPr lang="en-US" sz="3017" spc="178" dirty="0" err="1">
                <a:solidFill>
                  <a:srgbClr val="000000"/>
                </a:solidFill>
                <a:latin typeface="Helios"/>
                <a:ea typeface="Helios"/>
                <a:cs typeface="Helios"/>
                <a:sym typeface="Helios"/>
              </a:rPr>
              <a:t>han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puesto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práctica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etc</a:t>
            </a:r>
            <a:r>
              <a:rPr lang="en-US" sz="3017" spc="178" dirty="0">
                <a:solidFill>
                  <a:srgbClr val="000000"/>
                </a:solidFill>
                <a:latin typeface="Helios"/>
                <a:ea typeface="Helios"/>
                <a:cs typeface="Helios"/>
                <a:sym typeface="Helios"/>
              </a:rPr>
              <a:t>…</a:t>
            </a:r>
          </a:p>
          <a:p>
            <a:pPr algn="l">
              <a:lnSpc>
                <a:spcPts val="4224"/>
              </a:lnSpc>
              <a:spcBef>
                <a:spcPct val="0"/>
              </a:spcBef>
            </a:pPr>
            <a:r>
              <a:rPr lang="en-US" sz="3017" b="1" spc="178" dirty="0" err="1">
                <a:solidFill>
                  <a:srgbClr val="000000"/>
                </a:solidFill>
                <a:latin typeface="Helios"/>
                <a:ea typeface="Helios"/>
                <a:cs typeface="Helios"/>
                <a:sym typeface="Helios"/>
              </a:rPr>
              <a:t>Otros</a:t>
            </a:r>
            <a:r>
              <a:rPr lang="en-US" sz="3017" b="1" spc="178" dirty="0">
                <a:solidFill>
                  <a:srgbClr val="000000"/>
                </a:solidFill>
                <a:latin typeface="Helios"/>
                <a:ea typeface="Helios"/>
                <a:cs typeface="Helios"/>
                <a:sym typeface="Helios"/>
              </a:rPr>
              <a:t> </a:t>
            </a:r>
            <a:r>
              <a:rPr lang="en-US" sz="3017" b="1" spc="178" dirty="0" err="1">
                <a:solidFill>
                  <a:srgbClr val="000000"/>
                </a:solidFill>
                <a:latin typeface="Helios"/>
                <a:ea typeface="Helios"/>
                <a:cs typeface="Helios"/>
                <a:sym typeface="Helios"/>
              </a:rPr>
              <a:t>datos</a:t>
            </a:r>
            <a:r>
              <a:rPr lang="en-US" sz="3017" b="1" spc="178" dirty="0">
                <a:solidFill>
                  <a:srgbClr val="000000"/>
                </a:solidFill>
                <a:latin typeface="Helios"/>
                <a:ea typeface="Helios"/>
                <a:cs typeface="Helios"/>
                <a:sym typeface="Helios"/>
              </a:rPr>
              <a:t> de </a:t>
            </a:r>
            <a:r>
              <a:rPr lang="en-US" sz="3017" b="1" spc="178" dirty="0" err="1">
                <a:solidFill>
                  <a:srgbClr val="000000"/>
                </a:solidFill>
                <a:latin typeface="Helios"/>
                <a:ea typeface="Helios"/>
                <a:cs typeface="Helios"/>
                <a:sym typeface="Helios"/>
              </a:rPr>
              <a:t>interes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Permiso</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conducir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disponibilidad</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horaria</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disponibilidad</a:t>
            </a:r>
            <a:r>
              <a:rPr lang="en-US" sz="3017" spc="178" dirty="0">
                <a:solidFill>
                  <a:srgbClr val="000000"/>
                </a:solidFill>
                <a:latin typeface="Helios"/>
                <a:ea typeface="Helios"/>
                <a:cs typeface="Helios"/>
                <a:sym typeface="Helios"/>
              </a:rPr>
              <a:t> para </a:t>
            </a:r>
            <a:r>
              <a:rPr lang="en-US" sz="3017" spc="178" dirty="0" err="1">
                <a:solidFill>
                  <a:srgbClr val="000000"/>
                </a:solidFill>
                <a:latin typeface="Helios"/>
                <a:ea typeface="Helios"/>
                <a:cs typeface="Helios"/>
                <a:sym typeface="Helios"/>
              </a:rPr>
              <a:t>viajar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disponibilidad</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incorporación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aficiones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expectativas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etc</a:t>
            </a:r>
            <a:r>
              <a:rPr lang="en-US" sz="3017" spc="178" dirty="0">
                <a:solidFill>
                  <a:srgbClr val="000000"/>
                </a:solidFill>
                <a:latin typeface="Helios"/>
                <a:ea typeface="Helios"/>
                <a:cs typeface="Helios"/>
                <a:sym typeface="Helios"/>
              </a:rPr>
              <a:t>…</a:t>
            </a:r>
          </a:p>
        </p:txBody>
      </p:sp>
      <p:sp>
        <p:nvSpPr>
          <p:cNvPr id="4" name="TextBox 4"/>
          <p:cNvSpPr txBox="1"/>
          <p:nvPr/>
        </p:nvSpPr>
        <p:spPr>
          <a:xfrm>
            <a:off x="789161" y="267891"/>
            <a:ext cx="16095525" cy="773994"/>
          </a:xfrm>
          <a:prstGeom prst="rect">
            <a:avLst/>
          </a:prstGeom>
        </p:spPr>
        <p:txBody>
          <a:bodyPr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2.1. El </a:t>
            </a:r>
            <a:r>
              <a:rPr lang="en-US" sz="5369" b="1" spc="-177" dirty="0" err="1">
                <a:solidFill>
                  <a:srgbClr val="4D4C4C"/>
                </a:solidFill>
                <a:latin typeface="TS Deniz Bold"/>
                <a:ea typeface="TS Deniz Bold"/>
                <a:cs typeface="TS Deniz Bold"/>
                <a:sym typeface="TS Deniz Bold"/>
              </a:rPr>
              <a:t>Currículum</a:t>
            </a:r>
            <a:endParaRPr lang="en-US" sz="5369" b="1" spc="-177" dirty="0">
              <a:solidFill>
                <a:srgbClr val="4D4C4C"/>
              </a:solidFill>
              <a:latin typeface="TS Deniz Bold"/>
              <a:ea typeface="TS Deniz Bold"/>
              <a:cs typeface="TS Deniz Bold"/>
              <a:sym typeface="TS Deniz Bold"/>
            </a:endParaRPr>
          </a:p>
        </p:txBody>
      </p:sp>
      <p:sp>
        <p:nvSpPr>
          <p:cNvPr id="5" name="TextBox 3">
            <a:extLst>
              <a:ext uri="{FF2B5EF4-FFF2-40B4-BE49-F238E27FC236}">
                <a16:creationId xmlns:a16="http://schemas.microsoft.com/office/drawing/2014/main" id="{73951958-53C8-AF46-5E9E-B6339DC91D98}"/>
              </a:ext>
            </a:extLst>
          </p:cNvPr>
          <p:cNvSpPr txBox="1"/>
          <p:nvPr/>
        </p:nvSpPr>
        <p:spPr>
          <a:xfrm>
            <a:off x="342494" y="6795331"/>
            <a:ext cx="17603009" cy="2104807"/>
          </a:xfrm>
          <a:prstGeom prst="rect">
            <a:avLst/>
          </a:prstGeom>
        </p:spPr>
        <p:txBody>
          <a:bodyPr lIns="0" tIns="0" rIns="0" bIns="0" rtlCol="0" anchor="t">
            <a:spAutoFit/>
          </a:bodyPr>
          <a:lstStyle/>
          <a:p>
            <a:pPr algn="l">
              <a:lnSpc>
                <a:spcPts val="4224"/>
              </a:lnSpc>
            </a:pPr>
            <a:r>
              <a:rPr lang="en-US" sz="3017" spc="178" dirty="0">
                <a:solidFill>
                  <a:srgbClr val="000000"/>
                </a:solidFill>
                <a:latin typeface="Helios"/>
                <a:ea typeface="Helios"/>
                <a:cs typeface="Helios"/>
                <a:sym typeface="Helios"/>
              </a:rPr>
              <a:t>Es fundamental </a:t>
            </a:r>
            <a:r>
              <a:rPr lang="en-US" sz="3017" spc="178" dirty="0" err="1">
                <a:solidFill>
                  <a:srgbClr val="000000"/>
                </a:solidFill>
                <a:latin typeface="Helios"/>
                <a:ea typeface="Helios"/>
                <a:cs typeface="Helios"/>
                <a:sym typeface="Helios"/>
              </a:rPr>
              <a:t>ordenar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a:t>
            </a:r>
            <a:r>
              <a:rPr lang="en-US" sz="3017" spc="178" dirty="0">
                <a:solidFill>
                  <a:srgbClr val="000000"/>
                </a:solidFill>
                <a:latin typeface="Helios"/>
                <a:ea typeface="Helios"/>
                <a:cs typeface="Helios"/>
                <a:sym typeface="Helios"/>
              </a:rPr>
              <a:t> curriculum de mas </a:t>
            </a:r>
            <a:r>
              <a:rPr lang="en-US" sz="3017" spc="178" dirty="0" err="1">
                <a:solidFill>
                  <a:srgbClr val="000000"/>
                </a:solidFill>
                <a:latin typeface="Helios"/>
                <a:ea typeface="Helios"/>
                <a:cs typeface="Helios"/>
                <a:sym typeface="Helios"/>
              </a:rPr>
              <a:t>importante</a:t>
            </a:r>
            <a:r>
              <a:rPr lang="en-US" sz="3017" spc="178" dirty="0">
                <a:solidFill>
                  <a:srgbClr val="000000"/>
                </a:solidFill>
                <a:latin typeface="Helios"/>
                <a:ea typeface="Helios"/>
                <a:cs typeface="Helios"/>
                <a:sym typeface="Helios"/>
              </a:rPr>
              <a:t> a </a:t>
            </a:r>
            <a:r>
              <a:rPr lang="en-US" sz="3017" spc="178" dirty="0" err="1">
                <a:solidFill>
                  <a:srgbClr val="000000"/>
                </a:solidFill>
                <a:latin typeface="Helios"/>
                <a:ea typeface="Helios"/>
                <a:cs typeface="Helios"/>
                <a:sym typeface="Helios"/>
              </a:rPr>
              <a:t>menos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importante</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Además</a:t>
            </a:r>
            <a:r>
              <a:rPr lang="en-US" sz="3017" spc="178" dirty="0">
                <a:solidFill>
                  <a:srgbClr val="000000"/>
                </a:solidFill>
                <a:latin typeface="Helios"/>
                <a:ea typeface="Helios"/>
                <a:cs typeface="Helios"/>
                <a:sym typeface="Helios"/>
              </a:rPr>
              <a:t> de mas </a:t>
            </a:r>
            <a:r>
              <a:rPr lang="en-US" sz="3017" spc="178" dirty="0" err="1">
                <a:solidFill>
                  <a:srgbClr val="000000"/>
                </a:solidFill>
                <a:latin typeface="Helios"/>
                <a:ea typeface="Helios"/>
                <a:cs typeface="Helios"/>
                <a:sym typeface="Helios"/>
              </a:rPr>
              <a:t>reciente</a:t>
            </a:r>
            <a:r>
              <a:rPr lang="en-US" sz="3017" spc="178" dirty="0">
                <a:solidFill>
                  <a:srgbClr val="000000"/>
                </a:solidFill>
                <a:latin typeface="Helios"/>
                <a:ea typeface="Helios"/>
                <a:cs typeface="Helios"/>
                <a:sym typeface="Helios"/>
              </a:rPr>
              <a:t> a mas </a:t>
            </a:r>
            <a:r>
              <a:rPr lang="en-US" sz="3017" spc="178" dirty="0" err="1">
                <a:solidFill>
                  <a:srgbClr val="000000"/>
                </a:solidFill>
                <a:latin typeface="Helios"/>
                <a:ea typeface="Helios"/>
                <a:cs typeface="Helios"/>
                <a:sym typeface="Helios"/>
              </a:rPr>
              <a:t>antiguo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indicando</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fecha</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inicio</a:t>
            </a:r>
            <a:r>
              <a:rPr lang="en-US" sz="3017" spc="178" dirty="0">
                <a:solidFill>
                  <a:srgbClr val="000000"/>
                </a:solidFill>
                <a:latin typeface="Helios"/>
                <a:ea typeface="Helios"/>
                <a:cs typeface="Helios"/>
                <a:sym typeface="Helios"/>
              </a:rPr>
              <a:t> y </a:t>
            </a:r>
            <a:r>
              <a:rPr lang="en-US" sz="3017" spc="178" dirty="0" err="1">
                <a:solidFill>
                  <a:srgbClr val="000000"/>
                </a:solidFill>
                <a:latin typeface="Helios"/>
                <a:ea typeface="Helios"/>
                <a:cs typeface="Helios"/>
                <a:sym typeface="Helios"/>
              </a:rPr>
              <a:t>fecha</a:t>
            </a:r>
            <a:r>
              <a:rPr lang="en-US" sz="3017" spc="178" dirty="0">
                <a:solidFill>
                  <a:srgbClr val="000000"/>
                </a:solidFill>
                <a:latin typeface="Helios"/>
                <a:ea typeface="Helios"/>
                <a:cs typeface="Helios"/>
                <a:sym typeface="Helios"/>
              </a:rPr>
              <a:t> y fin, y </a:t>
            </a:r>
            <a:r>
              <a:rPr lang="en-US" sz="3017" spc="178" dirty="0" err="1">
                <a:solidFill>
                  <a:srgbClr val="000000"/>
                </a:solidFill>
                <a:latin typeface="Helios"/>
                <a:ea typeface="Helios"/>
                <a:cs typeface="Helios"/>
                <a:sym typeface="Helios"/>
              </a:rPr>
              <a:t>destacar</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elementos</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según</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el</a:t>
            </a:r>
            <a:r>
              <a:rPr lang="en-US" sz="3017" spc="178" dirty="0">
                <a:solidFill>
                  <a:srgbClr val="000000"/>
                </a:solidFill>
                <a:latin typeface="Helios"/>
                <a:ea typeface="Helios"/>
                <a:cs typeface="Helios"/>
                <a:sym typeface="Helios"/>
              </a:rPr>
              <a:t> </a:t>
            </a:r>
            <a:r>
              <a:rPr lang="en-US" sz="3017" spc="178" dirty="0" err="1">
                <a:solidFill>
                  <a:srgbClr val="000000"/>
                </a:solidFill>
                <a:latin typeface="Helios"/>
                <a:ea typeface="Helios"/>
                <a:cs typeface="Helios"/>
                <a:sym typeface="Helios"/>
              </a:rPr>
              <a:t>puesto</a:t>
            </a:r>
            <a:r>
              <a:rPr lang="en-US" sz="3017" spc="178" dirty="0">
                <a:solidFill>
                  <a:srgbClr val="000000"/>
                </a:solidFill>
                <a:latin typeface="Helios"/>
                <a:ea typeface="Helios"/>
                <a:cs typeface="Helios"/>
                <a:sym typeface="Helios"/>
              </a:rPr>
              <a:t> de </a:t>
            </a:r>
            <a:r>
              <a:rPr lang="en-US" sz="3017" spc="178" dirty="0" err="1">
                <a:solidFill>
                  <a:srgbClr val="000000"/>
                </a:solidFill>
                <a:latin typeface="Helios"/>
                <a:ea typeface="Helios"/>
                <a:cs typeface="Helios"/>
                <a:sym typeface="Helios"/>
              </a:rPr>
              <a:t>trabajo</a:t>
            </a:r>
            <a:r>
              <a:rPr lang="en-US" sz="3017" spc="178" dirty="0">
                <a:solidFill>
                  <a:srgbClr val="000000"/>
                </a:solidFill>
                <a:latin typeface="Helios"/>
                <a:ea typeface="Helios"/>
                <a:cs typeface="Helios"/>
                <a:sym typeface="Helios"/>
              </a:rPr>
              <a:t>.</a:t>
            </a:r>
          </a:p>
          <a:p>
            <a:pPr algn="l">
              <a:lnSpc>
                <a:spcPts val="4224"/>
              </a:lnSpc>
              <a:spcBef>
                <a:spcPct val="0"/>
              </a:spcBef>
            </a:pPr>
            <a:endParaRPr lang="en-US" sz="3017" spc="178" dirty="0">
              <a:solidFill>
                <a:srgbClr val="000000"/>
              </a:solidFill>
              <a:latin typeface="Helios"/>
              <a:ea typeface="Helios"/>
              <a:cs typeface="Helios"/>
              <a:sym typeface="Heli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a:extLst>
            <a:ext uri="{FF2B5EF4-FFF2-40B4-BE49-F238E27FC236}">
              <a16:creationId xmlns:a16="http://schemas.microsoft.com/office/drawing/2014/main" id="{4C0B9F21-5BEA-0FFC-747C-C0EB4A11B7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C6F60A-66FE-CC9F-9D89-8AE2B59963B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FF3C6944-B415-1689-D877-6F0E510986C4}"/>
              </a:ext>
            </a:extLst>
          </p:cNvPr>
          <p:cNvSpPr txBox="1"/>
          <p:nvPr/>
        </p:nvSpPr>
        <p:spPr>
          <a:xfrm>
            <a:off x="342495" y="1381349"/>
            <a:ext cx="17603009" cy="4259243"/>
          </a:xfrm>
          <a:prstGeom prst="rect">
            <a:avLst/>
          </a:prstGeom>
        </p:spPr>
        <p:txBody>
          <a:bodyPr lIns="0" tIns="0" rIns="0" bIns="0" rtlCol="0" anchor="t">
            <a:spAutoFit/>
          </a:bodyPr>
          <a:lstStyle/>
          <a:p>
            <a:pPr>
              <a:lnSpc>
                <a:spcPts val="4224"/>
              </a:lnSpc>
              <a:spcBef>
                <a:spcPct val="0"/>
              </a:spcBef>
            </a:pPr>
            <a:r>
              <a:rPr lang="en-US" sz="3017" b="1" spc="178" dirty="0" err="1">
                <a:solidFill>
                  <a:srgbClr val="000000"/>
                </a:solidFill>
                <a:latin typeface="Helios"/>
                <a:ea typeface="Helios"/>
                <a:cs typeface="Helios"/>
                <a:sym typeface="Helios"/>
              </a:rPr>
              <a:t>Clásicos</a:t>
            </a:r>
            <a:r>
              <a:rPr lang="en-US" sz="3017" b="1" spc="178" dirty="0">
                <a:solidFill>
                  <a:srgbClr val="000000"/>
                </a:solidFill>
                <a:latin typeface="Helios"/>
                <a:ea typeface="Helios"/>
                <a:cs typeface="Helios"/>
                <a:sym typeface="Helios"/>
              </a:rPr>
              <a:t>:</a:t>
            </a:r>
            <a:r>
              <a:rPr lang="es-ES" sz="3200" dirty="0"/>
              <a:t>Currículum en formato papel o Word sin contenido digital.</a:t>
            </a:r>
          </a:p>
          <a:p>
            <a:pPr>
              <a:lnSpc>
                <a:spcPts val="4224"/>
              </a:lnSpc>
              <a:spcBef>
                <a:spcPct val="0"/>
              </a:spcBef>
            </a:pPr>
            <a:r>
              <a:rPr lang="en-US" sz="3017" b="1" spc="178" dirty="0" err="1">
                <a:solidFill>
                  <a:srgbClr val="000000"/>
                </a:solidFill>
                <a:latin typeface="Helios"/>
                <a:ea typeface="Helios"/>
                <a:cs typeface="Helios"/>
                <a:sym typeface="Helios"/>
              </a:rPr>
              <a:t>Mixtos</a:t>
            </a:r>
            <a:r>
              <a:rPr lang="en-US" sz="3017" b="1" spc="178" dirty="0">
                <a:solidFill>
                  <a:srgbClr val="000000"/>
                </a:solidFill>
                <a:latin typeface="Helios"/>
                <a:ea typeface="Helios"/>
                <a:cs typeface="Helios"/>
                <a:sym typeface="Helios"/>
              </a:rPr>
              <a:t>: </a:t>
            </a:r>
            <a:r>
              <a:rPr lang="es-ES" sz="3200" dirty="0"/>
              <a:t>Es el conjunto de estudios, méritos, cargos, premios, experiencia laboral que ha desarrollado u obtenido una persona a lo largo de su vida laboral o académica, todo ello en formato imprimible pero con complementos que hace necesario el uso de las TIC para analizar su totalidad. </a:t>
            </a:r>
          </a:p>
          <a:p>
            <a:pPr>
              <a:lnSpc>
                <a:spcPts val="4224"/>
              </a:lnSpc>
              <a:spcBef>
                <a:spcPct val="0"/>
              </a:spcBef>
            </a:pPr>
            <a:r>
              <a:rPr lang="es-ES" sz="3017" b="1" spc="178" dirty="0">
                <a:solidFill>
                  <a:srgbClr val="000000"/>
                </a:solidFill>
                <a:latin typeface="Helios"/>
              </a:rPr>
              <a:t>Digitales: </a:t>
            </a:r>
            <a:r>
              <a:rPr lang="es-ES" sz="3200" dirty="0"/>
              <a:t>Es una herramienta que recoge el conjunto de contenido, documentos, obras, presentaciones, experiencias y demás documentos de interés.</a:t>
            </a:r>
          </a:p>
          <a:p>
            <a:pPr>
              <a:lnSpc>
                <a:spcPts val="4224"/>
              </a:lnSpc>
              <a:spcBef>
                <a:spcPct val="0"/>
              </a:spcBef>
            </a:pPr>
            <a:endParaRPr lang="es-ES" sz="3200" dirty="0"/>
          </a:p>
          <a:p>
            <a:pPr algn="l">
              <a:lnSpc>
                <a:spcPts val="4224"/>
              </a:lnSpc>
              <a:spcBef>
                <a:spcPct val="0"/>
              </a:spcBef>
            </a:pPr>
            <a:endParaRPr lang="en-US" sz="3017" spc="178" dirty="0">
              <a:solidFill>
                <a:srgbClr val="000000"/>
              </a:solidFill>
              <a:latin typeface="Helios"/>
              <a:ea typeface="Helios"/>
              <a:cs typeface="Helios"/>
              <a:sym typeface="Helios"/>
            </a:endParaRPr>
          </a:p>
        </p:txBody>
      </p:sp>
      <p:sp>
        <p:nvSpPr>
          <p:cNvPr id="4" name="TextBox 4">
            <a:extLst>
              <a:ext uri="{FF2B5EF4-FFF2-40B4-BE49-F238E27FC236}">
                <a16:creationId xmlns:a16="http://schemas.microsoft.com/office/drawing/2014/main" id="{772BAFF3-B848-FDE6-F6E7-A66CDAEF1843}"/>
              </a:ext>
            </a:extLst>
          </p:cNvPr>
          <p:cNvSpPr txBox="1"/>
          <p:nvPr/>
        </p:nvSpPr>
        <p:spPr>
          <a:xfrm>
            <a:off x="789161" y="267891"/>
            <a:ext cx="16095525" cy="773994"/>
          </a:xfrm>
          <a:prstGeom prst="rect">
            <a:avLst/>
          </a:prstGeom>
        </p:spPr>
        <p:txBody>
          <a:bodyPr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2.1. 1 </a:t>
            </a:r>
            <a:r>
              <a:rPr lang="en-US" sz="5369" b="1" spc="-177" dirty="0" err="1">
                <a:solidFill>
                  <a:srgbClr val="4D4C4C"/>
                </a:solidFill>
                <a:latin typeface="TS Deniz Bold"/>
                <a:ea typeface="TS Deniz Bold"/>
                <a:cs typeface="TS Deniz Bold"/>
                <a:sym typeface="TS Deniz Bold"/>
              </a:rPr>
              <a:t>Tipos</a:t>
            </a:r>
            <a:r>
              <a:rPr lang="en-US" sz="5369" b="1" spc="-177" dirty="0">
                <a:solidFill>
                  <a:srgbClr val="4D4C4C"/>
                </a:solidFill>
                <a:latin typeface="TS Deniz Bold"/>
                <a:ea typeface="TS Deniz Bold"/>
                <a:cs typeface="TS Deniz Bold"/>
                <a:sym typeface="TS Deniz Bold"/>
              </a:rPr>
              <a:t> de curriculums</a:t>
            </a:r>
          </a:p>
        </p:txBody>
      </p:sp>
    </p:spTree>
    <p:extLst>
      <p:ext uri="{BB962C8B-B14F-4D97-AF65-F5344CB8AC3E}">
        <p14:creationId xmlns:p14="http://schemas.microsoft.com/office/powerpoint/2010/main" val="3180656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a:extLst>
            <a:ext uri="{FF2B5EF4-FFF2-40B4-BE49-F238E27FC236}">
              <a16:creationId xmlns:a16="http://schemas.microsoft.com/office/drawing/2014/main" id="{AF5E5B55-69C7-8C69-4F4A-4F33B7F955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1A704F-EC7B-930A-919B-2B66DA86ABC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CCD8EB53-20B8-8CED-1308-79FA48FC9AC0}"/>
              </a:ext>
            </a:extLst>
          </p:cNvPr>
          <p:cNvSpPr txBox="1"/>
          <p:nvPr/>
        </p:nvSpPr>
        <p:spPr>
          <a:xfrm>
            <a:off x="789161" y="267891"/>
            <a:ext cx="16095525" cy="773994"/>
          </a:xfrm>
          <a:prstGeom prst="rect">
            <a:avLst/>
          </a:prstGeom>
        </p:spPr>
        <p:txBody>
          <a:bodyPr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2.1. 1 </a:t>
            </a:r>
            <a:r>
              <a:rPr lang="en-US" sz="5369" b="1" spc="-177" dirty="0" err="1">
                <a:solidFill>
                  <a:srgbClr val="4D4C4C"/>
                </a:solidFill>
                <a:latin typeface="TS Deniz Bold"/>
                <a:ea typeface="TS Deniz Bold"/>
                <a:cs typeface="TS Deniz Bold"/>
                <a:sym typeface="TS Deniz Bold"/>
              </a:rPr>
              <a:t>Tipos</a:t>
            </a:r>
            <a:r>
              <a:rPr lang="en-US" sz="5369" b="1" spc="-177" dirty="0">
                <a:solidFill>
                  <a:srgbClr val="4D4C4C"/>
                </a:solidFill>
                <a:latin typeface="TS Deniz Bold"/>
                <a:ea typeface="TS Deniz Bold"/>
                <a:cs typeface="TS Deniz Bold"/>
                <a:sym typeface="TS Deniz Bold"/>
              </a:rPr>
              <a:t> de curriculums</a:t>
            </a:r>
          </a:p>
        </p:txBody>
      </p:sp>
      <p:graphicFrame>
        <p:nvGraphicFramePr>
          <p:cNvPr id="5" name="Objeto 4">
            <a:extLst>
              <a:ext uri="{FF2B5EF4-FFF2-40B4-BE49-F238E27FC236}">
                <a16:creationId xmlns:a16="http://schemas.microsoft.com/office/drawing/2014/main" id="{56B1FBC3-D678-466A-7509-B979736B6178}"/>
              </a:ext>
            </a:extLst>
          </p:cNvPr>
          <p:cNvGraphicFramePr>
            <a:graphicFrameLocks noChangeAspect="1"/>
          </p:cNvGraphicFramePr>
          <p:nvPr>
            <p:extLst>
              <p:ext uri="{D42A27DB-BD31-4B8C-83A1-F6EECF244321}">
                <p14:modId xmlns:p14="http://schemas.microsoft.com/office/powerpoint/2010/main" val="2875060715"/>
              </p:ext>
            </p:extLst>
          </p:nvPr>
        </p:nvGraphicFramePr>
        <p:xfrm>
          <a:off x="0" y="1181100"/>
          <a:ext cx="7467600" cy="9115448"/>
        </p:xfrm>
        <a:graphic>
          <a:graphicData uri="http://schemas.openxmlformats.org/presentationml/2006/ole">
            <mc:AlternateContent xmlns:mc="http://schemas.openxmlformats.org/markup-compatibility/2006">
              <mc:Choice xmlns:v="urn:schemas-microsoft-com:vml" Requires="v">
                <p:oleObj name="Acrobat Document" r:id="rId4" imgW="4541378" imgH="6415677" progId="Acrobat.Document.DC">
                  <p:embed/>
                </p:oleObj>
              </mc:Choice>
              <mc:Fallback>
                <p:oleObj name="Acrobat Document" r:id="rId4" imgW="4541378" imgH="6415677" progId="Acrobat.Document.DC">
                  <p:embed/>
                  <p:pic>
                    <p:nvPicPr>
                      <p:cNvPr id="0" name=""/>
                      <p:cNvPicPr/>
                      <p:nvPr/>
                    </p:nvPicPr>
                    <p:blipFill>
                      <a:blip r:embed="rId5"/>
                      <a:stretch>
                        <a:fillRect/>
                      </a:stretch>
                    </p:blipFill>
                    <p:spPr>
                      <a:xfrm>
                        <a:off x="0" y="1181100"/>
                        <a:ext cx="7467600" cy="9115448"/>
                      </a:xfrm>
                      <a:prstGeom prst="rect">
                        <a:avLst/>
                      </a:prstGeom>
                    </p:spPr>
                  </p:pic>
                </p:oleObj>
              </mc:Fallback>
            </mc:AlternateContent>
          </a:graphicData>
        </a:graphic>
      </p:graphicFrame>
      <p:graphicFrame>
        <p:nvGraphicFramePr>
          <p:cNvPr id="6" name="Objeto 5">
            <a:extLst>
              <a:ext uri="{FF2B5EF4-FFF2-40B4-BE49-F238E27FC236}">
                <a16:creationId xmlns:a16="http://schemas.microsoft.com/office/drawing/2014/main" id="{71315B33-66E6-5A4D-4931-BFC9B46E30A3}"/>
              </a:ext>
            </a:extLst>
          </p:cNvPr>
          <p:cNvGraphicFramePr>
            <a:graphicFrameLocks noChangeAspect="1"/>
          </p:cNvGraphicFramePr>
          <p:nvPr>
            <p:extLst>
              <p:ext uri="{D42A27DB-BD31-4B8C-83A1-F6EECF244321}">
                <p14:modId xmlns:p14="http://schemas.microsoft.com/office/powerpoint/2010/main" val="1698360432"/>
              </p:ext>
            </p:extLst>
          </p:nvPr>
        </p:nvGraphicFramePr>
        <p:xfrm>
          <a:off x="10668000" y="174230"/>
          <a:ext cx="7615518" cy="10122318"/>
        </p:xfrm>
        <a:graphic>
          <a:graphicData uri="http://schemas.openxmlformats.org/presentationml/2006/ole">
            <mc:AlternateContent xmlns:mc="http://schemas.openxmlformats.org/markup-compatibility/2006">
              <mc:Choice xmlns:v="urn:schemas-microsoft-com:vml" Requires="v">
                <p:oleObj name="Acrobat Document" r:id="rId6" imgW="4541378" imgH="6415677" progId="Acrobat.Document.DC">
                  <p:embed/>
                </p:oleObj>
              </mc:Choice>
              <mc:Fallback>
                <p:oleObj name="Acrobat Document" r:id="rId6" imgW="4541378" imgH="6415677" progId="Acrobat.Document.DC">
                  <p:embed/>
                  <p:pic>
                    <p:nvPicPr>
                      <p:cNvPr id="0" name=""/>
                      <p:cNvPicPr/>
                      <p:nvPr/>
                    </p:nvPicPr>
                    <p:blipFill>
                      <a:blip r:embed="rId7"/>
                      <a:stretch>
                        <a:fillRect/>
                      </a:stretch>
                    </p:blipFill>
                    <p:spPr>
                      <a:xfrm>
                        <a:off x="10668000" y="174230"/>
                        <a:ext cx="7615518" cy="10122318"/>
                      </a:xfrm>
                      <a:prstGeom prst="rect">
                        <a:avLst/>
                      </a:prstGeom>
                    </p:spPr>
                  </p:pic>
                </p:oleObj>
              </mc:Fallback>
            </mc:AlternateContent>
          </a:graphicData>
        </a:graphic>
      </p:graphicFrame>
    </p:spTree>
    <p:extLst>
      <p:ext uri="{BB962C8B-B14F-4D97-AF65-F5344CB8AC3E}">
        <p14:creationId xmlns:p14="http://schemas.microsoft.com/office/powerpoint/2010/main" val="1847499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Freeform 2"/>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p:cNvSpPr txBox="1"/>
          <p:nvPr/>
        </p:nvSpPr>
        <p:spPr>
          <a:xfrm>
            <a:off x="342495" y="1025802"/>
            <a:ext cx="17603009" cy="2104807"/>
          </a:xfrm>
          <a:prstGeom prst="rect">
            <a:avLst/>
          </a:prstGeom>
        </p:spPr>
        <p:txBody>
          <a:bodyPr lIns="0" tIns="0" rIns="0" bIns="0" rtlCol="0" anchor="t">
            <a:spAutoFit/>
          </a:bodyPr>
          <a:lstStyle/>
          <a:p>
            <a:pPr marL="325752" lvl="1" algn="l">
              <a:lnSpc>
                <a:spcPts val="4224"/>
              </a:lnSpc>
            </a:pPr>
            <a:endParaRPr lang="en-US" sz="3017" spc="178" dirty="0">
              <a:solidFill>
                <a:srgbClr val="000000"/>
              </a:solidFill>
              <a:latin typeface="Helios"/>
              <a:ea typeface="Helios"/>
              <a:cs typeface="Helios"/>
              <a:sym typeface="Helios"/>
            </a:endParaRPr>
          </a:p>
          <a:p>
            <a:pPr algn="l">
              <a:lnSpc>
                <a:spcPts val="4224"/>
              </a:lnSpc>
            </a:pPr>
            <a:endParaRPr lang="en-US" sz="3017" spc="178" dirty="0">
              <a:solidFill>
                <a:srgbClr val="000000"/>
              </a:solidFill>
              <a:latin typeface="Helios"/>
              <a:ea typeface="Helios"/>
              <a:cs typeface="Helios"/>
              <a:sym typeface="Helios"/>
            </a:endParaRPr>
          </a:p>
          <a:p>
            <a:pPr algn="l">
              <a:lnSpc>
                <a:spcPts val="4224"/>
              </a:lnSpc>
            </a:pPr>
            <a:endParaRPr lang="en-US" sz="3017" spc="178" dirty="0">
              <a:solidFill>
                <a:srgbClr val="000000"/>
              </a:solidFill>
              <a:latin typeface="Helios"/>
              <a:ea typeface="Helios"/>
              <a:cs typeface="Helios"/>
              <a:sym typeface="Helios"/>
            </a:endParaRPr>
          </a:p>
          <a:p>
            <a:pPr algn="l">
              <a:lnSpc>
                <a:spcPts val="4224"/>
              </a:lnSpc>
              <a:spcBef>
                <a:spcPct val="0"/>
              </a:spcBef>
            </a:pPr>
            <a:endParaRPr lang="en-US" sz="3017" spc="178" dirty="0">
              <a:solidFill>
                <a:srgbClr val="000000"/>
              </a:solidFill>
              <a:latin typeface="Helios"/>
              <a:ea typeface="Helios"/>
              <a:cs typeface="Helios"/>
              <a:sym typeface="Helios"/>
            </a:endParaRPr>
          </a:p>
        </p:txBody>
      </p:sp>
      <p:sp>
        <p:nvSpPr>
          <p:cNvPr id="4" name="TextBox 4"/>
          <p:cNvSpPr txBox="1"/>
          <p:nvPr/>
        </p:nvSpPr>
        <p:spPr>
          <a:xfrm>
            <a:off x="789161" y="267891"/>
            <a:ext cx="16095525" cy="773994"/>
          </a:xfrm>
          <a:prstGeom prst="rect">
            <a:avLst/>
          </a:prstGeom>
        </p:spPr>
        <p:txBody>
          <a:bodyPr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2.2. La Carta de Presentación</a:t>
            </a:r>
          </a:p>
        </p:txBody>
      </p:sp>
      <p:sp>
        <p:nvSpPr>
          <p:cNvPr id="5" name="TextBox 3">
            <a:extLst>
              <a:ext uri="{FF2B5EF4-FFF2-40B4-BE49-F238E27FC236}">
                <a16:creationId xmlns:a16="http://schemas.microsoft.com/office/drawing/2014/main" id="{B9619140-0011-2FBC-1EB3-AC4FBBBF0916}"/>
              </a:ext>
            </a:extLst>
          </p:cNvPr>
          <p:cNvSpPr txBox="1"/>
          <p:nvPr/>
        </p:nvSpPr>
        <p:spPr>
          <a:xfrm>
            <a:off x="342495" y="1534277"/>
            <a:ext cx="17603009" cy="6104235"/>
          </a:xfrm>
          <a:prstGeom prst="rect">
            <a:avLst/>
          </a:prstGeom>
        </p:spPr>
        <p:txBody>
          <a:bodyPr lIns="0" tIns="0" rIns="0" bIns="0" rtlCol="0" anchor="t">
            <a:spAutoFit/>
          </a:bodyPr>
          <a:lstStyle/>
          <a:p>
            <a:pPr algn="l">
              <a:lnSpc>
                <a:spcPts val="4224"/>
              </a:lnSpc>
            </a:pPr>
            <a:r>
              <a:rPr lang="es-ES" sz="3462" dirty="0">
                <a:solidFill>
                  <a:srgbClr val="71743C"/>
                </a:solidFill>
                <a:latin typeface="Borel"/>
                <a:ea typeface="Borel"/>
                <a:sym typeface="Helios"/>
              </a:rPr>
              <a:t>Una carta de presentación es un documento que acompaña al currículum y sirve para destacar tu valor profesional, en ella:</a:t>
            </a:r>
          </a:p>
          <a:p>
            <a:pPr marL="457200" indent="-457200" algn="l">
              <a:lnSpc>
                <a:spcPts val="4224"/>
              </a:lnSpc>
              <a:buFont typeface="Arial" panose="020B0604020202020204" pitchFamily="34" charset="0"/>
              <a:buChar char="•"/>
            </a:pPr>
            <a:r>
              <a:rPr lang="es-ES" sz="3017" spc="178" dirty="0">
                <a:solidFill>
                  <a:srgbClr val="000000"/>
                </a:solidFill>
                <a:latin typeface="Helios"/>
                <a:sym typeface="Helios"/>
              </a:rPr>
              <a:t>Personalizas tu candidatura para un puesto concreto.</a:t>
            </a:r>
          </a:p>
          <a:p>
            <a:pPr marL="457200" indent="-457200" algn="l">
              <a:lnSpc>
                <a:spcPts val="4224"/>
              </a:lnSpc>
              <a:buFont typeface="Arial" panose="020B0604020202020204" pitchFamily="34" charset="0"/>
              <a:buChar char="•"/>
            </a:pPr>
            <a:r>
              <a:rPr lang="es-ES" sz="3017" spc="178" dirty="0">
                <a:solidFill>
                  <a:srgbClr val="000000"/>
                </a:solidFill>
                <a:latin typeface="Helios"/>
                <a:sym typeface="Helios"/>
              </a:rPr>
              <a:t>Explicas por qué te interesa el puesto y cómo encajan tus habilidades con el perfil solicitado.</a:t>
            </a:r>
          </a:p>
          <a:p>
            <a:pPr marL="457200" indent="-457200" algn="l">
              <a:lnSpc>
                <a:spcPts val="4224"/>
              </a:lnSpc>
              <a:buFont typeface="Arial" panose="020B0604020202020204" pitchFamily="34" charset="0"/>
              <a:buChar char="•"/>
            </a:pPr>
            <a:r>
              <a:rPr lang="es-ES" sz="3017" spc="178" dirty="0">
                <a:solidFill>
                  <a:srgbClr val="000000"/>
                </a:solidFill>
                <a:latin typeface="Helios"/>
                <a:sym typeface="Helios"/>
              </a:rPr>
              <a:t>Demuestras tu motivación, actitud profesional y capacidad de comunicación escrita.</a:t>
            </a:r>
          </a:p>
          <a:p>
            <a:pPr marL="457200" indent="-457200" algn="l">
              <a:lnSpc>
                <a:spcPts val="4224"/>
              </a:lnSpc>
              <a:buFont typeface="Arial" panose="020B0604020202020204" pitchFamily="34" charset="0"/>
              <a:buChar char="•"/>
            </a:pPr>
            <a:r>
              <a:rPr lang="es-ES" sz="3017" spc="178" dirty="0">
                <a:solidFill>
                  <a:srgbClr val="000000"/>
                </a:solidFill>
                <a:latin typeface="Helios"/>
                <a:sym typeface="Helios"/>
              </a:rPr>
              <a:t>Debe ser breve (máx. 1 página), clara y adaptada a la empresa y al rol.</a:t>
            </a:r>
          </a:p>
          <a:p>
            <a:pPr marL="457200" indent="-457200" algn="l">
              <a:lnSpc>
                <a:spcPts val="4224"/>
              </a:lnSpc>
              <a:buFont typeface="Arial" panose="020B0604020202020204" pitchFamily="34" charset="0"/>
              <a:buChar char="•"/>
            </a:pPr>
            <a:r>
              <a:rPr lang="es-ES" sz="3017" spc="178" dirty="0">
                <a:solidFill>
                  <a:srgbClr val="000000"/>
                </a:solidFill>
                <a:latin typeface="Helios"/>
                <a:sym typeface="Helios"/>
              </a:rPr>
              <a:t>Puede ser decisiva para que te llamen a entrevista o te descarten.</a:t>
            </a:r>
            <a:endParaRPr lang="en-US" sz="3017" spc="178" dirty="0">
              <a:solidFill>
                <a:srgbClr val="000000"/>
              </a:solidFill>
              <a:latin typeface="Helios"/>
              <a:sym typeface="Helios"/>
              <a:hlinkClick r:id="rId4" tooltip="https://www.youtube.com/embed/10DX-oXG4SY?si=Dy3uaAnuO7tiNV5G%22%20title=">
                <a:extLst>
                  <a:ext uri="{A12FA001-AC4F-418D-AE19-62706E023703}">
                    <ahyp:hlinkClr xmlns:ahyp="http://schemas.microsoft.com/office/drawing/2018/hyperlinkcolor" val="tx"/>
                  </a:ext>
                </a:extLst>
              </a:hlinkClick>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3986999" y="-2149600"/>
            <a:ext cx="6316248" cy="3178300"/>
            <a:chOff x="0" y="0"/>
            <a:chExt cx="807640" cy="406400"/>
          </a:xfrm>
        </p:grpSpPr>
        <p:sp>
          <p:nvSpPr>
            <p:cNvPr id="3" name="Freeform 3"/>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4" name="TextBox 4"/>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7259300" y="-565845"/>
            <a:ext cx="15452455" cy="11836184"/>
            <a:chOff x="0" y="0"/>
            <a:chExt cx="4069782" cy="3117349"/>
          </a:xfrm>
        </p:grpSpPr>
        <p:sp>
          <p:nvSpPr>
            <p:cNvPr id="6" name="Freeform 6"/>
            <p:cNvSpPr/>
            <p:nvPr/>
          </p:nvSpPr>
          <p:spPr>
            <a:xfrm>
              <a:off x="0" y="0"/>
              <a:ext cx="4069783" cy="3117349"/>
            </a:xfrm>
            <a:custGeom>
              <a:avLst/>
              <a:gdLst/>
              <a:ahLst/>
              <a:cxnLst/>
              <a:rect l="l" t="t" r="r" b="b"/>
              <a:pathLst>
                <a:path w="4069783" h="3117349">
                  <a:moveTo>
                    <a:pt x="0" y="0"/>
                  </a:moveTo>
                  <a:lnTo>
                    <a:pt x="4069783" y="0"/>
                  </a:lnTo>
                  <a:lnTo>
                    <a:pt x="4069783" y="3117349"/>
                  </a:lnTo>
                  <a:lnTo>
                    <a:pt x="0" y="3117349"/>
                  </a:lnTo>
                  <a:close/>
                </a:path>
              </a:pathLst>
            </a:custGeom>
            <a:solidFill>
              <a:srgbClr val="B8BB87"/>
            </a:solidFill>
          </p:spPr>
          <p:txBody>
            <a:bodyPr/>
            <a:lstStyle/>
            <a:p>
              <a:endParaRPr lang="es-ES"/>
            </a:p>
          </p:txBody>
        </p:sp>
        <p:sp>
          <p:nvSpPr>
            <p:cNvPr id="7" name="TextBox 7"/>
            <p:cNvSpPr txBox="1"/>
            <p:nvPr/>
          </p:nvSpPr>
          <p:spPr>
            <a:xfrm>
              <a:off x="0" y="-47625"/>
              <a:ext cx="4069782" cy="3164974"/>
            </a:xfrm>
            <a:prstGeom prst="rect">
              <a:avLst/>
            </a:prstGeom>
          </p:spPr>
          <p:txBody>
            <a:bodyPr lIns="50800" tIns="50800" rIns="50800" bIns="50800" rtlCol="0" anchor="ctr"/>
            <a:lstStyle/>
            <a:p>
              <a:pPr algn="ctr">
                <a:lnSpc>
                  <a:spcPts val="3079"/>
                </a:lnSpc>
              </a:pPr>
              <a:endParaRPr/>
            </a:p>
          </p:txBody>
        </p:sp>
      </p:grpSp>
      <p:sp>
        <p:nvSpPr>
          <p:cNvPr id="8" name="TextBox 8"/>
          <p:cNvSpPr txBox="1"/>
          <p:nvPr/>
        </p:nvSpPr>
        <p:spPr>
          <a:xfrm>
            <a:off x="1428627" y="3319928"/>
            <a:ext cx="4216185" cy="3664588"/>
          </a:xfrm>
          <a:prstGeom prst="rect">
            <a:avLst/>
          </a:prstGeom>
        </p:spPr>
        <p:txBody>
          <a:bodyPr lIns="0" tIns="0" rIns="0" bIns="0" rtlCol="0" anchor="t">
            <a:spAutoFit/>
          </a:bodyPr>
          <a:lstStyle/>
          <a:p>
            <a:pPr algn="ctr">
              <a:lnSpc>
                <a:spcPts val="30064"/>
              </a:lnSpc>
              <a:spcBef>
                <a:spcPct val="0"/>
              </a:spcBef>
            </a:pPr>
            <a:r>
              <a:rPr lang="en-US" sz="21474" b="1">
                <a:solidFill>
                  <a:srgbClr val="4D4C4C"/>
                </a:solidFill>
                <a:latin typeface="TS Deniz Bold"/>
                <a:ea typeface="TS Deniz Bold"/>
                <a:cs typeface="TS Deniz Bold"/>
                <a:sym typeface="TS Deniz Bold"/>
              </a:rPr>
              <a:t>03</a:t>
            </a:r>
          </a:p>
        </p:txBody>
      </p:sp>
      <p:sp>
        <p:nvSpPr>
          <p:cNvPr id="9" name="TextBox 9"/>
          <p:cNvSpPr txBox="1"/>
          <p:nvPr/>
        </p:nvSpPr>
        <p:spPr>
          <a:xfrm>
            <a:off x="6473358" y="1921892"/>
            <a:ext cx="10637129" cy="6957674"/>
          </a:xfrm>
          <a:prstGeom prst="rect">
            <a:avLst/>
          </a:prstGeom>
        </p:spPr>
        <p:txBody>
          <a:bodyPr lIns="0" tIns="0" rIns="0" bIns="0" rtlCol="0" anchor="t">
            <a:spAutoFit/>
          </a:bodyPr>
          <a:lstStyle/>
          <a:p>
            <a:pPr>
              <a:lnSpc>
                <a:spcPts val="13721"/>
              </a:lnSpc>
              <a:spcBef>
                <a:spcPct val="0"/>
              </a:spcBef>
            </a:pPr>
            <a:r>
              <a:rPr lang="en-US" sz="9600" b="1" spc="192" dirty="0">
                <a:solidFill>
                  <a:srgbClr val="4D4C4C"/>
                </a:solidFill>
                <a:latin typeface="Helios Bold"/>
                <a:ea typeface="Helios Bold"/>
                <a:cs typeface="Helios Bold"/>
                <a:sym typeface="Helios Bold"/>
              </a:rPr>
              <a:t>La </a:t>
            </a:r>
            <a:r>
              <a:rPr lang="en-US" sz="9600" b="1" spc="192" dirty="0" err="1">
                <a:solidFill>
                  <a:srgbClr val="4D4C4C"/>
                </a:solidFill>
                <a:latin typeface="Helios Bold"/>
                <a:ea typeface="Helios Bold"/>
                <a:cs typeface="Helios Bold"/>
                <a:sym typeface="Helios Bold"/>
              </a:rPr>
              <a:t>aplicación</a:t>
            </a:r>
            <a:r>
              <a:rPr lang="en-US" sz="9600" b="1" spc="192" dirty="0">
                <a:solidFill>
                  <a:srgbClr val="4D4C4C"/>
                </a:solidFill>
                <a:latin typeface="Helios Bold"/>
                <a:ea typeface="Helios Bold"/>
                <a:cs typeface="Helios Bold"/>
                <a:sym typeface="Helios Bold"/>
              </a:rPr>
              <a:t> de </a:t>
            </a:r>
            <a:r>
              <a:rPr lang="en-US" sz="9600" b="1" spc="192" dirty="0" err="1">
                <a:solidFill>
                  <a:srgbClr val="4D4C4C"/>
                </a:solidFill>
                <a:latin typeface="Helios Bold"/>
                <a:ea typeface="Helios Bold"/>
                <a:cs typeface="Helios Bold"/>
                <a:sym typeface="Helios Bold"/>
              </a:rPr>
              <a:t>técnicas</a:t>
            </a:r>
            <a:r>
              <a:rPr lang="en-US" sz="9600" b="1" spc="192" dirty="0">
                <a:solidFill>
                  <a:srgbClr val="4D4C4C"/>
                </a:solidFill>
                <a:latin typeface="Helios Bold"/>
                <a:ea typeface="Helios Bold"/>
                <a:cs typeface="Helios Bold"/>
                <a:sym typeface="Helios Bold"/>
              </a:rPr>
              <a:t> de </a:t>
            </a:r>
            <a:r>
              <a:rPr lang="en-US" sz="9600" b="1" spc="192" dirty="0" err="1">
                <a:solidFill>
                  <a:srgbClr val="4D4C4C"/>
                </a:solidFill>
                <a:latin typeface="Helios Bold"/>
                <a:ea typeface="Helios Bold"/>
                <a:cs typeface="Helios Bold"/>
                <a:sym typeface="Helios Bold"/>
              </a:rPr>
              <a:t>busqueda</a:t>
            </a:r>
            <a:r>
              <a:rPr lang="en-US" sz="9600" b="1" spc="192" dirty="0">
                <a:solidFill>
                  <a:srgbClr val="4D4C4C"/>
                </a:solidFill>
                <a:latin typeface="Helios Bold"/>
                <a:ea typeface="Helios Bold"/>
                <a:cs typeface="Helios Bold"/>
                <a:sym typeface="Helios Bold"/>
              </a:rPr>
              <a:t> de Empleo.</a:t>
            </a:r>
            <a:endParaRPr lang="en-US" sz="9801" b="1" dirty="0">
              <a:solidFill>
                <a:srgbClr val="4D4C4C"/>
              </a:solidFill>
              <a:latin typeface="TS Deniz Bold"/>
              <a:ea typeface="TS Deniz Bold"/>
              <a:cs typeface="TS Deniz Bold"/>
              <a:sym typeface="TS Deniz Bold"/>
            </a:endParaRPr>
          </a:p>
        </p:txBody>
      </p:sp>
      <p:grpSp>
        <p:nvGrpSpPr>
          <p:cNvPr id="10" name="Group 10"/>
          <p:cNvGrpSpPr/>
          <p:nvPr/>
        </p:nvGrpSpPr>
        <p:grpSpPr>
          <a:xfrm rot="-10800000">
            <a:off x="-2136122" y="3282112"/>
            <a:ext cx="8227978" cy="4140271"/>
            <a:chOff x="0" y="0"/>
            <a:chExt cx="807640" cy="406400"/>
          </a:xfrm>
        </p:grpSpPr>
        <p:sp>
          <p:nvSpPr>
            <p:cNvPr id="11" name="Freeform 11"/>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12" name="TextBox 12"/>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879387" y="2646483"/>
            <a:ext cx="1098480" cy="10984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6" name="Freeform 16"/>
          <p:cNvSpPr/>
          <p:nvPr/>
        </p:nvSpPr>
        <p:spPr>
          <a:xfrm>
            <a:off x="-1698802" y="5514834"/>
            <a:ext cx="3397604" cy="3397604"/>
          </a:xfrm>
          <a:custGeom>
            <a:avLst/>
            <a:gdLst/>
            <a:ahLst/>
            <a:cxnLst/>
            <a:rect l="l" t="t" r="r" b="b"/>
            <a:pathLst>
              <a:path w="3397604" h="3397604">
                <a:moveTo>
                  <a:pt x="0" y="0"/>
                </a:moveTo>
                <a:lnTo>
                  <a:pt x="3397604" y="0"/>
                </a:lnTo>
                <a:lnTo>
                  <a:pt x="3397604" y="3397603"/>
                </a:lnTo>
                <a:lnTo>
                  <a:pt x="0" y="33976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0018D-5774-47B9-9182-F76AA10A28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2F2ABBB-2035-1449-2FF1-7E8CF87E87D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D3DC17FE-7EA1-FEE9-B6CA-5290201BA5AA}"/>
              </a:ext>
            </a:extLst>
          </p:cNvPr>
          <p:cNvSpPr txBox="1"/>
          <p:nvPr/>
        </p:nvSpPr>
        <p:spPr>
          <a:xfrm>
            <a:off x="342495" y="1939974"/>
            <a:ext cx="17603009" cy="6463308"/>
          </a:xfrm>
          <a:prstGeom prst="rect">
            <a:avLst/>
          </a:prstGeom>
        </p:spPr>
        <p:txBody>
          <a:bodyPr lIns="0" tIns="0" rIns="0" bIns="0" rtlCol="0" anchor="t">
            <a:spAutoFit/>
          </a:bodyPr>
          <a:lstStyle/>
          <a:p>
            <a:pPr algn="l">
              <a:lnSpc>
                <a:spcPts val="4224"/>
              </a:lnSpc>
            </a:pPr>
            <a:r>
              <a:rPr lang="es-ES" sz="3462" dirty="0">
                <a:solidFill>
                  <a:srgbClr val="71743C"/>
                </a:solidFill>
                <a:latin typeface="Borel"/>
                <a:ea typeface="Borel"/>
                <a:sym typeface="Helios"/>
              </a:rPr>
              <a:t>La búsqueda de empleo no debe ser un proceso pasivo, sino una estrategia activa y organizada. Hoy en día, el mercado laboral es dinámico y competitivo, por lo que aplicar técnicas efectivas es clave para aumentar las posibilidades de conseguir un puesto. </a:t>
            </a:r>
          </a:p>
          <a:p>
            <a:pPr algn="l">
              <a:lnSpc>
                <a:spcPts val="4224"/>
              </a:lnSpc>
            </a:pPr>
            <a:endParaRPr lang="es-ES" sz="3462" dirty="0">
              <a:solidFill>
                <a:srgbClr val="71743C"/>
              </a:solidFill>
              <a:latin typeface="Borel"/>
              <a:ea typeface="Borel"/>
              <a:sym typeface="Helios"/>
            </a:endParaRPr>
          </a:p>
          <a:p>
            <a:pPr algn="l">
              <a:lnSpc>
                <a:spcPts val="4224"/>
              </a:lnSpc>
            </a:pPr>
            <a:r>
              <a:rPr lang="es-ES" sz="3017" b="1" spc="178" dirty="0">
                <a:solidFill>
                  <a:srgbClr val="000000"/>
                </a:solidFill>
                <a:latin typeface="Helios"/>
                <a:sym typeface="Helios"/>
              </a:rPr>
              <a:t>Estas técnicas se dividen en canales tradicionales, canales digitales, estrategias personales y herramientas complementarias.</a:t>
            </a:r>
            <a:endParaRPr lang="en-US" sz="3017" b="1" spc="178" dirty="0">
              <a:solidFill>
                <a:srgbClr val="000000"/>
              </a:solidFill>
              <a:latin typeface="Helios"/>
              <a:sym typeface="Helios"/>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
        <p:nvSpPr>
          <p:cNvPr id="4" name="TextBox 4">
            <a:extLst>
              <a:ext uri="{FF2B5EF4-FFF2-40B4-BE49-F238E27FC236}">
                <a16:creationId xmlns:a16="http://schemas.microsoft.com/office/drawing/2014/main" id="{18873CFE-3E72-A5D5-1304-84442A23F318}"/>
              </a:ext>
            </a:extLst>
          </p:cNvPr>
          <p:cNvSpPr txBox="1"/>
          <p:nvPr/>
        </p:nvSpPr>
        <p:spPr>
          <a:xfrm>
            <a:off x="457201" y="267891"/>
            <a:ext cx="16427486" cy="2287229"/>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3. </a:t>
            </a:r>
            <a:r>
              <a:rPr lang="en-US" sz="5400" b="1" spc="192" dirty="0">
                <a:solidFill>
                  <a:srgbClr val="4D4C4C"/>
                </a:solidFill>
                <a:latin typeface="Helios Bold"/>
                <a:ea typeface="Helios Bold"/>
                <a:cs typeface="Helios Bold"/>
                <a:sym typeface="Helios Bold"/>
              </a:rPr>
              <a:t>La </a:t>
            </a:r>
            <a:r>
              <a:rPr lang="en-US" sz="5400" b="1" spc="192" dirty="0" err="1">
                <a:solidFill>
                  <a:srgbClr val="4D4C4C"/>
                </a:solidFill>
                <a:latin typeface="Helios Bold"/>
                <a:ea typeface="Helios Bold"/>
                <a:cs typeface="Helios Bold"/>
                <a:sym typeface="Helios Bold"/>
              </a:rPr>
              <a:t>aplicación</a:t>
            </a:r>
            <a:r>
              <a:rPr lang="en-US" sz="5400" b="1" spc="192" dirty="0">
                <a:solidFill>
                  <a:srgbClr val="4D4C4C"/>
                </a:solidFill>
                <a:latin typeface="Helios Bold"/>
                <a:ea typeface="Helios Bold"/>
                <a:cs typeface="Helios Bold"/>
                <a:sym typeface="Helios Bold"/>
              </a:rPr>
              <a:t> de </a:t>
            </a:r>
            <a:r>
              <a:rPr lang="en-US" sz="5400" b="1" spc="192" dirty="0" err="1">
                <a:solidFill>
                  <a:srgbClr val="4D4C4C"/>
                </a:solidFill>
                <a:latin typeface="Helios Bold"/>
                <a:ea typeface="Helios Bold"/>
                <a:cs typeface="Helios Bold"/>
                <a:sym typeface="Helios Bold"/>
              </a:rPr>
              <a:t>técnicas</a:t>
            </a:r>
            <a:r>
              <a:rPr lang="en-US" sz="5400" b="1" spc="192" dirty="0">
                <a:solidFill>
                  <a:srgbClr val="4D4C4C"/>
                </a:solidFill>
                <a:latin typeface="Helios Bold"/>
                <a:ea typeface="Helios Bold"/>
                <a:cs typeface="Helios Bold"/>
                <a:sym typeface="Helios Bold"/>
              </a:rPr>
              <a:t> de </a:t>
            </a:r>
            <a:r>
              <a:rPr lang="en-US" sz="5400" b="1" spc="192" dirty="0" err="1">
                <a:solidFill>
                  <a:srgbClr val="4D4C4C"/>
                </a:solidFill>
                <a:latin typeface="Helios Bold"/>
                <a:ea typeface="Helios Bold"/>
                <a:cs typeface="Helios Bold"/>
                <a:sym typeface="Helios Bold"/>
              </a:rPr>
              <a:t>busqueda</a:t>
            </a:r>
            <a:r>
              <a:rPr lang="en-US" sz="5400" b="1" spc="192" dirty="0">
                <a:solidFill>
                  <a:srgbClr val="4D4C4C"/>
                </a:solidFill>
                <a:latin typeface="Helios Bold"/>
                <a:ea typeface="Helios Bold"/>
                <a:cs typeface="Helios Bold"/>
                <a:sym typeface="Helios Bold"/>
              </a:rPr>
              <a:t> de Empleo.</a:t>
            </a:r>
            <a:endParaRPr lang="en-US" sz="9600" b="1" dirty="0">
              <a:solidFill>
                <a:srgbClr val="4D4C4C"/>
              </a:solidFill>
              <a:latin typeface="TS Deniz Bold"/>
              <a:ea typeface="TS Deniz Bold"/>
              <a:cs typeface="TS Deniz Bold"/>
              <a:sym typeface="TS Deniz Bold"/>
            </a:endParaRPr>
          </a:p>
          <a:p>
            <a:pPr algn="l">
              <a:lnSpc>
                <a:spcPts val="5852"/>
              </a:lnSpc>
            </a:pP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2128132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1992-CF69-238E-9F2D-29BA30E0F4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96DF471-69B9-D9A4-869A-396C019B696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5" name="TextBox 4">
            <a:extLst>
              <a:ext uri="{FF2B5EF4-FFF2-40B4-BE49-F238E27FC236}">
                <a16:creationId xmlns:a16="http://schemas.microsoft.com/office/drawing/2014/main" id="{0A2CAE2F-F474-D7EB-6B39-76362C3C8967}"/>
              </a:ext>
            </a:extLst>
          </p:cNvPr>
          <p:cNvSpPr txBox="1"/>
          <p:nvPr/>
        </p:nvSpPr>
        <p:spPr>
          <a:xfrm>
            <a:off x="634895" y="571500"/>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3.1. Canales </a:t>
            </a:r>
            <a:r>
              <a:rPr lang="en-US" sz="5369" b="1" spc="-177" dirty="0" err="1">
                <a:solidFill>
                  <a:srgbClr val="4D4C4C"/>
                </a:solidFill>
                <a:latin typeface="TS Deniz Bold"/>
                <a:ea typeface="TS Deniz Bold"/>
                <a:cs typeface="TS Deniz Bold"/>
                <a:sym typeface="TS Deniz Bold"/>
              </a:rPr>
              <a:t>tradicionales</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9A6371F7-53EC-C4D2-051C-F7EAF14851F9}"/>
              </a:ext>
            </a:extLst>
          </p:cNvPr>
          <p:cNvSpPr txBox="1"/>
          <p:nvPr/>
        </p:nvSpPr>
        <p:spPr>
          <a:xfrm>
            <a:off x="603519" y="1562100"/>
            <a:ext cx="17603009" cy="5655394"/>
          </a:xfrm>
          <a:prstGeom prst="rect">
            <a:avLst/>
          </a:prstGeom>
        </p:spPr>
        <p:txBody>
          <a:bodyPr lIns="0" tIns="0" rIns="0" bIns="0" rtlCol="0" anchor="t">
            <a:spAutoFit/>
          </a:bodyPr>
          <a:lstStyle/>
          <a:p>
            <a:pPr algn="l">
              <a:lnSpc>
                <a:spcPts val="4224"/>
              </a:lnSpc>
            </a:pPr>
            <a:r>
              <a:rPr lang="es-ES" sz="3462" dirty="0">
                <a:solidFill>
                  <a:srgbClr val="71743C"/>
                </a:solidFill>
                <a:latin typeface="Borel"/>
                <a:ea typeface="Borel"/>
                <a:sym typeface="Helios"/>
              </a:rPr>
              <a:t>Aunque la digitalización ha transformado la búsqueda de empleo, los métodos clásicos siguen siendo útiles, estos son:</a:t>
            </a: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Prensa y publicaciones especializadas: </a:t>
            </a:r>
            <a:r>
              <a:rPr lang="es-ES" sz="3017" spc="178" dirty="0">
                <a:solidFill>
                  <a:srgbClr val="000000"/>
                </a:solidFill>
                <a:latin typeface="Helios"/>
                <a:ea typeface="Helios"/>
                <a:cs typeface="Helios"/>
                <a:sym typeface="Helios"/>
              </a:rPr>
              <a:t>Algunos sectores aún publican ofertas en periódicos o revistas profesionales.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Oficinas de empleo y agencias de colocación: </a:t>
            </a:r>
            <a:r>
              <a:rPr lang="es-ES" sz="3017" spc="178" dirty="0">
                <a:solidFill>
                  <a:srgbClr val="000000"/>
                </a:solidFill>
                <a:latin typeface="Helios"/>
                <a:ea typeface="Helios"/>
                <a:cs typeface="Helios"/>
                <a:sym typeface="Helios"/>
              </a:rPr>
              <a:t>Servicios públicos y privados que intermedian entre empresas y candidatos.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Ferias de empleo: </a:t>
            </a:r>
            <a:r>
              <a:rPr lang="es-ES" sz="3017" spc="178" dirty="0">
                <a:solidFill>
                  <a:srgbClr val="000000"/>
                </a:solidFill>
                <a:latin typeface="Helios"/>
                <a:ea typeface="Helios"/>
                <a:cs typeface="Helios"/>
                <a:sym typeface="Helios"/>
              </a:rPr>
              <a:t>Eventos donde empresas presentan vacantes y candidatos pueden entregar CV directamente.</a:t>
            </a: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extLst>
      <p:ext uri="{BB962C8B-B14F-4D97-AF65-F5344CB8AC3E}">
        <p14:creationId xmlns:p14="http://schemas.microsoft.com/office/powerpoint/2010/main" val="26804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3ED5-83E4-EDE4-91D0-2A3E37EA26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7DC64C-E2ED-FB49-F2CA-1F4089FE1E84}"/>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5" name="TextBox 4">
            <a:extLst>
              <a:ext uri="{FF2B5EF4-FFF2-40B4-BE49-F238E27FC236}">
                <a16:creationId xmlns:a16="http://schemas.microsoft.com/office/drawing/2014/main" id="{55C55FEA-46B1-A16B-76A0-D066BAEC51FB}"/>
              </a:ext>
            </a:extLst>
          </p:cNvPr>
          <p:cNvSpPr txBox="1"/>
          <p:nvPr/>
        </p:nvSpPr>
        <p:spPr>
          <a:xfrm>
            <a:off x="634895" y="571500"/>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3.2. Canales </a:t>
            </a:r>
            <a:r>
              <a:rPr lang="en-US" sz="5369" b="1" spc="-177" dirty="0" err="1">
                <a:solidFill>
                  <a:srgbClr val="4D4C4C"/>
                </a:solidFill>
                <a:latin typeface="TS Deniz Bold"/>
                <a:ea typeface="TS Deniz Bold"/>
                <a:cs typeface="TS Deniz Bold"/>
                <a:sym typeface="TS Deniz Bold"/>
              </a:rPr>
              <a:t>digitales</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148870BA-C2D1-ADE1-DA63-C68CEBE29ACB}"/>
              </a:ext>
            </a:extLst>
          </p:cNvPr>
          <p:cNvSpPr txBox="1"/>
          <p:nvPr/>
        </p:nvSpPr>
        <p:spPr>
          <a:xfrm>
            <a:off x="603519" y="1562100"/>
            <a:ext cx="17603009" cy="7899598"/>
          </a:xfrm>
          <a:prstGeom prst="rect">
            <a:avLst/>
          </a:prstGeom>
        </p:spPr>
        <p:txBody>
          <a:bodyPr lIns="0" tIns="0" rIns="0" bIns="0" rtlCol="0" anchor="t">
            <a:spAutoFit/>
          </a:bodyPr>
          <a:lstStyle/>
          <a:p>
            <a:pPr algn="l">
              <a:lnSpc>
                <a:spcPts val="4224"/>
              </a:lnSpc>
            </a:pPr>
            <a:r>
              <a:rPr lang="es-ES" sz="3462" dirty="0">
                <a:solidFill>
                  <a:srgbClr val="71743C"/>
                </a:solidFill>
                <a:latin typeface="Borel"/>
                <a:ea typeface="Borel"/>
                <a:sym typeface="Helios"/>
              </a:rPr>
              <a:t>El entorno online es el principal medio para </a:t>
            </a:r>
            <a:r>
              <a:rPr lang="es-ES" sz="3462" dirty="0" err="1">
                <a:solidFill>
                  <a:srgbClr val="71743C"/>
                </a:solidFill>
                <a:latin typeface="Borel"/>
                <a:ea typeface="Borel"/>
                <a:sym typeface="Helios"/>
              </a:rPr>
              <a:t>buescar</a:t>
            </a:r>
            <a:r>
              <a:rPr lang="es-ES" sz="3462" dirty="0">
                <a:solidFill>
                  <a:srgbClr val="71743C"/>
                </a:solidFill>
                <a:latin typeface="Borel"/>
                <a:ea typeface="Borel"/>
                <a:sym typeface="Helios"/>
              </a:rPr>
              <a:t> empleo hoy en día. Destacan:</a:t>
            </a: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Portales de empleo:</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Generalistas: InfoJobs, </a:t>
            </a:r>
            <a:r>
              <a:rPr lang="es-ES" sz="3017" spc="178" dirty="0" err="1">
                <a:solidFill>
                  <a:srgbClr val="000000"/>
                </a:solidFill>
                <a:latin typeface="Helios"/>
                <a:ea typeface="Helios"/>
                <a:cs typeface="Helios"/>
                <a:sym typeface="Helios"/>
              </a:rPr>
              <a:t>Indeed</a:t>
            </a:r>
            <a:r>
              <a:rPr lang="es-ES" sz="3017" spc="178" dirty="0">
                <a:solidFill>
                  <a:srgbClr val="000000"/>
                </a:solidFill>
                <a:latin typeface="Helios"/>
                <a:ea typeface="Helios"/>
                <a:cs typeface="Helios"/>
                <a:sym typeface="Helios"/>
              </a:rPr>
              <a:t>, Monster.</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Especializados: </a:t>
            </a:r>
            <a:r>
              <a:rPr lang="es-ES" sz="3017" spc="178" dirty="0" err="1">
                <a:solidFill>
                  <a:srgbClr val="000000"/>
                </a:solidFill>
                <a:latin typeface="Helios"/>
                <a:ea typeface="Helios"/>
                <a:cs typeface="Helios"/>
                <a:sym typeface="Helios"/>
              </a:rPr>
              <a:t>Domestika</a:t>
            </a:r>
            <a:r>
              <a:rPr lang="es-ES" sz="3017" spc="178" dirty="0">
                <a:solidFill>
                  <a:srgbClr val="000000"/>
                </a:solidFill>
                <a:latin typeface="Helios"/>
                <a:ea typeface="Helios"/>
                <a:cs typeface="Helios"/>
                <a:sym typeface="Helios"/>
              </a:rPr>
              <a:t> (creativos), </a:t>
            </a:r>
            <a:r>
              <a:rPr lang="es-ES" sz="3017" spc="178" dirty="0" err="1">
                <a:solidFill>
                  <a:srgbClr val="000000"/>
                </a:solidFill>
                <a:latin typeface="Helios"/>
                <a:ea typeface="Helios"/>
                <a:cs typeface="Helios"/>
                <a:sym typeface="Helios"/>
              </a:rPr>
              <a:t>Tecnoempleo</a:t>
            </a:r>
            <a:r>
              <a:rPr lang="es-ES" sz="3017" spc="178" dirty="0">
                <a:solidFill>
                  <a:srgbClr val="000000"/>
                </a:solidFill>
                <a:latin typeface="Helios"/>
                <a:ea typeface="Helios"/>
                <a:cs typeface="Helios"/>
                <a:sym typeface="Helios"/>
              </a:rPr>
              <a:t> (IT), </a:t>
            </a:r>
            <a:r>
              <a:rPr lang="es-ES" sz="3017" spc="178" dirty="0" err="1">
                <a:solidFill>
                  <a:srgbClr val="000000"/>
                </a:solidFill>
                <a:latin typeface="Helios"/>
                <a:ea typeface="Helios"/>
                <a:cs typeface="Helios"/>
                <a:sym typeface="Helios"/>
              </a:rPr>
              <a:t>Turijobs</a:t>
            </a:r>
            <a:r>
              <a:rPr lang="es-ES" sz="3017" spc="178" dirty="0">
                <a:solidFill>
                  <a:srgbClr val="000000"/>
                </a:solidFill>
                <a:latin typeface="Helios"/>
                <a:ea typeface="Helios"/>
                <a:cs typeface="Helios"/>
                <a:sym typeface="Helios"/>
              </a:rPr>
              <a:t> (turismo).</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Redes profesionales: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LinkedIn: Imprescindible para </a:t>
            </a:r>
            <a:r>
              <a:rPr lang="es-ES" sz="3017" spc="178" dirty="0" err="1">
                <a:solidFill>
                  <a:srgbClr val="000000"/>
                </a:solidFill>
                <a:latin typeface="Helios"/>
                <a:ea typeface="Helios"/>
                <a:cs typeface="Helios"/>
                <a:sym typeface="Helios"/>
              </a:rPr>
              <a:t>networking</a:t>
            </a:r>
            <a:r>
              <a:rPr lang="es-ES" sz="3017" spc="178" dirty="0">
                <a:solidFill>
                  <a:srgbClr val="000000"/>
                </a:solidFill>
                <a:latin typeface="Helios"/>
                <a:ea typeface="Helios"/>
                <a:cs typeface="Helios"/>
                <a:sym typeface="Helios"/>
              </a:rPr>
              <a:t>, búsqueda de ofertas y visibilidad profesional.</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Participar en grupos y foros relacionados con tu sector.</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Webs corporativas: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Muchas empresas publican ofertas en su sección “Trabaja con nosotros”.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Aplicaciones móviles: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Apps que permiten aplicar rápidamente y recibir alertas.</a:t>
            </a: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extLst>
      <p:ext uri="{BB962C8B-B14F-4D97-AF65-F5344CB8AC3E}">
        <p14:creationId xmlns:p14="http://schemas.microsoft.com/office/powerpoint/2010/main" val="240504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CDC6B-2DB7-2B2F-45B2-9816BE277C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27589E-B784-D474-B983-CE8886E2325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5" name="TextBox 4">
            <a:extLst>
              <a:ext uri="{FF2B5EF4-FFF2-40B4-BE49-F238E27FC236}">
                <a16:creationId xmlns:a16="http://schemas.microsoft.com/office/drawing/2014/main" id="{65005591-D79A-1B2D-C299-64646C3660B6}"/>
              </a:ext>
            </a:extLst>
          </p:cNvPr>
          <p:cNvSpPr txBox="1"/>
          <p:nvPr/>
        </p:nvSpPr>
        <p:spPr>
          <a:xfrm>
            <a:off x="634895" y="571500"/>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3.3. </a:t>
            </a:r>
            <a:r>
              <a:rPr lang="en-US" sz="5369" b="1" spc="-177" dirty="0" err="1">
                <a:solidFill>
                  <a:srgbClr val="4D4C4C"/>
                </a:solidFill>
                <a:latin typeface="TS Deniz Bold"/>
                <a:ea typeface="TS Deniz Bold"/>
                <a:cs typeface="TS Deniz Bold"/>
                <a:sym typeface="TS Deniz Bold"/>
              </a:rPr>
              <a:t>Estrategias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personales</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F7C6D5C5-BE0E-C322-02FE-9DF8112554FE}"/>
              </a:ext>
            </a:extLst>
          </p:cNvPr>
          <p:cNvSpPr txBox="1"/>
          <p:nvPr/>
        </p:nvSpPr>
        <p:spPr>
          <a:xfrm>
            <a:off x="603519" y="1562100"/>
            <a:ext cx="17603009" cy="5246693"/>
          </a:xfrm>
          <a:prstGeom prst="rect">
            <a:avLst/>
          </a:prstGeom>
        </p:spPr>
        <p:txBody>
          <a:bodyPr lIns="0" tIns="0" rIns="0" bIns="0" rtlCol="0" anchor="t">
            <a:spAutoFit/>
          </a:bodyPr>
          <a:lstStyle/>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marL="457200" indent="-457200" algn="just">
              <a:lnSpc>
                <a:spcPts val="4224"/>
              </a:lnSpc>
              <a:spcBef>
                <a:spcPct val="0"/>
              </a:spcBef>
              <a:buFont typeface="Arial" panose="020B0604020202020204" pitchFamily="34" charset="0"/>
              <a:buChar char="•"/>
            </a:pPr>
            <a:r>
              <a:rPr lang="es-ES" sz="3017" b="1" spc="178" dirty="0" err="1">
                <a:solidFill>
                  <a:srgbClr val="000000"/>
                </a:solidFill>
                <a:latin typeface="Helios"/>
                <a:ea typeface="Helios"/>
                <a:cs typeface="Helios"/>
                <a:sym typeface="Helios"/>
              </a:rPr>
              <a:t>Networking</a:t>
            </a:r>
            <a:r>
              <a:rPr lang="es-ES" sz="3017" b="1" spc="178" dirty="0">
                <a:solidFill>
                  <a:srgbClr val="000000"/>
                </a:solidFill>
                <a:latin typeface="Helios"/>
                <a:ea typeface="Helios"/>
                <a:cs typeface="Helios"/>
                <a:sym typeface="Helios"/>
              </a:rPr>
              <a:t>: </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El 70-80% de las ofertas se cubren a través de contactos.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Participar en eventos, conferencias y asociaciones profesionales.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Autocandidatura:</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Enviar CV y carta de presentación a empresas aunque no tengan ofertas publicadas.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Demuestra iniciativa y puede abrir oportunidades ocultas.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Alertas y seguimiento:</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Configurar alertas en portales para recibir ofertas adaptadas a tu perfil.</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Hacer seguimiento de candidaturas enviadas.</a:t>
            </a: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extLst>
      <p:ext uri="{BB962C8B-B14F-4D97-AF65-F5344CB8AC3E}">
        <p14:creationId xmlns:p14="http://schemas.microsoft.com/office/powerpoint/2010/main" val="973714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DA21-D006-F553-D661-8E813A38C1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5B696F2-0E81-AF87-ADB6-525DC10E7E8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5" name="TextBox 4">
            <a:extLst>
              <a:ext uri="{FF2B5EF4-FFF2-40B4-BE49-F238E27FC236}">
                <a16:creationId xmlns:a16="http://schemas.microsoft.com/office/drawing/2014/main" id="{2D513308-971B-90A6-3988-CD1E01FFE24D}"/>
              </a:ext>
            </a:extLst>
          </p:cNvPr>
          <p:cNvSpPr txBox="1"/>
          <p:nvPr/>
        </p:nvSpPr>
        <p:spPr>
          <a:xfrm>
            <a:off x="634895" y="571500"/>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3.4. </a:t>
            </a:r>
            <a:r>
              <a:rPr lang="en-US" sz="5369" b="1" spc="-177" dirty="0" err="1">
                <a:solidFill>
                  <a:srgbClr val="4D4C4C"/>
                </a:solidFill>
                <a:latin typeface="TS Deniz Bold"/>
                <a:ea typeface="TS Deniz Bold"/>
                <a:cs typeface="TS Deniz Bold"/>
                <a:sym typeface="TS Deniz Bold"/>
              </a:rPr>
              <a:t>Herramientas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complementarias</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8E721957-CE7B-CE9A-1AB8-C14EAED0C956}"/>
              </a:ext>
            </a:extLst>
          </p:cNvPr>
          <p:cNvSpPr txBox="1"/>
          <p:nvPr/>
        </p:nvSpPr>
        <p:spPr>
          <a:xfrm>
            <a:off x="603519" y="1562100"/>
            <a:ext cx="17603009" cy="5246693"/>
          </a:xfrm>
          <a:prstGeom prst="rect">
            <a:avLst/>
          </a:prstGeom>
        </p:spPr>
        <p:txBody>
          <a:bodyPr lIns="0" tIns="0" rIns="0" bIns="0" rtlCol="0" anchor="t">
            <a:spAutoFit/>
          </a:bodyPr>
          <a:lstStyle/>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Marca personal:</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Publicar contenido en redes profesionales.</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Mostrar logros y proyectos en tu perfil</a:t>
            </a:r>
            <a:r>
              <a:rPr lang="es-ES" sz="3017" b="1" spc="178" dirty="0">
                <a:solidFill>
                  <a:srgbClr val="000000"/>
                </a:solidFill>
                <a:latin typeface="Helios"/>
                <a:ea typeface="Helios"/>
                <a:cs typeface="Helios"/>
                <a:sym typeface="Helios"/>
              </a:rPr>
              <a:t>.</a:t>
            </a:r>
          </a:p>
          <a:p>
            <a:pPr marL="457200" indent="-457200" algn="just">
              <a:lnSpc>
                <a:spcPts val="4224"/>
              </a:lnSpc>
              <a:spcBef>
                <a:spcPct val="0"/>
              </a:spcBef>
              <a:buFont typeface="Arial" panose="020B0604020202020204" pitchFamily="34" charset="0"/>
              <a:buChar char="•"/>
            </a:pPr>
            <a:r>
              <a:rPr lang="es-ES" sz="3017" b="1" spc="178" dirty="0" err="1">
                <a:solidFill>
                  <a:srgbClr val="000000"/>
                </a:solidFill>
                <a:latin typeface="Helios"/>
                <a:ea typeface="Helios"/>
                <a:cs typeface="Helios"/>
                <a:sym typeface="Helios"/>
              </a:rPr>
              <a:t>VideoCV</a:t>
            </a:r>
            <a:r>
              <a:rPr lang="es-ES" sz="3017" b="1" spc="178" dirty="0">
                <a:solidFill>
                  <a:srgbClr val="000000"/>
                </a:solidFill>
                <a:latin typeface="Helios"/>
                <a:ea typeface="Helios"/>
                <a:cs typeface="Helios"/>
                <a:sym typeface="Helios"/>
              </a:rPr>
              <a:t>:</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Presentación breve en formato audiovisual para destacar habilidades comunicativas.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Portafolio digital:</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Especialmente útil en sectores creativos y tecnológicos.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Gamificación y pruebas online:</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Algunas empresas usan plataformas con retos y juegos para evaluar competencias.</a:t>
            </a: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extLst>
      <p:ext uri="{BB962C8B-B14F-4D97-AF65-F5344CB8AC3E}">
        <p14:creationId xmlns:p14="http://schemas.microsoft.com/office/powerpoint/2010/main" val="812091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FD01F-2D5C-F064-6550-8E958EE0CBC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6FCBFB-4EF3-E67B-988F-0A381995535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dirty="0"/>
          </a:p>
        </p:txBody>
      </p:sp>
      <p:sp>
        <p:nvSpPr>
          <p:cNvPr id="5" name="TextBox 4">
            <a:extLst>
              <a:ext uri="{FF2B5EF4-FFF2-40B4-BE49-F238E27FC236}">
                <a16:creationId xmlns:a16="http://schemas.microsoft.com/office/drawing/2014/main" id="{D6BA81E3-23E5-CF6D-B81B-51CB4E41FD46}"/>
              </a:ext>
            </a:extLst>
          </p:cNvPr>
          <p:cNvSpPr txBox="1"/>
          <p:nvPr/>
        </p:nvSpPr>
        <p:spPr>
          <a:xfrm>
            <a:off x="634895" y="571500"/>
            <a:ext cx="16095525" cy="773994"/>
          </a:xfrm>
          <a:prstGeom prst="rect">
            <a:avLst/>
          </a:prstGeom>
        </p:spPr>
        <p:txBody>
          <a:bodyPr lIns="0" tIns="0" rIns="0" bIns="0" rtlCol="0" anchor="t">
            <a:spAutoFit/>
          </a:bodyPr>
          <a:lstStyle/>
          <a:p>
            <a:pPr algn="l">
              <a:lnSpc>
                <a:spcPts val="5852"/>
              </a:lnSpc>
            </a:pPr>
            <a:r>
              <a:rPr lang="en-US" sz="5369" b="1" spc="-177" dirty="0">
                <a:solidFill>
                  <a:srgbClr val="4D4C4C"/>
                </a:solidFill>
                <a:latin typeface="TS Deniz Bold"/>
                <a:ea typeface="TS Deniz Bold"/>
                <a:cs typeface="TS Deniz Bold"/>
                <a:sym typeface="TS Deniz Bold"/>
              </a:rPr>
              <a:t>3.5. </a:t>
            </a:r>
            <a:r>
              <a:rPr lang="en-US" sz="5369" b="1" spc="-177" dirty="0" err="1">
                <a:solidFill>
                  <a:srgbClr val="4D4C4C"/>
                </a:solidFill>
                <a:latin typeface="TS Deniz Bold"/>
                <a:ea typeface="TS Deniz Bold"/>
                <a:cs typeface="TS Deniz Bold"/>
                <a:sym typeface="TS Deniz Bold"/>
              </a:rPr>
              <a:t>Consejos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prácticos</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aplicación</a:t>
            </a:r>
            <a:endParaRPr lang="en-US" sz="5369" b="1" spc="-177" dirty="0">
              <a:solidFill>
                <a:srgbClr val="4D4C4C"/>
              </a:solidFill>
              <a:latin typeface="TS Deniz Bold"/>
              <a:ea typeface="TS Deniz Bold"/>
              <a:cs typeface="TS Deniz Bold"/>
              <a:sym typeface="TS Deniz Bold"/>
            </a:endParaRPr>
          </a:p>
        </p:txBody>
      </p:sp>
      <p:sp>
        <p:nvSpPr>
          <p:cNvPr id="6" name="TextBox 3">
            <a:extLst>
              <a:ext uri="{FF2B5EF4-FFF2-40B4-BE49-F238E27FC236}">
                <a16:creationId xmlns:a16="http://schemas.microsoft.com/office/drawing/2014/main" id="{9F2DEF45-4B16-900F-37C2-D03FFCCF106F}"/>
              </a:ext>
            </a:extLst>
          </p:cNvPr>
          <p:cNvSpPr txBox="1"/>
          <p:nvPr/>
        </p:nvSpPr>
        <p:spPr>
          <a:xfrm>
            <a:off x="603519" y="1562100"/>
            <a:ext cx="17603009" cy="6862520"/>
          </a:xfrm>
          <a:prstGeom prst="rect">
            <a:avLst/>
          </a:prstGeom>
        </p:spPr>
        <p:txBody>
          <a:bodyPr lIns="0" tIns="0" rIns="0" bIns="0" rtlCol="0" anchor="t">
            <a:spAutoFit/>
          </a:bodyPr>
          <a:lstStyle/>
          <a:p>
            <a:pPr algn="l">
              <a:lnSpc>
                <a:spcPts val="3524"/>
              </a:lnSpc>
            </a:pPr>
            <a:endParaRPr lang="en-US" sz="3017" u="sng" spc="178" dirty="0">
              <a:solidFill>
                <a:srgbClr val="000000"/>
              </a:solidFill>
              <a:latin typeface="Helios"/>
              <a:ea typeface="Helios"/>
              <a:cs typeface="Helios"/>
              <a:sym typeface="Helios"/>
              <a:hlinkClick r:id="rId4" tooltip="https://www.youtube.com/embed/10DX-oXG4SY?si=Dy3uaAnuO7tiNV5G%22%20title="/>
            </a:endParaRP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Planificación:</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Dedicar tiempo diario a la búsqueda activa.</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Establecer objetivos semanales (número de candidaturas enviadas, contactos realizados).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Adaptación:</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Personalizar cada CV y carta según la oferta.</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Usar palabras clave del anuncio para superar filtros ATS (</a:t>
            </a:r>
            <a:r>
              <a:rPr lang="es-ES" sz="3017" spc="178" dirty="0" err="1">
                <a:solidFill>
                  <a:srgbClr val="000000"/>
                </a:solidFill>
                <a:latin typeface="Helios"/>
                <a:ea typeface="Helios"/>
                <a:cs typeface="Helios"/>
                <a:sym typeface="Helios"/>
              </a:rPr>
              <a:t>Applicant</a:t>
            </a:r>
            <a:r>
              <a:rPr lang="es-ES" sz="3017" spc="178" dirty="0">
                <a:solidFill>
                  <a:srgbClr val="000000"/>
                </a:solidFill>
                <a:latin typeface="Helios"/>
                <a:ea typeface="Helios"/>
                <a:cs typeface="Helios"/>
                <a:sym typeface="Helios"/>
              </a:rPr>
              <a:t> Tracking </a:t>
            </a:r>
            <a:r>
              <a:rPr lang="es-ES" sz="3017" spc="178" dirty="0" err="1">
                <a:solidFill>
                  <a:srgbClr val="000000"/>
                </a:solidFill>
                <a:latin typeface="Helios"/>
                <a:ea typeface="Helios"/>
                <a:cs typeface="Helios"/>
                <a:sym typeface="Helios"/>
              </a:rPr>
              <a:t>Systems</a:t>
            </a:r>
            <a:r>
              <a:rPr lang="es-ES" sz="3017" spc="178" dirty="0">
                <a:solidFill>
                  <a:srgbClr val="000000"/>
                </a:solidFill>
                <a:latin typeface="Helios"/>
                <a:ea typeface="Helios"/>
                <a:cs typeface="Helios"/>
                <a:sym typeface="Helios"/>
              </a:rPr>
              <a:t>).</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Proactividad: </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No esperar a que aparezca la oferta perfecta, crear oportunidades.</a:t>
            </a:r>
          </a:p>
          <a:p>
            <a:pPr marL="457200" indent="-457200" algn="just">
              <a:lnSpc>
                <a:spcPts val="4224"/>
              </a:lnSpc>
              <a:spcBef>
                <a:spcPct val="0"/>
              </a:spcBef>
              <a:buFont typeface="Arial" panose="020B0604020202020204" pitchFamily="34" charset="0"/>
              <a:buChar char="•"/>
            </a:pPr>
            <a:r>
              <a:rPr lang="es-ES" sz="3017" b="1" spc="178" dirty="0">
                <a:solidFill>
                  <a:srgbClr val="000000"/>
                </a:solidFill>
                <a:latin typeface="Helios"/>
                <a:ea typeface="Helios"/>
                <a:cs typeface="Helios"/>
                <a:sym typeface="Helios"/>
              </a:rPr>
              <a:t>Formación continua:</a:t>
            </a:r>
          </a:p>
          <a:p>
            <a:pPr marL="914400" lvl="1" indent="-457200" algn="just">
              <a:lnSpc>
                <a:spcPts val="4224"/>
              </a:lnSpc>
              <a:spcBef>
                <a:spcPct val="0"/>
              </a:spcBef>
              <a:buFont typeface="Arial" panose="020B0604020202020204" pitchFamily="34" charset="0"/>
              <a:buChar char="•"/>
            </a:pPr>
            <a:r>
              <a:rPr lang="es-ES" sz="3017" spc="178" dirty="0">
                <a:solidFill>
                  <a:srgbClr val="000000"/>
                </a:solidFill>
                <a:latin typeface="Helios"/>
                <a:ea typeface="Helios"/>
                <a:cs typeface="Helios"/>
                <a:sym typeface="Helios"/>
              </a:rPr>
              <a:t>Aprovechar cursos online para mejorar competencias y aumentar empleabilidad.</a:t>
            </a: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Tree>
    <p:extLst>
      <p:ext uri="{BB962C8B-B14F-4D97-AF65-F5344CB8AC3E}">
        <p14:creationId xmlns:p14="http://schemas.microsoft.com/office/powerpoint/2010/main" val="1636768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3986999" y="-2149600"/>
            <a:ext cx="6316248" cy="3178300"/>
            <a:chOff x="0" y="0"/>
            <a:chExt cx="807640" cy="406400"/>
          </a:xfrm>
        </p:grpSpPr>
        <p:sp>
          <p:nvSpPr>
            <p:cNvPr id="3" name="Freeform 3"/>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4" name="TextBox 4"/>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5" name="Group 5"/>
          <p:cNvGrpSpPr/>
          <p:nvPr/>
        </p:nvGrpSpPr>
        <p:grpSpPr>
          <a:xfrm>
            <a:off x="17259300" y="-565845"/>
            <a:ext cx="15452455" cy="11836184"/>
            <a:chOff x="0" y="0"/>
            <a:chExt cx="4069782" cy="3117349"/>
          </a:xfrm>
        </p:grpSpPr>
        <p:sp>
          <p:nvSpPr>
            <p:cNvPr id="6" name="Freeform 6"/>
            <p:cNvSpPr/>
            <p:nvPr/>
          </p:nvSpPr>
          <p:spPr>
            <a:xfrm>
              <a:off x="0" y="0"/>
              <a:ext cx="4069783" cy="3117349"/>
            </a:xfrm>
            <a:custGeom>
              <a:avLst/>
              <a:gdLst/>
              <a:ahLst/>
              <a:cxnLst/>
              <a:rect l="l" t="t" r="r" b="b"/>
              <a:pathLst>
                <a:path w="4069783" h="3117349">
                  <a:moveTo>
                    <a:pt x="0" y="0"/>
                  </a:moveTo>
                  <a:lnTo>
                    <a:pt x="4069783" y="0"/>
                  </a:lnTo>
                  <a:lnTo>
                    <a:pt x="4069783" y="3117349"/>
                  </a:lnTo>
                  <a:lnTo>
                    <a:pt x="0" y="3117349"/>
                  </a:lnTo>
                  <a:close/>
                </a:path>
              </a:pathLst>
            </a:custGeom>
            <a:solidFill>
              <a:srgbClr val="B8BB87"/>
            </a:solidFill>
          </p:spPr>
          <p:txBody>
            <a:bodyPr/>
            <a:lstStyle/>
            <a:p>
              <a:endParaRPr lang="es-ES"/>
            </a:p>
          </p:txBody>
        </p:sp>
        <p:sp>
          <p:nvSpPr>
            <p:cNvPr id="7" name="TextBox 7"/>
            <p:cNvSpPr txBox="1"/>
            <p:nvPr/>
          </p:nvSpPr>
          <p:spPr>
            <a:xfrm>
              <a:off x="0" y="-47625"/>
              <a:ext cx="4069782" cy="3164974"/>
            </a:xfrm>
            <a:prstGeom prst="rect">
              <a:avLst/>
            </a:prstGeom>
          </p:spPr>
          <p:txBody>
            <a:bodyPr lIns="50800" tIns="50800" rIns="50800" bIns="50800" rtlCol="0" anchor="ctr"/>
            <a:lstStyle/>
            <a:p>
              <a:pPr algn="ctr">
                <a:lnSpc>
                  <a:spcPts val="3079"/>
                </a:lnSpc>
              </a:pPr>
              <a:endParaRPr/>
            </a:p>
          </p:txBody>
        </p:sp>
      </p:grpSp>
      <p:sp>
        <p:nvSpPr>
          <p:cNvPr id="8" name="TextBox 8"/>
          <p:cNvSpPr txBox="1"/>
          <p:nvPr/>
        </p:nvSpPr>
        <p:spPr>
          <a:xfrm>
            <a:off x="1428627" y="3319928"/>
            <a:ext cx="4216185" cy="3664588"/>
          </a:xfrm>
          <a:prstGeom prst="rect">
            <a:avLst/>
          </a:prstGeom>
        </p:spPr>
        <p:txBody>
          <a:bodyPr lIns="0" tIns="0" rIns="0" bIns="0" rtlCol="0" anchor="t">
            <a:spAutoFit/>
          </a:bodyPr>
          <a:lstStyle/>
          <a:p>
            <a:pPr algn="ctr">
              <a:lnSpc>
                <a:spcPts val="30064"/>
              </a:lnSpc>
              <a:spcBef>
                <a:spcPct val="0"/>
              </a:spcBef>
            </a:pPr>
            <a:r>
              <a:rPr lang="en-US" sz="21474" b="1">
                <a:solidFill>
                  <a:srgbClr val="4D4C4C"/>
                </a:solidFill>
                <a:latin typeface="TS Deniz Bold"/>
                <a:ea typeface="TS Deniz Bold"/>
                <a:cs typeface="TS Deniz Bold"/>
                <a:sym typeface="TS Deniz Bold"/>
              </a:rPr>
              <a:t>04</a:t>
            </a:r>
          </a:p>
        </p:txBody>
      </p:sp>
      <p:sp>
        <p:nvSpPr>
          <p:cNvPr id="9" name="TextBox 9"/>
          <p:cNvSpPr txBox="1"/>
          <p:nvPr/>
        </p:nvSpPr>
        <p:spPr>
          <a:xfrm>
            <a:off x="6308470" y="994964"/>
            <a:ext cx="10637129" cy="8714565"/>
          </a:xfrm>
          <a:prstGeom prst="rect">
            <a:avLst/>
          </a:prstGeom>
        </p:spPr>
        <p:txBody>
          <a:bodyPr lIns="0" tIns="0" rIns="0" bIns="0" rtlCol="0" anchor="t">
            <a:spAutoFit/>
          </a:bodyPr>
          <a:lstStyle/>
          <a:p>
            <a:pPr>
              <a:lnSpc>
                <a:spcPts val="13721"/>
              </a:lnSpc>
              <a:spcBef>
                <a:spcPct val="0"/>
              </a:spcBef>
            </a:pPr>
            <a:r>
              <a:rPr lang="en-US" sz="9600" b="1" spc="192" dirty="0" err="1">
                <a:solidFill>
                  <a:srgbClr val="4D4C4C"/>
                </a:solidFill>
                <a:latin typeface="Helios Bold"/>
                <a:ea typeface="Helios Bold"/>
                <a:cs typeface="Helios Bold"/>
                <a:sym typeface="Helios Bold"/>
              </a:rPr>
              <a:t>Participar</a:t>
            </a:r>
            <a:r>
              <a:rPr lang="en-US" sz="9600" b="1" spc="192" dirty="0">
                <a:solidFill>
                  <a:srgbClr val="4D4C4C"/>
                </a:solidFill>
                <a:latin typeface="Helios Bold"/>
                <a:ea typeface="Helios Bold"/>
                <a:cs typeface="Helios Bold"/>
                <a:sym typeface="Helios Bold"/>
              </a:rPr>
              <a:t> </a:t>
            </a:r>
            <a:r>
              <a:rPr lang="en-US" sz="9600" b="1" spc="192" dirty="0" err="1">
                <a:solidFill>
                  <a:srgbClr val="4D4C4C"/>
                </a:solidFill>
                <a:latin typeface="Helios Bold"/>
                <a:ea typeface="Helios Bold"/>
                <a:cs typeface="Helios Bold"/>
                <a:sym typeface="Helios Bold"/>
              </a:rPr>
              <a:t>en</a:t>
            </a:r>
            <a:r>
              <a:rPr lang="en-US" sz="9600" b="1" spc="192" dirty="0">
                <a:solidFill>
                  <a:srgbClr val="4D4C4C"/>
                </a:solidFill>
                <a:latin typeface="Helios Bold"/>
                <a:ea typeface="Helios Bold"/>
                <a:cs typeface="Helios Bold"/>
                <a:sym typeface="Helios Bold"/>
              </a:rPr>
              <a:t> un </a:t>
            </a:r>
            <a:r>
              <a:rPr lang="en-US" sz="9600" b="1" spc="192" dirty="0" err="1">
                <a:solidFill>
                  <a:srgbClr val="4D4C4C"/>
                </a:solidFill>
                <a:latin typeface="Helios Bold"/>
                <a:ea typeface="Helios Bold"/>
                <a:cs typeface="Helios Bold"/>
                <a:sym typeface="Helios Bold"/>
              </a:rPr>
              <a:t>proceso</a:t>
            </a:r>
            <a:r>
              <a:rPr lang="en-US" sz="9600" b="1" spc="192" dirty="0">
                <a:solidFill>
                  <a:srgbClr val="4D4C4C"/>
                </a:solidFill>
                <a:latin typeface="Helios Bold"/>
                <a:ea typeface="Helios Bold"/>
                <a:cs typeface="Helios Bold"/>
                <a:sym typeface="Helios Bold"/>
              </a:rPr>
              <a:t> de </a:t>
            </a:r>
            <a:r>
              <a:rPr lang="en-US" sz="9600" b="1" spc="192" dirty="0" err="1">
                <a:solidFill>
                  <a:srgbClr val="4D4C4C"/>
                </a:solidFill>
                <a:latin typeface="Helios Bold"/>
                <a:ea typeface="Helios Bold"/>
                <a:cs typeface="Helios Bold"/>
                <a:sym typeface="Helios Bold"/>
              </a:rPr>
              <a:t>selección</a:t>
            </a:r>
            <a:r>
              <a:rPr lang="en-US" sz="9600" b="1" spc="192" dirty="0">
                <a:solidFill>
                  <a:srgbClr val="4D4C4C"/>
                </a:solidFill>
                <a:latin typeface="Helios Bold"/>
                <a:ea typeface="Helios Bold"/>
                <a:cs typeface="Helios Bold"/>
                <a:sym typeface="Helios Bold"/>
              </a:rPr>
              <a:t>. La </a:t>
            </a:r>
            <a:r>
              <a:rPr lang="en-US" sz="9600" b="1" spc="192" dirty="0" err="1">
                <a:solidFill>
                  <a:srgbClr val="4D4C4C"/>
                </a:solidFill>
                <a:latin typeface="Helios Bold"/>
                <a:ea typeface="Helios Bold"/>
                <a:cs typeface="Helios Bold"/>
                <a:sym typeface="Helios Bold"/>
              </a:rPr>
              <a:t>entrevista</a:t>
            </a:r>
            <a:r>
              <a:rPr lang="en-US" sz="9600" b="1" spc="192" dirty="0">
                <a:solidFill>
                  <a:srgbClr val="4D4C4C"/>
                </a:solidFill>
                <a:latin typeface="Helios Bold"/>
                <a:ea typeface="Helios Bold"/>
                <a:cs typeface="Helios Bold"/>
                <a:sym typeface="Helios Bold"/>
              </a:rPr>
              <a:t> de </a:t>
            </a:r>
            <a:r>
              <a:rPr lang="en-US" sz="9600" b="1" spc="192" dirty="0" err="1">
                <a:solidFill>
                  <a:srgbClr val="4D4C4C"/>
                </a:solidFill>
                <a:latin typeface="Helios Bold"/>
                <a:ea typeface="Helios Bold"/>
                <a:cs typeface="Helios Bold"/>
                <a:sym typeface="Helios Bold"/>
              </a:rPr>
              <a:t>trabajo</a:t>
            </a:r>
            <a:r>
              <a:rPr lang="en-US" sz="9600" b="1" spc="192" dirty="0">
                <a:solidFill>
                  <a:srgbClr val="4D4C4C"/>
                </a:solidFill>
                <a:latin typeface="Helios Bold"/>
                <a:ea typeface="Helios Bold"/>
                <a:cs typeface="Helios Bold"/>
                <a:sym typeface="Helios Bold"/>
              </a:rPr>
              <a:t>.</a:t>
            </a:r>
            <a:endParaRPr lang="en-US" sz="9801" b="1" dirty="0">
              <a:solidFill>
                <a:srgbClr val="4D4C4C"/>
              </a:solidFill>
              <a:latin typeface="TS Deniz Bold"/>
              <a:ea typeface="TS Deniz Bold"/>
              <a:cs typeface="TS Deniz Bold"/>
              <a:sym typeface="TS Deniz Bold"/>
            </a:endParaRPr>
          </a:p>
        </p:txBody>
      </p:sp>
      <p:grpSp>
        <p:nvGrpSpPr>
          <p:cNvPr id="10" name="Group 10"/>
          <p:cNvGrpSpPr/>
          <p:nvPr/>
        </p:nvGrpSpPr>
        <p:grpSpPr>
          <a:xfrm rot="-10800000">
            <a:off x="-2136122" y="3444698"/>
            <a:ext cx="8227978" cy="4140271"/>
            <a:chOff x="0" y="0"/>
            <a:chExt cx="807640" cy="406400"/>
          </a:xfrm>
        </p:grpSpPr>
        <p:sp>
          <p:nvSpPr>
            <p:cNvPr id="11" name="Freeform 11"/>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12" name="TextBox 12"/>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13" name="Group 13"/>
          <p:cNvGrpSpPr/>
          <p:nvPr/>
        </p:nvGrpSpPr>
        <p:grpSpPr>
          <a:xfrm>
            <a:off x="879387" y="2646483"/>
            <a:ext cx="1098480" cy="1098480"/>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6" name="Freeform 16"/>
          <p:cNvSpPr/>
          <p:nvPr/>
        </p:nvSpPr>
        <p:spPr>
          <a:xfrm>
            <a:off x="-1698802" y="5514834"/>
            <a:ext cx="3397604" cy="3397604"/>
          </a:xfrm>
          <a:custGeom>
            <a:avLst/>
            <a:gdLst/>
            <a:ahLst/>
            <a:cxnLst/>
            <a:rect l="l" t="t" r="r" b="b"/>
            <a:pathLst>
              <a:path w="3397604" h="3397604">
                <a:moveTo>
                  <a:pt x="0" y="0"/>
                </a:moveTo>
                <a:lnTo>
                  <a:pt x="3397604" y="0"/>
                </a:lnTo>
                <a:lnTo>
                  <a:pt x="3397604" y="3397603"/>
                </a:lnTo>
                <a:lnTo>
                  <a:pt x="0" y="33976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662B1-C660-ACB7-21D9-2EF9105913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CB603F-BDBC-B674-CD88-FF7E3509F88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B67106EC-422D-5616-EC30-8464F8B38A42}"/>
              </a:ext>
            </a:extLst>
          </p:cNvPr>
          <p:cNvSpPr txBox="1"/>
          <p:nvPr/>
        </p:nvSpPr>
        <p:spPr>
          <a:xfrm>
            <a:off x="342495" y="1939974"/>
            <a:ext cx="17603009" cy="2603277"/>
          </a:xfrm>
          <a:prstGeom prst="rect">
            <a:avLst/>
          </a:prstGeom>
        </p:spPr>
        <p:txBody>
          <a:bodyPr lIns="0" tIns="0" rIns="0" bIns="0" rtlCol="0" anchor="t">
            <a:spAutoFit/>
          </a:bodyPr>
          <a:lstStyle/>
          <a:p>
            <a:pPr algn="just">
              <a:lnSpc>
                <a:spcPts val="4224"/>
              </a:lnSpc>
            </a:pPr>
            <a:r>
              <a:rPr lang="es-ES" sz="3462" dirty="0">
                <a:solidFill>
                  <a:srgbClr val="71743C"/>
                </a:solidFill>
                <a:latin typeface="Borel"/>
                <a:ea typeface="Borel"/>
                <a:sym typeface="Helios"/>
              </a:rPr>
              <a:t>Participar en un proceso de selección implica superar diferentes etapas diseñadas para evaluar la idoneidad del candidato. Cada fase requiere preparación y una actitud estratégica para destacar frente a otros aspirantes.</a:t>
            </a:r>
          </a:p>
          <a:p>
            <a:pPr algn="l">
              <a:lnSpc>
                <a:spcPts val="3524"/>
              </a:lnSpc>
              <a:spcBef>
                <a:spcPct val="0"/>
              </a:spcBef>
            </a:pPr>
            <a:endParaRPr lang="en-US" sz="3017" u="sng" spc="178" dirty="0">
              <a:solidFill>
                <a:srgbClr val="000000"/>
              </a:solidFill>
              <a:latin typeface="Helios"/>
              <a:ea typeface="Helios"/>
              <a:cs typeface="Helios"/>
              <a:sym typeface="Helios"/>
              <a:hlinkClick r:id="rId4" tooltip="https://www.youtube.com/embed/10DX-oXG4SY?si=Dy3uaAnuO7tiNV5G%22%20title="/>
            </a:endParaRPr>
          </a:p>
        </p:txBody>
      </p:sp>
      <p:sp>
        <p:nvSpPr>
          <p:cNvPr id="4" name="TextBox 4">
            <a:extLst>
              <a:ext uri="{FF2B5EF4-FFF2-40B4-BE49-F238E27FC236}">
                <a16:creationId xmlns:a16="http://schemas.microsoft.com/office/drawing/2014/main" id="{0CFA9C02-2F67-5E83-826F-FFEB6A19DEF4}"/>
              </a:ext>
            </a:extLst>
          </p:cNvPr>
          <p:cNvSpPr txBox="1"/>
          <p:nvPr/>
        </p:nvSpPr>
        <p:spPr>
          <a:xfrm>
            <a:off x="457201" y="267891"/>
            <a:ext cx="16427486" cy="1530612"/>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 </a:t>
            </a:r>
            <a:r>
              <a:rPr lang="en-US" sz="5400" b="1" spc="192" dirty="0" err="1">
                <a:solidFill>
                  <a:srgbClr val="4D4C4C"/>
                </a:solidFill>
                <a:latin typeface="Helios Bold"/>
                <a:ea typeface="Helios Bold"/>
                <a:cs typeface="Helios Bold"/>
                <a:sym typeface="Helios Bold"/>
              </a:rPr>
              <a:t>Participar</a:t>
            </a:r>
            <a:r>
              <a:rPr lang="en-US" sz="5400" b="1" spc="192" dirty="0">
                <a:solidFill>
                  <a:srgbClr val="4D4C4C"/>
                </a:solidFill>
                <a:latin typeface="Helios Bold"/>
                <a:ea typeface="Helios Bold"/>
                <a:cs typeface="Helios Bold"/>
                <a:sym typeface="Helios Bold"/>
              </a:rPr>
              <a:t> </a:t>
            </a:r>
            <a:r>
              <a:rPr lang="en-US" sz="5400" b="1" spc="192" dirty="0" err="1">
                <a:solidFill>
                  <a:srgbClr val="4D4C4C"/>
                </a:solidFill>
                <a:latin typeface="Helios Bold"/>
                <a:ea typeface="Helios Bold"/>
                <a:cs typeface="Helios Bold"/>
                <a:sym typeface="Helios Bold"/>
              </a:rPr>
              <a:t>en</a:t>
            </a:r>
            <a:r>
              <a:rPr lang="en-US" sz="5400" b="1" spc="192" dirty="0">
                <a:solidFill>
                  <a:srgbClr val="4D4C4C"/>
                </a:solidFill>
                <a:latin typeface="Helios Bold"/>
                <a:ea typeface="Helios Bold"/>
                <a:cs typeface="Helios Bold"/>
                <a:sym typeface="Helios Bold"/>
              </a:rPr>
              <a:t> un </a:t>
            </a:r>
            <a:r>
              <a:rPr lang="en-US" sz="5400" b="1" spc="192" dirty="0" err="1">
                <a:solidFill>
                  <a:srgbClr val="4D4C4C"/>
                </a:solidFill>
                <a:latin typeface="Helios Bold"/>
                <a:ea typeface="Helios Bold"/>
                <a:cs typeface="Helios Bold"/>
                <a:sym typeface="Helios Bold"/>
              </a:rPr>
              <a:t>proceso</a:t>
            </a:r>
            <a:r>
              <a:rPr lang="en-US" sz="5400" b="1" spc="192" dirty="0">
                <a:solidFill>
                  <a:srgbClr val="4D4C4C"/>
                </a:solidFill>
                <a:latin typeface="Helios Bold"/>
                <a:ea typeface="Helios Bold"/>
                <a:cs typeface="Helios Bold"/>
                <a:sym typeface="Helios Bold"/>
              </a:rPr>
              <a:t> de </a:t>
            </a:r>
            <a:r>
              <a:rPr lang="en-US" sz="5400" b="1" spc="192" dirty="0" err="1">
                <a:solidFill>
                  <a:srgbClr val="4D4C4C"/>
                </a:solidFill>
                <a:latin typeface="Helios Bold"/>
                <a:ea typeface="Helios Bold"/>
                <a:cs typeface="Helios Bold"/>
                <a:sym typeface="Helios Bold"/>
              </a:rPr>
              <a:t>selección</a:t>
            </a:r>
            <a:endParaRPr lang="en-US" sz="9600" b="1" dirty="0">
              <a:solidFill>
                <a:srgbClr val="4D4C4C"/>
              </a:solidFill>
              <a:latin typeface="TS Deniz Bold"/>
              <a:ea typeface="TS Deniz Bold"/>
              <a:cs typeface="TS Deniz Bold"/>
              <a:sym typeface="TS Deniz Bold"/>
            </a:endParaRPr>
          </a:p>
          <a:p>
            <a:pPr algn="l">
              <a:lnSpc>
                <a:spcPts val="5852"/>
              </a:lnSpc>
            </a:pP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15342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A1AFB-3355-FF38-9B0D-A28FFCA952D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1506EF-E061-41C9-902C-FF23A27542EC}"/>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497CE5A4-5794-BEFE-EC04-5E738F2FD9B1}"/>
              </a:ext>
            </a:extLst>
          </p:cNvPr>
          <p:cNvSpPr txBox="1"/>
          <p:nvPr/>
        </p:nvSpPr>
        <p:spPr>
          <a:xfrm>
            <a:off x="342495" y="1485900"/>
            <a:ext cx="17603009" cy="8568115"/>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El proceso comienza con la </a:t>
            </a:r>
            <a:r>
              <a:rPr lang="es-ES" sz="3017" b="1" spc="178" dirty="0">
                <a:solidFill>
                  <a:srgbClr val="000000"/>
                </a:solidFill>
                <a:latin typeface="Helios"/>
                <a:sym typeface="Helios"/>
              </a:rPr>
              <a:t>recepción y análisis de candidaturas</a:t>
            </a:r>
            <a:r>
              <a:rPr lang="es-ES" sz="3017" spc="178" dirty="0">
                <a:solidFill>
                  <a:srgbClr val="000000"/>
                </a:solidFill>
                <a:latin typeface="Helios"/>
                <a:sym typeface="Helios"/>
              </a:rPr>
              <a:t>, donde la empresa revisa los currículums y cartas de presentación. En muchos casos, se utilizan sistemas automatizados (ATS) que filtran perfiles según palabras clave y requisitos específicos. Por ello, adaptar el CV a la oferta es fundamental.</a:t>
            </a:r>
          </a:p>
          <a:p>
            <a:pPr algn="just">
              <a:lnSpc>
                <a:spcPts val="4224"/>
              </a:lnSpc>
            </a:pPr>
            <a:endParaRPr lang="es-ES" sz="3017" spc="178" dirty="0">
              <a:solidFill>
                <a:srgbClr val="000000"/>
              </a:solidFill>
              <a:latin typeface="Helios"/>
              <a:sym typeface="Helios"/>
            </a:endParaRPr>
          </a:p>
          <a:p>
            <a:pPr algn="just">
              <a:lnSpc>
                <a:spcPts val="4224"/>
              </a:lnSpc>
            </a:pPr>
            <a:r>
              <a:rPr lang="es-ES" sz="3017" spc="178" dirty="0">
                <a:solidFill>
                  <a:srgbClr val="000000"/>
                </a:solidFill>
                <a:latin typeface="Helios"/>
                <a:sym typeface="Helios"/>
              </a:rPr>
              <a:t>Después, se realizan </a:t>
            </a:r>
            <a:r>
              <a:rPr lang="es-ES" sz="3017" b="1" spc="178" dirty="0">
                <a:solidFill>
                  <a:srgbClr val="000000"/>
                </a:solidFill>
                <a:latin typeface="Helios"/>
                <a:sym typeface="Helios"/>
              </a:rPr>
              <a:t>pruebas iniciales</a:t>
            </a:r>
            <a:r>
              <a:rPr lang="es-ES" sz="3017" spc="178" dirty="0">
                <a:solidFill>
                  <a:srgbClr val="000000"/>
                </a:solidFill>
                <a:latin typeface="Helios"/>
                <a:sym typeface="Helios"/>
              </a:rPr>
              <a:t>, que pueden incluir </a:t>
            </a:r>
            <a:r>
              <a:rPr lang="es-ES" sz="3017" spc="178" dirty="0" err="1">
                <a:solidFill>
                  <a:srgbClr val="000000"/>
                </a:solidFill>
                <a:latin typeface="Helios"/>
                <a:sym typeface="Helios"/>
              </a:rPr>
              <a:t>tests</a:t>
            </a:r>
            <a:r>
              <a:rPr lang="es-ES" sz="3017" spc="178" dirty="0">
                <a:solidFill>
                  <a:srgbClr val="000000"/>
                </a:solidFill>
                <a:latin typeface="Helios"/>
                <a:sym typeface="Helios"/>
              </a:rPr>
              <a:t> psicotécnicos, evaluaciones de personalidad y pruebas técnicas relacionadas con el puesto. Estas herramientas permiten medir capacidades cognitivas, habilidades específicas y rasgos personales.</a:t>
            </a:r>
          </a:p>
          <a:p>
            <a:pPr algn="just">
              <a:lnSpc>
                <a:spcPts val="4224"/>
              </a:lnSpc>
            </a:pPr>
            <a:endParaRPr lang="es-ES" sz="3017" spc="178" dirty="0">
              <a:solidFill>
                <a:srgbClr val="000000"/>
              </a:solidFill>
              <a:latin typeface="Helios"/>
              <a:sym typeface="Helios"/>
            </a:endParaRPr>
          </a:p>
          <a:p>
            <a:pPr algn="just">
              <a:lnSpc>
                <a:spcPts val="4224"/>
              </a:lnSpc>
            </a:pPr>
            <a:r>
              <a:rPr lang="es-ES" sz="3017" spc="178" dirty="0">
                <a:solidFill>
                  <a:srgbClr val="000000"/>
                </a:solidFill>
                <a:latin typeface="Helios"/>
                <a:sym typeface="Helios"/>
              </a:rPr>
              <a:t>La siguiente etapa suele ser </a:t>
            </a:r>
            <a:r>
              <a:rPr lang="es-ES" sz="3017" b="1" spc="178" dirty="0">
                <a:solidFill>
                  <a:srgbClr val="000000"/>
                </a:solidFill>
                <a:latin typeface="Helios"/>
                <a:sym typeface="Helios"/>
              </a:rPr>
              <a:t>la entrevista personal</a:t>
            </a:r>
            <a:r>
              <a:rPr lang="es-ES" sz="3017" spc="178" dirty="0">
                <a:solidFill>
                  <a:srgbClr val="000000"/>
                </a:solidFill>
                <a:latin typeface="Helios"/>
                <a:sym typeface="Helios"/>
              </a:rPr>
              <a:t>, que puede ser telefónica, online o presencial. Aquí se busca conocer la experiencia, competencias y motivación del candidato. Es esencial investigar la empresa, comprender sus valores y adaptar el discurso a sus necesidades. Para responder preguntas, se recomienda el método STAR (Situación, Tarea, Acción, Resultado), que ayuda a estructurar respuestas claras y orientadas a logros.</a:t>
            </a:r>
          </a:p>
        </p:txBody>
      </p:sp>
      <p:sp>
        <p:nvSpPr>
          <p:cNvPr id="4" name="TextBox 4">
            <a:extLst>
              <a:ext uri="{FF2B5EF4-FFF2-40B4-BE49-F238E27FC236}">
                <a16:creationId xmlns:a16="http://schemas.microsoft.com/office/drawing/2014/main" id="{BA278A13-2871-C979-6016-B5C591037273}"/>
              </a:ext>
            </a:extLst>
          </p:cNvPr>
          <p:cNvSpPr txBox="1"/>
          <p:nvPr/>
        </p:nvSpPr>
        <p:spPr>
          <a:xfrm>
            <a:off x="457201" y="267891"/>
            <a:ext cx="16427486" cy="1530612"/>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4.1 .</a:t>
            </a:r>
            <a:r>
              <a:rPr lang="en-US" sz="5369" b="1" spc="-177" dirty="0" err="1">
                <a:solidFill>
                  <a:srgbClr val="4D4C4C"/>
                </a:solidFill>
                <a:latin typeface="TS Deniz Bold"/>
                <a:ea typeface="TS Deniz Bold"/>
                <a:cs typeface="TS Deniz Bold"/>
                <a:sym typeface="TS Deniz Bold"/>
              </a:rPr>
              <a:t>Fases</a:t>
            </a:r>
            <a:r>
              <a:rPr lang="en-US" sz="5369" b="1" spc="-177" dirty="0">
                <a:solidFill>
                  <a:srgbClr val="4D4C4C"/>
                </a:solidFill>
                <a:latin typeface="TS Deniz Bold"/>
                <a:ea typeface="TS Deniz Bold"/>
                <a:cs typeface="TS Deniz Bold"/>
                <a:sym typeface="TS Deniz Bold"/>
              </a:rPr>
              <a:t> del </a:t>
            </a:r>
            <a:r>
              <a:rPr lang="en-US" sz="5369" b="1" spc="-177" dirty="0" err="1">
                <a:solidFill>
                  <a:srgbClr val="4D4C4C"/>
                </a:solidFill>
                <a:latin typeface="TS Deniz Bold"/>
                <a:ea typeface="TS Deniz Bold"/>
                <a:cs typeface="TS Deniz Bold"/>
                <a:sym typeface="TS Deniz Bold"/>
              </a:rPr>
              <a:t>proceso</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selección</a:t>
            </a:r>
            <a:endParaRPr lang="en-US" sz="9600" b="1" dirty="0">
              <a:solidFill>
                <a:srgbClr val="4D4C4C"/>
              </a:solidFill>
              <a:latin typeface="TS Deniz Bold"/>
              <a:ea typeface="TS Deniz Bold"/>
              <a:cs typeface="TS Deniz Bold"/>
              <a:sym typeface="TS Deniz Bold"/>
            </a:endParaRPr>
          </a:p>
          <a:p>
            <a:pPr algn="l">
              <a:lnSpc>
                <a:spcPts val="5852"/>
              </a:lnSpc>
            </a:pP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139261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BD31-EF47-4167-9B11-C68D2400B47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36CF731-4246-DF5B-D14C-186C5C524E60}"/>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FA2484D3-7401-8012-9D4B-73806C7FFA19}"/>
              </a:ext>
            </a:extLst>
          </p:cNvPr>
          <p:cNvSpPr txBox="1"/>
          <p:nvPr/>
        </p:nvSpPr>
        <p:spPr>
          <a:xfrm>
            <a:off x="342495" y="1485900"/>
            <a:ext cx="17603009" cy="4259243"/>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En algunos procesos se incluyen </a:t>
            </a:r>
            <a:r>
              <a:rPr lang="es-ES" sz="3017" b="1" spc="178" dirty="0">
                <a:solidFill>
                  <a:srgbClr val="000000"/>
                </a:solidFill>
                <a:latin typeface="Helios"/>
                <a:sym typeface="Helios"/>
              </a:rPr>
              <a:t>dinámicas de grupo</a:t>
            </a:r>
            <a:r>
              <a:rPr lang="es-ES" sz="3017" spc="178" dirty="0">
                <a:solidFill>
                  <a:srgbClr val="000000"/>
                </a:solidFill>
                <a:latin typeface="Helios"/>
                <a:sym typeface="Helios"/>
              </a:rPr>
              <a:t>, donde varios candidatos trabajan juntos para resolver un problema o realizar una actividad. Se evalúan habilidades como liderazgo, trabajo en equipo, comunicación y capacidad de negociación. Es clave participar activamente sin imponer, mostrando colaboración y escucha.</a:t>
            </a:r>
          </a:p>
          <a:p>
            <a:pPr algn="just">
              <a:lnSpc>
                <a:spcPts val="4224"/>
              </a:lnSpc>
            </a:pPr>
            <a:endParaRPr lang="es-ES" sz="3017" spc="178" dirty="0">
              <a:solidFill>
                <a:srgbClr val="000000"/>
              </a:solidFill>
              <a:latin typeface="Helios"/>
              <a:sym typeface="Helios"/>
            </a:endParaRPr>
          </a:p>
          <a:p>
            <a:pPr algn="just">
              <a:lnSpc>
                <a:spcPts val="4224"/>
              </a:lnSpc>
            </a:pPr>
            <a:r>
              <a:rPr lang="es-ES" sz="3017" spc="178" dirty="0">
                <a:solidFill>
                  <a:srgbClr val="000000"/>
                </a:solidFill>
                <a:latin typeface="Helios"/>
                <a:sym typeface="Helios"/>
              </a:rPr>
              <a:t>Finalmente, se llega a la </a:t>
            </a:r>
            <a:r>
              <a:rPr lang="es-ES" sz="3017" b="1" spc="178" dirty="0">
                <a:solidFill>
                  <a:srgbClr val="000000"/>
                </a:solidFill>
                <a:latin typeface="Helios"/>
                <a:sym typeface="Helios"/>
              </a:rPr>
              <a:t>entrevista final y negociación</a:t>
            </a:r>
            <a:r>
              <a:rPr lang="es-ES" sz="3017" spc="178" dirty="0">
                <a:solidFill>
                  <a:srgbClr val="000000"/>
                </a:solidFill>
                <a:latin typeface="Helios"/>
                <a:sym typeface="Helios"/>
              </a:rPr>
              <a:t>, donde se discuten condiciones laborales, salario y fecha de incorporación. La honestidad y la claridad son fundamentales para establecer una relación de confianza.</a:t>
            </a:r>
          </a:p>
        </p:txBody>
      </p:sp>
      <p:sp>
        <p:nvSpPr>
          <p:cNvPr id="4" name="TextBox 4">
            <a:extLst>
              <a:ext uri="{FF2B5EF4-FFF2-40B4-BE49-F238E27FC236}">
                <a16:creationId xmlns:a16="http://schemas.microsoft.com/office/drawing/2014/main" id="{0055813D-7193-8241-85FA-CC9A59B27908}"/>
              </a:ext>
            </a:extLst>
          </p:cNvPr>
          <p:cNvSpPr txBox="1"/>
          <p:nvPr/>
        </p:nvSpPr>
        <p:spPr>
          <a:xfrm>
            <a:off x="457201" y="267891"/>
            <a:ext cx="16427486" cy="1530612"/>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4.1 .</a:t>
            </a:r>
            <a:r>
              <a:rPr lang="en-US" sz="5369" b="1" spc="-177" dirty="0" err="1">
                <a:solidFill>
                  <a:srgbClr val="4D4C4C"/>
                </a:solidFill>
                <a:latin typeface="TS Deniz Bold"/>
                <a:ea typeface="TS Deniz Bold"/>
                <a:cs typeface="TS Deniz Bold"/>
                <a:sym typeface="TS Deniz Bold"/>
              </a:rPr>
              <a:t>Fases</a:t>
            </a:r>
            <a:r>
              <a:rPr lang="en-US" sz="5369" b="1" spc="-177" dirty="0">
                <a:solidFill>
                  <a:srgbClr val="4D4C4C"/>
                </a:solidFill>
                <a:latin typeface="TS Deniz Bold"/>
                <a:ea typeface="TS Deniz Bold"/>
                <a:cs typeface="TS Deniz Bold"/>
                <a:sym typeface="TS Deniz Bold"/>
              </a:rPr>
              <a:t> del </a:t>
            </a:r>
            <a:r>
              <a:rPr lang="en-US" sz="5369" b="1" spc="-177" dirty="0" err="1">
                <a:solidFill>
                  <a:srgbClr val="4D4C4C"/>
                </a:solidFill>
                <a:latin typeface="TS Deniz Bold"/>
                <a:ea typeface="TS Deniz Bold"/>
                <a:cs typeface="TS Deniz Bold"/>
                <a:sym typeface="TS Deniz Bold"/>
              </a:rPr>
              <a:t>proceso</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selección</a:t>
            </a:r>
            <a:endParaRPr lang="en-US" sz="9600" b="1" dirty="0">
              <a:solidFill>
                <a:srgbClr val="4D4C4C"/>
              </a:solidFill>
              <a:latin typeface="TS Deniz Bold"/>
              <a:ea typeface="TS Deniz Bold"/>
              <a:cs typeface="TS Deniz Bold"/>
              <a:sym typeface="TS Deniz Bold"/>
            </a:endParaRPr>
          </a:p>
          <a:p>
            <a:pPr algn="l">
              <a:lnSpc>
                <a:spcPts val="5852"/>
              </a:lnSpc>
            </a:pP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2286232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C4C3-D338-4E08-AD33-C2B4113469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26415E-8469-AC85-D54D-70893F0E1AC6}"/>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E0BC455F-B9C1-3386-7D35-3D3EEB9FB8D8}"/>
              </a:ext>
            </a:extLst>
          </p:cNvPr>
          <p:cNvSpPr txBox="1"/>
          <p:nvPr/>
        </p:nvSpPr>
        <p:spPr>
          <a:xfrm>
            <a:off x="342495" y="1485900"/>
            <a:ext cx="17603009" cy="7490897"/>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 preparación para la entrevista es una de las fases más importantes del proceso de selección, ya que permite al candidato transmitir seguridad, profesionalidad y adecuación al puesto. Una entrevista no debe afrontarse de manera improvisada; requiere planificación y análisis previo.</a:t>
            </a:r>
          </a:p>
          <a:p>
            <a:pPr algn="just">
              <a:lnSpc>
                <a:spcPts val="4224"/>
              </a:lnSpc>
            </a:pPr>
            <a:r>
              <a:rPr lang="es-ES" sz="3017" b="1" spc="178" dirty="0">
                <a:solidFill>
                  <a:srgbClr val="000000"/>
                </a:solidFill>
                <a:latin typeface="Helios"/>
                <a:sym typeface="Helios"/>
              </a:rPr>
              <a:t>Investigar la empresa:</a:t>
            </a:r>
          </a:p>
          <a:p>
            <a:pPr algn="just">
              <a:lnSpc>
                <a:spcPts val="4224"/>
              </a:lnSpc>
            </a:pPr>
            <a:r>
              <a:rPr lang="es-ES" sz="3017" spc="178" dirty="0">
                <a:solidFill>
                  <a:srgbClr val="000000"/>
                </a:solidFill>
                <a:latin typeface="Helios"/>
                <a:sym typeface="Helios"/>
              </a:rPr>
              <a:t>Antes de la entrevista, es fundamental conocer la organización. Esto incluye su historia, misión, valores, productos o servicios, estructura y cultura corporativa. Esta información se puede obtener en la página web oficial, redes sociales, informes anuales y noticias recientes. Conocer estos aspectos permite adaptar el discurso y demostrar interés genuino por la empresa.</a:t>
            </a:r>
          </a:p>
          <a:p>
            <a:pPr algn="just">
              <a:lnSpc>
                <a:spcPts val="4224"/>
              </a:lnSpc>
            </a:pPr>
            <a:r>
              <a:rPr lang="es-ES" sz="3017" b="1" spc="178" dirty="0">
                <a:solidFill>
                  <a:srgbClr val="000000"/>
                </a:solidFill>
                <a:latin typeface="Helios"/>
                <a:sym typeface="Helios"/>
              </a:rPr>
              <a:t>Analizar la oferta:</a:t>
            </a:r>
          </a:p>
          <a:p>
            <a:pPr algn="just">
              <a:lnSpc>
                <a:spcPts val="4224"/>
              </a:lnSpc>
            </a:pPr>
            <a:r>
              <a:rPr lang="es-ES" sz="3017" spc="178" dirty="0">
                <a:solidFill>
                  <a:srgbClr val="000000"/>
                </a:solidFill>
                <a:latin typeface="Helios"/>
                <a:sym typeface="Helios"/>
              </a:rPr>
              <a:t>Es necesario estudiar la descripción del puesto para identificar las competencias técnicas y personales que se solicitan. Esto ayuda a preparar ejemplos concretos que evidencien la adecuación del candidato al perfil buscado.</a:t>
            </a:r>
          </a:p>
        </p:txBody>
      </p:sp>
      <p:sp>
        <p:nvSpPr>
          <p:cNvPr id="4" name="TextBox 4">
            <a:extLst>
              <a:ext uri="{FF2B5EF4-FFF2-40B4-BE49-F238E27FC236}">
                <a16:creationId xmlns:a16="http://schemas.microsoft.com/office/drawing/2014/main" id="{74975474-08C4-0E40-8F11-401D720FBB65}"/>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4.2 . </a:t>
            </a:r>
            <a:r>
              <a:rPr lang="en-US" sz="5369" b="1" spc="-177" dirty="0" err="1">
                <a:solidFill>
                  <a:srgbClr val="4D4C4C"/>
                </a:solidFill>
                <a:latin typeface="TS Deniz Bold"/>
                <a:ea typeface="TS Deniz Bold"/>
                <a:cs typeface="TS Deniz Bold"/>
                <a:sym typeface="TS Deniz Bold"/>
              </a:rPr>
              <a:t>Preparación</a:t>
            </a:r>
            <a:r>
              <a:rPr lang="en-US" sz="5369" b="1" spc="-177" dirty="0">
                <a:solidFill>
                  <a:srgbClr val="4D4C4C"/>
                </a:solidFill>
                <a:latin typeface="TS Deniz Bold"/>
                <a:ea typeface="TS Deniz Bold"/>
                <a:cs typeface="TS Deniz Bold"/>
                <a:sym typeface="TS Deniz Bold"/>
              </a:rPr>
              <a:t> para la </a:t>
            </a:r>
            <a:r>
              <a:rPr lang="en-US" sz="5369" b="1" spc="-177" dirty="0" err="1">
                <a:solidFill>
                  <a:srgbClr val="4D4C4C"/>
                </a:solidFill>
                <a:latin typeface="TS Deniz Bold"/>
                <a:ea typeface="TS Deniz Bold"/>
                <a:cs typeface="TS Deniz Bold"/>
                <a:sym typeface="TS Deniz Bold"/>
              </a:rPr>
              <a:t>entrevista</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05216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84931-29A7-B52B-488E-D24CC3C27D8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90D016-9B82-111B-561F-D69212574D22}"/>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4F381AA7-EBBD-7D43-9507-CDF510CFA952}"/>
              </a:ext>
            </a:extLst>
          </p:cNvPr>
          <p:cNvSpPr txBox="1"/>
          <p:nvPr/>
        </p:nvSpPr>
        <p:spPr>
          <a:xfrm>
            <a:off x="342495" y="1485900"/>
            <a:ext cx="17603009" cy="8568115"/>
          </a:xfrm>
          <a:prstGeom prst="rect">
            <a:avLst/>
          </a:prstGeom>
        </p:spPr>
        <p:txBody>
          <a:bodyPr lIns="0" tIns="0" rIns="0" bIns="0" rtlCol="0" anchor="t">
            <a:spAutoFit/>
          </a:bodyPr>
          <a:lstStyle/>
          <a:p>
            <a:pPr algn="just">
              <a:lnSpc>
                <a:spcPts val="4224"/>
              </a:lnSpc>
            </a:pPr>
            <a:r>
              <a:rPr lang="es-ES" sz="3017" b="1" spc="178" dirty="0">
                <a:solidFill>
                  <a:srgbClr val="000000"/>
                </a:solidFill>
                <a:latin typeface="Helios"/>
                <a:sym typeface="Helios"/>
              </a:rPr>
              <a:t>Preparar respuestas:</a:t>
            </a:r>
          </a:p>
          <a:p>
            <a:pPr algn="just">
              <a:lnSpc>
                <a:spcPts val="4224"/>
              </a:lnSpc>
            </a:pPr>
            <a:r>
              <a:rPr lang="es-ES" sz="3017" spc="178" dirty="0">
                <a:solidFill>
                  <a:srgbClr val="000000"/>
                </a:solidFill>
                <a:latin typeface="Helios"/>
                <a:sym typeface="Helios"/>
              </a:rPr>
              <a:t>Una técnica muy eficaz es el método STAR (Situación, Tarea, Acción, Resultado), que permite estructurar respuestas claras y orientadas a logros. Por ejemplo, ante preguntas sobre experiencias pasadas, se debe explicar la situación, la tarea asignada, las acciones realizadas y los resultados obtenidos.</a:t>
            </a:r>
          </a:p>
          <a:p>
            <a:pPr algn="just">
              <a:lnSpc>
                <a:spcPts val="4224"/>
              </a:lnSpc>
            </a:pPr>
            <a:r>
              <a:rPr lang="es-ES" sz="3017" b="1" spc="178" dirty="0">
                <a:solidFill>
                  <a:srgbClr val="000000"/>
                </a:solidFill>
                <a:latin typeface="Helios"/>
                <a:sym typeface="Helios"/>
              </a:rPr>
              <a:t>Anticipación de Preguntas frecuentes:</a:t>
            </a:r>
          </a:p>
          <a:p>
            <a:pPr algn="just">
              <a:lnSpc>
                <a:spcPts val="4224"/>
              </a:lnSpc>
            </a:pPr>
            <a:r>
              <a:rPr lang="es-ES" sz="3017" spc="178" dirty="0">
                <a:solidFill>
                  <a:srgbClr val="000000"/>
                </a:solidFill>
                <a:latin typeface="Helios"/>
                <a:sym typeface="Helios"/>
              </a:rPr>
              <a:t>Conviene anticipar preguntas habituales como:</a:t>
            </a:r>
          </a:p>
          <a:p>
            <a:pPr algn="just">
              <a:lnSpc>
                <a:spcPts val="4224"/>
              </a:lnSpc>
            </a:pPr>
            <a:r>
              <a:rPr lang="es-ES" sz="3017" spc="178" dirty="0">
                <a:solidFill>
                  <a:srgbClr val="000000"/>
                </a:solidFill>
                <a:latin typeface="Helios"/>
                <a:sym typeface="Helios"/>
              </a:rPr>
              <a:t>¿Cuáles son tus fortalezas y debilidades?</a:t>
            </a:r>
          </a:p>
          <a:p>
            <a:pPr algn="just">
              <a:lnSpc>
                <a:spcPts val="4224"/>
              </a:lnSpc>
            </a:pPr>
            <a:r>
              <a:rPr lang="es-ES" sz="3017" spc="178" dirty="0">
                <a:solidFill>
                  <a:srgbClr val="000000"/>
                </a:solidFill>
                <a:latin typeface="Helios"/>
                <a:sym typeface="Helios"/>
              </a:rPr>
              <a:t>¿Por qué quieres trabajar en esta empresa?¿Cómo manejas la presión o los conflictos?</a:t>
            </a:r>
          </a:p>
          <a:p>
            <a:pPr algn="just">
              <a:lnSpc>
                <a:spcPts val="4224"/>
              </a:lnSpc>
            </a:pPr>
            <a:r>
              <a:rPr lang="es-ES" sz="3017" spc="178" dirty="0">
                <a:solidFill>
                  <a:srgbClr val="000000"/>
                </a:solidFill>
                <a:latin typeface="Helios"/>
                <a:sym typeface="Helios"/>
              </a:rPr>
              <a:t>¿Dónde te ves en cinco años?</a:t>
            </a:r>
          </a:p>
          <a:p>
            <a:pPr algn="just">
              <a:lnSpc>
                <a:spcPts val="4224"/>
              </a:lnSpc>
            </a:pPr>
            <a:r>
              <a:rPr lang="es-ES" sz="3017" spc="178" dirty="0">
                <a:solidFill>
                  <a:srgbClr val="000000"/>
                </a:solidFill>
                <a:latin typeface="Helios"/>
                <a:sym typeface="Helios"/>
              </a:rPr>
              <a:t>Practicar estas respuestas ayuda a ganar confianza y evitar improvisaciones.</a:t>
            </a:r>
          </a:p>
          <a:p>
            <a:pPr algn="just">
              <a:lnSpc>
                <a:spcPts val="4224"/>
              </a:lnSpc>
            </a:pPr>
            <a:r>
              <a:rPr lang="es-ES" sz="3017" b="1" spc="178" dirty="0">
                <a:solidFill>
                  <a:srgbClr val="000000"/>
                </a:solidFill>
                <a:latin typeface="Helios"/>
                <a:sym typeface="Helios"/>
              </a:rPr>
              <a:t>Preguntas al entrevistador:</a:t>
            </a:r>
          </a:p>
          <a:p>
            <a:pPr algn="just">
              <a:lnSpc>
                <a:spcPts val="4224"/>
              </a:lnSpc>
            </a:pPr>
            <a:r>
              <a:rPr lang="es-ES" sz="3017" spc="178" dirty="0">
                <a:solidFill>
                  <a:srgbClr val="000000"/>
                </a:solidFill>
                <a:latin typeface="Helios"/>
                <a:sym typeface="Helios"/>
              </a:rPr>
              <a:t>Formular preguntas al final de la entrevista demuestra interés y proactividad. Algunas pueden ser:</a:t>
            </a:r>
          </a:p>
          <a:p>
            <a:pPr algn="just">
              <a:lnSpc>
                <a:spcPts val="4224"/>
              </a:lnSpc>
            </a:pPr>
            <a:r>
              <a:rPr lang="es-ES" sz="3017" spc="178" dirty="0">
                <a:solidFill>
                  <a:srgbClr val="000000"/>
                </a:solidFill>
                <a:latin typeface="Helios"/>
                <a:sym typeface="Helios"/>
              </a:rPr>
              <a:t>¿Cómo es el equipo de trabajo?¿Qué expectativas tiene la empresa para este puesto en los próximos meses?¿Cuáles son las oportunidades de desarrollo profesional?</a:t>
            </a:r>
          </a:p>
        </p:txBody>
      </p:sp>
      <p:sp>
        <p:nvSpPr>
          <p:cNvPr id="4" name="TextBox 4">
            <a:extLst>
              <a:ext uri="{FF2B5EF4-FFF2-40B4-BE49-F238E27FC236}">
                <a16:creationId xmlns:a16="http://schemas.microsoft.com/office/drawing/2014/main" id="{04A80946-AA3C-F8C7-55F1-CF4A224FD562}"/>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4.2 . </a:t>
            </a:r>
            <a:r>
              <a:rPr lang="en-US" sz="5369" b="1" spc="-177" dirty="0" err="1">
                <a:solidFill>
                  <a:srgbClr val="4D4C4C"/>
                </a:solidFill>
                <a:latin typeface="TS Deniz Bold"/>
                <a:ea typeface="TS Deniz Bold"/>
                <a:cs typeface="TS Deniz Bold"/>
                <a:sym typeface="TS Deniz Bold"/>
              </a:rPr>
              <a:t>Preparación</a:t>
            </a:r>
            <a:r>
              <a:rPr lang="en-US" sz="5369" b="1" spc="-177" dirty="0">
                <a:solidFill>
                  <a:srgbClr val="4D4C4C"/>
                </a:solidFill>
                <a:latin typeface="TS Deniz Bold"/>
                <a:ea typeface="TS Deniz Bold"/>
                <a:cs typeface="TS Deniz Bold"/>
                <a:sym typeface="TS Deniz Bold"/>
              </a:rPr>
              <a:t> para la </a:t>
            </a:r>
            <a:r>
              <a:rPr lang="en-US" sz="5369" b="1" spc="-177" dirty="0" err="1">
                <a:solidFill>
                  <a:srgbClr val="4D4C4C"/>
                </a:solidFill>
                <a:latin typeface="TS Deniz Bold"/>
                <a:ea typeface="TS Deniz Bold"/>
                <a:cs typeface="TS Deniz Bold"/>
                <a:sym typeface="TS Deniz Bold"/>
              </a:rPr>
              <a:t>entrevista</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893791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94F47-4974-E675-4DA0-7530B58C7B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60EC876-ABA5-A2B1-FF74-CA557EFCC8F8}"/>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05AEB0E2-AD3F-D9DD-AD3A-AB4674111AD2}"/>
              </a:ext>
            </a:extLst>
          </p:cNvPr>
          <p:cNvSpPr txBox="1"/>
          <p:nvPr/>
        </p:nvSpPr>
        <p:spPr>
          <a:xfrm>
            <a:off x="342495" y="1485900"/>
            <a:ext cx="17603009" cy="2693045"/>
          </a:xfrm>
          <a:prstGeom prst="rect">
            <a:avLst/>
          </a:prstGeom>
        </p:spPr>
        <p:txBody>
          <a:bodyPr lIns="0" tIns="0" rIns="0" bIns="0" rtlCol="0" anchor="t">
            <a:spAutoFit/>
          </a:bodyPr>
          <a:lstStyle/>
          <a:p>
            <a:pPr algn="just">
              <a:lnSpc>
                <a:spcPts val="4224"/>
              </a:lnSpc>
            </a:pPr>
            <a:r>
              <a:rPr lang="es-ES" sz="3462" dirty="0">
                <a:solidFill>
                  <a:srgbClr val="71743C"/>
                </a:solidFill>
                <a:latin typeface="Borel"/>
                <a:ea typeface="Borel"/>
                <a:sym typeface="Helios"/>
              </a:rPr>
              <a:t>La comunicación durante una entrevista de trabajo no se limita a las palabras que decimos; también incluye gestos, postura, tono de voz y otros elementos que transmiten información sobre nuestra actitud y personalidad. Una buena comunicación, tanto verbal como no verbal, puede marcar la diferencia entre ser seleccionado o descartado.</a:t>
            </a:r>
          </a:p>
        </p:txBody>
      </p:sp>
      <p:sp>
        <p:nvSpPr>
          <p:cNvPr id="4" name="TextBox 4">
            <a:extLst>
              <a:ext uri="{FF2B5EF4-FFF2-40B4-BE49-F238E27FC236}">
                <a16:creationId xmlns:a16="http://schemas.microsoft.com/office/drawing/2014/main" id="{E038B5CC-4C28-1E52-0424-3B8E71777558}"/>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4.3. La </a:t>
            </a:r>
            <a:r>
              <a:rPr lang="en-US" sz="5369" b="1" spc="-177" dirty="0" err="1">
                <a:solidFill>
                  <a:srgbClr val="4D4C4C"/>
                </a:solidFill>
                <a:latin typeface="TS Deniz Bold"/>
                <a:ea typeface="TS Deniz Bold"/>
                <a:cs typeface="TS Deniz Bold"/>
                <a:sym typeface="TS Deniz Bold"/>
              </a:rPr>
              <a:t>comunicación</a:t>
            </a:r>
            <a:r>
              <a:rPr lang="en-US" sz="5369" b="1" spc="-177" dirty="0">
                <a:solidFill>
                  <a:srgbClr val="4D4C4C"/>
                </a:solidFill>
                <a:latin typeface="TS Deniz Bold"/>
                <a:ea typeface="TS Deniz Bold"/>
                <a:cs typeface="TS Deniz Bold"/>
                <a:sym typeface="TS Deniz Bold"/>
              </a:rPr>
              <a:t> verbal y no verbal</a:t>
            </a:r>
          </a:p>
        </p:txBody>
      </p:sp>
    </p:spTree>
    <p:extLst>
      <p:ext uri="{BB962C8B-B14F-4D97-AF65-F5344CB8AC3E}">
        <p14:creationId xmlns:p14="http://schemas.microsoft.com/office/powerpoint/2010/main" val="1346803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5D40-A1A6-1BDB-BE3F-483EAC1CEC1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4EF8BA-692D-2008-21A7-19A13892F1D7}"/>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34FD121B-8274-43E5-F2E0-2FFB9229B3DA}"/>
              </a:ext>
            </a:extLst>
          </p:cNvPr>
          <p:cNvSpPr txBox="1"/>
          <p:nvPr/>
        </p:nvSpPr>
        <p:spPr>
          <a:xfrm>
            <a:off x="342495" y="1485900"/>
            <a:ext cx="17603009" cy="5336461"/>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 comunicación verbal debe ser clara, coherente y segura. Algunas recomendaciones clave son:</a:t>
            </a:r>
          </a:p>
          <a:p>
            <a:pPr algn="just">
              <a:lnSpc>
                <a:spcPts val="4224"/>
              </a:lnSpc>
            </a:pPr>
            <a:r>
              <a:rPr lang="es-ES" sz="3017" b="1" spc="178" dirty="0">
                <a:solidFill>
                  <a:srgbClr val="000000"/>
                </a:solidFill>
                <a:latin typeface="Helios"/>
                <a:sym typeface="Helios"/>
              </a:rPr>
              <a:t>Hablar con precisión: </a:t>
            </a:r>
            <a:r>
              <a:rPr lang="es-ES" sz="3017" spc="178" dirty="0">
                <a:solidFill>
                  <a:srgbClr val="000000"/>
                </a:solidFill>
                <a:latin typeface="Helios"/>
                <a:sym typeface="Helios"/>
              </a:rPr>
              <a:t>Evitar muletillas, expresiones ambiguas o respuestas demasiado largas.</a:t>
            </a:r>
          </a:p>
          <a:p>
            <a:pPr algn="just">
              <a:lnSpc>
                <a:spcPts val="4224"/>
              </a:lnSpc>
            </a:pPr>
            <a:r>
              <a:rPr lang="es-ES" sz="3017" b="1" spc="178" dirty="0">
                <a:solidFill>
                  <a:srgbClr val="000000"/>
                </a:solidFill>
                <a:latin typeface="Helios"/>
                <a:sym typeface="Helios"/>
              </a:rPr>
              <a:t>Adaptar el lenguaje: </a:t>
            </a:r>
            <a:r>
              <a:rPr lang="es-ES" sz="3017" spc="178" dirty="0">
                <a:solidFill>
                  <a:srgbClr val="000000"/>
                </a:solidFill>
                <a:latin typeface="Helios"/>
                <a:sym typeface="Helios"/>
              </a:rPr>
              <a:t>Utilizar un vocabulario profesional, evitando tecnicismos excesivos si el entrevistador no pertenece a tu área.</a:t>
            </a:r>
          </a:p>
          <a:p>
            <a:pPr algn="just">
              <a:lnSpc>
                <a:spcPts val="4224"/>
              </a:lnSpc>
            </a:pPr>
            <a:r>
              <a:rPr lang="es-ES" sz="3017" b="1" spc="178" dirty="0">
                <a:solidFill>
                  <a:srgbClr val="000000"/>
                </a:solidFill>
                <a:latin typeface="Helios"/>
                <a:sym typeface="Helios"/>
              </a:rPr>
              <a:t>Mostrar entusiasmo y motivación</a:t>
            </a:r>
            <a:r>
              <a:rPr lang="es-ES" sz="3017" spc="178" dirty="0">
                <a:solidFill>
                  <a:srgbClr val="000000"/>
                </a:solidFill>
                <a:latin typeface="Helios"/>
                <a:sym typeface="Helios"/>
              </a:rPr>
              <a:t>: El tono debe reflejar interés genuino por el puesto y la empresa</a:t>
            </a:r>
          </a:p>
          <a:p>
            <a:pPr algn="just">
              <a:lnSpc>
                <a:spcPts val="4224"/>
              </a:lnSpc>
            </a:pPr>
            <a:r>
              <a:rPr lang="es-ES" sz="3017" b="1" spc="178" dirty="0">
                <a:solidFill>
                  <a:srgbClr val="000000"/>
                </a:solidFill>
                <a:latin typeface="Helios"/>
                <a:sym typeface="Helios"/>
              </a:rPr>
              <a:t>Escucha activa: </a:t>
            </a:r>
            <a:r>
              <a:rPr lang="es-ES" sz="3017" spc="178" dirty="0">
                <a:solidFill>
                  <a:srgbClr val="000000"/>
                </a:solidFill>
                <a:latin typeface="Helios"/>
                <a:sym typeface="Helios"/>
              </a:rPr>
              <a:t>No interrumpir, responder de forma directa y demostrar que se comprende lo que se pregunta.</a:t>
            </a:r>
          </a:p>
        </p:txBody>
      </p:sp>
      <p:sp>
        <p:nvSpPr>
          <p:cNvPr id="4" name="TextBox 4">
            <a:extLst>
              <a:ext uri="{FF2B5EF4-FFF2-40B4-BE49-F238E27FC236}">
                <a16:creationId xmlns:a16="http://schemas.microsoft.com/office/drawing/2014/main" id="{FBDF4C43-F296-1CDB-9E8F-236C576F3853}"/>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4.3. 1 La </a:t>
            </a:r>
            <a:r>
              <a:rPr lang="en-US" sz="5369" b="1" spc="-177" dirty="0" err="1">
                <a:solidFill>
                  <a:srgbClr val="4D4C4C"/>
                </a:solidFill>
                <a:latin typeface="TS Deniz Bold"/>
                <a:ea typeface="TS Deniz Bold"/>
                <a:cs typeface="TS Deniz Bold"/>
                <a:sym typeface="TS Deniz Bold"/>
              </a:rPr>
              <a:t>comunicación</a:t>
            </a:r>
            <a:r>
              <a:rPr lang="en-US" sz="5369" b="1" spc="-177" dirty="0">
                <a:solidFill>
                  <a:srgbClr val="4D4C4C"/>
                </a:solidFill>
                <a:latin typeface="TS Deniz Bold"/>
                <a:ea typeface="TS Deniz Bold"/>
                <a:cs typeface="TS Deniz Bold"/>
                <a:sym typeface="TS Deniz Bold"/>
              </a:rPr>
              <a:t> verbal</a:t>
            </a:r>
          </a:p>
        </p:txBody>
      </p:sp>
    </p:spTree>
    <p:extLst>
      <p:ext uri="{BB962C8B-B14F-4D97-AF65-F5344CB8AC3E}">
        <p14:creationId xmlns:p14="http://schemas.microsoft.com/office/powerpoint/2010/main" val="1931861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9686F-9356-4C68-9118-E1F2C5ABE3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E5BB4F-5EDF-0C79-ADC5-8EF31DDA5B56}"/>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236ADDE8-1D5D-6710-67F3-2408760FF8F1}"/>
              </a:ext>
            </a:extLst>
          </p:cNvPr>
          <p:cNvSpPr txBox="1"/>
          <p:nvPr/>
        </p:nvSpPr>
        <p:spPr>
          <a:xfrm>
            <a:off x="342495" y="1485900"/>
            <a:ext cx="17603009" cy="6413679"/>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 comunicación no verbal complementa el mensaje y puede reforzarlo o contradecirlo. Aspectos importantes:</a:t>
            </a:r>
          </a:p>
          <a:p>
            <a:pPr algn="just">
              <a:lnSpc>
                <a:spcPts val="4224"/>
              </a:lnSpc>
            </a:pPr>
            <a:r>
              <a:rPr lang="es-ES" sz="3017" b="1" spc="178" dirty="0">
                <a:solidFill>
                  <a:srgbClr val="000000"/>
                </a:solidFill>
                <a:latin typeface="Helios"/>
                <a:sym typeface="Helios"/>
              </a:rPr>
              <a:t>Postura corporal: </a:t>
            </a:r>
            <a:r>
              <a:rPr lang="es-ES" sz="3017" spc="178" dirty="0">
                <a:solidFill>
                  <a:srgbClr val="000000"/>
                </a:solidFill>
                <a:latin typeface="Helios"/>
                <a:sym typeface="Helios"/>
              </a:rPr>
              <a:t>Mantener una posición erguida, sin rigidez, que transmita seguridad y apertura.</a:t>
            </a:r>
          </a:p>
          <a:p>
            <a:pPr algn="just">
              <a:lnSpc>
                <a:spcPts val="4224"/>
              </a:lnSpc>
            </a:pPr>
            <a:r>
              <a:rPr lang="es-ES" sz="3017" b="1" spc="178" dirty="0">
                <a:solidFill>
                  <a:srgbClr val="000000"/>
                </a:solidFill>
                <a:latin typeface="Helios"/>
                <a:sym typeface="Helios"/>
              </a:rPr>
              <a:t>Contacto visual</a:t>
            </a:r>
            <a:r>
              <a:rPr lang="es-ES" sz="3017" spc="178" dirty="0">
                <a:solidFill>
                  <a:srgbClr val="000000"/>
                </a:solidFill>
                <a:latin typeface="Helios"/>
                <a:sym typeface="Helios"/>
              </a:rPr>
              <a:t>: Mirar al entrevistador de forma natural, evitando tanto la evasión como la mirada fija excesiva.</a:t>
            </a:r>
          </a:p>
          <a:p>
            <a:pPr algn="just">
              <a:lnSpc>
                <a:spcPts val="4224"/>
              </a:lnSpc>
            </a:pPr>
            <a:r>
              <a:rPr lang="es-ES" sz="3017" b="1" spc="178" dirty="0">
                <a:solidFill>
                  <a:srgbClr val="000000"/>
                </a:solidFill>
                <a:latin typeface="Helios"/>
                <a:sym typeface="Helios"/>
              </a:rPr>
              <a:t>Gestos</a:t>
            </a:r>
            <a:r>
              <a:rPr lang="es-ES" sz="3017" spc="178" dirty="0">
                <a:solidFill>
                  <a:srgbClr val="000000"/>
                </a:solidFill>
                <a:latin typeface="Helios"/>
                <a:sym typeface="Helios"/>
              </a:rPr>
              <a:t>: Usar movimientos moderados que acompañen el discurso, evitando gesticulaciones exageradas.</a:t>
            </a:r>
          </a:p>
          <a:p>
            <a:pPr algn="just">
              <a:lnSpc>
                <a:spcPts val="4224"/>
              </a:lnSpc>
            </a:pPr>
            <a:r>
              <a:rPr lang="es-ES" sz="3017" b="1" spc="178" dirty="0">
                <a:solidFill>
                  <a:srgbClr val="000000"/>
                </a:solidFill>
                <a:latin typeface="Helios"/>
                <a:sym typeface="Helios"/>
              </a:rPr>
              <a:t>Expresión facial: </a:t>
            </a:r>
            <a:r>
              <a:rPr lang="es-ES" sz="3017" spc="178" dirty="0">
                <a:solidFill>
                  <a:srgbClr val="000000"/>
                </a:solidFill>
                <a:latin typeface="Helios"/>
                <a:sym typeface="Helios"/>
              </a:rPr>
              <a:t>Mostrar interés y cordialidad, evitando gestos de desagrado o desinterés.</a:t>
            </a:r>
          </a:p>
          <a:p>
            <a:pPr algn="just">
              <a:lnSpc>
                <a:spcPts val="4224"/>
              </a:lnSpc>
            </a:pPr>
            <a:r>
              <a:rPr lang="es-ES" sz="3017" b="1" spc="178" dirty="0">
                <a:solidFill>
                  <a:srgbClr val="000000"/>
                </a:solidFill>
                <a:latin typeface="Helios"/>
                <a:sym typeface="Helios"/>
              </a:rPr>
              <a:t>Tono de voz: </a:t>
            </a:r>
            <a:r>
              <a:rPr lang="es-ES" sz="3017" spc="178" dirty="0">
                <a:solidFill>
                  <a:srgbClr val="000000"/>
                </a:solidFill>
                <a:latin typeface="Helios"/>
                <a:sym typeface="Helios"/>
              </a:rPr>
              <a:t>Debe ser firme, pausado y con buena entonación, evitando hablar demasiado rápido o demasiado bajo.</a:t>
            </a:r>
          </a:p>
        </p:txBody>
      </p:sp>
      <p:sp>
        <p:nvSpPr>
          <p:cNvPr id="4" name="TextBox 4">
            <a:extLst>
              <a:ext uri="{FF2B5EF4-FFF2-40B4-BE49-F238E27FC236}">
                <a16:creationId xmlns:a16="http://schemas.microsoft.com/office/drawing/2014/main" id="{60961CC5-F210-E3FB-D112-F7FC40C460BF}"/>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4.3. 2 La </a:t>
            </a:r>
            <a:r>
              <a:rPr lang="en-US" sz="5369" b="1" spc="-177" dirty="0" err="1">
                <a:solidFill>
                  <a:srgbClr val="4D4C4C"/>
                </a:solidFill>
                <a:latin typeface="TS Deniz Bold"/>
                <a:ea typeface="TS Deniz Bold"/>
                <a:cs typeface="TS Deniz Bold"/>
                <a:sym typeface="TS Deniz Bold"/>
              </a:rPr>
              <a:t>comunicación</a:t>
            </a:r>
            <a:r>
              <a:rPr lang="en-US" sz="5369" b="1" spc="-177" dirty="0">
                <a:solidFill>
                  <a:srgbClr val="4D4C4C"/>
                </a:solidFill>
                <a:latin typeface="TS Deniz Bold"/>
                <a:ea typeface="TS Deniz Bold"/>
                <a:cs typeface="TS Deniz Bold"/>
                <a:sym typeface="TS Deniz Bold"/>
              </a:rPr>
              <a:t> no verbal</a:t>
            </a:r>
          </a:p>
        </p:txBody>
      </p:sp>
    </p:spTree>
    <p:extLst>
      <p:ext uri="{BB962C8B-B14F-4D97-AF65-F5344CB8AC3E}">
        <p14:creationId xmlns:p14="http://schemas.microsoft.com/office/powerpoint/2010/main" val="4176911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B011F-8962-8C21-C22B-C88A5CB0A5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80A663-DF00-20D5-F042-0E00733F2114}"/>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9E164515-84D8-679A-803A-BC0E0FBDB1AC}"/>
              </a:ext>
            </a:extLst>
          </p:cNvPr>
          <p:cNvSpPr txBox="1"/>
          <p:nvPr/>
        </p:nvSpPr>
        <p:spPr>
          <a:xfrm>
            <a:off x="342495" y="1485900"/>
            <a:ext cx="17603009" cy="2643416"/>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 imagen también comunica. Es importante:</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Vestir de manera adecuada al sector y al tipo de empresa.</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Priorizar la limpieza, el orden y la discreción en accesorios.</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Evitar colores estridentes o prendas demasiado informales, salvo que la cultura corporativa lo permita.</a:t>
            </a:r>
          </a:p>
        </p:txBody>
      </p:sp>
      <p:sp>
        <p:nvSpPr>
          <p:cNvPr id="4" name="TextBox 4">
            <a:extLst>
              <a:ext uri="{FF2B5EF4-FFF2-40B4-BE49-F238E27FC236}">
                <a16:creationId xmlns:a16="http://schemas.microsoft.com/office/drawing/2014/main" id="{73A83697-41C7-0859-F9EB-6FB68DFA8D6A}"/>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4.3. 3 </a:t>
            </a:r>
            <a:r>
              <a:rPr lang="en-US" sz="5369" b="1" spc="-177" dirty="0" err="1">
                <a:solidFill>
                  <a:srgbClr val="4D4C4C"/>
                </a:solidFill>
                <a:latin typeface="TS Deniz Bold"/>
                <a:ea typeface="TS Deniz Bold"/>
                <a:cs typeface="TS Deniz Bold"/>
                <a:sym typeface="TS Deniz Bold"/>
              </a:rPr>
              <a:t>Vestimenta</a:t>
            </a:r>
            <a:r>
              <a:rPr lang="en-US" sz="5369" b="1" spc="-177" dirty="0">
                <a:solidFill>
                  <a:srgbClr val="4D4C4C"/>
                </a:solidFill>
                <a:latin typeface="TS Deniz Bold"/>
                <a:ea typeface="TS Deniz Bold"/>
                <a:cs typeface="TS Deniz Bold"/>
                <a:sym typeface="TS Deniz Bold"/>
              </a:rPr>
              <a:t> y </a:t>
            </a:r>
            <a:r>
              <a:rPr lang="en-US" sz="5369" b="1" spc="-177" dirty="0" err="1">
                <a:solidFill>
                  <a:srgbClr val="4D4C4C"/>
                </a:solidFill>
                <a:latin typeface="TS Deniz Bold"/>
                <a:ea typeface="TS Deniz Bold"/>
                <a:cs typeface="TS Deniz Bold"/>
                <a:sym typeface="TS Deniz Bold"/>
              </a:rPr>
              <a:t>presentación</a:t>
            </a:r>
            <a:r>
              <a:rPr lang="en-US" sz="5369" b="1" spc="-177" dirty="0">
                <a:solidFill>
                  <a:srgbClr val="4D4C4C"/>
                </a:solidFill>
                <a:latin typeface="TS Deniz Bold"/>
                <a:ea typeface="TS Deniz Bold"/>
                <a:cs typeface="TS Deniz Bold"/>
                <a:sym typeface="TS Deniz Bold"/>
              </a:rPr>
              <a:t> personal</a:t>
            </a:r>
          </a:p>
        </p:txBody>
      </p:sp>
    </p:spTree>
    <p:extLst>
      <p:ext uri="{BB962C8B-B14F-4D97-AF65-F5344CB8AC3E}">
        <p14:creationId xmlns:p14="http://schemas.microsoft.com/office/powerpoint/2010/main" val="294878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B9E84-4735-EC8E-ABCD-E364CD77C3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30EE87-6568-833E-7328-D45FA0896CD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66B2639B-ECEA-0D33-BC54-4BD79767BE1A}"/>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 </a:t>
            </a:r>
            <a:r>
              <a:rPr lang="en-US" sz="5369" b="1" spc="-177" dirty="0" err="1">
                <a:solidFill>
                  <a:srgbClr val="4D4C4C"/>
                </a:solidFill>
                <a:latin typeface="TS Deniz Bold"/>
                <a:ea typeface="TS Deniz Bold"/>
                <a:cs typeface="TS Deniz Bold"/>
                <a:sym typeface="TS Deniz Bold"/>
              </a:rPr>
              <a:t>Pruebas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Psicotécnicas</a:t>
            </a:r>
            <a:r>
              <a:rPr lang="en-US" sz="5369" b="1" spc="-177" dirty="0">
                <a:solidFill>
                  <a:srgbClr val="4D4C4C"/>
                </a:solidFill>
                <a:latin typeface="TS Deniz Bold"/>
                <a:ea typeface="TS Deniz Bold"/>
                <a:cs typeface="TS Deniz Bold"/>
                <a:sym typeface="TS Deniz Bold"/>
              </a:rPr>
              <a:t> y </a:t>
            </a:r>
            <a:r>
              <a:rPr lang="en-US" sz="5369" b="1" spc="-177" dirty="0" err="1">
                <a:solidFill>
                  <a:srgbClr val="4D4C4C"/>
                </a:solidFill>
                <a:latin typeface="TS Deniz Bold"/>
                <a:ea typeface="TS Deniz Bold"/>
                <a:cs typeface="TS Deniz Bold"/>
                <a:sym typeface="TS Deniz Bold"/>
              </a:rPr>
              <a:t>Dinámicas</a:t>
            </a:r>
            <a:endParaRPr lang="en-US" sz="5369" b="1" spc="-177" dirty="0">
              <a:solidFill>
                <a:srgbClr val="4D4C4C"/>
              </a:solidFill>
              <a:latin typeface="TS Deniz Bold"/>
              <a:ea typeface="TS Deniz Bold"/>
              <a:cs typeface="TS Deniz Bold"/>
              <a:sym typeface="TS Deniz Bold"/>
            </a:endParaRPr>
          </a:p>
        </p:txBody>
      </p:sp>
      <p:sp>
        <p:nvSpPr>
          <p:cNvPr id="7" name="TextBox 3">
            <a:extLst>
              <a:ext uri="{FF2B5EF4-FFF2-40B4-BE49-F238E27FC236}">
                <a16:creationId xmlns:a16="http://schemas.microsoft.com/office/drawing/2014/main" id="{22201BE1-5FE4-082C-C456-C7F24F0C916B}"/>
              </a:ext>
            </a:extLst>
          </p:cNvPr>
          <p:cNvSpPr txBox="1"/>
          <p:nvPr/>
        </p:nvSpPr>
        <p:spPr>
          <a:xfrm>
            <a:off x="342495" y="1409700"/>
            <a:ext cx="17603009" cy="2693045"/>
          </a:xfrm>
          <a:prstGeom prst="rect">
            <a:avLst/>
          </a:prstGeom>
        </p:spPr>
        <p:txBody>
          <a:bodyPr lIns="0" tIns="0" rIns="0" bIns="0" rtlCol="0" anchor="t">
            <a:spAutoFit/>
          </a:bodyPr>
          <a:lstStyle/>
          <a:p>
            <a:pPr algn="just">
              <a:lnSpc>
                <a:spcPts val="4224"/>
              </a:lnSpc>
            </a:pPr>
            <a:r>
              <a:rPr lang="es-ES" sz="3462" dirty="0">
                <a:solidFill>
                  <a:srgbClr val="71743C"/>
                </a:solidFill>
                <a:latin typeface="Borel"/>
                <a:ea typeface="Borel"/>
                <a:sym typeface="Helios"/>
              </a:rPr>
              <a:t>Dentro de los procesos de selección, las pruebas psicotécnicas y las dinámicas de grupo son herramientas muy utilizadas para evaluar competencias que no siempre se reflejan en el currículum. Ambas permiten a las empresas conocer aspectos como la capacidad de razonamiento, la personalidad, la adaptación al trabajo en equipo y las habilidades sociales.</a:t>
            </a:r>
          </a:p>
        </p:txBody>
      </p:sp>
    </p:spTree>
    <p:extLst>
      <p:ext uri="{BB962C8B-B14F-4D97-AF65-F5344CB8AC3E}">
        <p14:creationId xmlns:p14="http://schemas.microsoft.com/office/powerpoint/2010/main" val="744640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B3554-F50F-56FA-F725-D13441CD9D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F428C0-5A60-6FEF-2573-59B1F5150907}"/>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0F5DCA55-B3A3-AD95-3C04-5A71FD64E0C2}"/>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Pruebas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Psicotécnicas</a:t>
            </a:r>
            <a:endParaRPr lang="en-US" sz="5369" b="1" spc="-177" dirty="0">
              <a:solidFill>
                <a:srgbClr val="4D4C4C"/>
              </a:solidFill>
              <a:latin typeface="TS Deniz Bold"/>
              <a:ea typeface="TS Deniz Bold"/>
              <a:cs typeface="TS Deniz Bold"/>
              <a:sym typeface="TS Deniz Bold"/>
            </a:endParaRPr>
          </a:p>
        </p:txBody>
      </p:sp>
      <p:sp>
        <p:nvSpPr>
          <p:cNvPr id="7" name="TextBox 3">
            <a:extLst>
              <a:ext uri="{FF2B5EF4-FFF2-40B4-BE49-F238E27FC236}">
                <a16:creationId xmlns:a16="http://schemas.microsoft.com/office/drawing/2014/main" id="{AB95E525-3D46-1E13-73C9-68D9BFDFD3AE}"/>
              </a:ext>
            </a:extLst>
          </p:cNvPr>
          <p:cNvSpPr txBox="1"/>
          <p:nvPr/>
        </p:nvSpPr>
        <p:spPr>
          <a:xfrm>
            <a:off x="342495" y="1409700"/>
            <a:ext cx="17603009" cy="8568115"/>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Las pruebas psicotécnicas son ejercicios diseñados para medir aptitudes cognitivas y rasgos psicológicos. Su objetivo es comprobar si el candidato posee las capacidades necesarias para desempeñar el puesto. Entre las más comunes encontramos:</a:t>
            </a:r>
          </a:p>
          <a:p>
            <a:pPr algn="just">
              <a:lnSpc>
                <a:spcPts val="4224"/>
              </a:lnSpc>
            </a:pPr>
            <a:r>
              <a:rPr lang="es-ES" sz="3017" b="1" spc="178" dirty="0">
                <a:solidFill>
                  <a:srgbClr val="000000"/>
                </a:solidFill>
                <a:latin typeface="Helios"/>
                <a:sym typeface="Helios"/>
              </a:rPr>
              <a:t>Pruebas de razonamiento lógico: </a:t>
            </a:r>
            <a:r>
              <a:rPr lang="es-ES" sz="3017" spc="178" dirty="0">
                <a:solidFill>
                  <a:srgbClr val="000000"/>
                </a:solidFill>
                <a:latin typeface="Helios"/>
                <a:sym typeface="Helios"/>
              </a:rPr>
              <a:t>Evalúan la capacidad para resolver problemas mediante secuencias, analogías y patrones.</a:t>
            </a:r>
          </a:p>
          <a:p>
            <a:pPr algn="just">
              <a:lnSpc>
                <a:spcPts val="4224"/>
              </a:lnSpc>
            </a:pPr>
            <a:r>
              <a:rPr lang="es-ES" sz="3017" b="1" spc="178" dirty="0">
                <a:solidFill>
                  <a:srgbClr val="000000"/>
                </a:solidFill>
                <a:latin typeface="Helios"/>
                <a:sym typeface="Helios"/>
              </a:rPr>
              <a:t>Pruebas numéricas: </a:t>
            </a:r>
            <a:r>
              <a:rPr lang="es-ES" sz="3017" spc="178" dirty="0">
                <a:solidFill>
                  <a:srgbClr val="000000"/>
                </a:solidFill>
                <a:latin typeface="Helios"/>
                <a:sym typeface="Helios"/>
              </a:rPr>
              <a:t>Miden la habilidad para realizar cálculos y comprender datos.</a:t>
            </a:r>
          </a:p>
          <a:p>
            <a:pPr algn="just">
              <a:lnSpc>
                <a:spcPts val="4224"/>
              </a:lnSpc>
            </a:pPr>
            <a:r>
              <a:rPr lang="es-ES" sz="3017" b="1" spc="178" dirty="0">
                <a:solidFill>
                  <a:srgbClr val="000000"/>
                </a:solidFill>
                <a:latin typeface="Helios"/>
                <a:sym typeface="Helios"/>
              </a:rPr>
              <a:t>Pruebas verbales: </a:t>
            </a:r>
            <a:r>
              <a:rPr lang="es-ES" sz="3017" spc="178" dirty="0">
                <a:solidFill>
                  <a:srgbClr val="000000"/>
                </a:solidFill>
                <a:latin typeface="Helios"/>
                <a:sym typeface="Helios"/>
              </a:rPr>
              <a:t>Analizan comprensión lectora, vocabulario y razonamiento verbal.</a:t>
            </a:r>
          </a:p>
          <a:p>
            <a:pPr algn="just">
              <a:lnSpc>
                <a:spcPts val="4224"/>
              </a:lnSpc>
            </a:pPr>
            <a:r>
              <a:rPr lang="es-ES" sz="3017" b="1" spc="178" dirty="0">
                <a:solidFill>
                  <a:srgbClr val="000000"/>
                </a:solidFill>
                <a:latin typeface="Helios"/>
                <a:sym typeface="Helios"/>
              </a:rPr>
              <a:t>Pruebas de atención y concentración: </a:t>
            </a:r>
            <a:r>
              <a:rPr lang="es-ES" sz="3017" spc="178" dirty="0">
                <a:solidFill>
                  <a:srgbClr val="000000"/>
                </a:solidFill>
                <a:latin typeface="Helios"/>
                <a:sym typeface="Helios"/>
              </a:rPr>
              <a:t>Detectan la rapidez y precisión en tareas repetitivas.</a:t>
            </a:r>
          </a:p>
          <a:p>
            <a:pPr algn="just">
              <a:lnSpc>
                <a:spcPts val="4224"/>
              </a:lnSpc>
            </a:pPr>
            <a:r>
              <a:rPr lang="es-ES" sz="3017" b="1" spc="178" dirty="0">
                <a:solidFill>
                  <a:srgbClr val="000000"/>
                </a:solidFill>
                <a:latin typeface="Helios"/>
                <a:sym typeface="Helios"/>
              </a:rPr>
              <a:t>Pruebas de personalidad: </a:t>
            </a:r>
            <a:r>
              <a:rPr lang="es-ES" sz="3017" spc="178" dirty="0">
                <a:solidFill>
                  <a:srgbClr val="000000"/>
                </a:solidFill>
                <a:latin typeface="Helios"/>
                <a:sym typeface="Helios"/>
              </a:rPr>
              <a:t>Exploran rasgos como liderazgo, empatía, estabilidad emocional y orientación al logro.</a:t>
            </a:r>
          </a:p>
          <a:p>
            <a:pPr algn="just">
              <a:lnSpc>
                <a:spcPts val="4224"/>
              </a:lnSpc>
            </a:pPr>
            <a:r>
              <a:rPr lang="es-ES" sz="3017" spc="178" dirty="0">
                <a:solidFill>
                  <a:srgbClr val="000000"/>
                </a:solidFill>
                <a:latin typeface="Helios"/>
                <a:sym typeface="Helios"/>
              </a:rPr>
              <a:t>Consejos para afrontarlas:</a:t>
            </a:r>
          </a:p>
          <a:p>
            <a:pPr algn="just">
              <a:lnSpc>
                <a:spcPts val="4224"/>
              </a:lnSpc>
            </a:pPr>
            <a:r>
              <a:rPr lang="es-ES" sz="3017" spc="178" dirty="0">
                <a:solidFill>
                  <a:srgbClr val="000000"/>
                </a:solidFill>
                <a:latin typeface="Helios"/>
                <a:sym typeface="Helios"/>
              </a:rPr>
              <a:t>Practicar ejercicios similares antes del proceso.</a:t>
            </a:r>
          </a:p>
          <a:p>
            <a:pPr algn="just">
              <a:lnSpc>
                <a:spcPts val="4224"/>
              </a:lnSpc>
            </a:pPr>
            <a:r>
              <a:rPr lang="es-ES" sz="3017" spc="178" dirty="0">
                <a:solidFill>
                  <a:srgbClr val="000000"/>
                </a:solidFill>
                <a:latin typeface="Helios"/>
                <a:sym typeface="Helios"/>
              </a:rPr>
              <a:t>Leer las instrucciones con atención.</a:t>
            </a:r>
          </a:p>
          <a:p>
            <a:pPr algn="just">
              <a:lnSpc>
                <a:spcPts val="4224"/>
              </a:lnSpc>
            </a:pPr>
            <a:r>
              <a:rPr lang="es-ES" sz="3017" spc="178" dirty="0">
                <a:solidFill>
                  <a:srgbClr val="000000"/>
                </a:solidFill>
                <a:latin typeface="Helios"/>
                <a:sym typeface="Helios"/>
              </a:rPr>
              <a:t>Gestionar el tiempo: no quedarse demasiado en una sola pregunta.</a:t>
            </a:r>
          </a:p>
          <a:p>
            <a:pPr algn="just">
              <a:lnSpc>
                <a:spcPts val="4224"/>
              </a:lnSpc>
            </a:pPr>
            <a:r>
              <a:rPr lang="es-ES" sz="3017" spc="178" dirty="0">
                <a:solidFill>
                  <a:srgbClr val="000000"/>
                </a:solidFill>
                <a:latin typeface="Helios"/>
                <a:sym typeface="Helios"/>
              </a:rPr>
              <a:t>Mantener la calma para evitar errores por nerviosismo.</a:t>
            </a:r>
          </a:p>
        </p:txBody>
      </p:sp>
    </p:spTree>
    <p:extLst>
      <p:ext uri="{BB962C8B-B14F-4D97-AF65-F5344CB8AC3E}">
        <p14:creationId xmlns:p14="http://schemas.microsoft.com/office/powerpoint/2010/main" val="1670528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AEE2-6A59-1FB0-8CBF-3087AD2AF0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B0972D-3E86-AF72-0CB0-E1AE9160EF0B}"/>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4040A2EF-1C58-468D-380F-5930CB37557E}"/>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Pruebas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Psicotécnicas</a:t>
            </a:r>
            <a:endParaRPr lang="en-US" sz="5369" b="1" spc="-177" dirty="0">
              <a:solidFill>
                <a:srgbClr val="4D4C4C"/>
              </a:solidFill>
              <a:latin typeface="TS Deniz Bold"/>
              <a:ea typeface="TS Deniz Bold"/>
              <a:cs typeface="TS Deniz Bold"/>
              <a:sym typeface="TS Deniz Bold"/>
            </a:endParaRPr>
          </a:p>
        </p:txBody>
      </p:sp>
      <p:sp>
        <p:nvSpPr>
          <p:cNvPr id="6" name="CuadroTexto 5">
            <a:extLst>
              <a:ext uri="{FF2B5EF4-FFF2-40B4-BE49-F238E27FC236}">
                <a16:creationId xmlns:a16="http://schemas.microsoft.com/office/drawing/2014/main" id="{A45F86E2-EF8B-D89C-EE30-8FC2F5173569}"/>
              </a:ext>
            </a:extLst>
          </p:cNvPr>
          <p:cNvSpPr txBox="1"/>
          <p:nvPr/>
        </p:nvSpPr>
        <p:spPr>
          <a:xfrm>
            <a:off x="152401" y="1041885"/>
            <a:ext cx="5181600" cy="1762214"/>
          </a:xfrm>
          <a:prstGeom prst="rect">
            <a:avLst/>
          </a:prstGeom>
          <a:noFill/>
          <a:ln>
            <a:solidFill>
              <a:schemeClr val="tx1"/>
            </a:solidFill>
          </a:ln>
        </p:spPr>
        <p:txBody>
          <a:bodyPr wrap="square">
            <a:spAutoFit/>
          </a:bodyPr>
          <a:lstStyle/>
          <a:p>
            <a:r>
              <a:rPr lang="es-ES" sz="3017" spc="178" dirty="0">
                <a:solidFill>
                  <a:srgbClr val="000000"/>
                </a:solidFill>
                <a:latin typeface="Helios"/>
              </a:rPr>
              <a:t>Completa la serie:</a:t>
            </a:r>
          </a:p>
          <a:p>
            <a:r>
              <a:rPr lang="pt-BR" sz="3017" spc="178" dirty="0">
                <a:solidFill>
                  <a:srgbClr val="000000"/>
                </a:solidFill>
                <a:latin typeface="Helios"/>
              </a:rPr>
              <a:t>3 – 6 – 12 – 24 – 48 – ?</a:t>
            </a:r>
          </a:p>
          <a:p>
            <a:r>
              <a:rPr lang="pt-BR" sz="3017" spc="178" dirty="0">
                <a:solidFill>
                  <a:srgbClr val="000000"/>
                </a:solidFill>
                <a:latin typeface="Helios"/>
              </a:rPr>
              <a:t>a) 72 b) 96 c) 108 d) 120</a:t>
            </a:r>
            <a:endParaRPr lang="es-ES" sz="3017" spc="178" dirty="0">
              <a:solidFill>
                <a:srgbClr val="000000"/>
              </a:solidFill>
              <a:latin typeface="Helios"/>
            </a:endParaRPr>
          </a:p>
          <a:p>
            <a:endParaRPr lang="es-ES" dirty="0"/>
          </a:p>
        </p:txBody>
      </p:sp>
      <p:sp>
        <p:nvSpPr>
          <p:cNvPr id="10" name="CuadroTexto 9">
            <a:extLst>
              <a:ext uri="{FF2B5EF4-FFF2-40B4-BE49-F238E27FC236}">
                <a16:creationId xmlns:a16="http://schemas.microsoft.com/office/drawing/2014/main" id="{EAB9B046-DDE9-1FD7-A5CA-E1EED5B906A7}"/>
              </a:ext>
            </a:extLst>
          </p:cNvPr>
          <p:cNvSpPr txBox="1"/>
          <p:nvPr/>
        </p:nvSpPr>
        <p:spPr>
          <a:xfrm>
            <a:off x="152401" y="2788366"/>
            <a:ext cx="7315199" cy="3619389"/>
          </a:xfrm>
          <a:prstGeom prst="rect">
            <a:avLst/>
          </a:prstGeom>
          <a:noFill/>
          <a:ln>
            <a:solidFill>
              <a:schemeClr val="tx1"/>
            </a:solidFill>
          </a:ln>
        </p:spPr>
        <p:txBody>
          <a:bodyPr wrap="square">
            <a:spAutoFit/>
          </a:bodyPr>
          <a:lstStyle/>
          <a:p>
            <a:r>
              <a:rPr lang="es-ES" sz="3017" spc="178" dirty="0">
                <a:solidFill>
                  <a:srgbClr val="000000"/>
                </a:solidFill>
                <a:latin typeface="Helios"/>
              </a:rPr>
              <a:t>Un tren sale de Sevilla a las 8:00 a 90 km/h. Otro tren sale de Madrid a las 9:00 a 120 km/h en dirección a Sevilla. La distancia entre ambas ciudades es de 540 </a:t>
            </a:r>
            <a:r>
              <a:rPr lang="es-ES" sz="3017" spc="178" dirty="0" err="1">
                <a:solidFill>
                  <a:srgbClr val="000000"/>
                </a:solidFill>
                <a:latin typeface="Helios"/>
              </a:rPr>
              <a:t>km.¿A</a:t>
            </a:r>
            <a:r>
              <a:rPr lang="es-ES" sz="3017" spc="178" dirty="0">
                <a:solidFill>
                  <a:srgbClr val="000000"/>
                </a:solidFill>
                <a:latin typeface="Helios"/>
              </a:rPr>
              <a:t> qué hora se cruzan?</a:t>
            </a:r>
          </a:p>
          <a:p>
            <a:pPr marL="514350" indent="-514350">
              <a:buAutoNum type="alphaLcParenR"/>
            </a:pPr>
            <a:r>
              <a:rPr lang="pt-BR" sz="3017" spc="178" dirty="0">
                <a:solidFill>
                  <a:srgbClr val="000000"/>
                </a:solidFill>
                <a:latin typeface="Helios"/>
              </a:rPr>
              <a:t>11:00 b) 11:30 c) 12:00 d) 12:30</a:t>
            </a:r>
          </a:p>
          <a:p>
            <a:pPr marL="342900" indent="-342900">
              <a:buAutoNum type="alphaLcParenR"/>
            </a:pPr>
            <a:endParaRPr lang="es-ES" dirty="0"/>
          </a:p>
        </p:txBody>
      </p:sp>
      <p:sp>
        <p:nvSpPr>
          <p:cNvPr id="14" name="CuadroTexto 13">
            <a:extLst>
              <a:ext uri="{FF2B5EF4-FFF2-40B4-BE49-F238E27FC236}">
                <a16:creationId xmlns:a16="http://schemas.microsoft.com/office/drawing/2014/main" id="{4705F5FC-3E8C-08C7-5834-0BF31878FB77}"/>
              </a:ext>
            </a:extLst>
          </p:cNvPr>
          <p:cNvSpPr txBox="1"/>
          <p:nvPr/>
        </p:nvSpPr>
        <p:spPr>
          <a:xfrm>
            <a:off x="8594744" y="6768979"/>
            <a:ext cx="10401300" cy="1020921"/>
          </a:xfrm>
          <a:prstGeom prst="rect">
            <a:avLst/>
          </a:prstGeom>
          <a:noFill/>
          <a:ln>
            <a:solidFill>
              <a:schemeClr val="tx1"/>
            </a:solidFill>
          </a:ln>
        </p:spPr>
        <p:txBody>
          <a:bodyPr wrap="square">
            <a:spAutoFit/>
          </a:bodyPr>
          <a:lstStyle/>
          <a:p>
            <a:r>
              <a:rPr lang="es-ES" sz="3017" spc="178" dirty="0">
                <a:solidFill>
                  <a:srgbClr val="000000"/>
                </a:solidFill>
                <a:latin typeface="Helios"/>
              </a:rPr>
              <a:t>Libro es a leer como cuchara es a:</a:t>
            </a:r>
          </a:p>
          <a:p>
            <a:r>
              <a:rPr lang="es-ES" sz="3017" spc="178" dirty="0">
                <a:solidFill>
                  <a:srgbClr val="000000"/>
                </a:solidFill>
                <a:latin typeface="Helios"/>
              </a:rPr>
              <a:t>a) Comer b) Cocinar c) Beber d) Servir</a:t>
            </a:r>
            <a:endParaRPr lang="es-ES" dirty="0"/>
          </a:p>
        </p:txBody>
      </p:sp>
      <p:sp>
        <p:nvSpPr>
          <p:cNvPr id="18" name="CuadroTexto 17">
            <a:extLst>
              <a:ext uri="{FF2B5EF4-FFF2-40B4-BE49-F238E27FC236}">
                <a16:creationId xmlns:a16="http://schemas.microsoft.com/office/drawing/2014/main" id="{C50BFF1D-CCA6-EB70-0513-66BED37CB106}"/>
              </a:ext>
            </a:extLst>
          </p:cNvPr>
          <p:cNvSpPr txBox="1"/>
          <p:nvPr/>
        </p:nvSpPr>
        <p:spPr>
          <a:xfrm>
            <a:off x="171450" y="6676918"/>
            <a:ext cx="8058150" cy="1020921"/>
          </a:xfrm>
          <a:prstGeom prst="rect">
            <a:avLst/>
          </a:prstGeom>
          <a:noFill/>
          <a:ln>
            <a:solidFill>
              <a:schemeClr val="tx1"/>
            </a:solidFill>
          </a:ln>
        </p:spPr>
        <p:txBody>
          <a:bodyPr wrap="square">
            <a:spAutoFit/>
          </a:bodyPr>
          <a:lstStyle/>
          <a:p>
            <a:r>
              <a:rPr lang="es-ES" sz="3017" spc="178" dirty="0">
                <a:solidFill>
                  <a:srgbClr val="000000"/>
                </a:solidFill>
                <a:latin typeface="Helios"/>
              </a:rPr>
              <a:t>Sol es a día como luna es a:</a:t>
            </a:r>
          </a:p>
          <a:p>
            <a:r>
              <a:rPr lang="es-ES" sz="3017" spc="178" dirty="0">
                <a:solidFill>
                  <a:srgbClr val="000000"/>
                </a:solidFill>
                <a:latin typeface="Helios"/>
              </a:rPr>
              <a:t>a) Noche b) Estrella c) Luz d) Oscuridad</a:t>
            </a:r>
            <a:endParaRPr lang="es-ES" dirty="0"/>
          </a:p>
        </p:txBody>
      </p:sp>
      <p:sp>
        <p:nvSpPr>
          <p:cNvPr id="21" name="CuadroTexto 20">
            <a:extLst>
              <a:ext uri="{FF2B5EF4-FFF2-40B4-BE49-F238E27FC236}">
                <a16:creationId xmlns:a16="http://schemas.microsoft.com/office/drawing/2014/main" id="{776CA289-981D-3D69-50F8-B24D6DBDC599}"/>
              </a:ext>
            </a:extLst>
          </p:cNvPr>
          <p:cNvSpPr txBox="1"/>
          <p:nvPr/>
        </p:nvSpPr>
        <p:spPr>
          <a:xfrm>
            <a:off x="7848600" y="885024"/>
            <a:ext cx="10401300" cy="3806683"/>
          </a:xfrm>
          <a:prstGeom prst="rect">
            <a:avLst/>
          </a:prstGeom>
          <a:noFill/>
          <a:ln>
            <a:solidFill>
              <a:schemeClr val="tx1"/>
            </a:solidFill>
          </a:ln>
        </p:spPr>
        <p:txBody>
          <a:bodyPr wrap="square">
            <a:spAutoFit/>
          </a:bodyPr>
          <a:lstStyle/>
          <a:p>
            <a:r>
              <a:rPr lang="es-ES" sz="3017" spc="178" dirty="0">
                <a:solidFill>
                  <a:srgbClr val="000000"/>
                </a:solidFill>
                <a:latin typeface="Helios"/>
              </a:rPr>
              <a:t>Ante una situación en la que tu jefe te pide entregar un informe urgente y tu compañero necesita ayuda para terminar su parte, ¿qué harías?</a:t>
            </a:r>
          </a:p>
          <a:p>
            <a:pPr marL="514350" indent="-514350">
              <a:buAutoNum type="alphaLcParenR"/>
            </a:pPr>
            <a:r>
              <a:rPr lang="es-ES" sz="3017" spc="178" dirty="0">
                <a:solidFill>
                  <a:srgbClr val="000000"/>
                </a:solidFill>
                <a:latin typeface="Helios"/>
              </a:rPr>
              <a:t>Ayudo primero a mi compañero y luego hago el informe.</a:t>
            </a:r>
          </a:p>
          <a:p>
            <a:pPr marL="514350" indent="-514350">
              <a:buAutoNum type="alphaLcParenR"/>
            </a:pPr>
            <a:r>
              <a:rPr lang="es-ES" sz="3017" spc="178" dirty="0">
                <a:solidFill>
                  <a:srgbClr val="000000"/>
                </a:solidFill>
                <a:latin typeface="Helios"/>
              </a:rPr>
              <a:t>Hago el informe y después ayudo.</a:t>
            </a:r>
          </a:p>
          <a:p>
            <a:r>
              <a:rPr lang="es-ES" sz="3017" spc="178" dirty="0">
                <a:solidFill>
                  <a:srgbClr val="000000"/>
                </a:solidFill>
                <a:latin typeface="Helios"/>
              </a:rPr>
              <a:t>c) Intento organizarme para hacer ambas cosas.</a:t>
            </a:r>
          </a:p>
          <a:p>
            <a:r>
              <a:rPr lang="es-ES" sz="3017" spc="178" dirty="0">
                <a:solidFill>
                  <a:srgbClr val="000000"/>
                </a:solidFill>
                <a:latin typeface="Helios"/>
              </a:rPr>
              <a:t>d) Pido ayuda a otro compañero para repartir tareas.</a:t>
            </a:r>
            <a:endParaRPr lang="es-ES" dirty="0"/>
          </a:p>
        </p:txBody>
      </p:sp>
      <p:sp>
        <p:nvSpPr>
          <p:cNvPr id="24" name="CuadroTexto 23">
            <a:extLst>
              <a:ext uri="{FF2B5EF4-FFF2-40B4-BE49-F238E27FC236}">
                <a16:creationId xmlns:a16="http://schemas.microsoft.com/office/drawing/2014/main" id="{49FF5117-32DC-A285-309E-479BF114FBE0}"/>
              </a:ext>
            </a:extLst>
          </p:cNvPr>
          <p:cNvSpPr txBox="1"/>
          <p:nvPr/>
        </p:nvSpPr>
        <p:spPr>
          <a:xfrm>
            <a:off x="0" y="8229134"/>
            <a:ext cx="10401300" cy="1485215"/>
          </a:xfrm>
          <a:prstGeom prst="rect">
            <a:avLst/>
          </a:prstGeom>
          <a:noFill/>
          <a:ln>
            <a:solidFill>
              <a:schemeClr val="tx1"/>
            </a:solidFill>
          </a:ln>
        </p:spPr>
        <p:txBody>
          <a:bodyPr wrap="square">
            <a:spAutoFit/>
          </a:bodyPr>
          <a:lstStyle/>
          <a:p>
            <a:r>
              <a:rPr lang="es-ES" sz="3017" spc="178" dirty="0">
                <a:solidFill>
                  <a:srgbClr val="000000"/>
                </a:solidFill>
                <a:latin typeface="Helios"/>
              </a:rPr>
              <a:t>Cuenta cuántas veces aparece la letra A en esta secuencia:</a:t>
            </a:r>
          </a:p>
          <a:p>
            <a:r>
              <a:rPr lang="es-ES" sz="3017" spc="178" dirty="0">
                <a:solidFill>
                  <a:srgbClr val="000000"/>
                </a:solidFill>
                <a:latin typeface="Helios"/>
              </a:rPr>
              <a:t>ABACADAEAFAGAHAIAJAKALAMANAOAPAQA</a:t>
            </a:r>
            <a:endParaRPr lang="es-ES" dirty="0"/>
          </a:p>
        </p:txBody>
      </p:sp>
    </p:spTree>
    <p:extLst>
      <p:ext uri="{BB962C8B-B14F-4D97-AF65-F5344CB8AC3E}">
        <p14:creationId xmlns:p14="http://schemas.microsoft.com/office/powerpoint/2010/main" val="1040931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1B0E-1ED3-B633-B088-ADEB89A10E4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3DB9FA4-38E7-8F7A-9CD6-EE4A204ED6B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AB18C99B-A497-C657-B432-59F048774360}"/>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Pruebas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Psicotécnicas</a:t>
            </a:r>
            <a:endParaRPr lang="en-US" sz="5369" b="1" spc="-177" dirty="0">
              <a:solidFill>
                <a:srgbClr val="4D4C4C"/>
              </a:solidFill>
              <a:latin typeface="TS Deniz Bold"/>
              <a:ea typeface="TS Deniz Bold"/>
              <a:cs typeface="TS Deniz Bold"/>
              <a:sym typeface="TS Deniz Bold"/>
            </a:endParaRPr>
          </a:p>
        </p:txBody>
      </p:sp>
      <p:sp>
        <p:nvSpPr>
          <p:cNvPr id="3" name="CuadroTexto 2">
            <a:extLst>
              <a:ext uri="{FF2B5EF4-FFF2-40B4-BE49-F238E27FC236}">
                <a16:creationId xmlns:a16="http://schemas.microsoft.com/office/drawing/2014/main" id="{77D324A2-6B0E-78E6-1A32-1FB1AB753EED}"/>
              </a:ext>
            </a:extLst>
          </p:cNvPr>
          <p:cNvSpPr txBox="1"/>
          <p:nvPr/>
        </p:nvSpPr>
        <p:spPr>
          <a:xfrm>
            <a:off x="304800" y="1409700"/>
            <a:ext cx="9601200" cy="833626"/>
          </a:xfrm>
          <a:prstGeom prst="rect">
            <a:avLst/>
          </a:prstGeom>
          <a:noFill/>
          <a:ln>
            <a:noFill/>
          </a:ln>
        </p:spPr>
        <p:txBody>
          <a:bodyPr wrap="square">
            <a:spAutoFit/>
          </a:bodyPr>
          <a:lstStyle/>
          <a:p>
            <a:r>
              <a:rPr lang="es-ES" sz="3017" spc="178" dirty="0">
                <a:solidFill>
                  <a:srgbClr val="000000"/>
                </a:solidFill>
                <a:latin typeface="Helios"/>
              </a:rPr>
              <a:t>En un folio en blanco, dibuja un árbol.</a:t>
            </a:r>
          </a:p>
          <a:p>
            <a:endParaRPr lang="es-ES" dirty="0"/>
          </a:p>
        </p:txBody>
      </p:sp>
    </p:spTree>
    <p:extLst>
      <p:ext uri="{BB962C8B-B14F-4D97-AF65-F5344CB8AC3E}">
        <p14:creationId xmlns:p14="http://schemas.microsoft.com/office/powerpoint/2010/main" val="681405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3B187-35A7-A99A-37EA-AAB0D93EF9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E35F94B-018D-1A16-728E-B470641C96CB}"/>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9CF6D317-1A5A-9D6A-C1BC-884494946754}"/>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Pruebas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Psicotécnicas</a:t>
            </a:r>
            <a:endParaRPr lang="en-US" sz="5369" b="1" spc="-177" dirty="0">
              <a:solidFill>
                <a:srgbClr val="4D4C4C"/>
              </a:solidFill>
              <a:latin typeface="TS Deniz Bold"/>
              <a:ea typeface="TS Deniz Bold"/>
              <a:cs typeface="TS Deniz Bold"/>
              <a:sym typeface="TS Deniz Bold"/>
            </a:endParaRPr>
          </a:p>
        </p:txBody>
      </p:sp>
      <p:sp>
        <p:nvSpPr>
          <p:cNvPr id="3" name="CuadroTexto 2">
            <a:extLst>
              <a:ext uri="{FF2B5EF4-FFF2-40B4-BE49-F238E27FC236}">
                <a16:creationId xmlns:a16="http://schemas.microsoft.com/office/drawing/2014/main" id="{5612CA57-5762-346F-23D4-9C4057D49BA2}"/>
              </a:ext>
            </a:extLst>
          </p:cNvPr>
          <p:cNvSpPr txBox="1"/>
          <p:nvPr/>
        </p:nvSpPr>
        <p:spPr>
          <a:xfrm>
            <a:off x="304800" y="1409700"/>
            <a:ext cx="17602200" cy="4270977"/>
          </a:xfrm>
          <a:prstGeom prst="rect">
            <a:avLst/>
          </a:prstGeom>
          <a:noFill/>
          <a:ln>
            <a:noFill/>
          </a:ln>
        </p:spPr>
        <p:txBody>
          <a:bodyPr wrap="square">
            <a:spAutoFit/>
          </a:bodyPr>
          <a:lstStyle/>
          <a:p>
            <a:r>
              <a:rPr lang="es-ES" sz="3017" b="1" spc="178" dirty="0">
                <a:solidFill>
                  <a:srgbClr val="000000"/>
                </a:solidFill>
                <a:latin typeface="Helios"/>
              </a:rPr>
              <a:t>Test de Koch</a:t>
            </a:r>
          </a:p>
          <a:p>
            <a:r>
              <a:rPr lang="es-ES" sz="3017" b="1" spc="178" dirty="0">
                <a:solidFill>
                  <a:srgbClr val="000000"/>
                </a:solidFill>
                <a:latin typeface="Helios"/>
              </a:rPr>
              <a:t>Raíces</a:t>
            </a:r>
            <a:r>
              <a:rPr lang="es-ES" sz="3017" spc="178" dirty="0">
                <a:solidFill>
                  <a:srgbClr val="000000"/>
                </a:solidFill>
                <a:latin typeface="Helios"/>
              </a:rPr>
              <a:t>: Representan la conexión con la realidad, seguridad y estabilidad emocional.</a:t>
            </a:r>
          </a:p>
          <a:p>
            <a:r>
              <a:rPr lang="es-ES" sz="3017" b="1" spc="178" dirty="0">
                <a:solidFill>
                  <a:srgbClr val="000000"/>
                </a:solidFill>
                <a:latin typeface="Helios"/>
              </a:rPr>
              <a:t>Tronco:</a:t>
            </a:r>
            <a:r>
              <a:rPr lang="es-ES" sz="3017" spc="178" dirty="0">
                <a:solidFill>
                  <a:srgbClr val="000000"/>
                </a:solidFill>
                <a:latin typeface="Helios"/>
              </a:rPr>
              <a:t> Simboliza la fuerza interior, la estructura de la personalidad.</a:t>
            </a:r>
          </a:p>
          <a:p>
            <a:r>
              <a:rPr lang="es-ES" sz="3017" b="1" spc="178" dirty="0">
                <a:solidFill>
                  <a:srgbClr val="000000"/>
                </a:solidFill>
                <a:latin typeface="Helios"/>
              </a:rPr>
              <a:t>Copa:</a:t>
            </a:r>
            <a:r>
              <a:rPr lang="es-ES" sz="3017" spc="178" dirty="0">
                <a:solidFill>
                  <a:srgbClr val="000000"/>
                </a:solidFill>
                <a:latin typeface="Helios"/>
              </a:rPr>
              <a:t> Refleja la vida social, aspiraciones y proyección hacia el futuro.</a:t>
            </a:r>
          </a:p>
          <a:p>
            <a:r>
              <a:rPr lang="es-ES" sz="3017" b="1" spc="178" dirty="0">
                <a:solidFill>
                  <a:srgbClr val="000000"/>
                </a:solidFill>
                <a:latin typeface="Helios"/>
              </a:rPr>
              <a:t>Detalles: </a:t>
            </a:r>
            <a:r>
              <a:rPr lang="es-ES" sz="3017" spc="178" dirty="0">
                <a:solidFill>
                  <a:srgbClr val="000000"/>
                </a:solidFill>
                <a:latin typeface="Helios"/>
              </a:rPr>
              <a:t>Presencia de ramas, hojas, frutos, huecos, etc., que pueden indicar aspectos como creatividad, ansiedad o conflictos internos.</a:t>
            </a:r>
          </a:p>
          <a:p>
            <a:r>
              <a:rPr lang="es-ES" sz="3017" b="1" spc="178" dirty="0">
                <a:solidFill>
                  <a:srgbClr val="000000"/>
                </a:solidFill>
                <a:latin typeface="Helios"/>
              </a:rPr>
              <a:t>Tamaño y ubicación: </a:t>
            </a:r>
            <a:r>
              <a:rPr lang="es-ES" sz="3017" spc="178" dirty="0">
                <a:solidFill>
                  <a:srgbClr val="000000"/>
                </a:solidFill>
                <a:latin typeface="Helios"/>
              </a:rPr>
              <a:t>Árbol grande y centrado → seguridad; pequeño y en una esquina → inseguridad o retraimiento.</a:t>
            </a:r>
          </a:p>
          <a:p>
            <a:r>
              <a:rPr lang="es-ES" sz="3017" b="1" spc="178" dirty="0">
                <a:solidFill>
                  <a:srgbClr val="000000"/>
                </a:solidFill>
                <a:latin typeface="Helios"/>
              </a:rPr>
              <a:t>Presión del trazo: </a:t>
            </a:r>
            <a:r>
              <a:rPr lang="es-ES" sz="3017" spc="178" dirty="0">
                <a:solidFill>
                  <a:srgbClr val="000000"/>
                </a:solidFill>
                <a:latin typeface="Helios"/>
              </a:rPr>
              <a:t>Fuerte → energía y firmeza; débil → inseguridad o cansancio.</a:t>
            </a:r>
            <a:endParaRPr lang="es-ES" dirty="0"/>
          </a:p>
        </p:txBody>
      </p:sp>
    </p:spTree>
    <p:extLst>
      <p:ext uri="{BB962C8B-B14F-4D97-AF65-F5344CB8AC3E}">
        <p14:creationId xmlns:p14="http://schemas.microsoft.com/office/powerpoint/2010/main" val="1969248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8D4AE-F9D6-50FA-EF9F-02FF87F345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0C4953-2EB5-254C-65D6-9E8763D4FBF4}"/>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C24CD9ED-AE7F-1790-591B-AA6B3A26FE11}"/>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Dinámicas</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grupo</a:t>
            </a:r>
            <a:endParaRPr lang="en-US" sz="5369" b="1" spc="-177" dirty="0">
              <a:solidFill>
                <a:srgbClr val="4D4C4C"/>
              </a:solidFill>
              <a:latin typeface="TS Deniz Bold"/>
              <a:ea typeface="TS Deniz Bold"/>
              <a:cs typeface="TS Deniz Bold"/>
              <a:sym typeface="TS Deniz Bold"/>
            </a:endParaRPr>
          </a:p>
        </p:txBody>
      </p:sp>
      <p:sp>
        <p:nvSpPr>
          <p:cNvPr id="7" name="TextBox 3">
            <a:extLst>
              <a:ext uri="{FF2B5EF4-FFF2-40B4-BE49-F238E27FC236}">
                <a16:creationId xmlns:a16="http://schemas.microsoft.com/office/drawing/2014/main" id="{E6F2F11E-A85D-FD54-F4E6-ABD70162B697}"/>
              </a:ext>
            </a:extLst>
          </p:cNvPr>
          <p:cNvSpPr txBox="1"/>
          <p:nvPr/>
        </p:nvSpPr>
        <p:spPr>
          <a:xfrm>
            <a:off x="342495" y="1409700"/>
            <a:ext cx="17603009" cy="9106724"/>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Las dinámicas de grupo son actividades en las que varios candidatos interactúan para resolver un problema o realizar una tarea conjunta. El objetivo es observar cómo se comportan en situaciones reales de trabajo en equipo. Se evalúan competencias como:</a:t>
            </a:r>
          </a:p>
          <a:p>
            <a:pPr algn="just">
              <a:lnSpc>
                <a:spcPts val="4224"/>
              </a:lnSpc>
            </a:pPr>
            <a:r>
              <a:rPr lang="es-ES" sz="3017" b="1" spc="178" dirty="0">
                <a:solidFill>
                  <a:srgbClr val="000000"/>
                </a:solidFill>
                <a:latin typeface="Helios"/>
                <a:sym typeface="Helios"/>
              </a:rPr>
              <a:t>Liderazgo: </a:t>
            </a:r>
            <a:r>
              <a:rPr lang="es-ES" sz="3017" spc="178" dirty="0">
                <a:solidFill>
                  <a:srgbClr val="000000"/>
                </a:solidFill>
                <a:latin typeface="Helios"/>
                <a:sym typeface="Helios"/>
              </a:rPr>
              <a:t>Capacidad para guiar sin imponer.</a:t>
            </a:r>
          </a:p>
          <a:p>
            <a:pPr algn="just">
              <a:lnSpc>
                <a:spcPts val="4224"/>
              </a:lnSpc>
            </a:pPr>
            <a:r>
              <a:rPr lang="es-ES" sz="3017" b="1" spc="178" dirty="0">
                <a:solidFill>
                  <a:srgbClr val="000000"/>
                </a:solidFill>
                <a:latin typeface="Helios"/>
                <a:sym typeface="Helios"/>
              </a:rPr>
              <a:t>Trabajo en equipo: </a:t>
            </a:r>
            <a:r>
              <a:rPr lang="es-ES" sz="3017" spc="178" dirty="0">
                <a:solidFill>
                  <a:srgbClr val="000000"/>
                </a:solidFill>
                <a:latin typeface="Helios"/>
                <a:sym typeface="Helios"/>
              </a:rPr>
              <a:t>Colaboración y escucha activa.</a:t>
            </a:r>
          </a:p>
          <a:p>
            <a:pPr algn="just">
              <a:lnSpc>
                <a:spcPts val="4224"/>
              </a:lnSpc>
            </a:pPr>
            <a:r>
              <a:rPr lang="es-ES" sz="3017" b="1" spc="178" dirty="0">
                <a:solidFill>
                  <a:srgbClr val="000000"/>
                </a:solidFill>
                <a:latin typeface="Helios"/>
                <a:sym typeface="Helios"/>
              </a:rPr>
              <a:t>Comunicación:</a:t>
            </a:r>
            <a:r>
              <a:rPr lang="es-ES" sz="3017" spc="178" dirty="0">
                <a:solidFill>
                  <a:srgbClr val="000000"/>
                </a:solidFill>
                <a:latin typeface="Helios"/>
                <a:sym typeface="Helios"/>
              </a:rPr>
              <a:t> Claridad y asertividad en las intervenciones.</a:t>
            </a:r>
          </a:p>
          <a:p>
            <a:pPr algn="just">
              <a:lnSpc>
                <a:spcPts val="4224"/>
              </a:lnSpc>
            </a:pPr>
            <a:r>
              <a:rPr lang="es-ES" sz="3017" b="1" spc="178" dirty="0">
                <a:solidFill>
                  <a:srgbClr val="000000"/>
                </a:solidFill>
                <a:latin typeface="Helios"/>
                <a:sym typeface="Helios"/>
              </a:rPr>
              <a:t>Resolución de conflictos: </a:t>
            </a:r>
            <a:r>
              <a:rPr lang="es-ES" sz="3017" spc="178" dirty="0">
                <a:solidFill>
                  <a:srgbClr val="000000"/>
                </a:solidFill>
                <a:latin typeface="Helios"/>
                <a:sym typeface="Helios"/>
              </a:rPr>
              <a:t>Cómo se manejan discrepancias y se llega a acuerdos.</a:t>
            </a:r>
          </a:p>
          <a:p>
            <a:pPr algn="just">
              <a:lnSpc>
                <a:spcPts val="4224"/>
              </a:lnSpc>
            </a:pPr>
            <a:r>
              <a:rPr lang="es-ES" sz="3017" b="1" spc="178" dirty="0">
                <a:solidFill>
                  <a:srgbClr val="000000"/>
                </a:solidFill>
                <a:latin typeface="Helios"/>
                <a:sym typeface="Helios"/>
              </a:rPr>
              <a:t>Creatividad y toma de decisiones: </a:t>
            </a:r>
            <a:r>
              <a:rPr lang="es-ES" sz="3017" spc="178" dirty="0">
                <a:solidFill>
                  <a:srgbClr val="000000"/>
                </a:solidFill>
                <a:latin typeface="Helios"/>
                <a:sym typeface="Helios"/>
              </a:rPr>
              <a:t>Propuestas innovadoras y capacidad para elegir soluciones.</a:t>
            </a:r>
          </a:p>
          <a:p>
            <a:pPr algn="just">
              <a:lnSpc>
                <a:spcPts val="4224"/>
              </a:lnSpc>
            </a:pPr>
            <a:r>
              <a:rPr lang="es-ES" sz="3017" spc="178" dirty="0">
                <a:solidFill>
                  <a:srgbClr val="000000"/>
                </a:solidFill>
                <a:latin typeface="Helios"/>
                <a:sym typeface="Helios"/>
              </a:rPr>
              <a:t>Ejemplos de dinámicas:</a:t>
            </a:r>
          </a:p>
          <a:p>
            <a:pPr algn="just">
              <a:lnSpc>
                <a:spcPts val="4224"/>
              </a:lnSpc>
            </a:pPr>
            <a:r>
              <a:rPr lang="es-ES" sz="3017" spc="178" dirty="0">
                <a:solidFill>
                  <a:srgbClr val="000000"/>
                </a:solidFill>
                <a:latin typeface="Helios"/>
                <a:sym typeface="Helios"/>
              </a:rPr>
              <a:t>Resolver un caso práctico relacionado con la empresa.</a:t>
            </a:r>
          </a:p>
          <a:p>
            <a:pPr algn="just">
              <a:lnSpc>
                <a:spcPts val="4224"/>
              </a:lnSpc>
            </a:pPr>
            <a:r>
              <a:rPr lang="es-ES" sz="3017" spc="178" dirty="0">
                <a:solidFill>
                  <a:srgbClr val="000000"/>
                </a:solidFill>
                <a:latin typeface="Helios"/>
                <a:sym typeface="Helios"/>
              </a:rPr>
              <a:t>Diseñar un proyecto en equipo en un tiempo limitado.</a:t>
            </a:r>
          </a:p>
          <a:p>
            <a:pPr algn="just">
              <a:lnSpc>
                <a:spcPts val="4224"/>
              </a:lnSpc>
            </a:pPr>
            <a:r>
              <a:rPr lang="es-ES" sz="3017" spc="178" dirty="0">
                <a:solidFill>
                  <a:srgbClr val="000000"/>
                </a:solidFill>
                <a:latin typeface="Helios"/>
                <a:sym typeface="Helios"/>
              </a:rPr>
              <a:t>Debates sobre un tema propuesto por el evaluador.</a:t>
            </a:r>
          </a:p>
          <a:p>
            <a:pPr algn="just">
              <a:lnSpc>
                <a:spcPts val="4224"/>
              </a:lnSpc>
            </a:pPr>
            <a:r>
              <a:rPr lang="es-ES" sz="3017" spc="178" dirty="0">
                <a:solidFill>
                  <a:srgbClr val="000000"/>
                </a:solidFill>
                <a:latin typeface="Helios"/>
                <a:sym typeface="Helios"/>
              </a:rPr>
              <a:t>Consejos para destacar:</a:t>
            </a:r>
          </a:p>
          <a:p>
            <a:pPr algn="just">
              <a:lnSpc>
                <a:spcPts val="4224"/>
              </a:lnSpc>
            </a:pPr>
            <a:r>
              <a:rPr lang="es-ES" sz="3017" spc="178" dirty="0">
                <a:solidFill>
                  <a:srgbClr val="000000"/>
                </a:solidFill>
                <a:latin typeface="Helios"/>
                <a:sym typeface="Helios"/>
              </a:rPr>
              <a:t>Participar activamente sin monopolizar la </a:t>
            </a:r>
            <a:r>
              <a:rPr lang="es-ES" sz="3017" spc="178" dirty="0" err="1">
                <a:solidFill>
                  <a:srgbClr val="000000"/>
                </a:solidFill>
                <a:latin typeface="Helios"/>
                <a:sym typeface="Helios"/>
              </a:rPr>
              <a:t>conversación.Escuchar</a:t>
            </a:r>
            <a:r>
              <a:rPr lang="es-ES" sz="3017" spc="178" dirty="0">
                <a:solidFill>
                  <a:srgbClr val="000000"/>
                </a:solidFill>
                <a:latin typeface="Helios"/>
                <a:sym typeface="Helios"/>
              </a:rPr>
              <a:t> y respetar las opiniones de los </a:t>
            </a:r>
            <a:r>
              <a:rPr lang="es-ES" sz="3017" spc="178" dirty="0" err="1">
                <a:solidFill>
                  <a:srgbClr val="000000"/>
                </a:solidFill>
                <a:latin typeface="Helios"/>
                <a:sym typeface="Helios"/>
              </a:rPr>
              <a:t>demás.Argumentar</a:t>
            </a:r>
            <a:r>
              <a:rPr lang="es-ES" sz="3017" spc="178" dirty="0">
                <a:solidFill>
                  <a:srgbClr val="000000"/>
                </a:solidFill>
                <a:latin typeface="Helios"/>
                <a:sym typeface="Helios"/>
              </a:rPr>
              <a:t> las ideas con claridad y </a:t>
            </a:r>
            <a:r>
              <a:rPr lang="es-ES" sz="3017" spc="178" dirty="0" err="1">
                <a:solidFill>
                  <a:srgbClr val="000000"/>
                </a:solidFill>
                <a:latin typeface="Helios"/>
                <a:sym typeface="Helios"/>
              </a:rPr>
              <a:t>seguridad.Mostrar</a:t>
            </a:r>
            <a:r>
              <a:rPr lang="es-ES" sz="3017" spc="178" dirty="0">
                <a:solidFill>
                  <a:srgbClr val="000000"/>
                </a:solidFill>
                <a:latin typeface="Helios"/>
                <a:sym typeface="Helios"/>
              </a:rPr>
              <a:t> actitud positiva y colaborativa.</a:t>
            </a:r>
          </a:p>
        </p:txBody>
      </p:sp>
    </p:spTree>
    <p:extLst>
      <p:ext uri="{BB962C8B-B14F-4D97-AF65-F5344CB8AC3E}">
        <p14:creationId xmlns:p14="http://schemas.microsoft.com/office/powerpoint/2010/main" val="296743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56DE-92CA-6161-14DB-2CD60A9796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70B18E-A9A1-94E2-84D7-CBDB71D11C68}"/>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4" name="TextBox 4">
            <a:extLst>
              <a:ext uri="{FF2B5EF4-FFF2-40B4-BE49-F238E27FC236}">
                <a16:creationId xmlns:a16="http://schemas.microsoft.com/office/drawing/2014/main" id="{5CCEF804-A0FB-6BE1-3BE2-44CA7157D0E3}"/>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4.4.1 </a:t>
            </a:r>
            <a:r>
              <a:rPr lang="en-US" sz="5369" b="1" spc="-177" dirty="0" err="1">
                <a:solidFill>
                  <a:srgbClr val="4D4C4C"/>
                </a:solidFill>
                <a:latin typeface="TS Deniz Bold"/>
                <a:ea typeface="TS Deniz Bold"/>
                <a:cs typeface="TS Deniz Bold"/>
                <a:sym typeface="TS Deniz Bold"/>
              </a:rPr>
              <a:t>Dinámicas</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grupo</a:t>
            </a:r>
            <a:endParaRPr lang="en-US" sz="5369" b="1" spc="-177" dirty="0">
              <a:solidFill>
                <a:srgbClr val="4D4C4C"/>
              </a:solidFill>
              <a:latin typeface="TS Deniz Bold"/>
              <a:ea typeface="TS Deniz Bold"/>
              <a:cs typeface="TS Deniz Bold"/>
              <a:sym typeface="TS Deniz Bold"/>
            </a:endParaRPr>
          </a:p>
        </p:txBody>
      </p:sp>
      <p:sp>
        <p:nvSpPr>
          <p:cNvPr id="7" name="TextBox 3">
            <a:extLst>
              <a:ext uri="{FF2B5EF4-FFF2-40B4-BE49-F238E27FC236}">
                <a16:creationId xmlns:a16="http://schemas.microsoft.com/office/drawing/2014/main" id="{4686C8F0-AC99-52FB-E8D0-FE2621B3AE13}"/>
              </a:ext>
            </a:extLst>
          </p:cNvPr>
          <p:cNvSpPr txBox="1"/>
          <p:nvPr/>
        </p:nvSpPr>
        <p:spPr>
          <a:xfrm>
            <a:off x="342495" y="1409700"/>
            <a:ext cx="17603009" cy="7490897"/>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Sois el equipo directivo de una empresa tecnológica que acaba de sufrir una caída total de sus servidores. Tenéis 30 minutos para diseñar un plan de acción que minimice el impacto en clientes y en la reputación de la empresa.</a:t>
            </a:r>
          </a:p>
          <a:p>
            <a:pPr algn="just">
              <a:lnSpc>
                <a:spcPts val="4224"/>
              </a:lnSpc>
            </a:pPr>
            <a:r>
              <a:rPr lang="es-ES" sz="3017" spc="178" dirty="0">
                <a:solidFill>
                  <a:srgbClr val="000000"/>
                </a:solidFill>
                <a:latin typeface="Helios"/>
                <a:sym typeface="Helios"/>
              </a:rPr>
              <a:t>Condiciones:</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El presupuesto es limitado.</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Hay clientes importantes que amenazan con cancelar contratos.</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El equipo técnico esta disponible, pero necesita instrucciones claras.</a:t>
            </a:r>
          </a:p>
          <a:p>
            <a:pPr algn="just">
              <a:lnSpc>
                <a:spcPts val="4224"/>
              </a:lnSpc>
            </a:pPr>
            <a:r>
              <a:rPr lang="es-ES" sz="3017" spc="178" dirty="0">
                <a:solidFill>
                  <a:srgbClr val="000000"/>
                </a:solidFill>
                <a:latin typeface="Helios"/>
                <a:sym typeface="Helios"/>
              </a:rPr>
              <a:t>Normas:</a:t>
            </a:r>
          </a:p>
          <a:p>
            <a:pPr algn="just">
              <a:lnSpc>
                <a:spcPts val="4224"/>
              </a:lnSpc>
            </a:pPr>
            <a:r>
              <a:rPr lang="es-ES" sz="3017" spc="178" dirty="0">
                <a:solidFill>
                  <a:srgbClr val="000000"/>
                </a:solidFill>
                <a:latin typeface="Helios"/>
                <a:sym typeface="Helios"/>
              </a:rPr>
              <a:t>Todos los miembros deben participar en la toma de decisiones.</a:t>
            </a:r>
          </a:p>
          <a:p>
            <a:pPr algn="just">
              <a:lnSpc>
                <a:spcPts val="4224"/>
              </a:lnSpc>
            </a:pPr>
            <a:r>
              <a:rPr lang="es-ES" sz="3017" spc="178" dirty="0">
                <a:solidFill>
                  <a:srgbClr val="000000"/>
                </a:solidFill>
                <a:latin typeface="Helios"/>
                <a:sym typeface="Helios"/>
              </a:rPr>
              <a:t>El plan debe incluir:</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Acciones inmediatas.</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Comunicación con clientes.</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Estrategia para evitar que vuelva a ocurrir.</a:t>
            </a:r>
          </a:p>
          <a:p>
            <a:pPr algn="just">
              <a:lnSpc>
                <a:spcPts val="4224"/>
              </a:lnSpc>
            </a:pPr>
            <a:r>
              <a:rPr lang="es-ES" sz="3017" spc="178" dirty="0">
                <a:solidFill>
                  <a:srgbClr val="000000"/>
                </a:solidFill>
                <a:latin typeface="Helios"/>
                <a:sym typeface="Helios"/>
              </a:rPr>
              <a:t>Cada grupo debe presentar su propuesta en 5 minutos.</a:t>
            </a:r>
          </a:p>
        </p:txBody>
      </p:sp>
    </p:spTree>
    <p:extLst>
      <p:ext uri="{BB962C8B-B14F-4D97-AF65-F5344CB8AC3E}">
        <p14:creationId xmlns:p14="http://schemas.microsoft.com/office/powerpoint/2010/main" val="226710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C40F-D87B-4022-CDE6-142550EA2F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8695E0F-8980-C413-0BDF-9FD0ECC66E56}"/>
              </a:ext>
            </a:extLst>
          </p:cNvPr>
          <p:cNvGrpSpPr/>
          <p:nvPr/>
        </p:nvGrpSpPr>
        <p:grpSpPr>
          <a:xfrm rot="-10800000">
            <a:off x="13986999" y="-2149600"/>
            <a:ext cx="6316248" cy="3178300"/>
            <a:chOff x="0" y="0"/>
            <a:chExt cx="807640" cy="406400"/>
          </a:xfrm>
        </p:grpSpPr>
        <p:sp>
          <p:nvSpPr>
            <p:cNvPr id="3" name="Freeform 3">
              <a:extLst>
                <a:ext uri="{FF2B5EF4-FFF2-40B4-BE49-F238E27FC236}">
                  <a16:creationId xmlns:a16="http://schemas.microsoft.com/office/drawing/2014/main" id="{279B43E0-51F1-EBB6-EA6D-E723F2AB6941}"/>
                </a:ext>
              </a:extLst>
            </p:cNvPr>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4" name="TextBox 4">
              <a:extLst>
                <a:ext uri="{FF2B5EF4-FFF2-40B4-BE49-F238E27FC236}">
                  <a16:creationId xmlns:a16="http://schemas.microsoft.com/office/drawing/2014/main" id="{73020ABB-7995-9B40-B467-BA473654D36E}"/>
                </a:ext>
              </a:extLst>
            </p:cNvPr>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5" name="Group 5">
            <a:extLst>
              <a:ext uri="{FF2B5EF4-FFF2-40B4-BE49-F238E27FC236}">
                <a16:creationId xmlns:a16="http://schemas.microsoft.com/office/drawing/2014/main" id="{66BE0636-1513-D535-DFD8-1B3B9869CF01}"/>
              </a:ext>
            </a:extLst>
          </p:cNvPr>
          <p:cNvGrpSpPr/>
          <p:nvPr/>
        </p:nvGrpSpPr>
        <p:grpSpPr>
          <a:xfrm>
            <a:off x="17259300" y="-565845"/>
            <a:ext cx="15452455" cy="11836184"/>
            <a:chOff x="0" y="0"/>
            <a:chExt cx="4069782" cy="3117349"/>
          </a:xfrm>
        </p:grpSpPr>
        <p:sp>
          <p:nvSpPr>
            <p:cNvPr id="6" name="Freeform 6">
              <a:extLst>
                <a:ext uri="{FF2B5EF4-FFF2-40B4-BE49-F238E27FC236}">
                  <a16:creationId xmlns:a16="http://schemas.microsoft.com/office/drawing/2014/main" id="{151F4717-744A-FF3D-FF4F-EDE95BC8F4E1}"/>
                </a:ext>
              </a:extLst>
            </p:cNvPr>
            <p:cNvSpPr/>
            <p:nvPr/>
          </p:nvSpPr>
          <p:spPr>
            <a:xfrm>
              <a:off x="0" y="0"/>
              <a:ext cx="4069783" cy="3117349"/>
            </a:xfrm>
            <a:custGeom>
              <a:avLst/>
              <a:gdLst/>
              <a:ahLst/>
              <a:cxnLst/>
              <a:rect l="l" t="t" r="r" b="b"/>
              <a:pathLst>
                <a:path w="4069783" h="3117349">
                  <a:moveTo>
                    <a:pt x="0" y="0"/>
                  </a:moveTo>
                  <a:lnTo>
                    <a:pt x="4069783" y="0"/>
                  </a:lnTo>
                  <a:lnTo>
                    <a:pt x="4069783" y="3117349"/>
                  </a:lnTo>
                  <a:lnTo>
                    <a:pt x="0" y="3117349"/>
                  </a:lnTo>
                  <a:close/>
                </a:path>
              </a:pathLst>
            </a:custGeom>
            <a:solidFill>
              <a:srgbClr val="B8BB87"/>
            </a:solidFill>
          </p:spPr>
          <p:txBody>
            <a:bodyPr/>
            <a:lstStyle/>
            <a:p>
              <a:endParaRPr lang="es-ES"/>
            </a:p>
          </p:txBody>
        </p:sp>
        <p:sp>
          <p:nvSpPr>
            <p:cNvPr id="7" name="TextBox 7">
              <a:extLst>
                <a:ext uri="{FF2B5EF4-FFF2-40B4-BE49-F238E27FC236}">
                  <a16:creationId xmlns:a16="http://schemas.microsoft.com/office/drawing/2014/main" id="{1336A92B-5F0D-4B41-80C5-DE887D774036}"/>
                </a:ext>
              </a:extLst>
            </p:cNvPr>
            <p:cNvSpPr txBox="1"/>
            <p:nvPr/>
          </p:nvSpPr>
          <p:spPr>
            <a:xfrm>
              <a:off x="0" y="-47625"/>
              <a:ext cx="4069782" cy="3164974"/>
            </a:xfrm>
            <a:prstGeom prst="rect">
              <a:avLst/>
            </a:prstGeom>
          </p:spPr>
          <p:txBody>
            <a:bodyPr lIns="50800" tIns="50800" rIns="50800" bIns="50800" rtlCol="0" anchor="ctr"/>
            <a:lstStyle/>
            <a:p>
              <a:pPr algn="ctr">
                <a:lnSpc>
                  <a:spcPts val="3079"/>
                </a:lnSpc>
              </a:pPr>
              <a:endParaRPr/>
            </a:p>
          </p:txBody>
        </p:sp>
      </p:grpSp>
      <p:sp>
        <p:nvSpPr>
          <p:cNvPr id="8" name="TextBox 8">
            <a:extLst>
              <a:ext uri="{FF2B5EF4-FFF2-40B4-BE49-F238E27FC236}">
                <a16:creationId xmlns:a16="http://schemas.microsoft.com/office/drawing/2014/main" id="{0943CD23-0F0E-186A-3B4D-15892A8A43E0}"/>
              </a:ext>
            </a:extLst>
          </p:cNvPr>
          <p:cNvSpPr txBox="1"/>
          <p:nvPr/>
        </p:nvSpPr>
        <p:spPr>
          <a:xfrm>
            <a:off x="1428627" y="3319928"/>
            <a:ext cx="4216185" cy="3860031"/>
          </a:xfrm>
          <a:prstGeom prst="rect">
            <a:avLst/>
          </a:prstGeom>
        </p:spPr>
        <p:txBody>
          <a:bodyPr lIns="0" tIns="0" rIns="0" bIns="0" rtlCol="0" anchor="t">
            <a:spAutoFit/>
          </a:bodyPr>
          <a:lstStyle/>
          <a:p>
            <a:pPr algn="ctr">
              <a:lnSpc>
                <a:spcPts val="30064"/>
              </a:lnSpc>
              <a:spcBef>
                <a:spcPct val="0"/>
              </a:spcBef>
            </a:pPr>
            <a:r>
              <a:rPr lang="en-US" sz="21474" b="1" dirty="0">
                <a:solidFill>
                  <a:srgbClr val="4D4C4C"/>
                </a:solidFill>
                <a:latin typeface="TS Deniz Bold"/>
                <a:ea typeface="TS Deniz Bold"/>
                <a:cs typeface="TS Deniz Bold"/>
                <a:sym typeface="TS Deniz Bold"/>
              </a:rPr>
              <a:t>05</a:t>
            </a:r>
          </a:p>
        </p:txBody>
      </p:sp>
      <p:sp>
        <p:nvSpPr>
          <p:cNvPr id="9" name="TextBox 9">
            <a:extLst>
              <a:ext uri="{FF2B5EF4-FFF2-40B4-BE49-F238E27FC236}">
                <a16:creationId xmlns:a16="http://schemas.microsoft.com/office/drawing/2014/main" id="{70C0B14A-5897-A3C1-A4ED-2CBEBB7742F9}"/>
              </a:ext>
            </a:extLst>
          </p:cNvPr>
          <p:cNvSpPr txBox="1"/>
          <p:nvPr/>
        </p:nvSpPr>
        <p:spPr>
          <a:xfrm>
            <a:off x="6501067" y="2914442"/>
            <a:ext cx="10637129" cy="5200783"/>
          </a:xfrm>
          <a:prstGeom prst="rect">
            <a:avLst/>
          </a:prstGeom>
        </p:spPr>
        <p:txBody>
          <a:bodyPr lIns="0" tIns="0" rIns="0" bIns="0" rtlCol="0" anchor="t">
            <a:spAutoFit/>
          </a:bodyPr>
          <a:lstStyle/>
          <a:p>
            <a:pPr>
              <a:lnSpc>
                <a:spcPts val="13721"/>
              </a:lnSpc>
              <a:spcBef>
                <a:spcPct val="0"/>
              </a:spcBef>
            </a:pPr>
            <a:r>
              <a:rPr lang="en-US" sz="9600" b="1" spc="192" dirty="0" err="1">
                <a:solidFill>
                  <a:srgbClr val="4D4C4C"/>
                </a:solidFill>
                <a:latin typeface="Helios Bold"/>
                <a:ea typeface="Helios Bold"/>
                <a:cs typeface="Helios Bold"/>
                <a:sym typeface="Helios Bold"/>
              </a:rPr>
              <a:t>Busqueda</a:t>
            </a:r>
            <a:r>
              <a:rPr lang="en-US" sz="9600" b="1" spc="192" dirty="0">
                <a:solidFill>
                  <a:srgbClr val="4D4C4C"/>
                </a:solidFill>
                <a:latin typeface="Helios Bold"/>
                <a:ea typeface="Helios Bold"/>
                <a:cs typeface="Helios Bold"/>
                <a:sym typeface="Helios Bold"/>
              </a:rPr>
              <a:t> de Empleo </a:t>
            </a:r>
            <a:r>
              <a:rPr lang="en-US" sz="9600" b="1" spc="192" dirty="0" err="1">
                <a:solidFill>
                  <a:srgbClr val="4D4C4C"/>
                </a:solidFill>
                <a:latin typeface="Helios Bold"/>
                <a:ea typeface="Helios Bold"/>
                <a:cs typeface="Helios Bold"/>
                <a:sym typeface="Helios Bold"/>
              </a:rPr>
              <a:t>en</a:t>
            </a:r>
            <a:r>
              <a:rPr lang="en-US" sz="9600" b="1" spc="192" dirty="0">
                <a:solidFill>
                  <a:srgbClr val="4D4C4C"/>
                </a:solidFill>
                <a:latin typeface="Helios Bold"/>
                <a:ea typeface="Helios Bold"/>
                <a:cs typeface="Helios Bold"/>
                <a:sym typeface="Helios Bold"/>
              </a:rPr>
              <a:t> </a:t>
            </a:r>
            <a:r>
              <a:rPr lang="en-US" sz="9600" b="1" spc="192" dirty="0" err="1">
                <a:solidFill>
                  <a:srgbClr val="4D4C4C"/>
                </a:solidFill>
                <a:latin typeface="Helios Bold"/>
                <a:ea typeface="Helios Bold"/>
                <a:cs typeface="Helios Bold"/>
                <a:sym typeface="Helios Bold"/>
              </a:rPr>
              <a:t>el</a:t>
            </a:r>
            <a:r>
              <a:rPr lang="en-US" sz="9600" b="1" spc="192" dirty="0">
                <a:solidFill>
                  <a:srgbClr val="4D4C4C"/>
                </a:solidFill>
                <a:latin typeface="Helios Bold"/>
                <a:ea typeface="Helios Bold"/>
                <a:cs typeface="Helios Bold"/>
                <a:sym typeface="Helios Bold"/>
              </a:rPr>
              <a:t> Sector Público</a:t>
            </a:r>
            <a:endParaRPr lang="en-US" sz="9801" b="1" dirty="0">
              <a:solidFill>
                <a:srgbClr val="4D4C4C"/>
              </a:solidFill>
              <a:latin typeface="TS Deniz Bold"/>
              <a:ea typeface="TS Deniz Bold"/>
              <a:cs typeface="TS Deniz Bold"/>
              <a:sym typeface="TS Deniz Bold"/>
            </a:endParaRPr>
          </a:p>
        </p:txBody>
      </p:sp>
      <p:grpSp>
        <p:nvGrpSpPr>
          <p:cNvPr id="10" name="Group 10">
            <a:extLst>
              <a:ext uri="{FF2B5EF4-FFF2-40B4-BE49-F238E27FC236}">
                <a16:creationId xmlns:a16="http://schemas.microsoft.com/office/drawing/2014/main" id="{CFA5CA3F-22F4-1676-4046-E3469793BA72}"/>
              </a:ext>
            </a:extLst>
          </p:cNvPr>
          <p:cNvGrpSpPr/>
          <p:nvPr/>
        </p:nvGrpSpPr>
        <p:grpSpPr>
          <a:xfrm rot="-10800000">
            <a:off x="-2136122" y="255809"/>
            <a:ext cx="8227978" cy="6982072"/>
            <a:chOff x="0" y="-278945"/>
            <a:chExt cx="807640" cy="685345"/>
          </a:xfrm>
        </p:grpSpPr>
        <p:sp>
          <p:nvSpPr>
            <p:cNvPr id="11" name="Freeform 11">
              <a:extLst>
                <a:ext uri="{FF2B5EF4-FFF2-40B4-BE49-F238E27FC236}">
                  <a16:creationId xmlns:a16="http://schemas.microsoft.com/office/drawing/2014/main" id="{99A9A868-BB33-75D9-5174-B3C830EA6349}"/>
                </a:ext>
              </a:extLst>
            </p:cNvPr>
            <p:cNvSpPr/>
            <p:nvPr/>
          </p:nvSpPr>
          <p:spPr>
            <a:xfrm>
              <a:off x="0" y="-278945"/>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dirty="0"/>
            </a:p>
          </p:txBody>
        </p:sp>
        <p:sp>
          <p:nvSpPr>
            <p:cNvPr id="12" name="TextBox 12">
              <a:extLst>
                <a:ext uri="{FF2B5EF4-FFF2-40B4-BE49-F238E27FC236}">
                  <a16:creationId xmlns:a16="http://schemas.microsoft.com/office/drawing/2014/main" id="{9A1B7E6F-076C-79AB-8EA9-7D2B3967B338}"/>
                </a:ext>
              </a:extLst>
            </p:cNvPr>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13" name="Group 13">
            <a:extLst>
              <a:ext uri="{FF2B5EF4-FFF2-40B4-BE49-F238E27FC236}">
                <a16:creationId xmlns:a16="http://schemas.microsoft.com/office/drawing/2014/main" id="{24ADAF70-67CF-05AE-6AC1-BB6A500C9341}"/>
              </a:ext>
            </a:extLst>
          </p:cNvPr>
          <p:cNvGrpSpPr/>
          <p:nvPr/>
        </p:nvGrpSpPr>
        <p:grpSpPr>
          <a:xfrm>
            <a:off x="879387" y="2646483"/>
            <a:ext cx="1098480" cy="1098480"/>
            <a:chOff x="0" y="0"/>
            <a:chExt cx="812800" cy="812800"/>
          </a:xfrm>
        </p:grpSpPr>
        <p:sp>
          <p:nvSpPr>
            <p:cNvPr id="14" name="Freeform 14">
              <a:extLst>
                <a:ext uri="{FF2B5EF4-FFF2-40B4-BE49-F238E27FC236}">
                  <a16:creationId xmlns:a16="http://schemas.microsoft.com/office/drawing/2014/main" id="{43511636-E566-AE4E-39F7-B09D3B5ACF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5" name="TextBox 15">
              <a:extLst>
                <a:ext uri="{FF2B5EF4-FFF2-40B4-BE49-F238E27FC236}">
                  <a16:creationId xmlns:a16="http://schemas.microsoft.com/office/drawing/2014/main" id="{AA1E9B08-8D7C-CE9D-DBC9-94DE24BD98F8}"/>
                </a:ext>
              </a:extLst>
            </p:cNvPr>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6" name="Freeform 16">
            <a:extLst>
              <a:ext uri="{FF2B5EF4-FFF2-40B4-BE49-F238E27FC236}">
                <a16:creationId xmlns:a16="http://schemas.microsoft.com/office/drawing/2014/main" id="{DF73B52D-7B9B-0CF9-83EC-9DA9E3A5C7A0}"/>
              </a:ext>
            </a:extLst>
          </p:cNvPr>
          <p:cNvSpPr/>
          <p:nvPr/>
        </p:nvSpPr>
        <p:spPr>
          <a:xfrm>
            <a:off x="-1698802" y="5514834"/>
            <a:ext cx="3397604" cy="3397604"/>
          </a:xfrm>
          <a:custGeom>
            <a:avLst/>
            <a:gdLst/>
            <a:ahLst/>
            <a:cxnLst/>
            <a:rect l="l" t="t" r="r" b="b"/>
            <a:pathLst>
              <a:path w="3397604" h="3397604">
                <a:moveTo>
                  <a:pt x="0" y="0"/>
                </a:moveTo>
                <a:lnTo>
                  <a:pt x="3397604" y="0"/>
                </a:lnTo>
                <a:lnTo>
                  <a:pt x="3397604" y="3397603"/>
                </a:lnTo>
                <a:lnTo>
                  <a:pt x="0" y="33976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Tree>
    <p:extLst>
      <p:ext uri="{BB962C8B-B14F-4D97-AF65-F5344CB8AC3E}">
        <p14:creationId xmlns:p14="http://schemas.microsoft.com/office/powerpoint/2010/main" val="42617710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D43FA-FAFE-CBEA-DEBC-4ACD75B8732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9842BD-C3E6-7CFF-0236-B075B18A5D2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BA72C856-8607-BFFF-D5B3-E1DE5349F5CF}"/>
              </a:ext>
            </a:extLst>
          </p:cNvPr>
          <p:cNvSpPr txBox="1"/>
          <p:nvPr/>
        </p:nvSpPr>
        <p:spPr>
          <a:xfrm>
            <a:off x="342495" y="1939974"/>
            <a:ext cx="17603009" cy="4851328"/>
          </a:xfrm>
          <a:prstGeom prst="rect">
            <a:avLst/>
          </a:prstGeom>
        </p:spPr>
        <p:txBody>
          <a:bodyPr lIns="0" tIns="0" rIns="0" bIns="0" rtlCol="0" anchor="t">
            <a:spAutoFit/>
          </a:bodyPr>
          <a:lstStyle/>
          <a:p>
            <a:pPr algn="just">
              <a:lnSpc>
                <a:spcPts val="4224"/>
              </a:lnSpc>
            </a:pPr>
            <a:r>
              <a:rPr lang="es-ES" sz="3462" dirty="0">
                <a:solidFill>
                  <a:srgbClr val="71743C"/>
                </a:solidFill>
                <a:latin typeface="Borel"/>
                <a:ea typeface="Borel"/>
                <a:sym typeface="Helios"/>
              </a:rPr>
              <a:t>Trabajar en el sector público es una opción muy valorada por la estabilidad laboral, las condiciones reguladas y las oportunidades de desarrollo profesional. Sin embargo, acceder a un empleo público requiere cumplir con requisitos específicos y superar procesos selectivos que suelen ser más formales y normativos que en el sector privado.</a:t>
            </a:r>
          </a:p>
          <a:p>
            <a:pPr algn="just">
              <a:lnSpc>
                <a:spcPts val="4224"/>
              </a:lnSpc>
            </a:pPr>
            <a:r>
              <a:rPr lang="es-ES" sz="3462" dirty="0">
                <a:solidFill>
                  <a:srgbClr val="71743C"/>
                </a:solidFill>
                <a:latin typeface="Borel"/>
                <a:ea typeface="Borel"/>
                <a:sym typeface="Helios"/>
              </a:rPr>
              <a:t>Consideramos sector publico como el conjunto de organismos, instituciones y entidades que pertenecen al Estado y que se encargan de gestionar recursos y servicios para satisfacer las necesidades colectivas de la sociedad.</a:t>
            </a:r>
            <a:endParaRPr lang="es-ES" sz="3462" dirty="0">
              <a:solidFill>
                <a:srgbClr val="71743C"/>
              </a:solidFill>
              <a:latin typeface="Borel"/>
              <a:ea typeface="Borel"/>
              <a:sym typeface="Helios"/>
              <a:hlinkClick r:id="rId4" tooltip="https://www.youtube.com/embed/10DX-oXG4SY?si=Dy3uaAnuO7tiNV5G%22%20title=">
                <a:extLst>
                  <a:ext uri="{A12FA001-AC4F-418D-AE19-62706E023703}">
                    <ahyp:hlinkClr xmlns:ahyp="http://schemas.microsoft.com/office/drawing/2018/hyperlinkcolor" val="tx"/>
                  </a:ext>
                </a:extLst>
              </a:hlinkClick>
            </a:endParaRPr>
          </a:p>
        </p:txBody>
      </p:sp>
      <p:sp>
        <p:nvSpPr>
          <p:cNvPr id="4" name="TextBox 4">
            <a:extLst>
              <a:ext uri="{FF2B5EF4-FFF2-40B4-BE49-F238E27FC236}">
                <a16:creationId xmlns:a16="http://schemas.microsoft.com/office/drawing/2014/main" id="{DC0B5BAC-01D9-12E0-66F3-17040F8B99F6}"/>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5. </a:t>
            </a:r>
            <a:r>
              <a:rPr lang="en-US" sz="5369" b="1" spc="-177" dirty="0" err="1">
                <a:solidFill>
                  <a:srgbClr val="4D4C4C"/>
                </a:solidFill>
                <a:latin typeface="TS Deniz Bold"/>
                <a:ea typeface="TS Deniz Bold"/>
                <a:cs typeface="TS Deniz Bold"/>
                <a:sym typeface="TS Deniz Bold"/>
              </a:rPr>
              <a:t>Busqueda</a:t>
            </a:r>
            <a:r>
              <a:rPr lang="en-US" sz="5369" b="1" spc="-177" dirty="0">
                <a:solidFill>
                  <a:srgbClr val="4D4C4C"/>
                </a:solidFill>
                <a:latin typeface="TS Deniz Bold"/>
                <a:ea typeface="TS Deniz Bold"/>
                <a:cs typeface="TS Deniz Bold"/>
                <a:sym typeface="TS Deniz Bold"/>
              </a:rPr>
              <a:t> de </a:t>
            </a:r>
            <a:r>
              <a:rPr lang="en-US" sz="5369" b="1" spc="-177" dirty="0" err="1">
                <a:solidFill>
                  <a:srgbClr val="4D4C4C"/>
                </a:solidFill>
                <a:latin typeface="TS Deniz Bold"/>
                <a:ea typeface="TS Deniz Bold"/>
                <a:cs typeface="TS Deniz Bold"/>
                <a:sym typeface="TS Deniz Bold"/>
              </a:rPr>
              <a:t>empleo</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en</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el</a:t>
            </a:r>
            <a:r>
              <a:rPr lang="en-US" sz="5369" b="1" spc="-177" dirty="0">
                <a:solidFill>
                  <a:srgbClr val="4D4C4C"/>
                </a:solidFill>
                <a:latin typeface="TS Deniz Bold"/>
                <a:ea typeface="TS Deniz Bold"/>
                <a:cs typeface="TS Deniz Bold"/>
                <a:sym typeface="TS Deniz Bold"/>
              </a:rPr>
              <a:t> sector </a:t>
            </a:r>
            <a:r>
              <a:rPr lang="en-US" sz="5369" b="1" spc="-177" dirty="0" err="1">
                <a:solidFill>
                  <a:srgbClr val="4D4C4C"/>
                </a:solidFill>
                <a:latin typeface="TS Deniz Bold"/>
                <a:ea typeface="TS Deniz Bold"/>
                <a:cs typeface="TS Deniz Bold"/>
                <a:sym typeface="TS Deniz Bold"/>
              </a:rPr>
              <a:t>público</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51753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91700-9451-E372-F457-B92B6FC5E6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563A805-E746-3386-2B63-651A62C8ADC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E301AB88-D84E-24BA-478C-A975784BB21E}"/>
              </a:ext>
            </a:extLst>
          </p:cNvPr>
          <p:cNvSpPr txBox="1"/>
          <p:nvPr/>
        </p:nvSpPr>
        <p:spPr>
          <a:xfrm>
            <a:off x="342495" y="1485900"/>
            <a:ext cx="17603009" cy="4259243"/>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El empleo público se distingue por:</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Estabilidad laboral: </a:t>
            </a:r>
            <a:r>
              <a:rPr lang="es-ES" sz="3017" spc="178" dirty="0">
                <a:solidFill>
                  <a:srgbClr val="000000"/>
                </a:solidFill>
                <a:latin typeface="Helios"/>
                <a:sym typeface="Helios"/>
              </a:rPr>
              <a:t>La mayoría de los puestos son fijos tras superar una oposición.</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Condiciones reguladas: </a:t>
            </a:r>
            <a:r>
              <a:rPr lang="es-ES" sz="3017" spc="178" dirty="0">
                <a:solidFill>
                  <a:srgbClr val="000000"/>
                </a:solidFill>
                <a:latin typeface="Helios"/>
                <a:sym typeface="Helios"/>
              </a:rPr>
              <a:t>Salarios, horarios y beneficios están establecidos por normativa.</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Acceso por mérito y capacidad: </a:t>
            </a:r>
            <a:r>
              <a:rPr lang="es-ES" sz="3017" spc="178" dirty="0">
                <a:solidFill>
                  <a:srgbClr val="000000"/>
                </a:solidFill>
                <a:latin typeface="Helios"/>
                <a:sym typeface="Helios"/>
              </a:rPr>
              <a:t>La selección se basa en principios de igualdad y transparencia.</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Diversidad de áreas: </a:t>
            </a:r>
            <a:r>
              <a:rPr lang="es-ES" sz="3017" spc="178" dirty="0">
                <a:solidFill>
                  <a:srgbClr val="000000"/>
                </a:solidFill>
                <a:latin typeface="Helios"/>
                <a:sym typeface="Helios"/>
              </a:rPr>
              <a:t>Administración, sanidad, educación, justicia, fuerzas de seguridad, entre otros.</a:t>
            </a:r>
          </a:p>
        </p:txBody>
      </p:sp>
      <p:sp>
        <p:nvSpPr>
          <p:cNvPr id="4" name="TextBox 4">
            <a:extLst>
              <a:ext uri="{FF2B5EF4-FFF2-40B4-BE49-F238E27FC236}">
                <a16:creationId xmlns:a16="http://schemas.microsoft.com/office/drawing/2014/main" id="{98562781-0ED4-B002-A58F-C3535D20A393}"/>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5.1 . </a:t>
            </a:r>
            <a:r>
              <a:rPr lang="en-US" sz="5369" b="1" spc="-177" dirty="0" err="1">
                <a:solidFill>
                  <a:srgbClr val="4D4C4C"/>
                </a:solidFill>
                <a:latin typeface="TS Deniz Bold"/>
                <a:ea typeface="TS Deniz Bold"/>
                <a:cs typeface="TS Deniz Bold"/>
                <a:sym typeface="TS Deniz Bold"/>
              </a:rPr>
              <a:t>Características</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generales</a:t>
            </a:r>
            <a:r>
              <a:rPr lang="en-US" sz="5369" b="1" spc="-177" dirty="0">
                <a:solidFill>
                  <a:srgbClr val="4D4C4C"/>
                </a:solidFill>
                <a:latin typeface="TS Deniz Bold"/>
                <a:ea typeface="TS Deniz Bold"/>
                <a:cs typeface="TS Deniz Bold"/>
                <a:sym typeface="TS Deniz Bold"/>
              </a:rPr>
              <a:t> del </a:t>
            </a:r>
            <a:r>
              <a:rPr lang="en-US" sz="5369" b="1" spc="-177" dirty="0" err="1">
                <a:solidFill>
                  <a:srgbClr val="4D4C4C"/>
                </a:solidFill>
                <a:latin typeface="TS Deniz Bold"/>
                <a:ea typeface="TS Deniz Bold"/>
                <a:cs typeface="TS Deniz Bold"/>
                <a:sym typeface="TS Deniz Bold"/>
              </a:rPr>
              <a:t>empleo</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público</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000383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CC656-E75E-24D7-4DA8-93ABEEB149A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4C62C2-7569-7D62-D684-9EF9C52832EC}"/>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474963B4-ABBB-96EF-25D0-5199C57842D1}"/>
              </a:ext>
            </a:extLst>
          </p:cNvPr>
          <p:cNvSpPr txBox="1"/>
          <p:nvPr/>
        </p:nvSpPr>
        <p:spPr>
          <a:xfrm>
            <a:off x="342495" y="1485900"/>
            <a:ext cx="17603009" cy="3720634"/>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Para encontrar oportunidades en el sector público, es necesario consultar fuentes oficiales: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Boletín Oficial del Estado (BOE): </a:t>
            </a:r>
            <a:r>
              <a:rPr lang="es-ES" sz="3017" spc="178" dirty="0">
                <a:solidFill>
                  <a:srgbClr val="000000"/>
                </a:solidFill>
                <a:latin typeface="Helios"/>
                <a:sym typeface="Helios"/>
              </a:rPr>
              <a:t>Publica todas las convocatorias a nivel nacional.</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Portales autonómicos y provinciales: </a:t>
            </a:r>
            <a:r>
              <a:rPr lang="es-ES" sz="3017" spc="178" dirty="0">
                <a:solidFill>
                  <a:srgbClr val="000000"/>
                </a:solidFill>
                <a:latin typeface="Helios"/>
                <a:sym typeface="Helios"/>
              </a:rPr>
              <a:t>Cada comunidad autónoma tiene su propio portal de empleo público.</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Webs oficiales de organismos: </a:t>
            </a:r>
            <a:r>
              <a:rPr lang="es-ES" sz="3017" spc="178" dirty="0">
                <a:solidFill>
                  <a:srgbClr val="000000"/>
                </a:solidFill>
                <a:latin typeface="Helios"/>
                <a:sym typeface="Helios"/>
              </a:rPr>
              <a:t>Ministerios, ayuntamientos, universidades, hospitales.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Plataformas especializadas: </a:t>
            </a:r>
            <a:r>
              <a:rPr lang="es-ES" sz="3017" spc="178" dirty="0">
                <a:solidFill>
                  <a:srgbClr val="000000"/>
                </a:solidFill>
                <a:latin typeface="Helios"/>
                <a:sym typeface="Helios"/>
              </a:rPr>
              <a:t>Como empleopublico.gob.es o portales de oposiciones.</a:t>
            </a:r>
          </a:p>
        </p:txBody>
      </p:sp>
      <p:sp>
        <p:nvSpPr>
          <p:cNvPr id="4" name="TextBox 4">
            <a:extLst>
              <a:ext uri="{FF2B5EF4-FFF2-40B4-BE49-F238E27FC236}">
                <a16:creationId xmlns:a16="http://schemas.microsoft.com/office/drawing/2014/main" id="{3AD24E1D-BCA9-9907-88A0-683B61FEA769}"/>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5.2. Canales para </a:t>
            </a:r>
            <a:r>
              <a:rPr lang="en-US" sz="5369" b="1" spc="-177" dirty="0" err="1">
                <a:solidFill>
                  <a:srgbClr val="4D4C4C"/>
                </a:solidFill>
                <a:latin typeface="TS Deniz Bold"/>
                <a:ea typeface="TS Deniz Bold"/>
                <a:cs typeface="TS Deniz Bold"/>
                <a:sym typeface="TS Deniz Bold"/>
              </a:rPr>
              <a:t>buscar</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empleo</a:t>
            </a:r>
            <a:r>
              <a:rPr lang="en-US" sz="5369" b="1" spc="-177" dirty="0">
                <a:solidFill>
                  <a:srgbClr val="4D4C4C"/>
                </a:solidFill>
                <a:latin typeface="TS Deniz Bold"/>
                <a:ea typeface="TS Deniz Bold"/>
                <a:cs typeface="TS Deniz Bold"/>
                <a:sym typeface="TS Deniz Bold"/>
              </a:rPr>
              <a:t> </a:t>
            </a:r>
            <a:r>
              <a:rPr lang="en-US" sz="5369" b="1" spc="-177" dirty="0" err="1">
                <a:solidFill>
                  <a:srgbClr val="4D4C4C"/>
                </a:solidFill>
                <a:latin typeface="TS Deniz Bold"/>
                <a:ea typeface="TS Deniz Bold"/>
                <a:cs typeface="TS Deniz Bold"/>
                <a:sym typeface="TS Deniz Bold"/>
              </a:rPr>
              <a:t>público</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2862493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A9B6C-5D97-2BED-357C-5806CD3949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ECA166-8D19-99F2-4B6D-58EA5D930C2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4EFA6F99-4629-E48D-7403-F91A1EB02E1D}"/>
              </a:ext>
            </a:extLst>
          </p:cNvPr>
          <p:cNvSpPr txBox="1"/>
          <p:nvPr/>
        </p:nvSpPr>
        <p:spPr>
          <a:xfrm>
            <a:off x="342495" y="1485900"/>
            <a:ext cx="17603009" cy="3720634"/>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Existen diferentes modalidades para acceder al empleo público:</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Oposiciones: </a:t>
            </a:r>
            <a:r>
              <a:rPr lang="es-ES" sz="3017" spc="178" dirty="0">
                <a:solidFill>
                  <a:srgbClr val="000000"/>
                </a:solidFill>
                <a:latin typeface="Helios"/>
                <a:sym typeface="Helios"/>
              </a:rPr>
              <a:t>Pruebas teóricas y prácticas para obtener plaza fija.</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Concurso-oposición: </a:t>
            </a:r>
            <a:r>
              <a:rPr lang="es-ES" sz="3017" spc="178" dirty="0">
                <a:solidFill>
                  <a:srgbClr val="000000"/>
                </a:solidFill>
                <a:latin typeface="Helios"/>
                <a:sym typeface="Helios"/>
              </a:rPr>
              <a:t>Combina examen y valoración de méritos (experiencia, formación).</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Bolsas de empleo temporal: </a:t>
            </a:r>
            <a:r>
              <a:rPr lang="es-ES" sz="3017" spc="178" dirty="0">
                <a:solidFill>
                  <a:srgbClr val="000000"/>
                </a:solidFill>
                <a:latin typeface="Helios"/>
                <a:sym typeface="Helios"/>
              </a:rPr>
              <a:t>Listas para cubrir sustituciones o contratos temporales.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Contratación directa:</a:t>
            </a:r>
            <a:r>
              <a:rPr lang="es-ES" sz="3017" spc="178" dirty="0">
                <a:solidFill>
                  <a:srgbClr val="000000"/>
                </a:solidFill>
                <a:latin typeface="Helios"/>
                <a:sym typeface="Helios"/>
              </a:rPr>
              <a:t> En casos excepcionales, como programas específicos o urgencias.</a:t>
            </a:r>
          </a:p>
        </p:txBody>
      </p:sp>
      <p:sp>
        <p:nvSpPr>
          <p:cNvPr id="4" name="TextBox 4">
            <a:extLst>
              <a:ext uri="{FF2B5EF4-FFF2-40B4-BE49-F238E27FC236}">
                <a16:creationId xmlns:a16="http://schemas.microsoft.com/office/drawing/2014/main" id="{2B1005E0-2FCC-BBB5-2BBF-D8838F097E96}"/>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s-ES" sz="5369" b="1" spc="-177" dirty="0">
                <a:solidFill>
                  <a:srgbClr val="4D4C4C"/>
                </a:solidFill>
                <a:latin typeface="TS Deniz Bold"/>
                <a:ea typeface="TS Deniz Bold"/>
                <a:cs typeface="TS Deniz Bold"/>
                <a:sym typeface="TS Deniz Bold"/>
              </a:rPr>
              <a:t>5.3. Tipos de procesos selectivos</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6838247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42BAF-5A99-F970-2040-AC32BF56C7B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254546-0A6A-FC85-9CB8-E3F104930861}"/>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F27E8570-1031-DEB1-447D-8800324C4611}"/>
              </a:ext>
            </a:extLst>
          </p:cNvPr>
          <p:cNvSpPr txBox="1"/>
          <p:nvPr/>
        </p:nvSpPr>
        <p:spPr>
          <a:xfrm>
            <a:off x="342495" y="1866900"/>
            <a:ext cx="17603009" cy="1566198"/>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Trabajar en el sector público ofrece una serie de beneficios que lo convierten en una opción muy atractiva para muchas personas, pero también implica desafíos importantes que deben considerarse antes de iniciar el proceso.</a:t>
            </a:r>
          </a:p>
        </p:txBody>
      </p:sp>
      <p:sp>
        <p:nvSpPr>
          <p:cNvPr id="4" name="TextBox 4">
            <a:extLst>
              <a:ext uri="{FF2B5EF4-FFF2-40B4-BE49-F238E27FC236}">
                <a16:creationId xmlns:a16="http://schemas.microsoft.com/office/drawing/2014/main" id="{8575D251-3670-243D-9511-93C9761F24DD}"/>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s-ES" sz="5369" b="1" spc="-177" dirty="0">
                <a:solidFill>
                  <a:srgbClr val="4D4C4C"/>
                </a:solidFill>
                <a:latin typeface="TS Deniz Bold"/>
                <a:ea typeface="TS Deniz Bold"/>
                <a:cs typeface="TS Deniz Bold"/>
                <a:sym typeface="TS Deniz Bold"/>
              </a:rPr>
              <a:t>5.4. Ventajas y retos del empleo público</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169829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20DAC-9A98-B03D-36B5-8D73E80E166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0533CA-6D44-9A66-8988-1A82EABC9CD3}"/>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948D1E9C-012C-0A8C-DB64-2AD74623FAB1}"/>
              </a:ext>
            </a:extLst>
          </p:cNvPr>
          <p:cNvSpPr txBox="1"/>
          <p:nvPr/>
        </p:nvSpPr>
        <p:spPr>
          <a:xfrm>
            <a:off x="342495" y="1333500"/>
            <a:ext cx="17603009" cy="8029506"/>
          </a:xfrm>
          <a:prstGeom prst="rect">
            <a:avLst/>
          </a:prstGeom>
        </p:spPr>
        <p:txBody>
          <a:bodyPr lIns="0" tIns="0" rIns="0" bIns="0" rtlCol="0" anchor="t">
            <a:spAutoFit/>
          </a:bodyPr>
          <a:lstStyle/>
          <a:p>
            <a:pPr marL="514350" indent="-514350" algn="just">
              <a:lnSpc>
                <a:spcPts val="4224"/>
              </a:lnSpc>
              <a:buFont typeface="+mj-lt"/>
              <a:buAutoNum type="arabicPeriod"/>
            </a:pPr>
            <a:r>
              <a:rPr lang="es-ES" sz="3017" b="1" spc="178" dirty="0">
                <a:solidFill>
                  <a:srgbClr val="000000"/>
                </a:solidFill>
                <a:latin typeface="Helios"/>
                <a:sym typeface="Helios"/>
              </a:rPr>
              <a:t>Estabilidad laboral: </a:t>
            </a:r>
            <a:r>
              <a:rPr lang="es-ES" sz="3017" spc="178" dirty="0">
                <a:solidFill>
                  <a:srgbClr val="000000"/>
                </a:solidFill>
                <a:latin typeface="Helios"/>
                <a:sym typeface="Helios"/>
              </a:rPr>
              <a:t>Una de las principales razones por las que se busca empleo público es la seguridad que ofrece. Una vez superada la oposición y obtenida la plaza, el trabajador adquiere una condición de funcionario o personal fijo, lo que reduce el riesgo de despido y proporciona tranquilidad a largo plazo.</a:t>
            </a:r>
          </a:p>
          <a:p>
            <a:pPr marL="514350" indent="-514350" algn="just">
              <a:lnSpc>
                <a:spcPts val="4224"/>
              </a:lnSpc>
              <a:buFont typeface="+mj-lt"/>
              <a:buAutoNum type="arabicPeriod"/>
            </a:pPr>
            <a:r>
              <a:rPr lang="es-ES" sz="3017" b="1" spc="178" dirty="0">
                <a:solidFill>
                  <a:srgbClr val="000000"/>
                </a:solidFill>
                <a:latin typeface="Helios"/>
                <a:sym typeface="Helios"/>
              </a:rPr>
              <a:t>Condiciones reguladas y derechos garantizados: </a:t>
            </a:r>
            <a:r>
              <a:rPr lang="es-ES" sz="3017" spc="178" dirty="0">
                <a:solidFill>
                  <a:srgbClr val="000000"/>
                </a:solidFill>
                <a:latin typeface="Helios"/>
                <a:sym typeface="Helios"/>
              </a:rPr>
              <a:t>Los salarios, horarios, vacaciones y permisos están regulados por ley, lo que asegura transparencia y evita arbitrariedades. Además, se cuenta con beneficios como bajas médicas, permisos por maternidad/paternidad y jubilación asegurada.</a:t>
            </a:r>
          </a:p>
          <a:p>
            <a:pPr marL="514350" indent="-514350" algn="just">
              <a:lnSpc>
                <a:spcPts val="4224"/>
              </a:lnSpc>
              <a:buFont typeface="+mj-lt"/>
              <a:buAutoNum type="arabicPeriod"/>
            </a:pPr>
            <a:r>
              <a:rPr lang="es-ES" sz="3017" b="1" spc="178" dirty="0">
                <a:solidFill>
                  <a:srgbClr val="000000"/>
                </a:solidFill>
                <a:latin typeface="Helios"/>
                <a:sym typeface="Helios"/>
              </a:rPr>
              <a:t>Promoción interna y desarrollo profesional: </a:t>
            </a:r>
            <a:r>
              <a:rPr lang="es-ES" sz="3017" spc="178" dirty="0">
                <a:solidFill>
                  <a:srgbClr val="000000"/>
                </a:solidFill>
                <a:latin typeface="Helios"/>
                <a:sym typeface="Helios"/>
              </a:rPr>
              <a:t>El sector público ofrece oportunidades para ascender mediante concursos internos y formación continua. Esto permite mejorar la posición laboral sin cambiar de organización.</a:t>
            </a:r>
          </a:p>
          <a:p>
            <a:pPr marL="514350" indent="-514350" algn="just">
              <a:lnSpc>
                <a:spcPts val="4224"/>
              </a:lnSpc>
              <a:buFont typeface="+mj-lt"/>
              <a:buAutoNum type="arabicPeriod"/>
            </a:pPr>
            <a:r>
              <a:rPr lang="es-ES" sz="3017" b="1" spc="178" dirty="0">
                <a:solidFill>
                  <a:srgbClr val="000000"/>
                </a:solidFill>
                <a:latin typeface="Helios"/>
                <a:sym typeface="Helios"/>
              </a:rPr>
              <a:t>Conciliación y estabilidad personal: </a:t>
            </a:r>
            <a:r>
              <a:rPr lang="es-ES" sz="3017" spc="178" dirty="0">
                <a:solidFill>
                  <a:srgbClr val="000000"/>
                </a:solidFill>
                <a:latin typeface="Helios"/>
                <a:sym typeface="Helios"/>
              </a:rPr>
              <a:t>En muchos casos, los horarios son más estables que en el sector privado, lo que facilita la conciliación familiar y personal.</a:t>
            </a:r>
          </a:p>
          <a:p>
            <a:pPr marL="514350" indent="-514350" algn="just">
              <a:lnSpc>
                <a:spcPts val="4224"/>
              </a:lnSpc>
              <a:buFont typeface="+mj-lt"/>
              <a:buAutoNum type="arabicPeriod"/>
            </a:pPr>
            <a:r>
              <a:rPr lang="es-ES" sz="3017" b="1" spc="178" dirty="0">
                <a:solidFill>
                  <a:srgbClr val="000000"/>
                </a:solidFill>
                <a:latin typeface="Helios"/>
                <a:sym typeface="Helios"/>
              </a:rPr>
              <a:t>Impacto social positivo: </a:t>
            </a:r>
            <a:r>
              <a:rPr lang="es-ES" sz="3017" spc="178" dirty="0">
                <a:solidFill>
                  <a:srgbClr val="000000"/>
                </a:solidFill>
                <a:latin typeface="Helios"/>
                <a:sym typeface="Helios"/>
              </a:rPr>
              <a:t>Trabajar en el sector público implica contribuir al bienestar colectivo, ya sea en educación, sanidad, justicia o servicios sociales.</a:t>
            </a:r>
          </a:p>
        </p:txBody>
      </p:sp>
      <p:sp>
        <p:nvSpPr>
          <p:cNvPr id="4" name="TextBox 4">
            <a:extLst>
              <a:ext uri="{FF2B5EF4-FFF2-40B4-BE49-F238E27FC236}">
                <a16:creationId xmlns:a16="http://schemas.microsoft.com/office/drawing/2014/main" id="{8CA6C00F-D4E1-944A-33D8-C36266E6991B}"/>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s-ES" sz="5369" b="1" spc="-177" dirty="0">
                <a:solidFill>
                  <a:srgbClr val="4D4C4C"/>
                </a:solidFill>
                <a:latin typeface="TS Deniz Bold"/>
                <a:ea typeface="TS Deniz Bold"/>
                <a:cs typeface="TS Deniz Bold"/>
                <a:sym typeface="TS Deniz Bold"/>
              </a:rPr>
              <a:t>5.4.1 Ventajas</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1399043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EB83-7D9B-A5BC-AB79-0AE54D4CEE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2C3D00A-8AEC-C498-1006-241AFC0D6C98}"/>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4E962C1E-455A-AA99-F7D2-CAE7460D8322}"/>
              </a:ext>
            </a:extLst>
          </p:cNvPr>
          <p:cNvSpPr txBox="1"/>
          <p:nvPr/>
        </p:nvSpPr>
        <p:spPr>
          <a:xfrm>
            <a:off x="342495" y="1333500"/>
            <a:ext cx="17603009" cy="6413679"/>
          </a:xfrm>
          <a:prstGeom prst="rect">
            <a:avLst/>
          </a:prstGeom>
        </p:spPr>
        <p:txBody>
          <a:bodyPr lIns="0" tIns="0" rIns="0" bIns="0" rtlCol="0" anchor="t">
            <a:spAutoFit/>
          </a:bodyPr>
          <a:lstStyle/>
          <a:p>
            <a:pPr marL="514350" indent="-514350" algn="just">
              <a:lnSpc>
                <a:spcPts val="4224"/>
              </a:lnSpc>
              <a:buFont typeface="+mj-lt"/>
              <a:buAutoNum type="arabicPeriod"/>
            </a:pPr>
            <a:r>
              <a:rPr lang="es-ES" sz="3017" b="1" spc="178" dirty="0">
                <a:solidFill>
                  <a:srgbClr val="000000"/>
                </a:solidFill>
                <a:latin typeface="Helios"/>
                <a:sym typeface="Helios"/>
              </a:rPr>
              <a:t>Alta competencia: </a:t>
            </a:r>
            <a:r>
              <a:rPr lang="es-ES" sz="3017" spc="178" dirty="0">
                <a:solidFill>
                  <a:srgbClr val="000000"/>
                </a:solidFill>
                <a:latin typeface="Helios"/>
                <a:sym typeface="Helios"/>
              </a:rPr>
              <a:t>Las oposiciones suelen atraer a miles de aspirantes para un número limitado de plazas, lo que convierte el proceso en altamente competitivo.</a:t>
            </a:r>
          </a:p>
          <a:p>
            <a:pPr marL="514350" indent="-514350" algn="just">
              <a:lnSpc>
                <a:spcPts val="4224"/>
              </a:lnSpc>
              <a:buFont typeface="+mj-lt"/>
              <a:buAutoNum type="arabicPeriod"/>
            </a:pPr>
            <a:r>
              <a:rPr lang="es-ES" sz="3017" b="1" spc="178" dirty="0">
                <a:solidFill>
                  <a:srgbClr val="000000"/>
                </a:solidFill>
                <a:latin typeface="Helios"/>
                <a:sym typeface="Helios"/>
              </a:rPr>
              <a:t>Procesos largos y exigentes: </a:t>
            </a:r>
            <a:r>
              <a:rPr lang="es-ES" sz="3017" spc="178" dirty="0">
                <a:solidFill>
                  <a:srgbClr val="000000"/>
                </a:solidFill>
                <a:latin typeface="Helios"/>
                <a:sym typeface="Helios"/>
              </a:rPr>
              <a:t>Preparar una oposición puede requerir meses o incluso años de estudio. Además, los exámenes son rigurosos y se realizan en varias fases.</a:t>
            </a:r>
          </a:p>
          <a:p>
            <a:pPr marL="514350" indent="-514350" algn="just">
              <a:lnSpc>
                <a:spcPts val="4224"/>
              </a:lnSpc>
              <a:buFont typeface="+mj-lt"/>
              <a:buAutoNum type="arabicPeriod"/>
            </a:pPr>
            <a:r>
              <a:rPr lang="es-ES" sz="3017" b="1" spc="178" dirty="0">
                <a:solidFill>
                  <a:srgbClr val="000000"/>
                </a:solidFill>
                <a:latin typeface="Helios"/>
                <a:sym typeface="Helios"/>
              </a:rPr>
              <a:t>Necesidad de preparación constante: </a:t>
            </a:r>
            <a:r>
              <a:rPr lang="es-ES" sz="3017" spc="178" dirty="0">
                <a:solidFill>
                  <a:srgbClr val="000000"/>
                </a:solidFill>
                <a:latin typeface="Helios"/>
                <a:sym typeface="Helios"/>
              </a:rPr>
              <a:t>No basta con presentarse; es necesario dominar temarios extensos, realizar simulacros y mantenerse actualizado ante cambios legislativos.</a:t>
            </a:r>
          </a:p>
          <a:p>
            <a:pPr marL="514350" indent="-514350" algn="just">
              <a:lnSpc>
                <a:spcPts val="4224"/>
              </a:lnSpc>
              <a:buFont typeface="+mj-lt"/>
              <a:buAutoNum type="arabicPeriod"/>
            </a:pPr>
            <a:r>
              <a:rPr lang="es-ES" sz="3017" b="1" spc="178" dirty="0">
                <a:solidFill>
                  <a:srgbClr val="000000"/>
                </a:solidFill>
                <a:latin typeface="Helios"/>
                <a:sym typeface="Helios"/>
              </a:rPr>
              <a:t>Incertidumbre en los plazos: </a:t>
            </a:r>
            <a:r>
              <a:rPr lang="es-ES" sz="3017" spc="178" dirty="0">
                <a:solidFill>
                  <a:srgbClr val="000000"/>
                </a:solidFill>
                <a:latin typeface="Helios"/>
                <a:sym typeface="Helios"/>
              </a:rPr>
              <a:t>Las convocatorias pueden retrasarse o modificarse, lo que genera incertidumbre en la planificación del candidato.</a:t>
            </a:r>
          </a:p>
          <a:p>
            <a:pPr marL="514350" indent="-514350" algn="just">
              <a:lnSpc>
                <a:spcPts val="4224"/>
              </a:lnSpc>
              <a:buFont typeface="+mj-lt"/>
              <a:buAutoNum type="arabicPeriod"/>
            </a:pPr>
            <a:r>
              <a:rPr lang="es-ES" sz="3017" b="1" spc="178" dirty="0">
                <a:solidFill>
                  <a:srgbClr val="000000"/>
                </a:solidFill>
                <a:latin typeface="Helios"/>
                <a:sym typeface="Helios"/>
              </a:rPr>
              <a:t>Rigidez organizativa: </a:t>
            </a:r>
            <a:r>
              <a:rPr lang="es-ES" sz="3017" spc="178" dirty="0">
                <a:solidFill>
                  <a:srgbClr val="000000"/>
                </a:solidFill>
                <a:latin typeface="Helios"/>
                <a:sym typeface="Helios"/>
              </a:rPr>
              <a:t>Aunque ofrece estabilidad, el sector público puede ser menos flexible en cuanto a innovación, movilidad o cambios rápidos, lo que puede resultar poco atractivo para perfiles muy dinámicos.</a:t>
            </a:r>
          </a:p>
        </p:txBody>
      </p:sp>
      <p:sp>
        <p:nvSpPr>
          <p:cNvPr id="4" name="TextBox 4">
            <a:extLst>
              <a:ext uri="{FF2B5EF4-FFF2-40B4-BE49-F238E27FC236}">
                <a16:creationId xmlns:a16="http://schemas.microsoft.com/office/drawing/2014/main" id="{B9633E44-6939-8E6F-1A8D-60636CFB542D}"/>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s-ES" sz="5369" b="1" spc="-177" dirty="0">
                <a:solidFill>
                  <a:srgbClr val="4D4C4C"/>
                </a:solidFill>
                <a:latin typeface="TS Deniz Bold"/>
                <a:ea typeface="TS Deniz Bold"/>
                <a:cs typeface="TS Deniz Bold"/>
                <a:sym typeface="TS Deniz Bold"/>
              </a:rPr>
              <a:t>5.4.2 Retos</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806612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5033-70B0-D86F-563D-77F46203D16D}"/>
            </a:ext>
          </a:extLst>
        </p:cNvPr>
        <p:cNvGrpSpPr/>
        <p:nvPr/>
      </p:nvGrpSpPr>
      <p:grpSpPr>
        <a:xfrm>
          <a:off x="0" y="0"/>
          <a:ext cx="0" cy="0"/>
          <a:chOff x="0" y="0"/>
          <a:chExt cx="0" cy="0"/>
        </a:xfrm>
      </p:grpSpPr>
      <p:grpSp>
        <p:nvGrpSpPr>
          <p:cNvPr id="10" name="Group 10">
            <a:extLst>
              <a:ext uri="{FF2B5EF4-FFF2-40B4-BE49-F238E27FC236}">
                <a16:creationId xmlns:a16="http://schemas.microsoft.com/office/drawing/2014/main" id="{34E53847-21D6-7763-3A4C-CA020E7E025C}"/>
              </a:ext>
            </a:extLst>
          </p:cNvPr>
          <p:cNvGrpSpPr/>
          <p:nvPr/>
        </p:nvGrpSpPr>
        <p:grpSpPr>
          <a:xfrm rot="-10800000">
            <a:off x="-2136122" y="255809"/>
            <a:ext cx="8227978" cy="6982072"/>
            <a:chOff x="0" y="-278945"/>
            <a:chExt cx="807640" cy="685345"/>
          </a:xfrm>
        </p:grpSpPr>
        <p:sp>
          <p:nvSpPr>
            <p:cNvPr id="11" name="Freeform 11">
              <a:extLst>
                <a:ext uri="{FF2B5EF4-FFF2-40B4-BE49-F238E27FC236}">
                  <a16:creationId xmlns:a16="http://schemas.microsoft.com/office/drawing/2014/main" id="{59B58209-6192-418B-ACA0-C7CDFC2EAE6C}"/>
                </a:ext>
              </a:extLst>
            </p:cNvPr>
            <p:cNvSpPr/>
            <p:nvPr/>
          </p:nvSpPr>
          <p:spPr>
            <a:xfrm>
              <a:off x="0" y="-278945"/>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dirty="0"/>
            </a:p>
          </p:txBody>
        </p:sp>
        <p:sp>
          <p:nvSpPr>
            <p:cNvPr id="12" name="TextBox 12">
              <a:extLst>
                <a:ext uri="{FF2B5EF4-FFF2-40B4-BE49-F238E27FC236}">
                  <a16:creationId xmlns:a16="http://schemas.microsoft.com/office/drawing/2014/main" id="{71F3C59B-BCBB-20C7-1666-387A55F833A3}"/>
                </a:ext>
              </a:extLst>
            </p:cNvPr>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2" name="Group 2">
            <a:extLst>
              <a:ext uri="{FF2B5EF4-FFF2-40B4-BE49-F238E27FC236}">
                <a16:creationId xmlns:a16="http://schemas.microsoft.com/office/drawing/2014/main" id="{32211E60-175C-8761-EA84-5DE2A47806CD}"/>
              </a:ext>
            </a:extLst>
          </p:cNvPr>
          <p:cNvGrpSpPr/>
          <p:nvPr/>
        </p:nvGrpSpPr>
        <p:grpSpPr>
          <a:xfrm rot="-10800000">
            <a:off x="13986999" y="-2149600"/>
            <a:ext cx="6316248" cy="3178300"/>
            <a:chOff x="0" y="0"/>
            <a:chExt cx="807640" cy="406400"/>
          </a:xfrm>
        </p:grpSpPr>
        <p:sp>
          <p:nvSpPr>
            <p:cNvPr id="3" name="Freeform 3">
              <a:extLst>
                <a:ext uri="{FF2B5EF4-FFF2-40B4-BE49-F238E27FC236}">
                  <a16:creationId xmlns:a16="http://schemas.microsoft.com/office/drawing/2014/main" id="{C475F132-041D-38DB-ED4F-E6AEACB865A7}"/>
                </a:ext>
              </a:extLst>
            </p:cNvPr>
            <p:cNvSpPr/>
            <p:nvPr/>
          </p:nvSpPr>
          <p:spPr>
            <a:xfrm>
              <a:off x="0" y="0"/>
              <a:ext cx="807640" cy="406400"/>
            </a:xfrm>
            <a:custGeom>
              <a:avLst/>
              <a:gdLst/>
              <a:ahLst/>
              <a:cxnLst/>
              <a:rect l="l" t="t" r="r" b="b"/>
              <a:pathLst>
                <a:path w="807640" h="406400">
                  <a:moveTo>
                    <a:pt x="604440" y="0"/>
                  </a:moveTo>
                  <a:cubicBezTo>
                    <a:pt x="716665" y="0"/>
                    <a:pt x="807640" y="90976"/>
                    <a:pt x="807640" y="203200"/>
                  </a:cubicBezTo>
                  <a:cubicBezTo>
                    <a:pt x="807640" y="315424"/>
                    <a:pt x="716665" y="406400"/>
                    <a:pt x="60444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95250" cap="sq">
              <a:solidFill>
                <a:srgbClr val="4D4C4C"/>
              </a:solidFill>
              <a:prstDash val="solid"/>
              <a:miter/>
            </a:ln>
          </p:spPr>
          <p:txBody>
            <a:bodyPr/>
            <a:lstStyle/>
            <a:p>
              <a:endParaRPr lang="es-ES"/>
            </a:p>
          </p:txBody>
        </p:sp>
        <p:sp>
          <p:nvSpPr>
            <p:cNvPr id="4" name="TextBox 4">
              <a:extLst>
                <a:ext uri="{FF2B5EF4-FFF2-40B4-BE49-F238E27FC236}">
                  <a16:creationId xmlns:a16="http://schemas.microsoft.com/office/drawing/2014/main" id="{0BD8DF7D-FCA3-E904-289A-CA9EC938B81B}"/>
                </a:ext>
              </a:extLst>
            </p:cNvPr>
            <p:cNvSpPr txBox="1"/>
            <p:nvPr/>
          </p:nvSpPr>
          <p:spPr>
            <a:xfrm>
              <a:off x="0" y="-47625"/>
              <a:ext cx="807640" cy="454025"/>
            </a:xfrm>
            <a:prstGeom prst="rect">
              <a:avLst/>
            </a:prstGeom>
          </p:spPr>
          <p:txBody>
            <a:bodyPr lIns="50800" tIns="50800" rIns="50800" bIns="50800" rtlCol="0" anchor="ctr"/>
            <a:lstStyle/>
            <a:p>
              <a:pPr algn="ctr">
                <a:lnSpc>
                  <a:spcPts val="3079"/>
                </a:lnSpc>
              </a:pPr>
              <a:endParaRPr/>
            </a:p>
          </p:txBody>
        </p:sp>
      </p:grpSp>
      <p:grpSp>
        <p:nvGrpSpPr>
          <p:cNvPr id="5" name="Group 5">
            <a:extLst>
              <a:ext uri="{FF2B5EF4-FFF2-40B4-BE49-F238E27FC236}">
                <a16:creationId xmlns:a16="http://schemas.microsoft.com/office/drawing/2014/main" id="{349BCACF-D2E5-6307-BE17-72A8FFA2751C}"/>
              </a:ext>
            </a:extLst>
          </p:cNvPr>
          <p:cNvGrpSpPr/>
          <p:nvPr/>
        </p:nvGrpSpPr>
        <p:grpSpPr>
          <a:xfrm>
            <a:off x="17259300" y="-565845"/>
            <a:ext cx="15452455" cy="11836184"/>
            <a:chOff x="0" y="0"/>
            <a:chExt cx="4069782" cy="3117349"/>
          </a:xfrm>
        </p:grpSpPr>
        <p:sp>
          <p:nvSpPr>
            <p:cNvPr id="6" name="Freeform 6">
              <a:extLst>
                <a:ext uri="{FF2B5EF4-FFF2-40B4-BE49-F238E27FC236}">
                  <a16:creationId xmlns:a16="http://schemas.microsoft.com/office/drawing/2014/main" id="{E4658450-7AE0-F892-8892-4D713CE620B6}"/>
                </a:ext>
              </a:extLst>
            </p:cNvPr>
            <p:cNvSpPr/>
            <p:nvPr/>
          </p:nvSpPr>
          <p:spPr>
            <a:xfrm>
              <a:off x="0" y="0"/>
              <a:ext cx="4069783" cy="3117349"/>
            </a:xfrm>
            <a:custGeom>
              <a:avLst/>
              <a:gdLst/>
              <a:ahLst/>
              <a:cxnLst/>
              <a:rect l="l" t="t" r="r" b="b"/>
              <a:pathLst>
                <a:path w="4069783" h="3117349">
                  <a:moveTo>
                    <a:pt x="0" y="0"/>
                  </a:moveTo>
                  <a:lnTo>
                    <a:pt x="4069783" y="0"/>
                  </a:lnTo>
                  <a:lnTo>
                    <a:pt x="4069783" y="3117349"/>
                  </a:lnTo>
                  <a:lnTo>
                    <a:pt x="0" y="3117349"/>
                  </a:lnTo>
                  <a:close/>
                </a:path>
              </a:pathLst>
            </a:custGeom>
            <a:solidFill>
              <a:srgbClr val="B8BB87"/>
            </a:solidFill>
          </p:spPr>
          <p:txBody>
            <a:bodyPr/>
            <a:lstStyle/>
            <a:p>
              <a:endParaRPr lang="es-ES"/>
            </a:p>
          </p:txBody>
        </p:sp>
        <p:sp>
          <p:nvSpPr>
            <p:cNvPr id="7" name="TextBox 7">
              <a:extLst>
                <a:ext uri="{FF2B5EF4-FFF2-40B4-BE49-F238E27FC236}">
                  <a16:creationId xmlns:a16="http://schemas.microsoft.com/office/drawing/2014/main" id="{D023CF19-1FE0-5DDB-ED5A-8D05F04C577C}"/>
                </a:ext>
              </a:extLst>
            </p:cNvPr>
            <p:cNvSpPr txBox="1"/>
            <p:nvPr/>
          </p:nvSpPr>
          <p:spPr>
            <a:xfrm>
              <a:off x="0" y="-47625"/>
              <a:ext cx="4069782" cy="3164974"/>
            </a:xfrm>
            <a:prstGeom prst="rect">
              <a:avLst/>
            </a:prstGeom>
          </p:spPr>
          <p:txBody>
            <a:bodyPr lIns="50800" tIns="50800" rIns="50800" bIns="50800" rtlCol="0" anchor="ctr"/>
            <a:lstStyle/>
            <a:p>
              <a:pPr algn="ctr">
                <a:lnSpc>
                  <a:spcPts val="3079"/>
                </a:lnSpc>
              </a:pPr>
              <a:endParaRPr/>
            </a:p>
          </p:txBody>
        </p:sp>
      </p:grpSp>
      <p:sp>
        <p:nvSpPr>
          <p:cNvPr id="8" name="TextBox 8">
            <a:extLst>
              <a:ext uri="{FF2B5EF4-FFF2-40B4-BE49-F238E27FC236}">
                <a16:creationId xmlns:a16="http://schemas.microsoft.com/office/drawing/2014/main" id="{9427A0C1-81AB-1D28-52BD-6EDE464BDDCE}"/>
              </a:ext>
            </a:extLst>
          </p:cNvPr>
          <p:cNvSpPr txBox="1"/>
          <p:nvPr/>
        </p:nvSpPr>
        <p:spPr>
          <a:xfrm>
            <a:off x="1428627" y="3319928"/>
            <a:ext cx="4216185" cy="3860031"/>
          </a:xfrm>
          <a:prstGeom prst="rect">
            <a:avLst/>
          </a:prstGeom>
        </p:spPr>
        <p:txBody>
          <a:bodyPr lIns="0" tIns="0" rIns="0" bIns="0" rtlCol="0" anchor="t">
            <a:spAutoFit/>
          </a:bodyPr>
          <a:lstStyle/>
          <a:p>
            <a:pPr algn="ctr">
              <a:lnSpc>
                <a:spcPts val="30064"/>
              </a:lnSpc>
              <a:spcBef>
                <a:spcPct val="0"/>
              </a:spcBef>
            </a:pPr>
            <a:r>
              <a:rPr lang="en-US" sz="21474" b="1" dirty="0">
                <a:solidFill>
                  <a:srgbClr val="4D4C4C"/>
                </a:solidFill>
                <a:latin typeface="TS Deniz Bold"/>
                <a:ea typeface="TS Deniz Bold"/>
                <a:cs typeface="TS Deniz Bold"/>
                <a:sym typeface="TS Deniz Bold"/>
              </a:rPr>
              <a:t>06</a:t>
            </a:r>
          </a:p>
        </p:txBody>
      </p:sp>
      <p:sp>
        <p:nvSpPr>
          <p:cNvPr id="9" name="TextBox 9">
            <a:extLst>
              <a:ext uri="{FF2B5EF4-FFF2-40B4-BE49-F238E27FC236}">
                <a16:creationId xmlns:a16="http://schemas.microsoft.com/office/drawing/2014/main" id="{8EA098DE-4B79-E7C7-B8BF-2FDF81BD69EA}"/>
              </a:ext>
            </a:extLst>
          </p:cNvPr>
          <p:cNvSpPr txBox="1"/>
          <p:nvPr/>
        </p:nvSpPr>
        <p:spPr>
          <a:xfrm>
            <a:off x="6494139" y="3527997"/>
            <a:ext cx="10637129" cy="3443891"/>
          </a:xfrm>
          <a:prstGeom prst="rect">
            <a:avLst/>
          </a:prstGeom>
        </p:spPr>
        <p:txBody>
          <a:bodyPr lIns="0" tIns="0" rIns="0" bIns="0" rtlCol="0" anchor="t">
            <a:spAutoFit/>
          </a:bodyPr>
          <a:lstStyle/>
          <a:p>
            <a:pPr>
              <a:lnSpc>
                <a:spcPts val="13721"/>
              </a:lnSpc>
              <a:spcBef>
                <a:spcPct val="0"/>
              </a:spcBef>
            </a:pPr>
            <a:r>
              <a:rPr lang="en-US" sz="9600" b="1" spc="192" dirty="0">
                <a:solidFill>
                  <a:srgbClr val="4D4C4C"/>
                </a:solidFill>
                <a:latin typeface="Helios Bold"/>
                <a:ea typeface="Helios Bold"/>
                <a:cs typeface="Helios Bold"/>
                <a:sym typeface="Helios Bold"/>
              </a:rPr>
              <a:t>Marca personal y </a:t>
            </a:r>
            <a:r>
              <a:rPr lang="en-US" sz="9600" b="1" spc="192" dirty="0" err="1">
                <a:solidFill>
                  <a:srgbClr val="4D4C4C"/>
                </a:solidFill>
                <a:latin typeface="Helios Bold"/>
                <a:ea typeface="Helios Bold"/>
                <a:cs typeface="Helios Bold"/>
                <a:sym typeface="Helios Bold"/>
              </a:rPr>
              <a:t>empleabilidad</a:t>
            </a:r>
            <a:r>
              <a:rPr lang="en-US" sz="9600" b="1" spc="192" dirty="0">
                <a:solidFill>
                  <a:srgbClr val="4D4C4C"/>
                </a:solidFill>
                <a:latin typeface="Helios Bold"/>
                <a:ea typeface="Helios Bold"/>
                <a:cs typeface="Helios Bold"/>
                <a:sym typeface="Helios Bold"/>
              </a:rPr>
              <a:t>.</a:t>
            </a:r>
            <a:endParaRPr lang="en-US" sz="9801" b="1" dirty="0">
              <a:solidFill>
                <a:srgbClr val="4D4C4C"/>
              </a:solidFill>
              <a:latin typeface="TS Deniz Bold"/>
              <a:ea typeface="TS Deniz Bold"/>
              <a:cs typeface="TS Deniz Bold"/>
              <a:sym typeface="TS Deniz Bold"/>
            </a:endParaRPr>
          </a:p>
        </p:txBody>
      </p:sp>
      <p:grpSp>
        <p:nvGrpSpPr>
          <p:cNvPr id="13" name="Group 13">
            <a:extLst>
              <a:ext uri="{FF2B5EF4-FFF2-40B4-BE49-F238E27FC236}">
                <a16:creationId xmlns:a16="http://schemas.microsoft.com/office/drawing/2014/main" id="{BC34BD4A-4320-4B74-B715-E58E796B9945}"/>
              </a:ext>
            </a:extLst>
          </p:cNvPr>
          <p:cNvGrpSpPr/>
          <p:nvPr/>
        </p:nvGrpSpPr>
        <p:grpSpPr>
          <a:xfrm>
            <a:off x="879387" y="2646483"/>
            <a:ext cx="1098480" cy="1098480"/>
            <a:chOff x="0" y="0"/>
            <a:chExt cx="812800" cy="812800"/>
          </a:xfrm>
        </p:grpSpPr>
        <p:sp>
          <p:nvSpPr>
            <p:cNvPr id="14" name="Freeform 14">
              <a:extLst>
                <a:ext uri="{FF2B5EF4-FFF2-40B4-BE49-F238E27FC236}">
                  <a16:creationId xmlns:a16="http://schemas.microsoft.com/office/drawing/2014/main" id="{F2AEB4F1-FEF7-E5D1-6C6D-E0ED0264F4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BB87"/>
            </a:solidFill>
          </p:spPr>
          <p:txBody>
            <a:bodyPr/>
            <a:lstStyle/>
            <a:p>
              <a:endParaRPr lang="es-ES"/>
            </a:p>
          </p:txBody>
        </p:sp>
        <p:sp>
          <p:nvSpPr>
            <p:cNvPr id="15" name="TextBox 15">
              <a:extLst>
                <a:ext uri="{FF2B5EF4-FFF2-40B4-BE49-F238E27FC236}">
                  <a16:creationId xmlns:a16="http://schemas.microsoft.com/office/drawing/2014/main" id="{251D8B24-7035-650A-ABB0-4C57D3580A77}"/>
                </a:ext>
              </a:extLst>
            </p:cNvPr>
            <p:cNvSpPr txBox="1"/>
            <p:nvPr/>
          </p:nvSpPr>
          <p:spPr>
            <a:xfrm>
              <a:off x="76200" y="28575"/>
              <a:ext cx="660400" cy="708025"/>
            </a:xfrm>
            <a:prstGeom prst="rect">
              <a:avLst/>
            </a:prstGeom>
          </p:spPr>
          <p:txBody>
            <a:bodyPr lIns="50800" tIns="50800" rIns="50800" bIns="50800" rtlCol="0" anchor="ctr"/>
            <a:lstStyle/>
            <a:p>
              <a:pPr algn="ctr">
                <a:lnSpc>
                  <a:spcPts val="3079"/>
                </a:lnSpc>
              </a:pPr>
              <a:endParaRPr/>
            </a:p>
          </p:txBody>
        </p:sp>
      </p:grpSp>
      <p:sp>
        <p:nvSpPr>
          <p:cNvPr id="16" name="Freeform 16">
            <a:extLst>
              <a:ext uri="{FF2B5EF4-FFF2-40B4-BE49-F238E27FC236}">
                <a16:creationId xmlns:a16="http://schemas.microsoft.com/office/drawing/2014/main" id="{FACB6D9D-3703-964E-CA05-7AF5A8F10916}"/>
              </a:ext>
            </a:extLst>
          </p:cNvPr>
          <p:cNvSpPr/>
          <p:nvPr/>
        </p:nvSpPr>
        <p:spPr>
          <a:xfrm>
            <a:off x="-1698802" y="5514834"/>
            <a:ext cx="3397604" cy="3397604"/>
          </a:xfrm>
          <a:custGeom>
            <a:avLst/>
            <a:gdLst/>
            <a:ahLst/>
            <a:cxnLst/>
            <a:rect l="l" t="t" r="r" b="b"/>
            <a:pathLst>
              <a:path w="3397604" h="3397604">
                <a:moveTo>
                  <a:pt x="0" y="0"/>
                </a:moveTo>
                <a:lnTo>
                  <a:pt x="3397604" y="0"/>
                </a:lnTo>
                <a:lnTo>
                  <a:pt x="3397604" y="3397603"/>
                </a:lnTo>
                <a:lnTo>
                  <a:pt x="0" y="33976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Tree>
    <p:extLst>
      <p:ext uri="{BB962C8B-B14F-4D97-AF65-F5344CB8AC3E}">
        <p14:creationId xmlns:p14="http://schemas.microsoft.com/office/powerpoint/2010/main" val="2566159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EC34-E26C-40F0-0F45-2F2DBE599E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9D1CB1F-46EA-CE3B-707C-BA8C75AC2F57}"/>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1005037E-AF05-545F-838F-0F6014755F5B}"/>
              </a:ext>
            </a:extLst>
          </p:cNvPr>
          <p:cNvSpPr txBox="1"/>
          <p:nvPr/>
        </p:nvSpPr>
        <p:spPr>
          <a:xfrm>
            <a:off x="342495" y="1939974"/>
            <a:ext cx="17603009" cy="3231654"/>
          </a:xfrm>
          <a:prstGeom prst="rect">
            <a:avLst/>
          </a:prstGeom>
        </p:spPr>
        <p:txBody>
          <a:bodyPr lIns="0" tIns="0" rIns="0" bIns="0" rtlCol="0" anchor="t">
            <a:spAutoFit/>
          </a:bodyPr>
          <a:lstStyle/>
          <a:p>
            <a:pPr algn="just">
              <a:lnSpc>
                <a:spcPts val="4224"/>
              </a:lnSpc>
            </a:pPr>
            <a:r>
              <a:rPr lang="es-ES" sz="3462" dirty="0">
                <a:solidFill>
                  <a:srgbClr val="71743C"/>
                </a:solidFill>
                <a:latin typeface="Borel"/>
                <a:ea typeface="Borel"/>
                <a:sym typeface="Helios"/>
              </a:rPr>
              <a:t>La marca personal es la percepción que los demás tienen sobre nosotros en el ámbito profesional. Es la huella que dejamos en las personas y organizaciones con las que interactuamos. En un mercado laboral cada vez más competitivo, construir una marca personal sólida es fundamental para mejorar la empleabilidad, es decir, la capacidad de conseguir y mantener un empleo.</a:t>
            </a:r>
            <a:endParaRPr lang="es-ES" sz="3462" dirty="0">
              <a:solidFill>
                <a:srgbClr val="71743C"/>
              </a:solidFill>
              <a:latin typeface="Borel"/>
              <a:ea typeface="Borel"/>
              <a:sym typeface="Helios"/>
              <a:hlinkClick r:id="rId4" tooltip="https://www.youtube.com/embed/10DX-oXG4SY?si=Dy3uaAnuO7tiNV5G%22%20title=">
                <a:extLst>
                  <a:ext uri="{A12FA001-AC4F-418D-AE19-62706E023703}">
                    <ahyp:hlinkClr xmlns:ahyp="http://schemas.microsoft.com/office/drawing/2018/hyperlinkcolor" val="tx"/>
                  </a:ext>
                </a:extLst>
              </a:hlinkClick>
            </a:endParaRPr>
          </a:p>
        </p:txBody>
      </p:sp>
      <p:sp>
        <p:nvSpPr>
          <p:cNvPr id="4" name="TextBox 4">
            <a:extLst>
              <a:ext uri="{FF2B5EF4-FFF2-40B4-BE49-F238E27FC236}">
                <a16:creationId xmlns:a16="http://schemas.microsoft.com/office/drawing/2014/main" id="{B2192A03-B373-DF96-1DCF-129E821DB827}"/>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6. Marca personal y </a:t>
            </a:r>
            <a:r>
              <a:rPr lang="en-US" sz="5369" b="1" spc="-177" dirty="0" err="1">
                <a:solidFill>
                  <a:srgbClr val="4D4C4C"/>
                </a:solidFill>
                <a:latin typeface="TS Deniz Bold"/>
                <a:ea typeface="TS Deniz Bold"/>
                <a:cs typeface="TS Deniz Bold"/>
                <a:sym typeface="TS Deniz Bold"/>
              </a:rPr>
              <a:t>empleabilidad</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609466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C1D9-577D-DD54-FE9E-1DE4D1121A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91409D-618B-BD65-A147-4162D60174EE}"/>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CB1594FC-D7F4-B6B2-8A6F-3CA5F9428B35}"/>
              </a:ext>
            </a:extLst>
          </p:cNvPr>
          <p:cNvSpPr txBox="1"/>
          <p:nvPr/>
        </p:nvSpPr>
        <p:spPr>
          <a:xfrm>
            <a:off x="342495" y="1485900"/>
            <a:ext cx="17603009" cy="5875070"/>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La marca personal es un factor determinante para mejorar la empleabilidad en un mercado laboral altamente competitivo. No basta con tener un buen currículum; las empresas buscan profesionales que transmitan confianza, credibilidad y diferenciación. Una marca personal sólida:</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Permite destacar frente a otros candidatos, mostrando un perfil único y coherente.</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Genera confianza en reclutadores y empleadores, al proyectar profesionalismo y autenticidad.</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Aumenta la visibilidad, facilitando que las oportunidades lleguen incluso sin buscarlas activamente.</a:t>
            </a:r>
          </a:p>
          <a:p>
            <a:pPr marL="457200" indent="-457200" algn="just">
              <a:lnSpc>
                <a:spcPts val="4224"/>
              </a:lnSpc>
              <a:buFont typeface="Arial" panose="020B0604020202020204" pitchFamily="34" charset="0"/>
              <a:buChar char="•"/>
            </a:pPr>
            <a:r>
              <a:rPr lang="es-ES" sz="3017" spc="178" dirty="0">
                <a:solidFill>
                  <a:srgbClr val="000000"/>
                </a:solidFill>
                <a:latin typeface="Helios"/>
                <a:sym typeface="Helios"/>
              </a:rPr>
              <a:t>Fortalece el </a:t>
            </a:r>
            <a:r>
              <a:rPr lang="es-ES" sz="3017" spc="178" dirty="0" err="1">
                <a:solidFill>
                  <a:srgbClr val="000000"/>
                </a:solidFill>
                <a:latin typeface="Helios"/>
                <a:sym typeface="Helios"/>
              </a:rPr>
              <a:t>networking</a:t>
            </a:r>
            <a:r>
              <a:rPr lang="es-ES" sz="3017" spc="178" dirty="0">
                <a:solidFill>
                  <a:srgbClr val="000000"/>
                </a:solidFill>
                <a:latin typeface="Helios"/>
                <a:sym typeface="Helios"/>
              </a:rPr>
              <a:t>, ya que una buena reputación abre puertas a contactos y recomendaciones.</a:t>
            </a:r>
          </a:p>
        </p:txBody>
      </p:sp>
      <p:sp>
        <p:nvSpPr>
          <p:cNvPr id="4" name="TextBox 4">
            <a:extLst>
              <a:ext uri="{FF2B5EF4-FFF2-40B4-BE49-F238E27FC236}">
                <a16:creationId xmlns:a16="http://schemas.microsoft.com/office/drawing/2014/main" id="{A4DB26CE-3B59-6CAF-608B-BF1F11829B9E}"/>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6.1 . </a:t>
            </a:r>
            <a:r>
              <a:rPr lang="es-ES" sz="5369" b="1" spc="-177" dirty="0">
                <a:solidFill>
                  <a:srgbClr val="4D4C4C"/>
                </a:solidFill>
                <a:latin typeface="TS Deniz Bold"/>
                <a:ea typeface="TS Deniz Bold"/>
                <a:cs typeface="TS Deniz Bold"/>
                <a:sym typeface="TS Deniz Bold"/>
              </a:rPr>
              <a:t>Importancia de la marca personal en la empleabilidad</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1012200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3E1F-AD23-055D-7705-63E55657CD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FEBB0D-564F-BAB6-E90C-213FBA3E4102}"/>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A0973961-1F34-8037-3762-156B1F51E420}"/>
              </a:ext>
            </a:extLst>
          </p:cNvPr>
          <p:cNvSpPr txBox="1"/>
          <p:nvPr/>
        </p:nvSpPr>
        <p:spPr>
          <a:xfrm>
            <a:off x="342495" y="1485900"/>
            <a:ext cx="17603009" cy="6952288"/>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Para desarrollar una marca personal efectiva, es necesario seguir una estrategia clara:</a:t>
            </a:r>
          </a:p>
          <a:p>
            <a:pPr marL="514350" indent="-514350" algn="just">
              <a:lnSpc>
                <a:spcPts val="4224"/>
              </a:lnSpc>
              <a:buFont typeface="Arial" panose="020B0604020202020204" pitchFamily="34" charset="0"/>
              <a:buChar char="•"/>
            </a:pPr>
            <a:r>
              <a:rPr lang="es-ES" sz="3017" b="1" spc="178" dirty="0">
                <a:solidFill>
                  <a:srgbClr val="000000"/>
                </a:solidFill>
                <a:latin typeface="Helios"/>
                <a:sym typeface="Helios"/>
              </a:rPr>
              <a:t>Definir la propuesta de valor</a:t>
            </a:r>
            <a:r>
              <a:rPr lang="es-ES" sz="3017" spc="178" dirty="0">
                <a:solidFill>
                  <a:srgbClr val="000000"/>
                </a:solidFill>
                <a:latin typeface="Helios"/>
                <a:sym typeface="Helios"/>
              </a:rPr>
              <a:t>: Identificar qué te hace único y qué aportas al mercado laboral.</a:t>
            </a:r>
          </a:p>
          <a:p>
            <a:pPr marL="514350" indent="-514350" algn="just">
              <a:lnSpc>
                <a:spcPts val="4224"/>
              </a:lnSpc>
              <a:buFont typeface="Arial" panose="020B0604020202020204" pitchFamily="34" charset="0"/>
              <a:buChar char="•"/>
            </a:pPr>
            <a:r>
              <a:rPr lang="es-ES" sz="3017" b="1" spc="178" dirty="0">
                <a:solidFill>
                  <a:srgbClr val="000000"/>
                </a:solidFill>
                <a:latin typeface="Helios"/>
                <a:sym typeface="Helios"/>
              </a:rPr>
              <a:t>Establecer objetivos profesionales: </a:t>
            </a:r>
            <a:r>
              <a:rPr lang="es-ES" sz="3017" spc="178" dirty="0">
                <a:solidFill>
                  <a:srgbClr val="000000"/>
                </a:solidFill>
                <a:latin typeface="Helios"/>
                <a:sym typeface="Helios"/>
              </a:rPr>
              <a:t>Saber hacia dónde quieres ir para orientar tu imagen.</a:t>
            </a:r>
          </a:p>
          <a:p>
            <a:pPr marL="514350" indent="-514350" algn="just">
              <a:lnSpc>
                <a:spcPts val="4224"/>
              </a:lnSpc>
              <a:buFont typeface="Arial" panose="020B0604020202020204" pitchFamily="34" charset="0"/>
              <a:buChar char="•"/>
            </a:pPr>
            <a:r>
              <a:rPr lang="es-ES" sz="3017" b="1" spc="178" dirty="0">
                <a:solidFill>
                  <a:srgbClr val="000000"/>
                </a:solidFill>
                <a:latin typeface="Helios"/>
                <a:sym typeface="Helios"/>
              </a:rPr>
              <a:t>Cuidar la presencia online: </a:t>
            </a:r>
          </a:p>
          <a:p>
            <a:pPr marL="971550" lvl="1" indent="-514350" algn="just">
              <a:lnSpc>
                <a:spcPts val="4224"/>
              </a:lnSpc>
              <a:buFont typeface="Arial" panose="020B0604020202020204" pitchFamily="34" charset="0"/>
              <a:buChar char="•"/>
            </a:pPr>
            <a:r>
              <a:rPr lang="es-ES" sz="3017" spc="178" dirty="0">
                <a:solidFill>
                  <a:srgbClr val="000000"/>
                </a:solidFill>
                <a:latin typeface="Helios"/>
                <a:sym typeface="Helios"/>
              </a:rPr>
              <a:t>Optimizar el perfil en LinkedIn y otras redes profesionales.</a:t>
            </a:r>
          </a:p>
          <a:p>
            <a:pPr marL="971550" lvl="1" indent="-514350" algn="just">
              <a:lnSpc>
                <a:spcPts val="4224"/>
              </a:lnSpc>
              <a:buFont typeface="Arial" panose="020B0604020202020204" pitchFamily="34" charset="0"/>
              <a:buChar char="•"/>
            </a:pPr>
            <a:r>
              <a:rPr lang="es-ES" sz="3017" spc="178" dirty="0">
                <a:solidFill>
                  <a:srgbClr val="000000"/>
                </a:solidFill>
                <a:latin typeface="Helios"/>
                <a:sym typeface="Helios"/>
              </a:rPr>
              <a:t>Publicar contenido relevante (artículos, logros, proyectos).</a:t>
            </a:r>
          </a:p>
          <a:p>
            <a:pPr marL="971550" lvl="1" indent="-514350" algn="just">
              <a:lnSpc>
                <a:spcPts val="4224"/>
              </a:lnSpc>
              <a:buFont typeface="Arial" panose="020B0604020202020204" pitchFamily="34" charset="0"/>
              <a:buChar char="•"/>
            </a:pPr>
            <a:r>
              <a:rPr lang="es-ES" sz="3017" spc="178" dirty="0">
                <a:solidFill>
                  <a:srgbClr val="000000"/>
                </a:solidFill>
                <a:latin typeface="Helios"/>
                <a:sym typeface="Helios"/>
              </a:rPr>
              <a:t>Participar en grupos y foros especializados.</a:t>
            </a:r>
          </a:p>
          <a:p>
            <a:pPr marL="514350" indent="-514350" algn="just">
              <a:lnSpc>
                <a:spcPts val="4224"/>
              </a:lnSpc>
              <a:buFont typeface="Arial" panose="020B0604020202020204" pitchFamily="34" charset="0"/>
              <a:buChar char="•"/>
            </a:pPr>
            <a:r>
              <a:rPr lang="es-ES" sz="3017" b="1" spc="178" dirty="0">
                <a:solidFill>
                  <a:srgbClr val="000000"/>
                </a:solidFill>
                <a:latin typeface="Helios"/>
                <a:sym typeface="Helios"/>
              </a:rPr>
              <a:t>Coherencia entre lo que dices y lo que haces: </a:t>
            </a:r>
            <a:r>
              <a:rPr lang="es-ES" sz="3017" spc="178" dirty="0">
                <a:solidFill>
                  <a:srgbClr val="000000"/>
                </a:solidFill>
                <a:latin typeface="Helios"/>
                <a:sym typeface="Helios"/>
              </a:rPr>
              <a:t>La marca personal se construye con acciones, no solo con palabras.</a:t>
            </a:r>
          </a:p>
          <a:p>
            <a:pPr marL="514350" indent="-514350" algn="just">
              <a:lnSpc>
                <a:spcPts val="4224"/>
              </a:lnSpc>
              <a:buFont typeface="Arial" panose="020B0604020202020204" pitchFamily="34" charset="0"/>
              <a:buChar char="•"/>
            </a:pPr>
            <a:r>
              <a:rPr lang="es-ES" sz="3017" b="1" spc="178" dirty="0">
                <a:solidFill>
                  <a:srgbClr val="000000"/>
                </a:solidFill>
                <a:latin typeface="Helios"/>
                <a:sym typeface="Helios"/>
              </a:rPr>
              <a:t>Formación continua:</a:t>
            </a:r>
            <a:r>
              <a:rPr lang="es-ES" sz="3017" spc="178" dirty="0">
                <a:solidFill>
                  <a:srgbClr val="000000"/>
                </a:solidFill>
                <a:latin typeface="Helios"/>
                <a:sym typeface="Helios"/>
              </a:rPr>
              <a:t> Actualizar competencias técnicas y blandas para adaptarse a los cambios del mercado.</a:t>
            </a:r>
          </a:p>
        </p:txBody>
      </p:sp>
      <p:sp>
        <p:nvSpPr>
          <p:cNvPr id="4" name="TextBox 4">
            <a:extLst>
              <a:ext uri="{FF2B5EF4-FFF2-40B4-BE49-F238E27FC236}">
                <a16:creationId xmlns:a16="http://schemas.microsoft.com/office/drawing/2014/main" id="{1A040C16-F2F5-908D-37B9-42DCEE615C14}"/>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6.2. </a:t>
            </a:r>
            <a:r>
              <a:rPr lang="es-ES" sz="5369" b="1" spc="-177" dirty="0">
                <a:solidFill>
                  <a:srgbClr val="4D4C4C"/>
                </a:solidFill>
                <a:latin typeface="TS Deniz Bold"/>
                <a:ea typeface="TS Deniz Bold"/>
                <a:cs typeface="TS Deniz Bold"/>
                <a:sym typeface="TS Deniz Bold"/>
              </a:rPr>
              <a:t>Cómo construir una marca personal sólida</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138751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9383B-0A82-0A86-D39F-42AF0CF90F3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4AA105-4582-E517-0616-4F02D86E3303}"/>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FBAFA074-E4DE-E0AE-21CA-4E2418AF10DC}"/>
              </a:ext>
            </a:extLst>
          </p:cNvPr>
          <p:cNvSpPr txBox="1"/>
          <p:nvPr/>
        </p:nvSpPr>
        <p:spPr>
          <a:xfrm>
            <a:off x="342495" y="1485900"/>
            <a:ext cx="17603009" cy="5336461"/>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Existen múltiples recursos para fortalecer la marca personal:</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LinkedIn: </a:t>
            </a:r>
            <a:r>
              <a:rPr lang="es-ES" sz="3017" spc="178" dirty="0">
                <a:solidFill>
                  <a:srgbClr val="000000"/>
                </a:solidFill>
                <a:latin typeface="Helios"/>
                <a:sym typeface="Helios"/>
              </a:rPr>
              <a:t>La red profesional por excelencia para mostrar experiencia, logros y generar contactos.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Portafolio digital: </a:t>
            </a:r>
            <a:r>
              <a:rPr lang="es-ES" sz="3017" spc="178" dirty="0">
                <a:solidFill>
                  <a:srgbClr val="000000"/>
                </a:solidFill>
                <a:latin typeface="Helios"/>
                <a:sym typeface="Helios"/>
              </a:rPr>
              <a:t>Ideal para sectores creativos y tecnológicos, donde se pueden mostrar trabajos realizados.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Blog o página web personal: </a:t>
            </a:r>
            <a:r>
              <a:rPr lang="es-ES" sz="3017" spc="178" dirty="0">
                <a:solidFill>
                  <a:srgbClr val="000000"/>
                </a:solidFill>
                <a:latin typeface="Helios"/>
                <a:sym typeface="Helios"/>
              </a:rPr>
              <a:t>Para compartir conocimientos, artículos y proyectos.</a:t>
            </a:r>
          </a:p>
          <a:p>
            <a:pPr marL="457200" indent="-457200" algn="just">
              <a:lnSpc>
                <a:spcPts val="4224"/>
              </a:lnSpc>
              <a:buFont typeface="Arial" panose="020B0604020202020204" pitchFamily="34" charset="0"/>
              <a:buChar char="•"/>
            </a:pPr>
            <a:r>
              <a:rPr lang="es-ES" sz="3017" b="1" spc="178" dirty="0" err="1">
                <a:solidFill>
                  <a:srgbClr val="000000"/>
                </a:solidFill>
                <a:latin typeface="Helios"/>
                <a:sym typeface="Helios"/>
              </a:rPr>
              <a:t>Networking</a:t>
            </a:r>
            <a:r>
              <a:rPr lang="es-ES" sz="3017" b="1" spc="178" dirty="0">
                <a:solidFill>
                  <a:srgbClr val="000000"/>
                </a:solidFill>
                <a:latin typeface="Helios"/>
                <a:sym typeface="Helios"/>
              </a:rPr>
              <a:t> presencial y online: </a:t>
            </a:r>
            <a:r>
              <a:rPr lang="es-ES" sz="3017" spc="178" dirty="0">
                <a:solidFill>
                  <a:srgbClr val="000000"/>
                </a:solidFill>
                <a:latin typeface="Helios"/>
                <a:sym typeface="Helios"/>
              </a:rPr>
              <a:t>Participar en eventos, ferias, </a:t>
            </a:r>
            <a:r>
              <a:rPr lang="es-ES" sz="3017" spc="178" dirty="0" err="1">
                <a:solidFill>
                  <a:srgbClr val="000000"/>
                </a:solidFill>
                <a:latin typeface="Helios"/>
                <a:sym typeface="Helios"/>
              </a:rPr>
              <a:t>webinars</a:t>
            </a:r>
            <a:r>
              <a:rPr lang="es-ES" sz="3017" spc="178" dirty="0">
                <a:solidFill>
                  <a:srgbClr val="000000"/>
                </a:solidFill>
                <a:latin typeface="Helios"/>
                <a:sym typeface="Helios"/>
              </a:rPr>
              <a:t> y comunidades profesionales.</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Contenido audiovisual: </a:t>
            </a:r>
            <a:r>
              <a:rPr lang="es-ES" sz="3017" spc="178" dirty="0">
                <a:solidFill>
                  <a:srgbClr val="000000"/>
                </a:solidFill>
                <a:latin typeface="Helios"/>
                <a:sym typeface="Helios"/>
              </a:rPr>
              <a:t>Videos cortos en redes profesionales para explicar proyectos o conocimientos.</a:t>
            </a:r>
          </a:p>
        </p:txBody>
      </p:sp>
      <p:sp>
        <p:nvSpPr>
          <p:cNvPr id="4" name="TextBox 4">
            <a:extLst>
              <a:ext uri="{FF2B5EF4-FFF2-40B4-BE49-F238E27FC236}">
                <a16:creationId xmlns:a16="http://schemas.microsoft.com/office/drawing/2014/main" id="{AE822AAE-863B-0408-941B-9F4622F82A67}"/>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6.3.  </a:t>
            </a:r>
            <a:r>
              <a:rPr lang="es-ES" sz="5369" b="1" spc="-177" dirty="0">
                <a:solidFill>
                  <a:srgbClr val="4D4C4C"/>
                </a:solidFill>
                <a:latin typeface="TS Deniz Bold"/>
                <a:ea typeface="TS Deniz Bold"/>
                <a:cs typeface="TS Deniz Bold"/>
                <a:sym typeface="TS Deniz Bold"/>
              </a:rPr>
              <a:t>Herramientas para potenciar la marca personal</a:t>
            </a:r>
            <a:r>
              <a:rPr lang="en-US" sz="5369" b="1" spc="-177" dirty="0">
                <a:solidFill>
                  <a:srgbClr val="4D4C4C"/>
                </a:solidFill>
                <a:latin typeface="TS Deniz Bold"/>
                <a:ea typeface="TS Deniz Bold"/>
                <a:cs typeface="TS Deniz Bold"/>
                <a:sym typeface="TS Deniz Bold"/>
              </a:rPr>
              <a:t> </a:t>
            </a:r>
          </a:p>
        </p:txBody>
      </p:sp>
    </p:spTree>
    <p:extLst>
      <p:ext uri="{BB962C8B-B14F-4D97-AF65-F5344CB8AC3E}">
        <p14:creationId xmlns:p14="http://schemas.microsoft.com/office/powerpoint/2010/main" val="18673007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B745-FCA4-BC26-731F-415CB4D11A9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15F85A-D040-2E4C-0C3B-6CD6C9A569C5}"/>
              </a:ext>
            </a:extLst>
          </p:cNvPr>
          <p:cNvSpPr/>
          <p:nvPr/>
        </p:nvSpPr>
        <p:spPr>
          <a:xfrm>
            <a:off x="-2506918" y="8424265"/>
            <a:ext cx="4326365" cy="4326365"/>
          </a:xfrm>
          <a:custGeom>
            <a:avLst/>
            <a:gdLst/>
            <a:ahLst/>
            <a:cxnLst/>
            <a:rect l="l" t="t" r="r" b="b"/>
            <a:pathLst>
              <a:path w="4326365" h="4326365">
                <a:moveTo>
                  <a:pt x="0" y="0"/>
                </a:moveTo>
                <a:lnTo>
                  <a:pt x="4326365" y="0"/>
                </a:lnTo>
                <a:lnTo>
                  <a:pt x="4326365" y="4326365"/>
                </a:lnTo>
                <a:lnTo>
                  <a:pt x="0" y="43263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ES"/>
          </a:p>
        </p:txBody>
      </p:sp>
      <p:sp>
        <p:nvSpPr>
          <p:cNvPr id="3" name="TextBox 3">
            <a:extLst>
              <a:ext uri="{FF2B5EF4-FFF2-40B4-BE49-F238E27FC236}">
                <a16:creationId xmlns:a16="http://schemas.microsoft.com/office/drawing/2014/main" id="{2878DA95-1801-0AD5-75BD-6DDF93DD26DB}"/>
              </a:ext>
            </a:extLst>
          </p:cNvPr>
          <p:cNvSpPr txBox="1"/>
          <p:nvPr/>
        </p:nvSpPr>
        <p:spPr>
          <a:xfrm>
            <a:off x="342495" y="1485900"/>
            <a:ext cx="17603009" cy="4797852"/>
          </a:xfrm>
          <a:prstGeom prst="rect">
            <a:avLst/>
          </a:prstGeom>
        </p:spPr>
        <p:txBody>
          <a:bodyPr lIns="0" tIns="0" rIns="0" bIns="0" rtlCol="0" anchor="t">
            <a:spAutoFit/>
          </a:bodyPr>
          <a:lstStyle/>
          <a:p>
            <a:pPr algn="just">
              <a:lnSpc>
                <a:spcPts val="4224"/>
              </a:lnSpc>
            </a:pPr>
            <a:r>
              <a:rPr lang="es-ES" sz="3017" spc="178" dirty="0">
                <a:solidFill>
                  <a:srgbClr val="000000"/>
                </a:solidFill>
                <a:latin typeface="Helios"/>
                <a:sym typeface="Helios"/>
              </a:rPr>
              <a:t>Una marca personal bien trabajada incrementa la empleabilidad porque:</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Mejora la percepción del candidato: </a:t>
            </a:r>
            <a:r>
              <a:rPr lang="es-ES" sz="3017" spc="178" dirty="0">
                <a:solidFill>
                  <a:srgbClr val="000000"/>
                </a:solidFill>
                <a:latin typeface="Helios"/>
                <a:sym typeface="Helios"/>
              </a:rPr>
              <a:t>Las empresas ven a la persona como un profesional confiable y competente.</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Facilita el acceso a oportunidades ocultas: </a:t>
            </a:r>
            <a:r>
              <a:rPr lang="es-ES" sz="3017" spc="178" dirty="0">
                <a:solidFill>
                  <a:srgbClr val="000000"/>
                </a:solidFill>
                <a:latin typeface="Helios"/>
                <a:sym typeface="Helios"/>
              </a:rPr>
              <a:t>Muchos empleos no se publican, se cubren mediante contactos y reputación.</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Refuerza la confianza del empleador: </a:t>
            </a:r>
            <a:r>
              <a:rPr lang="es-ES" sz="3017" spc="178" dirty="0">
                <a:solidFill>
                  <a:srgbClr val="000000"/>
                </a:solidFill>
                <a:latin typeface="Helios"/>
                <a:sym typeface="Helios"/>
              </a:rPr>
              <a:t>Una imagen coherente y profesional transmite seguridad.</a:t>
            </a:r>
          </a:p>
          <a:p>
            <a:pPr marL="457200" indent="-457200" algn="just">
              <a:lnSpc>
                <a:spcPts val="4224"/>
              </a:lnSpc>
              <a:buFont typeface="Arial" panose="020B0604020202020204" pitchFamily="34" charset="0"/>
              <a:buChar char="•"/>
            </a:pPr>
            <a:r>
              <a:rPr lang="es-ES" sz="3017" b="1" spc="178" dirty="0">
                <a:solidFill>
                  <a:srgbClr val="000000"/>
                </a:solidFill>
                <a:latin typeface="Helios"/>
                <a:sym typeface="Helios"/>
              </a:rPr>
              <a:t>Permite adaptarse a cambios del mercado: </a:t>
            </a:r>
            <a:r>
              <a:rPr lang="es-ES" sz="3017" spc="178" dirty="0">
                <a:solidFill>
                  <a:srgbClr val="000000"/>
                </a:solidFill>
                <a:latin typeface="Helios"/>
                <a:sym typeface="Helios"/>
              </a:rPr>
              <a:t>La marca personal evoluciona con la formación y la experiencia, manteniendo la relevancia.</a:t>
            </a:r>
          </a:p>
        </p:txBody>
      </p:sp>
      <p:sp>
        <p:nvSpPr>
          <p:cNvPr id="4" name="TextBox 4">
            <a:extLst>
              <a:ext uri="{FF2B5EF4-FFF2-40B4-BE49-F238E27FC236}">
                <a16:creationId xmlns:a16="http://schemas.microsoft.com/office/drawing/2014/main" id="{2A1151D2-C1E0-D981-7F91-DA49E78C20E6}"/>
              </a:ext>
            </a:extLst>
          </p:cNvPr>
          <p:cNvSpPr txBox="1"/>
          <p:nvPr/>
        </p:nvSpPr>
        <p:spPr>
          <a:xfrm>
            <a:off x="457201" y="267891"/>
            <a:ext cx="16427486" cy="773994"/>
          </a:xfrm>
          <a:prstGeom prst="rect">
            <a:avLst/>
          </a:prstGeom>
        </p:spPr>
        <p:txBody>
          <a:bodyPr wrap="square" lIns="0" tIns="0" rIns="0" bIns="0" rtlCol="0" anchor="t">
            <a:spAutoFit/>
          </a:bodyPr>
          <a:lstStyle/>
          <a:p>
            <a:pPr>
              <a:lnSpc>
                <a:spcPts val="5852"/>
              </a:lnSpc>
            </a:pPr>
            <a:r>
              <a:rPr lang="en-US" sz="5369" b="1" spc="-177" dirty="0">
                <a:solidFill>
                  <a:srgbClr val="4D4C4C"/>
                </a:solidFill>
                <a:latin typeface="TS Deniz Bold"/>
                <a:ea typeface="TS Deniz Bold"/>
                <a:cs typeface="TS Deniz Bold"/>
                <a:sym typeface="TS Deniz Bold"/>
              </a:rPr>
              <a:t>6.4. </a:t>
            </a:r>
            <a:r>
              <a:rPr lang="es-ES" sz="5369" b="1" spc="-177" dirty="0">
                <a:solidFill>
                  <a:srgbClr val="4D4C4C"/>
                </a:solidFill>
                <a:latin typeface="TS Deniz Bold"/>
                <a:ea typeface="TS Deniz Bold"/>
                <a:cs typeface="TS Deniz Bold"/>
                <a:sym typeface="TS Deniz Bold"/>
              </a:rPr>
              <a:t>Relación entre marca personal y empleabilidad</a:t>
            </a:r>
            <a:endParaRPr lang="en-US" sz="5369" b="1" spc="-177" dirty="0">
              <a:solidFill>
                <a:srgbClr val="4D4C4C"/>
              </a:solidFill>
              <a:latin typeface="TS Deniz Bold"/>
              <a:ea typeface="TS Deniz Bold"/>
              <a:cs typeface="TS Deniz Bold"/>
              <a:sym typeface="TS Deniz Bold"/>
            </a:endParaRPr>
          </a:p>
        </p:txBody>
      </p:sp>
    </p:spTree>
    <p:extLst>
      <p:ext uri="{BB962C8B-B14F-4D97-AF65-F5344CB8AC3E}">
        <p14:creationId xmlns:p14="http://schemas.microsoft.com/office/powerpoint/2010/main" val="3168776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TotalTime>
  <Words>4138</Words>
  <Application>Microsoft Office PowerPoint</Application>
  <PresentationFormat>Personalizado</PresentationFormat>
  <Paragraphs>309</Paragraphs>
  <Slides>48</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48</vt:i4>
      </vt:variant>
    </vt:vector>
  </HeadingPairs>
  <TitlesOfParts>
    <vt:vector size="56" baseType="lpstr">
      <vt:lpstr>Calibri</vt:lpstr>
      <vt:lpstr>Helios Bold</vt:lpstr>
      <vt:lpstr>Arial</vt:lpstr>
      <vt:lpstr>Helios</vt:lpstr>
      <vt:lpstr>Borel</vt:lpstr>
      <vt:lpstr>TS Deniz Bold</vt:lpstr>
      <vt:lpstr>Office Theme</vt:lpstr>
      <vt:lpstr>Acrobat Document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Copia de IPEII: UD 3 VIAB.FINANC.PUESTA MARCHA</dc:title>
  <dc:creator>diego millan erencia</dc:creator>
  <cp:lastModifiedBy>Diego Millán Erencia</cp:lastModifiedBy>
  <cp:revision>28</cp:revision>
  <dcterms:created xsi:type="dcterms:W3CDTF">2006-08-16T00:00:00Z</dcterms:created>
  <dcterms:modified xsi:type="dcterms:W3CDTF">2026-01-09T16:21:03Z</dcterms:modified>
  <dc:identifier>DAG14Se0b4M</dc:identifier>
</cp:coreProperties>
</file>