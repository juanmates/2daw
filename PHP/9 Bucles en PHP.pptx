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49"/>
  </p:notesMasterIdLst>
  <p:sldIdLst>
    <p:sldId id="475" r:id="rId2"/>
    <p:sldId id="476" r:id="rId3"/>
    <p:sldId id="477" r:id="rId4"/>
    <p:sldId id="499" r:id="rId5"/>
    <p:sldId id="500" r:id="rId6"/>
    <p:sldId id="501" r:id="rId7"/>
    <p:sldId id="502" r:id="rId8"/>
    <p:sldId id="503" r:id="rId9"/>
    <p:sldId id="504" r:id="rId10"/>
    <p:sldId id="505" r:id="rId11"/>
    <p:sldId id="506" r:id="rId12"/>
    <p:sldId id="532" r:id="rId13"/>
    <p:sldId id="556" r:id="rId14"/>
    <p:sldId id="557" r:id="rId15"/>
    <p:sldId id="558" r:id="rId16"/>
    <p:sldId id="559" r:id="rId17"/>
    <p:sldId id="560" r:id="rId18"/>
    <p:sldId id="561" r:id="rId19"/>
    <p:sldId id="562" r:id="rId20"/>
    <p:sldId id="563" r:id="rId21"/>
    <p:sldId id="564" r:id="rId22"/>
    <p:sldId id="565" r:id="rId23"/>
    <p:sldId id="566" r:id="rId24"/>
    <p:sldId id="567" r:id="rId25"/>
    <p:sldId id="539" r:id="rId26"/>
    <p:sldId id="533" r:id="rId27"/>
    <p:sldId id="534" r:id="rId28"/>
    <p:sldId id="507" r:id="rId29"/>
    <p:sldId id="508" r:id="rId30"/>
    <p:sldId id="509" r:id="rId31"/>
    <p:sldId id="535" r:id="rId32"/>
    <p:sldId id="536" r:id="rId33"/>
    <p:sldId id="537" r:id="rId34"/>
    <p:sldId id="568" r:id="rId35"/>
    <p:sldId id="569" r:id="rId36"/>
    <p:sldId id="540" r:id="rId37"/>
    <p:sldId id="538" r:id="rId38"/>
    <p:sldId id="541" r:id="rId39"/>
    <p:sldId id="542" r:id="rId40"/>
    <p:sldId id="543" r:id="rId41"/>
    <p:sldId id="544" r:id="rId42"/>
    <p:sldId id="545" r:id="rId43"/>
    <p:sldId id="546" r:id="rId44"/>
    <p:sldId id="547" r:id="rId45"/>
    <p:sldId id="555" r:id="rId46"/>
    <p:sldId id="570" r:id="rId47"/>
    <p:sldId id="318" r:id="rId48"/>
  </p:sldIdLst>
  <p:sldSz cx="9144000" cy="5143500" type="screen16x9"/>
  <p:notesSz cx="6858000" cy="9144000"/>
  <p:embeddedFontLst>
    <p:embeddedFont>
      <p:font typeface="Calibri" panose="020F0502020204030204" pitchFamily="34" charset="0"/>
      <p:regular r:id="rId50"/>
      <p:bold r:id="rId51"/>
      <p:italic r:id="rId52"/>
      <p:boldItalic r:id="rId53"/>
    </p:embeddedFont>
    <p:embeddedFont>
      <p:font typeface="Consolas" panose="020B0609020204030204" pitchFamily="49" charset="0"/>
      <p:regular r:id="rId54"/>
      <p:bold r:id="rId55"/>
      <p:italic r:id="rId56"/>
      <p:boldItalic r:id="rId57"/>
    </p:embeddedFont>
    <p:embeddedFont>
      <p:font typeface="Lato" panose="020F0502020204030203" pitchFamily="34" charset="0"/>
      <p:regular r:id="rId58"/>
      <p:bold r:id="rId59"/>
      <p:italic r:id="rId60"/>
      <p:boldItalic r:id="rId61"/>
    </p:embeddedFont>
    <p:embeddedFont>
      <p:font typeface="Raleway" pitchFamily="2" charset="0"/>
      <p:regular r:id="rId62"/>
      <p:bold r:id="rId63"/>
      <p:italic r:id="rId64"/>
      <p:boldItalic r:id="rId65"/>
    </p:embeddedFont>
    <p:embeddedFont>
      <p:font typeface="Roboto" panose="02000000000000000000" pitchFamily="2" charset="0"/>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8665B7-6574-423E-A4B5-A6C020D860FF}">
  <a:tblStyle styleId="{C98665B7-6574-423E-A4B5-A6C020D860F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8698C-63BC-4B6A-AE92-7E62379B444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848" y="6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4.fntdata"/><Relationship Id="rId68" Type="http://schemas.openxmlformats.org/officeDocument/2006/relationships/font" Target="fonts/font19.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font" Target="fonts/font2.fntdata"/><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7965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8273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6194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8" name="7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0" name="Google Shape;10;p2"/>
          <p:cNvSpPr txBox="1">
            <a:spLocks noGrp="1"/>
          </p:cNvSpPr>
          <p:nvPr>
            <p:ph type="ctrTitle"/>
          </p:nvPr>
        </p:nvSpPr>
        <p:spPr>
          <a:xfrm>
            <a:off x="645225" y="2762725"/>
            <a:ext cx="67365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ubTitle" idx="1"/>
          </p:nvPr>
        </p:nvSpPr>
        <p:spPr>
          <a:xfrm>
            <a:off x="685800" y="2840053"/>
            <a:ext cx="7772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2400" b="1">
                <a:solidFill>
                  <a:schemeClr val="lt1"/>
                </a:solidFill>
              </a:defRPr>
            </a:lvl4pPr>
            <a:lvl5pPr lvl="4" algn="ctr" rtl="0">
              <a:spcBef>
                <a:spcPts val="0"/>
              </a:spcBef>
              <a:spcAft>
                <a:spcPts val="0"/>
              </a:spcAft>
              <a:buClr>
                <a:schemeClr val="lt1"/>
              </a:buClr>
              <a:buSzPts val="2400"/>
              <a:buNone/>
              <a:defRPr sz="2400" b="1">
                <a:solidFill>
                  <a:schemeClr val="lt1"/>
                </a:solidFill>
              </a:defRPr>
            </a:lvl5pPr>
            <a:lvl6pPr lvl="5" algn="ctr" rtl="0">
              <a:spcBef>
                <a:spcPts val="0"/>
              </a:spcBef>
              <a:spcAft>
                <a:spcPts val="0"/>
              </a:spcAft>
              <a:buClr>
                <a:schemeClr val="lt1"/>
              </a:buClr>
              <a:buSzPts val="2400"/>
              <a:buNone/>
              <a:defRPr sz="2400" b="1">
                <a:solidFill>
                  <a:schemeClr val="lt1"/>
                </a:solidFill>
              </a:defRPr>
            </a:lvl6pPr>
            <a:lvl7pPr lvl="6" algn="ctr" rtl="0">
              <a:spcBef>
                <a:spcPts val="0"/>
              </a:spcBef>
              <a:spcAft>
                <a:spcPts val="0"/>
              </a:spcAft>
              <a:buClr>
                <a:schemeClr val="lt1"/>
              </a:buClr>
              <a:buSzPts val="2400"/>
              <a:buNone/>
              <a:defRPr sz="2400" b="1">
                <a:solidFill>
                  <a:schemeClr val="lt1"/>
                </a:solidFill>
              </a:defRPr>
            </a:lvl7pPr>
            <a:lvl8pPr lvl="7" algn="ctr" rtl="0">
              <a:spcBef>
                <a:spcPts val="0"/>
              </a:spcBef>
              <a:spcAft>
                <a:spcPts val="0"/>
              </a:spcAft>
              <a:buClr>
                <a:schemeClr val="lt1"/>
              </a:buClr>
              <a:buSzPts val="2400"/>
              <a:buNone/>
              <a:defRPr sz="2400" b="1">
                <a:solidFill>
                  <a:schemeClr val="lt1"/>
                </a:solidFill>
              </a:defRPr>
            </a:lvl8pPr>
            <a:lvl9pPr lvl="8" algn="ctr" rtl="0">
              <a:spcBef>
                <a:spcPts val="0"/>
              </a:spcBef>
              <a:spcAft>
                <a:spcPts val="0"/>
              </a:spcAft>
              <a:buClr>
                <a:schemeClr val="lt1"/>
              </a:buClr>
              <a:buSzPts val="2400"/>
              <a:buNone/>
              <a:defRPr sz="2400" b="1">
                <a:solidFill>
                  <a:schemeClr val="lt1"/>
                </a:solidFill>
              </a:defRPr>
            </a:lvl9pPr>
          </a:lstStyle>
          <a:p>
            <a:endParaRPr/>
          </a:p>
        </p:txBody>
      </p:sp>
      <p:sp>
        <p:nvSpPr>
          <p:cNvPr id="19" name="Google Shape;19;p3"/>
          <p:cNvSpPr/>
          <p:nvPr/>
        </p:nvSpPr>
        <p:spPr>
          <a:xfrm>
            <a:off x="3047704" y="3992850"/>
            <a:ext cx="3047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6096271" y="3992850"/>
            <a:ext cx="3047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 y="3992850"/>
            <a:ext cx="3047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93700" y="358388"/>
            <a:ext cx="6462600" cy="8574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893700" y="1373588"/>
            <a:ext cx="6462600" cy="3552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Clr>
                <a:schemeClr val="accent6"/>
              </a:buClr>
              <a:buSzPts val="1800"/>
              <a:buChar char="▷"/>
              <a:defRPr>
                <a:solidFill>
                  <a:schemeClr val="dk1"/>
                </a:solidFill>
              </a:defRPr>
            </a:lvl1pPr>
            <a:lvl2pPr marL="914400" lvl="1" indent="-381000">
              <a:spcBef>
                <a:spcPts val="0"/>
              </a:spcBef>
              <a:spcAft>
                <a:spcPts val="0"/>
              </a:spcAft>
              <a:buClr>
                <a:schemeClr val="dk1"/>
              </a:buClr>
              <a:buSzPts val="2400"/>
              <a:buChar char="○"/>
              <a:defRPr>
                <a:solidFill>
                  <a:schemeClr val="dk1"/>
                </a:solidFill>
              </a:defRPr>
            </a:lvl2pPr>
            <a:lvl3pPr marL="1371600" lvl="2" indent="-381000">
              <a:spcBef>
                <a:spcPts val="0"/>
              </a:spcBef>
              <a:spcAft>
                <a:spcPts val="0"/>
              </a:spcAft>
              <a:buClr>
                <a:schemeClr val="dk1"/>
              </a:buClr>
              <a:buSzPts val="2400"/>
              <a:buChar char="■"/>
              <a:defRPr>
                <a:solidFill>
                  <a:schemeClr val="dk1"/>
                </a:solidFill>
              </a:defRPr>
            </a:lvl3pPr>
            <a:lvl4pPr marL="1828800" lvl="3" indent="-381000">
              <a:spcBef>
                <a:spcPts val="0"/>
              </a:spcBef>
              <a:spcAft>
                <a:spcPts val="0"/>
              </a:spcAft>
              <a:buClr>
                <a:schemeClr val="dk1"/>
              </a:buClr>
              <a:buSzPts val="2400"/>
              <a:buChar char="●"/>
              <a:defRPr>
                <a:solidFill>
                  <a:schemeClr val="dk1"/>
                </a:solidFill>
              </a:defRPr>
            </a:lvl4pPr>
            <a:lvl5pPr marL="2286000" lvl="4" indent="-381000">
              <a:spcBef>
                <a:spcPts val="0"/>
              </a:spcBef>
              <a:spcAft>
                <a:spcPts val="0"/>
              </a:spcAft>
              <a:buClr>
                <a:schemeClr val="dk1"/>
              </a:buClr>
              <a:buSzPts val="2400"/>
              <a:buChar char="○"/>
              <a:defRPr>
                <a:solidFill>
                  <a:schemeClr val="dk1"/>
                </a:solidFill>
              </a:defRPr>
            </a:lvl5pPr>
            <a:lvl6pPr marL="2743200" lvl="5" indent="-381000">
              <a:spcBef>
                <a:spcPts val="0"/>
              </a:spcBef>
              <a:spcAft>
                <a:spcPts val="0"/>
              </a:spcAft>
              <a:buClr>
                <a:schemeClr val="dk1"/>
              </a:buClr>
              <a:buSzPts val="2400"/>
              <a:buChar char="■"/>
              <a:defRPr>
                <a:solidFill>
                  <a:schemeClr val="dk1"/>
                </a:solidFill>
              </a:defRPr>
            </a:lvl6pPr>
            <a:lvl7pPr marL="3200400" lvl="6" indent="-381000">
              <a:spcBef>
                <a:spcPts val="0"/>
              </a:spcBef>
              <a:spcAft>
                <a:spcPts val="0"/>
              </a:spcAft>
              <a:buClr>
                <a:schemeClr val="dk1"/>
              </a:buClr>
              <a:buSzPts val="2400"/>
              <a:buChar char="●"/>
              <a:defRPr>
                <a:solidFill>
                  <a:schemeClr val="dk1"/>
                </a:solidFill>
              </a:defRPr>
            </a:lvl7pPr>
            <a:lvl8pPr marL="3657600" lvl="7" indent="-381000">
              <a:spcBef>
                <a:spcPts val="0"/>
              </a:spcBef>
              <a:spcAft>
                <a:spcPts val="0"/>
              </a:spcAft>
              <a:buClr>
                <a:schemeClr val="dk1"/>
              </a:buClr>
              <a:buSzPts val="2400"/>
              <a:buChar char="○"/>
              <a:defRPr>
                <a:solidFill>
                  <a:schemeClr val="dk1"/>
                </a:solidFill>
              </a:defRPr>
            </a:lvl8pPr>
            <a:lvl9pPr marL="4114800" lvl="8" indent="-381000">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10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2"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822960" y="214953"/>
            <a:ext cx="7543800" cy="1088068"/>
          </a:xfrm>
          <a:prstGeom prst="rect">
            <a:avLst/>
          </a:prstGeom>
          <a:noFill/>
          <a:ln>
            <a:noFill/>
          </a:ln>
        </p:spPr>
        <p:txBody>
          <a:bodyPr spcFirstLastPara="1" wrap="square" lIns="68569" tIns="34275" rIns="68569" bIns="34275" anchor="b" anchorCtr="0">
            <a:noAutofit/>
          </a:bodyPr>
          <a:lstStyle>
            <a:lvl1pPr marR="0" lvl="0" algn="l">
              <a:lnSpc>
                <a:spcPct val="85000"/>
              </a:lnSpc>
              <a:spcBef>
                <a:spcPts val="0"/>
              </a:spcBef>
              <a:spcAft>
                <a:spcPts val="0"/>
              </a:spcAft>
              <a:buClr>
                <a:srgbClr val="3F3F3F"/>
              </a:buClr>
              <a:buSzPts val="4800"/>
              <a:buFont typeface="Calibri"/>
              <a:buNone/>
              <a:defRPr sz="36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a:endParaRPr/>
          </a:p>
        </p:txBody>
      </p:sp>
      <p:sp>
        <p:nvSpPr>
          <p:cNvPr id="29" name="Google Shape;29;p3"/>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Autofit/>
          </a:bodyPr>
          <a:lstStyle>
            <a:lvl1pPr marL="342900" marR="0" lvl="0" indent="-266700" algn="l">
              <a:lnSpc>
                <a:spcPct val="90000"/>
              </a:lnSpc>
              <a:spcBef>
                <a:spcPts val="900"/>
              </a:spcBef>
              <a:spcAft>
                <a:spcPts val="0"/>
              </a:spcAft>
              <a:buClr>
                <a:schemeClr val="accent1"/>
              </a:buClr>
              <a:buSzPts val="2000"/>
              <a:buFont typeface="Calibri"/>
              <a:buChar char=" "/>
              <a:defRPr sz="1500" b="0" i="0" u="none" strike="noStrike" cap="none">
                <a:solidFill>
                  <a:srgbClr val="3F3F3F"/>
                </a:solidFill>
                <a:latin typeface="Calibri"/>
                <a:ea typeface="Calibri"/>
                <a:cs typeface="Calibri"/>
                <a:sym typeface="Calibri"/>
              </a:defRPr>
            </a:lvl1pPr>
            <a:lvl2pPr marL="685800" marR="0" lvl="1" indent="-257175" algn="l">
              <a:lnSpc>
                <a:spcPct val="90000"/>
              </a:lnSpc>
              <a:spcBef>
                <a:spcPts val="15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2pPr>
            <a:lvl3pPr marL="1028700" marR="0" lvl="2"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371600" marR="0" lvl="3"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1714500" marR="0" lvl="4"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057400" marR="0" lvl="5"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2400300" marR="0" lvl="6"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2743200" marR="0" lvl="7"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3086100" marR="0" lvl="8" indent="-238125" algn="l">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Ref idx="1003">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5" name="4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9" name="6 Marcador de número de diapositiva"/>
          <p:cNvSpPr txBox="1">
            <a:spLocks/>
          </p:cNvSpPr>
          <p:nvPr userDrawn="1"/>
        </p:nvSpPr>
        <p:spPr>
          <a:xfrm>
            <a:off x="8215338" y="4830000"/>
            <a:ext cx="548700" cy="313500"/>
          </a:xfrm>
          <a:prstGeom prst="rect">
            <a:avLst/>
          </a:prstGeom>
        </p:spPr>
        <p:txBody>
          <a:bodyPr/>
          <a:lstStyle>
            <a:lvl1pPr>
              <a:defRPr>
                <a:solidFill>
                  <a:schemeClr val="bg2">
                    <a:lumMod val="50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s-ES" sz="1400" b="0" i="0" u="none" strike="noStrike" kern="0" cap="none" spc="0" normalizeH="0" baseline="0" noProof="0" smtClean="0">
                <a:ln>
                  <a:noFill/>
                </a:ln>
                <a:solidFill>
                  <a:schemeClr val="bg2">
                    <a:lumMod val="50000"/>
                  </a:schemeClr>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‹Nº›</a:t>
            </a:fld>
            <a:endParaRPr kumimoji="0" lang="es-ES" sz="1400" b="0" i="0" u="none" strike="noStrike" kern="0" cap="none" spc="0" normalizeH="0" baseline="0" noProof="0" dirty="0">
              <a:ln>
                <a:noFill/>
              </a:ln>
              <a:solidFill>
                <a:schemeClr val="bg2">
                  <a:lumMod val="50000"/>
                </a:schemeClr>
              </a:solidFill>
              <a:effectLst/>
              <a:uLnTx/>
              <a:uFillTx/>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47483648" r:id="rId1"/>
    <p:sldLayoutId id="2147483649" r:id="rId2"/>
    <p:sldLayoutId id="2147483651" r:id="rId3"/>
    <p:sldLayoutId id="2147483659"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creativecommons.org/licenses/by-nc-nd/4.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285720" y="2762725"/>
            <a:ext cx="8246720" cy="1159800"/>
          </a:xfrm>
          <a:prstGeom prst="rect">
            <a:avLst/>
          </a:prstGeom>
        </p:spPr>
        <p:txBody>
          <a:bodyPr spcFirstLastPara="1" wrap="square" lIns="91425" tIns="91425" rIns="91425" bIns="91425" anchor="t" anchorCtr="0">
            <a:noAutofit/>
          </a:bodyPr>
          <a:lstStyle/>
          <a:p>
            <a:pPr lvl="0"/>
            <a:r>
              <a:rPr lang="sv-SE" sz="4000" dirty="0"/>
              <a:t>Bucles en PHP</a:t>
            </a:r>
            <a:endParaRPr lang="es-E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499382" y="124457"/>
            <a:ext cx="7886700" cy="994172"/>
          </a:xfrm>
          <a:prstGeom prst="rect">
            <a:avLst/>
          </a:prstGeom>
          <a:noFill/>
          <a:ln>
            <a:noFill/>
          </a:ln>
        </p:spPr>
        <p:txBody>
          <a:bodyPr spcFirstLastPara="1" wrap="square" lIns="68569" tIns="34275" rIns="68569" bIns="34275" anchor="b" anchorCtr="0">
            <a:noAutofit/>
          </a:bodyPr>
          <a:lstStyle/>
          <a:p>
            <a:pPr algn="ctr"/>
            <a:r>
              <a:rPr lang="en-US" b="1" dirty="0" err="1"/>
              <a:t>Licencia</a:t>
            </a:r>
            <a:endParaRPr/>
          </a:p>
        </p:txBody>
      </p:sp>
      <p:sp>
        <p:nvSpPr>
          <p:cNvPr id="113" name="Google Shape;113;p14"/>
          <p:cNvSpPr txBox="1"/>
          <p:nvPr/>
        </p:nvSpPr>
        <p:spPr>
          <a:xfrm>
            <a:off x="370115" y="1541274"/>
            <a:ext cx="8145234" cy="3052498"/>
          </a:xfrm>
          <a:prstGeom prst="rect">
            <a:avLst/>
          </a:prstGeom>
          <a:noFill/>
          <a:ln>
            <a:noFill/>
          </a:ln>
        </p:spPr>
        <p:txBody>
          <a:bodyPr spcFirstLastPara="1" wrap="square" lIns="0" tIns="34275" rIns="0" bIns="34275" anchor="t" anchorCtr="0">
            <a:noAutofit/>
          </a:bodyPr>
          <a:lstStyle/>
          <a:p>
            <a:pPr marL="272653" algn="ctr">
              <a:lnSpc>
                <a:spcPct val="90000"/>
              </a:lnSpc>
              <a:buClr>
                <a:schemeClr val="accent1"/>
              </a:buClr>
              <a:buSzPts val="2400"/>
            </a:pPr>
            <a:r>
              <a:rPr lang="en-US" sz="1800" b="1" dirty="0">
                <a:solidFill>
                  <a:srgbClr val="3F3F3F"/>
                </a:solidFill>
                <a:latin typeface="Calibri"/>
                <a:ea typeface="Calibri"/>
                <a:cs typeface="Calibri"/>
                <a:sym typeface="Calibri"/>
              </a:rPr>
              <a:t>Toda la </a:t>
            </a:r>
            <a:r>
              <a:rPr lang="en-US" sz="1800" b="1" dirty="0" err="1">
                <a:solidFill>
                  <a:srgbClr val="3F3F3F"/>
                </a:solidFill>
                <a:latin typeface="Calibri"/>
                <a:ea typeface="Calibri"/>
                <a:cs typeface="Calibri"/>
                <a:sym typeface="Calibri"/>
              </a:rPr>
              <a:t>documentación</a:t>
            </a:r>
            <a:r>
              <a:rPr lang="en-US" sz="1800" b="1" dirty="0">
                <a:solidFill>
                  <a:srgbClr val="3F3F3F"/>
                </a:solidFill>
                <a:latin typeface="Calibri"/>
                <a:ea typeface="Calibri"/>
                <a:cs typeface="Calibri"/>
                <a:sym typeface="Calibri"/>
              </a:rPr>
              <a:t> de </a:t>
            </a:r>
            <a:r>
              <a:rPr lang="en-US" sz="1800" b="1" dirty="0" err="1">
                <a:solidFill>
                  <a:srgbClr val="3F3F3F"/>
                </a:solidFill>
                <a:latin typeface="Calibri"/>
                <a:ea typeface="Calibri"/>
                <a:cs typeface="Calibri"/>
                <a:sym typeface="Calibri"/>
              </a:rPr>
              <a:t>esta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asignatura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queda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recogida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bajo</a:t>
            </a:r>
            <a:r>
              <a:rPr lang="en-US" sz="1800" b="1" dirty="0">
                <a:solidFill>
                  <a:srgbClr val="3F3F3F"/>
                </a:solidFill>
                <a:latin typeface="Calibri"/>
                <a:ea typeface="Calibri"/>
                <a:cs typeface="Calibri"/>
                <a:sym typeface="Calibri"/>
              </a:rPr>
              <a:t> la </a:t>
            </a:r>
            <a:r>
              <a:rPr lang="en-US" sz="1800" b="1" dirty="0" err="1">
                <a:solidFill>
                  <a:srgbClr val="3F3F3F"/>
                </a:solidFill>
                <a:latin typeface="Calibri"/>
                <a:ea typeface="Calibri"/>
                <a:cs typeface="Calibri"/>
                <a:sym typeface="Calibri"/>
              </a:rPr>
              <a:t>licencia</a:t>
            </a:r>
            <a:r>
              <a:rPr lang="en-US" sz="1800" b="1" dirty="0">
                <a:solidFill>
                  <a:srgbClr val="3F3F3F"/>
                </a:solidFill>
                <a:latin typeface="Calibri"/>
                <a:ea typeface="Calibri"/>
                <a:cs typeface="Calibri"/>
                <a:sym typeface="Calibri"/>
              </a:rPr>
              <a:t> de Creative Commons</a:t>
            </a:r>
            <a:endParaRPr sz="1800" b="1">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marL="68580" indent="-1903">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p:txBody>
      </p:sp>
      <p:pic>
        <p:nvPicPr>
          <p:cNvPr id="114" name="Google Shape;114;p14" descr="Licencia Creative Commons"/>
          <p:cNvPicPr preferRelativeResize="0"/>
          <p:nvPr/>
        </p:nvPicPr>
        <p:blipFill rotWithShape="1">
          <a:blip r:embed="rId3">
            <a:alphaModFix/>
          </a:blip>
          <a:srcRect/>
          <a:stretch/>
        </p:blipFill>
        <p:spPr>
          <a:xfrm>
            <a:off x="3400927" y="2398382"/>
            <a:ext cx="2083610" cy="733999"/>
          </a:xfrm>
          <a:prstGeom prst="rect">
            <a:avLst/>
          </a:prstGeom>
          <a:noFill/>
          <a:ln>
            <a:noFill/>
          </a:ln>
        </p:spPr>
      </p:pic>
      <p:sp>
        <p:nvSpPr>
          <p:cNvPr id="115" name="Google Shape;115;p14"/>
          <p:cNvSpPr/>
          <p:nvPr/>
        </p:nvSpPr>
        <p:spPr>
          <a:xfrm>
            <a:off x="2508212" y="3162748"/>
            <a:ext cx="4135490" cy="484748"/>
          </a:xfrm>
          <a:prstGeom prst="rect">
            <a:avLst/>
          </a:prstGeom>
          <a:noFill/>
          <a:ln>
            <a:noFill/>
          </a:ln>
        </p:spPr>
        <p:txBody>
          <a:bodyPr spcFirstLastPara="1" wrap="square" lIns="68569" tIns="34275" rIns="68569" bIns="34275" anchor="t" anchorCtr="0">
            <a:noAutofit/>
          </a:bodyPr>
          <a:lstStyle/>
          <a:p>
            <a:pPr>
              <a:buSzPts val="1800"/>
            </a:pPr>
            <a:r>
              <a:rPr lang="en-US" u="sng" dirty="0">
                <a:solidFill>
                  <a:schemeClr val="hlink"/>
                </a:solidFill>
                <a:latin typeface="Calibri"/>
                <a:ea typeface="Calibri"/>
                <a:cs typeface="Calibri"/>
                <a:sym typeface="Calibri"/>
                <a:hlinkClick r:id="rId4"/>
              </a:rPr>
              <a:t>https://creativecommons.org/licenses/by-nc-nd/4.0/</a:t>
            </a:r>
            <a:endParaRPr>
              <a:solidFill>
                <a:schemeClr val="dk1"/>
              </a:solidFill>
              <a:latin typeface="Calibri"/>
              <a:ea typeface="Calibri"/>
              <a:cs typeface="Calibri"/>
              <a:sym typeface="Calibri"/>
            </a:endParaRPr>
          </a:p>
          <a:p>
            <a:pPr>
              <a:buSzPts val="1800"/>
            </a:pPr>
            <a:endParaRPr>
              <a:solidFill>
                <a:schemeClr val="dk1"/>
              </a:solidFill>
              <a:latin typeface="Calibri"/>
              <a:ea typeface="Calibri"/>
              <a:cs typeface="Calibri"/>
              <a:sym typeface="Calibri"/>
            </a:endParaRPr>
          </a:p>
        </p:txBody>
      </p:sp>
      <p:sp>
        <p:nvSpPr>
          <p:cNvPr id="116" name="Google Shape;116;p14"/>
          <p:cNvSpPr/>
          <p:nvPr/>
        </p:nvSpPr>
        <p:spPr>
          <a:xfrm>
            <a:off x="604094" y="3585394"/>
            <a:ext cx="8145233" cy="1038746"/>
          </a:xfrm>
          <a:prstGeom prst="rect">
            <a:avLst/>
          </a:prstGeom>
          <a:noFill/>
          <a:ln>
            <a:noFill/>
          </a:ln>
        </p:spPr>
        <p:txBody>
          <a:bodyPr spcFirstLastPara="1" wrap="square" lIns="68569" tIns="34275" rIns="68569" bIns="34275" anchor="t" anchorCtr="0">
            <a:noAutofit/>
          </a:bodyPr>
          <a:lstStyle/>
          <a:p>
            <a:pPr algn="just">
              <a:buSzPts val="1200"/>
            </a:pPr>
            <a:r>
              <a:rPr lang="en-US" sz="900" i="1" dirty="0">
                <a:solidFill>
                  <a:srgbClr val="333333"/>
                </a:solidFill>
                <a:latin typeface="Helvetica Neue"/>
                <a:ea typeface="Helvetica Neue"/>
                <a:cs typeface="Helvetica Neue"/>
                <a:sym typeface="Helvetica Neue"/>
              </a:rPr>
              <a:t>En el </a:t>
            </a:r>
            <a:r>
              <a:rPr lang="en-US" sz="900" i="1" dirty="0" err="1">
                <a:solidFill>
                  <a:srgbClr val="333333"/>
                </a:solidFill>
                <a:latin typeface="Helvetica Neue"/>
                <a:ea typeface="Helvetica Neue"/>
                <a:cs typeface="Helvetica Neue"/>
                <a:sym typeface="Helvetica Neue"/>
              </a:rPr>
              <a:t>caso</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otra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habrá</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recurrir</a:t>
            </a:r>
            <a:r>
              <a:rPr lang="en-US" sz="900" i="1" dirty="0">
                <a:solidFill>
                  <a:srgbClr val="333333"/>
                </a:solidFill>
                <a:latin typeface="Helvetica Neue"/>
                <a:ea typeface="Helvetica Neue"/>
                <a:cs typeface="Helvetica Neue"/>
                <a:sym typeface="Helvetica Neue"/>
              </a:rPr>
              <a:t> a los </a:t>
            </a:r>
            <a:r>
              <a:rPr lang="en-US" sz="900" i="1" dirty="0" err="1">
                <a:solidFill>
                  <a:srgbClr val="333333"/>
                </a:solidFill>
                <a:latin typeface="Helvetica Neue"/>
                <a:ea typeface="Helvetica Neue"/>
                <a:cs typeface="Helvetica Neue"/>
                <a:sym typeface="Helvetica Neue"/>
              </a:rPr>
              <a:t>tribunales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Cuando</a:t>
            </a:r>
            <a:r>
              <a:rPr lang="en-US" sz="900" i="1" dirty="0">
                <a:solidFill>
                  <a:srgbClr val="333333"/>
                </a:solidFill>
                <a:latin typeface="Helvetica Neue"/>
                <a:ea typeface="Helvetica Neue"/>
                <a:cs typeface="Helvetica Neue"/>
                <a:sym typeface="Helvetica Neue"/>
              </a:rPr>
              <a:t> se </a:t>
            </a:r>
            <a:r>
              <a:rPr lang="en-US" sz="900" i="1" dirty="0" err="1">
                <a:solidFill>
                  <a:srgbClr val="333333"/>
                </a:solidFill>
                <a:latin typeface="Helvetica Neue"/>
                <a:ea typeface="Helvetica Neue"/>
                <a:cs typeface="Helvetica Neue"/>
                <a:sym typeface="Helvetica Neue"/>
              </a:rPr>
              <a:t>trate</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le </a:t>
            </a:r>
            <a:r>
              <a:rPr lang="en-US" sz="900" i="1" dirty="0" err="1">
                <a:solidFill>
                  <a:srgbClr val="333333"/>
                </a:solidFill>
                <a:latin typeface="Helvetica Neue"/>
                <a:ea typeface="Helvetica Neue"/>
                <a:cs typeface="Helvetica Neue"/>
                <a:sym typeface="Helvetica Neue"/>
              </a:rPr>
              <a:t>podrá</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propiedad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intelectual</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contractual (</a:t>
            </a:r>
            <a:r>
              <a:rPr lang="en-US" sz="900" i="1" dirty="0" err="1">
                <a:solidFill>
                  <a:srgbClr val="333333"/>
                </a:solidFill>
                <a:latin typeface="Helvetica Neue"/>
                <a:ea typeface="Helvetica Neue"/>
                <a:cs typeface="Helvetica Neue"/>
                <a:sym typeface="Helvetica Neue"/>
              </a:rPr>
              <a:t>ya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crea</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vínculo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directo</a:t>
            </a:r>
            <a:r>
              <a:rPr lang="en-US" sz="900" i="1" dirty="0">
                <a:solidFill>
                  <a:srgbClr val="333333"/>
                </a:solidFill>
                <a:latin typeface="Helvetica Neue"/>
                <a:ea typeface="Helvetica Neue"/>
                <a:cs typeface="Helvetica Neue"/>
                <a:sym typeface="Helvetica Neue"/>
              </a:rPr>
              <a:t> entre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a:t>
            </a:r>
            <a:r>
              <a:rPr lang="en-US" sz="900" i="1" dirty="0" err="1">
                <a:solidFill>
                  <a:srgbClr val="333333"/>
                </a:solidFill>
                <a:latin typeface="Helvetica Neue"/>
                <a:ea typeface="Helvetica Neue"/>
                <a:cs typeface="Helvetica Neue"/>
                <a:sym typeface="Helvetica Neue"/>
              </a:rPr>
              <a:t>licenciatario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derecho</a:t>
            </a:r>
            <a:r>
              <a:rPr lang="en-US" sz="900" i="1" dirty="0">
                <a:solidFill>
                  <a:srgbClr val="333333"/>
                </a:solidFill>
                <a:latin typeface="Helvetica Neue"/>
                <a:ea typeface="Helvetica Neue"/>
                <a:cs typeface="Helvetica Neue"/>
                <a:sym typeface="Helvetica Neue"/>
              </a:rPr>
              <a:t> moral de </a:t>
            </a:r>
            <a:r>
              <a:rPr lang="en-US" sz="900" i="1" dirty="0" err="1">
                <a:solidFill>
                  <a:srgbClr val="333333"/>
                </a:solidFill>
                <a:latin typeface="Helvetica Neue"/>
                <a:ea typeface="Helvetica Neue"/>
                <a:cs typeface="Helvetica Neue"/>
                <a:sym typeface="Helvetica Neue"/>
              </a:rPr>
              <a:t>integridad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recogido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legislación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española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protegido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aunque</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aparezca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las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Estas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sustituyen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ni</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reducen</a:t>
            </a:r>
            <a:r>
              <a:rPr lang="en-US" sz="900" i="1" dirty="0">
                <a:solidFill>
                  <a:srgbClr val="333333"/>
                </a:solidFill>
                <a:latin typeface="Helvetica Neue"/>
                <a:ea typeface="Helvetica Neue"/>
                <a:cs typeface="Helvetica Neue"/>
                <a:sym typeface="Helvetica Neue"/>
              </a:rPr>
              <a:t> los </a:t>
            </a:r>
            <a:r>
              <a:rPr lang="en-US" sz="900" i="1" dirty="0" err="1">
                <a:solidFill>
                  <a:srgbClr val="333333"/>
                </a:solidFill>
                <a:latin typeface="Helvetica Neue"/>
                <a:ea typeface="Helvetica Neue"/>
                <a:cs typeface="Helvetica Neue"/>
                <a:sym typeface="Helvetica Neue"/>
              </a:rPr>
              <a:t>derechos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ley</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confiere</a:t>
            </a:r>
            <a:r>
              <a:rPr lang="en-US" sz="900" i="1" dirty="0">
                <a:solidFill>
                  <a:srgbClr val="333333"/>
                </a:solidFill>
                <a:latin typeface="Helvetica Neue"/>
                <a:ea typeface="Helvetica Neue"/>
                <a:cs typeface="Helvetica Neue"/>
                <a:sym typeface="Helvetica Neue"/>
              </a:rPr>
              <a:t> al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podría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hubiera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modificado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mutilado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causando</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perjuicio</a:t>
            </a:r>
            <a:r>
              <a:rPr lang="en-US" sz="900" i="1" dirty="0">
                <a:solidFill>
                  <a:srgbClr val="333333"/>
                </a:solidFill>
                <a:latin typeface="Helvetica Neue"/>
                <a:ea typeface="Helvetica Neue"/>
                <a:cs typeface="Helvetica Neue"/>
                <a:sym typeface="Helvetica Neue"/>
              </a:rPr>
              <a:t> a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sus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descontado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decisión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ha </a:t>
            </a:r>
            <a:r>
              <a:rPr lang="en-US" sz="900" i="1" dirty="0" err="1">
                <a:solidFill>
                  <a:srgbClr val="333333"/>
                </a:solidFill>
                <a:latin typeface="Helvetica Neue"/>
                <a:ea typeface="Helvetica Neue"/>
                <a:cs typeface="Helvetica Neue"/>
                <a:sym typeface="Helvetica Neue"/>
              </a:rPr>
              <a:t>habido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y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perjudica</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los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del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quedaría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manos</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cada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Juez</a:t>
            </a:r>
            <a:r>
              <a:rPr lang="en-US" sz="900" i="1" dirty="0">
                <a:solidFill>
                  <a:srgbClr val="333333"/>
                </a:solidFill>
                <a:latin typeface="Helvetica Neue"/>
                <a:ea typeface="Helvetica Neue"/>
                <a:cs typeface="Helvetica Neue"/>
                <a:sym typeface="Helvetica Neue"/>
              </a:rPr>
              <a:t> o Tribunal.</a:t>
            </a:r>
            <a:endParaRPr sz="900" i="1">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7100C31C-9A77-D374-A099-85DC6520A305}"/>
              </a:ext>
            </a:extLst>
          </p:cNvPr>
          <p:cNvSpPr txBox="1"/>
          <p:nvPr/>
        </p:nvSpPr>
        <p:spPr>
          <a:xfrm>
            <a:off x="107504" y="843558"/>
            <a:ext cx="8640960" cy="3046988"/>
          </a:xfrm>
          <a:prstGeom prst="rect">
            <a:avLst/>
          </a:prstGeom>
          <a:noFill/>
        </p:spPr>
        <p:txBody>
          <a:bodyPr wrap="square">
            <a:spAutoFit/>
          </a:bodyPr>
          <a:lstStyle/>
          <a:p>
            <a:pPr algn="l"/>
            <a:r>
              <a:rPr lang="es-ES" sz="2400" dirty="0">
                <a:solidFill>
                  <a:schemeClr val="bg2">
                    <a:lumMod val="50000"/>
                  </a:schemeClr>
                </a:solidFill>
                <a:latin typeface="Calibri" panose="020F0502020204030204" pitchFamily="34" charset="0"/>
                <a:ea typeface="Lato"/>
                <a:cs typeface="Calibri" panose="020F0502020204030204" pitchFamily="34" charset="0"/>
                <a:sym typeface="Lato"/>
              </a:rPr>
              <a:t>Los ordenadores, como cualquier máquina, están diseñados para realizar tareas repetitivas. Es por ello que nuestros programas pueden aprovecharse de este principio para realizar una determinada secuencia de instrucciones un cierto número de veces. Para ello, utilizamos las estructuras llamadas en bucle que nos ayudan a, usando unas pocas líneas, realizar una tarea incluida dentro del bucle un cierto numero de veces definido por nosotros mismos.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a:t>
            </a:fld>
            <a:endParaRPr lang="es-ES" dirty="0"/>
          </a:p>
        </p:txBody>
      </p:sp>
      <p:sp>
        <p:nvSpPr>
          <p:cNvPr id="3" name="Marcador de texto 2">
            <a:extLst>
              <a:ext uri="{FF2B5EF4-FFF2-40B4-BE49-F238E27FC236}">
                <a16:creationId xmlns:a16="http://schemas.microsoft.com/office/drawing/2014/main" id="{0DF5DE14-AB8C-C9D2-B109-B988CB6F2310}"/>
              </a:ext>
            </a:extLst>
          </p:cNvPr>
          <p:cNvSpPr>
            <a:spLocks noGrp="1"/>
          </p:cNvSpPr>
          <p:nvPr>
            <p:ph type="body" idx="1"/>
          </p:nvPr>
        </p:nvSpPr>
        <p:spPr>
          <a:xfrm>
            <a:off x="379962" y="1203598"/>
            <a:ext cx="8384076" cy="2638322"/>
          </a:xfrm>
        </p:spPr>
        <p:txBody>
          <a:bodyPr/>
          <a:lstStyle/>
          <a:p>
            <a:r>
              <a:rPr lang="es-ES" sz="1600" dirty="0"/>
              <a:t>Los bucles se usan para muchas cosas, siendo una de las más importantes el recorrido de estructuras de datos como los </a:t>
            </a:r>
            <a:r>
              <a:rPr lang="es-ES" sz="1600" dirty="0" err="1"/>
              <a:t>arrays</a:t>
            </a:r>
            <a:r>
              <a:rPr lang="es-ES" sz="1600" dirty="0"/>
              <a:t>. Además en todo tipo de algoritmos en los que quieras iterar por distintos elementos. Casos de uso serían recorrer un archivo de texto línea a línea, realizar una entrada de datos hasta que el usuario escriba un dato en el formato necesario, etc.</a:t>
            </a:r>
          </a:p>
          <a:p>
            <a:endParaRPr lang="es-ES" sz="1600" dirty="0"/>
          </a:p>
          <a:p>
            <a:r>
              <a:rPr lang="es-ES" sz="1600" dirty="0"/>
              <a:t>Para realizar las repeticiones en los lenguajes de programación suelen aportarse distintos tipos de estructuras que vamos a resumir antes de empezar a tratarlas con detalle:</a:t>
            </a:r>
          </a:p>
        </p:txBody>
      </p:sp>
      <p:sp>
        <p:nvSpPr>
          <p:cNvPr id="6" name="CuadroTexto 5">
            <a:extLst>
              <a:ext uri="{FF2B5EF4-FFF2-40B4-BE49-F238E27FC236}">
                <a16:creationId xmlns:a16="http://schemas.microsoft.com/office/drawing/2014/main" id="{296ECD00-B3BA-20BB-0522-0BEF582D6CA1}"/>
              </a:ext>
            </a:extLst>
          </p:cNvPr>
          <p:cNvSpPr txBox="1"/>
          <p:nvPr/>
        </p:nvSpPr>
        <p:spPr>
          <a:xfrm>
            <a:off x="532109" y="217612"/>
            <a:ext cx="8208912" cy="553998"/>
          </a:xfrm>
          <a:prstGeom prst="rect">
            <a:avLst/>
          </a:prstGeom>
          <a:noFill/>
        </p:spPr>
        <p:txBody>
          <a:bodyPr wrap="square">
            <a:spAutoFit/>
          </a:bodyPr>
          <a:lstStyle/>
          <a:p>
            <a:pPr algn="l"/>
            <a:r>
              <a:rPr lang="es-ES" sz="3000" b="0" i="0" dirty="0">
                <a:solidFill>
                  <a:srgbClr val="000000"/>
                </a:solidFill>
                <a:effectLst/>
                <a:latin typeface="Roboto" panose="02000000000000000000" pitchFamily="2" charset="0"/>
              </a:rPr>
              <a:t>Estructuras de repetición en PHP</a:t>
            </a:r>
          </a:p>
        </p:txBody>
      </p:sp>
    </p:spTree>
    <p:extLst>
      <p:ext uri="{BB962C8B-B14F-4D97-AF65-F5344CB8AC3E}">
        <p14:creationId xmlns:p14="http://schemas.microsoft.com/office/powerpoint/2010/main" val="814954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518779" y="320750"/>
            <a:ext cx="8388932" cy="857400"/>
          </a:xfrm>
        </p:spPr>
        <p:txBody>
          <a:bodyPr/>
          <a:lstStyle/>
          <a:p>
            <a:pPr algn="l"/>
            <a:endParaRPr lang="es-ES" sz="3200"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5</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94743" y="1277344"/>
            <a:ext cx="8712968" cy="3552300"/>
          </a:xfrm>
        </p:spPr>
        <p:txBody>
          <a:bodyPr/>
          <a:lstStyle/>
          <a:p>
            <a:pPr marL="114300" indent="0">
              <a:buNone/>
            </a:pPr>
            <a:r>
              <a:rPr lang="es-ES" sz="1800" b="1" dirty="0"/>
              <a:t>Estructura </a:t>
            </a:r>
            <a:r>
              <a:rPr lang="es-ES" sz="1800" b="1" dirty="0" err="1"/>
              <a:t>for</a:t>
            </a:r>
            <a:r>
              <a:rPr lang="es-ES" sz="1800" b="1" dirty="0"/>
              <a:t>:</a:t>
            </a:r>
            <a:r>
              <a:rPr lang="es-ES" sz="1800" dirty="0"/>
              <a:t> permite configurar una repetición de manera muy explícita, indicando qué variable vamos a usar para llevar la cuenta de las repeticiones, hasta qué punto vamos a seguir repitiendo, etc.</a:t>
            </a:r>
          </a:p>
          <a:p>
            <a:pPr marL="114300" indent="0">
              <a:buNone/>
            </a:pPr>
            <a:endParaRPr lang="es-ES" sz="1800" dirty="0"/>
          </a:p>
          <a:p>
            <a:pPr marL="114300" indent="0">
              <a:buNone/>
            </a:pPr>
            <a:r>
              <a:rPr lang="es-ES" sz="1800" b="1" dirty="0"/>
              <a:t>Estructura </a:t>
            </a:r>
            <a:r>
              <a:rPr lang="es-ES" sz="1800" b="1" dirty="0" err="1"/>
              <a:t>while</a:t>
            </a:r>
            <a:r>
              <a:rPr lang="es-ES" sz="1800" b="1" dirty="0"/>
              <a:t>:</a:t>
            </a:r>
            <a:r>
              <a:rPr lang="es-ES" sz="1800" dirty="0"/>
              <a:t> permite comprobar si se cumple una condición y si es así, ejecutar un código... que se repetirá hasta que no se cumpla la expresión.</a:t>
            </a:r>
          </a:p>
          <a:p>
            <a:pPr marL="114300" indent="0">
              <a:buNone/>
            </a:pPr>
            <a:endParaRPr lang="es-ES" sz="1800" dirty="0"/>
          </a:p>
          <a:p>
            <a:pPr marL="114300" indent="0">
              <a:buNone/>
            </a:pPr>
            <a:r>
              <a:rPr lang="es-ES" sz="1800" b="1" dirty="0"/>
              <a:t>Estructura do-</a:t>
            </a:r>
            <a:r>
              <a:rPr lang="es-ES" sz="1800" b="1" dirty="0" err="1"/>
              <a:t>while</a:t>
            </a:r>
            <a:r>
              <a:rPr lang="es-ES" sz="1800" dirty="0"/>
              <a:t>: es una variante del </a:t>
            </a:r>
            <a:r>
              <a:rPr lang="es-ES" sz="1800" dirty="0" err="1"/>
              <a:t>while</a:t>
            </a:r>
            <a:r>
              <a:rPr lang="es-ES" sz="1800" dirty="0"/>
              <a:t> pero donde primero se ejecuta el cuerpo del bucle y una vez se ha ejecutado se comprueba si se cumple la expresión, en cuyo caso se sigue repitiendo el bucle.</a:t>
            </a:r>
          </a:p>
        </p:txBody>
      </p:sp>
    </p:spTree>
    <p:extLst>
      <p:ext uri="{BB962C8B-B14F-4D97-AF65-F5344CB8AC3E}">
        <p14:creationId xmlns:p14="http://schemas.microsoft.com/office/powerpoint/2010/main" val="2553485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5758" y="181041"/>
            <a:ext cx="9000738" cy="857400"/>
          </a:xfrm>
        </p:spPr>
        <p:txBody>
          <a:bodyPr/>
          <a:lstStyle/>
          <a:p>
            <a:pPr algn="l"/>
            <a:r>
              <a:rPr lang="es-ES" b="0" i="0" dirty="0">
                <a:solidFill>
                  <a:srgbClr val="000000"/>
                </a:solidFill>
                <a:effectLst/>
                <a:latin typeface="Roboto" panose="02000000000000000000" pitchFamily="2" charset="0"/>
              </a:rPr>
              <a:t>Cuándo usar una estructura de repetición u otra</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5758" y="1635646"/>
            <a:ext cx="8640960" cy="1625803"/>
          </a:xfrm>
        </p:spPr>
        <p:txBody>
          <a:bodyPr/>
          <a:lstStyle/>
          <a:p>
            <a:r>
              <a:rPr lang="es-ES" sz="1600" dirty="0"/>
              <a:t>Una de las cosas que nos preguntamos cuando estamos empezando es: de entre todas las posibles estructuras de repetición ¿cuál es la que debo de utilizar? </a:t>
            </a:r>
          </a:p>
          <a:p>
            <a:endParaRPr lang="es-ES" sz="1600" dirty="0"/>
          </a:p>
          <a:p>
            <a:r>
              <a:rPr lang="es-ES" sz="1600" dirty="0"/>
              <a:t>La respuesta te la da la experiencia, por lo que en realidad cuando tengas un poco de tiempo programando no tendrás dudas de cuál puede ser la mejor para tu problema. De todos modos, estas serían unas ideas básicas iniciales para saber qué tipo de bucle usar:</a:t>
            </a:r>
          </a:p>
        </p:txBody>
      </p:sp>
    </p:spTree>
    <p:extLst>
      <p:ext uri="{BB962C8B-B14F-4D97-AF65-F5344CB8AC3E}">
        <p14:creationId xmlns:p14="http://schemas.microsoft.com/office/powerpoint/2010/main" val="829502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339502"/>
            <a:ext cx="8496944" cy="857400"/>
          </a:xfrm>
        </p:spPr>
        <p:txBody>
          <a:bodyPr/>
          <a:lstStyle/>
          <a:p>
            <a:endParaRPr lang="es-ES" sz="3200" dirty="0">
              <a:solidFill>
                <a:schemeClr val="bg2">
                  <a:lumMod val="25000"/>
                </a:schemeClr>
              </a:solidFill>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7</a:t>
            </a:fld>
            <a:endParaRPr lang="es-ES" dirty="0"/>
          </a:p>
        </p:txBody>
      </p:sp>
      <p:sp>
        <p:nvSpPr>
          <p:cNvPr id="6" name="Marcador de texto 5">
            <a:extLst>
              <a:ext uri="{FF2B5EF4-FFF2-40B4-BE49-F238E27FC236}">
                <a16:creationId xmlns:a16="http://schemas.microsoft.com/office/drawing/2014/main" id="{556A9302-4D8C-11C5-0E20-56F20F84A1D6}"/>
              </a:ext>
            </a:extLst>
          </p:cNvPr>
          <p:cNvSpPr>
            <a:spLocks noGrp="1"/>
          </p:cNvSpPr>
          <p:nvPr>
            <p:ph type="body" idx="1"/>
          </p:nvPr>
        </p:nvSpPr>
        <p:spPr>
          <a:xfrm>
            <a:off x="217712" y="1172916"/>
            <a:ext cx="8546326" cy="3552300"/>
          </a:xfrm>
        </p:spPr>
        <p:txBody>
          <a:bodyPr/>
          <a:lstStyle/>
          <a:p>
            <a:pPr marL="114300" indent="0">
              <a:buNone/>
            </a:pPr>
            <a:r>
              <a:rPr lang="es-ES" sz="1600" dirty="0"/>
              <a:t>Usa el bucle </a:t>
            </a:r>
            <a:r>
              <a:rPr lang="es-ES" sz="1600" dirty="0" err="1"/>
              <a:t>for</a:t>
            </a:r>
            <a:r>
              <a:rPr lang="es-ES" sz="1600" dirty="0"/>
              <a:t> cuando sepas de antemano cuántas veces necesitas hacer una repetición</a:t>
            </a:r>
          </a:p>
          <a:p>
            <a:pPr marL="114300" indent="0">
              <a:buNone/>
            </a:pPr>
            <a:endParaRPr lang="es-ES" sz="1600" dirty="0"/>
          </a:p>
          <a:p>
            <a:pPr marL="114300" indent="0">
              <a:buNone/>
            </a:pPr>
            <a:r>
              <a:rPr lang="es-ES" sz="1600" dirty="0"/>
              <a:t>Usa el bucle </a:t>
            </a:r>
            <a:r>
              <a:rPr lang="es-ES" sz="1600" dirty="0" err="1"/>
              <a:t>while</a:t>
            </a:r>
            <a:r>
              <a:rPr lang="es-ES" sz="1600" dirty="0"/>
              <a:t> cuando no sabes a priori cuántas veces se va a realizar la iteración, pueden ser más o menos dependiendo de cómo vayan las cosas.</a:t>
            </a:r>
          </a:p>
          <a:p>
            <a:pPr marL="114300" indent="0">
              <a:buNone/>
            </a:pPr>
            <a:endParaRPr lang="es-ES" sz="1600" dirty="0"/>
          </a:p>
          <a:p>
            <a:pPr marL="114300" indent="0">
              <a:buNone/>
            </a:pPr>
            <a:r>
              <a:rPr lang="es-ES" sz="1600" dirty="0"/>
              <a:t>Usa el bucle do-</a:t>
            </a:r>
            <a:r>
              <a:rPr lang="es-ES" sz="1600" dirty="0" err="1"/>
              <a:t>while</a:t>
            </a:r>
            <a:r>
              <a:rPr lang="es-ES" sz="1600" dirty="0"/>
              <a:t> cuando no sabes cuántas veces se va a tener que iterar pero sabes que, al menos, será necesaria una iteración.</a:t>
            </a:r>
          </a:p>
        </p:txBody>
      </p:sp>
    </p:spTree>
    <p:extLst>
      <p:ext uri="{BB962C8B-B14F-4D97-AF65-F5344CB8AC3E}">
        <p14:creationId xmlns:p14="http://schemas.microsoft.com/office/powerpoint/2010/main" val="279470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67094" y="146895"/>
            <a:ext cx="8496944" cy="857400"/>
          </a:xfrm>
        </p:spPr>
        <p:txBody>
          <a:bodyPr/>
          <a:lstStyle/>
          <a:p>
            <a:pPr algn="l"/>
            <a:endParaRPr lang="es-ES"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8</a:t>
            </a:fld>
            <a:endParaRPr lang="es-ES" dirty="0"/>
          </a:p>
        </p:txBody>
      </p:sp>
      <p:sp>
        <p:nvSpPr>
          <p:cNvPr id="12" name="CuadroTexto 11">
            <a:extLst>
              <a:ext uri="{FF2B5EF4-FFF2-40B4-BE49-F238E27FC236}">
                <a16:creationId xmlns:a16="http://schemas.microsoft.com/office/drawing/2014/main" id="{970C48E1-56EE-208B-8B19-5584C688C71D}"/>
              </a:ext>
            </a:extLst>
          </p:cNvPr>
          <p:cNvSpPr txBox="1"/>
          <p:nvPr/>
        </p:nvSpPr>
        <p:spPr>
          <a:xfrm>
            <a:off x="179512" y="1270543"/>
            <a:ext cx="8784976" cy="3293209"/>
          </a:xfrm>
          <a:prstGeom prst="rect">
            <a:avLst/>
          </a:prstGeom>
          <a:noFill/>
        </p:spPr>
        <p:txBody>
          <a:bodyPr wrap="square">
            <a:spAutoFit/>
          </a:bodyPr>
          <a:lstStyle/>
          <a:p>
            <a:r>
              <a:rPr lang="es-ES" sz="1600" dirty="0">
                <a:solidFill>
                  <a:schemeClr val="dk1"/>
                </a:solidFill>
                <a:latin typeface="Lato"/>
                <a:ea typeface="Lato"/>
                <a:cs typeface="Lato"/>
                <a:sym typeface="Lato"/>
              </a:rPr>
              <a:t>Un </a:t>
            </a:r>
            <a:r>
              <a:rPr lang="es-ES" sz="1600" dirty="0" err="1">
                <a:solidFill>
                  <a:schemeClr val="dk1"/>
                </a:solidFill>
                <a:latin typeface="Lato"/>
                <a:ea typeface="Lato"/>
                <a:cs typeface="Lato"/>
                <a:sym typeface="Lato"/>
              </a:rPr>
              <a:t>ejemolo</a:t>
            </a:r>
            <a:r>
              <a:rPr lang="es-ES" sz="1600" dirty="0">
                <a:solidFill>
                  <a:schemeClr val="dk1"/>
                </a:solidFill>
                <a:latin typeface="Lato"/>
                <a:ea typeface="Lato"/>
                <a:cs typeface="Lato"/>
                <a:sym typeface="Lato"/>
              </a:rPr>
              <a:t> de bucle donde sería adecuado usar un </a:t>
            </a:r>
            <a:r>
              <a:rPr lang="es-ES" sz="1600" dirty="0" err="1">
                <a:solidFill>
                  <a:schemeClr val="dk1"/>
                </a:solidFill>
                <a:latin typeface="Lato"/>
                <a:ea typeface="Lato"/>
                <a:cs typeface="Lato"/>
                <a:sym typeface="Lato"/>
              </a:rPr>
              <a:t>for</a:t>
            </a:r>
            <a:r>
              <a:rPr lang="es-ES" sz="1600" dirty="0">
                <a:solidFill>
                  <a:schemeClr val="dk1"/>
                </a:solidFill>
                <a:latin typeface="Lato"/>
                <a:ea typeface="Lato"/>
                <a:cs typeface="Lato"/>
                <a:sym typeface="Lato"/>
              </a:rPr>
              <a:t> sería recorrer un array hasta el final, o mostrar la tabla del 9.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Luego, el uso de </a:t>
            </a:r>
            <a:r>
              <a:rPr lang="es-ES" sz="1600" dirty="0" err="1">
                <a:solidFill>
                  <a:schemeClr val="dk1"/>
                </a:solidFill>
                <a:latin typeface="Lato"/>
                <a:ea typeface="Lato"/>
                <a:cs typeface="Lato"/>
                <a:sym typeface="Lato"/>
              </a:rPr>
              <a:t>while</a:t>
            </a:r>
            <a:r>
              <a:rPr lang="es-ES" sz="1600" dirty="0">
                <a:solidFill>
                  <a:schemeClr val="dk1"/>
                </a:solidFill>
                <a:latin typeface="Lato"/>
                <a:ea typeface="Lato"/>
                <a:cs typeface="Lato"/>
                <a:sym typeface="Lato"/>
              </a:rPr>
              <a:t> y do-</a:t>
            </a:r>
            <a:r>
              <a:rPr lang="es-ES" sz="1600" dirty="0" err="1">
                <a:solidFill>
                  <a:schemeClr val="dk1"/>
                </a:solidFill>
                <a:latin typeface="Lato"/>
                <a:ea typeface="Lato"/>
                <a:cs typeface="Lato"/>
                <a:sym typeface="Lato"/>
              </a:rPr>
              <a:t>while</a:t>
            </a:r>
            <a:r>
              <a:rPr lang="es-ES" sz="1600" dirty="0">
                <a:solidFill>
                  <a:schemeClr val="dk1"/>
                </a:solidFill>
                <a:latin typeface="Lato"/>
                <a:ea typeface="Lato"/>
                <a:cs typeface="Lato"/>
                <a:sym typeface="Lato"/>
              </a:rPr>
              <a:t> a veces es indistinto y tiene pequeños matices que pueden llevarte a elegir uno u otro, pero generalmente con pocos cambios en tu código se adaptaría bien una u otra alternativa.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Por ejemplo para pedir al usuario un número entero entre 1 y 10 podrías usar el do-</a:t>
            </a:r>
            <a:r>
              <a:rPr lang="es-ES" sz="1600" dirty="0" err="1">
                <a:solidFill>
                  <a:schemeClr val="dk1"/>
                </a:solidFill>
                <a:latin typeface="Lato"/>
                <a:ea typeface="Lato"/>
                <a:cs typeface="Lato"/>
                <a:sym typeface="Lato"/>
              </a:rPr>
              <a:t>while</a:t>
            </a:r>
            <a:r>
              <a:rPr lang="es-ES" sz="1600" dirty="0">
                <a:solidFill>
                  <a:schemeClr val="dk1"/>
                </a:solidFill>
                <a:latin typeface="Lato"/>
                <a:ea typeface="Lato"/>
                <a:cs typeface="Lato"/>
                <a:sym typeface="Lato"/>
              </a:rPr>
              <a:t>, dado que al menos se lo tendrás que pedir una vez.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Un ejemplo donde podrías usar el bucle </a:t>
            </a:r>
            <a:r>
              <a:rPr lang="es-ES" sz="1600" dirty="0" err="1">
                <a:solidFill>
                  <a:schemeClr val="dk1"/>
                </a:solidFill>
                <a:latin typeface="Lato"/>
                <a:ea typeface="Lato"/>
                <a:cs typeface="Lato"/>
                <a:sym typeface="Lato"/>
              </a:rPr>
              <a:t>while</a:t>
            </a:r>
            <a:r>
              <a:rPr lang="es-ES" sz="1600" dirty="0">
                <a:solidFill>
                  <a:schemeClr val="dk1"/>
                </a:solidFill>
                <a:latin typeface="Lato"/>
                <a:ea typeface="Lato"/>
                <a:cs typeface="Lato"/>
                <a:sym typeface="Lato"/>
              </a:rPr>
              <a:t> sería recorrer un array hasta que encuentras un valor determinado pues quizás en la primera casilla ya tenías el valor que buscabas y no necesitabas repetir nada.</a:t>
            </a:r>
          </a:p>
        </p:txBody>
      </p:sp>
    </p:spTree>
    <p:extLst>
      <p:ext uri="{BB962C8B-B14F-4D97-AF65-F5344CB8AC3E}">
        <p14:creationId xmlns:p14="http://schemas.microsoft.com/office/powerpoint/2010/main" val="790137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01135"/>
            <a:ext cx="8712968" cy="857400"/>
          </a:xfrm>
        </p:spPr>
        <p:txBody>
          <a:bodyPr/>
          <a:lstStyle/>
          <a:p>
            <a:pPr algn="l"/>
            <a:r>
              <a:rPr lang="es-ES" b="0" i="0" dirty="0">
                <a:solidFill>
                  <a:srgbClr val="000000"/>
                </a:solidFill>
                <a:effectLst/>
                <a:latin typeface="Roboto" panose="02000000000000000000" pitchFamily="2" charset="0"/>
              </a:rPr>
              <a:t>Bucle </a:t>
            </a:r>
            <a:r>
              <a:rPr lang="es-ES" b="0" i="0" dirty="0" err="1">
                <a:solidFill>
                  <a:srgbClr val="000000"/>
                </a:solidFill>
                <a:effectLst/>
                <a:latin typeface="Roboto" panose="02000000000000000000" pitchFamily="2" charset="0"/>
              </a:rPr>
              <a:t>while</a:t>
            </a:r>
            <a:endParaRPr lang="es-ES"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9</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71500" y="1277700"/>
            <a:ext cx="8856984" cy="3552300"/>
          </a:xfrm>
        </p:spPr>
        <p:txBody>
          <a:bodyPr/>
          <a:lstStyle/>
          <a:p>
            <a:r>
              <a:rPr lang="es-ES" sz="1600" dirty="0"/>
              <a:t>Sin duda el bucle más utilizado y el más sencillo. Lo usamos para ejecutar las instrucciones contenidas en su interior siempre y cuando la condición definida sea verdadera. La estructura sintáctica es la siguiente.</a:t>
            </a:r>
            <a:endParaRPr lang="es-ES" sz="1500" i="1" dirty="0"/>
          </a:p>
        </p:txBody>
      </p:sp>
      <p:sp>
        <p:nvSpPr>
          <p:cNvPr id="8" name="Rectangle 1">
            <a:extLst>
              <a:ext uri="{FF2B5EF4-FFF2-40B4-BE49-F238E27FC236}">
                <a16:creationId xmlns:a16="http://schemas.microsoft.com/office/drawing/2014/main" id="{1C23C2DB-7F89-32A5-3A6D-1118AAD24638}"/>
              </a:ext>
            </a:extLst>
          </p:cNvPr>
          <p:cNvSpPr>
            <a:spLocks noChangeArrowheads="1"/>
          </p:cNvSpPr>
          <p:nvPr/>
        </p:nvSpPr>
        <p:spPr bwMode="auto">
          <a:xfrm>
            <a:off x="539552" y="2325633"/>
            <a:ext cx="3744416" cy="1237468"/>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err="1">
                <a:ln>
                  <a:noFill/>
                </a:ln>
                <a:solidFill>
                  <a:srgbClr val="859900"/>
                </a:solidFill>
                <a:effectLst/>
                <a:latin typeface="Consolas" panose="020B0609020204030204" pitchFamily="49" charset="0"/>
              </a:rPr>
              <a:t>while</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condición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instruccion1</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instruccion2</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
        <p:nvSpPr>
          <p:cNvPr id="10" name="CuadroTexto 9">
            <a:extLst>
              <a:ext uri="{FF2B5EF4-FFF2-40B4-BE49-F238E27FC236}">
                <a16:creationId xmlns:a16="http://schemas.microsoft.com/office/drawing/2014/main" id="{0D5DED18-CD56-639C-EAD6-9471D9A37A55}"/>
              </a:ext>
            </a:extLst>
          </p:cNvPr>
          <p:cNvSpPr txBox="1"/>
          <p:nvPr/>
        </p:nvSpPr>
        <p:spPr>
          <a:xfrm>
            <a:off x="4699351" y="2427734"/>
            <a:ext cx="3473049" cy="1569660"/>
          </a:xfrm>
          <a:prstGeom prst="rect">
            <a:avLst/>
          </a:prstGeom>
          <a:noFill/>
        </p:spPr>
        <p:txBody>
          <a:bodyPr wrap="square">
            <a:spAutoFit/>
          </a:bodyPr>
          <a:lstStyle/>
          <a:p>
            <a:r>
              <a:rPr lang="es-ES" sz="1600" dirty="0">
                <a:solidFill>
                  <a:schemeClr val="dk1"/>
                </a:solidFill>
                <a:latin typeface="Lato"/>
                <a:ea typeface="Lato"/>
                <a:cs typeface="Lato"/>
                <a:sym typeface="Lato"/>
              </a:rPr>
              <a:t>En el anterior </a:t>
            </a:r>
            <a:r>
              <a:rPr lang="es-ES" sz="1600" dirty="0" err="1">
                <a:solidFill>
                  <a:schemeClr val="dk1"/>
                </a:solidFill>
                <a:latin typeface="Lato"/>
                <a:ea typeface="Lato"/>
                <a:cs typeface="Lato"/>
                <a:sym typeface="Lato"/>
              </a:rPr>
              <a:t>pseudo-código</a:t>
            </a:r>
            <a:r>
              <a:rPr lang="es-ES" sz="1600" dirty="0">
                <a:solidFill>
                  <a:schemeClr val="dk1"/>
                </a:solidFill>
                <a:latin typeface="Lato"/>
                <a:ea typeface="Lato"/>
                <a:cs typeface="Lato"/>
                <a:sym typeface="Lato"/>
              </a:rPr>
              <a:t> hemos querido expresar que existe una condición y siempre que se cumpla se ejecutarán las instrucciones 1 y 2, o cualquier número de sentencias que coloques entre las llaves.</a:t>
            </a:r>
          </a:p>
        </p:txBody>
      </p:sp>
    </p:spTree>
    <p:extLst>
      <p:ext uri="{BB962C8B-B14F-4D97-AF65-F5344CB8AC3E}">
        <p14:creationId xmlns:p14="http://schemas.microsoft.com/office/powerpoint/2010/main" val="1886750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79512" y="253652"/>
            <a:ext cx="8640960" cy="857400"/>
          </a:xfrm>
        </p:spPr>
        <p:txBody>
          <a:bodyPr/>
          <a:lstStyle/>
          <a:p>
            <a:pPr algn="l"/>
            <a:r>
              <a:rPr lang="es-ES" b="0" i="0" dirty="0">
                <a:solidFill>
                  <a:srgbClr val="000000"/>
                </a:solidFill>
                <a:effectLst/>
                <a:latin typeface="Roboto" panose="02000000000000000000" pitchFamily="2" charset="0"/>
              </a:rPr>
              <a:t>Estructurar el código de una aplicación con nuestras propias librerías de funciones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10</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79512" y="1275606"/>
            <a:ext cx="8640960" cy="1224136"/>
          </a:xfrm>
        </p:spPr>
        <p:txBody>
          <a:bodyPr/>
          <a:lstStyle/>
          <a:p>
            <a:pPr algn="l"/>
            <a:r>
              <a:rPr lang="es-ES" sz="1600" dirty="0"/>
              <a:t>Un ejemplo sencillo es este bucle que aumenta el tamaño de la fuente en una unidad a cada nueva vuelta por el bucle:</a:t>
            </a:r>
            <a:endParaRPr lang="es-ES" sz="1800" dirty="0"/>
          </a:p>
        </p:txBody>
      </p:sp>
      <p:sp>
        <p:nvSpPr>
          <p:cNvPr id="6" name="Rectangle 1">
            <a:extLst>
              <a:ext uri="{FF2B5EF4-FFF2-40B4-BE49-F238E27FC236}">
                <a16:creationId xmlns:a16="http://schemas.microsoft.com/office/drawing/2014/main" id="{9AF43405-FA8E-1C63-4176-1F7ED4A60D65}"/>
              </a:ext>
            </a:extLst>
          </p:cNvPr>
          <p:cNvSpPr>
            <a:spLocks noChangeArrowheads="1"/>
          </p:cNvSpPr>
          <p:nvPr/>
        </p:nvSpPr>
        <p:spPr bwMode="auto">
          <a:xfrm>
            <a:off x="514985" y="2664296"/>
            <a:ext cx="8249053" cy="166835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size</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68BD2"/>
                </a:solidFill>
                <a:effectLst/>
                <a:latin typeface="Consolas" panose="020B0609020204030204" pitchFamily="49" charset="0"/>
              </a:rPr>
              <a:t>1</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err="1">
                <a:ln>
                  <a:noFill/>
                </a:ln>
                <a:solidFill>
                  <a:srgbClr val="859900"/>
                </a:solidFill>
                <a:effectLst/>
                <a:latin typeface="Consolas" panose="020B0609020204030204" pitchFamily="49" charset="0"/>
              </a:rPr>
              <a:t>While</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size</a:t>
            </a:r>
            <a:r>
              <a:rPr kumimoji="0" lang="es-ES" altLang="es-ES" b="0" i="0" u="none" strike="noStrike" cap="none" normalizeH="0" baseline="0" dirty="0">
                <a:ln>
                  <a:noFill/>
                </a:ln>
                <a:solidFill>
                  <a:srgbClr val="657B83"/>
                </a:solidFill>
                <a:effectLst/>
                <a:latin typeface="Consolas" panose="020B0609020204030204" pitchFamily="49" charset="0"/>
              </a:rPr>
              <a:t> &lt;= </a:t>
            </a:r>
            <a:r>
              <a:rPr kumimoji="0" lang="es-ES" altLang="es-ES" b="0" i="0" u="none" strike="noStrike" cap="none" normalizeH="0" baseline="0" dirty="0">
                <a:ln>
                  <a:noFill/>
                </a:ln>
                <a:solidFill>
                  <a:srgbClr val="268BD2"/>
                </a:solidFill>
                <a:effectLst/>
                <a:latin typeface="Consolas" panose="020B0609020204030204" pitchFamily="49" charset="0"/>
              </a:rPr>
              <a:t>6</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2AA198"/>
                </a:solidFill>
                <a:effectLst/>
                <a:latin typeface="Consolas" panose="020B0609020204030204" pitchFamily="49" charset="0"/>
              </a:rPr>
              <a:t>"&lt;</a:t>
            </a:r>
            <a:r>
              <a:rPr kumimoji="0" lang="es-ES" altLang="es-ES" b="0" i="0" u="none" strike="noStrike" cap="none" normalizeH="0" baseline="0" dirty="0" err="1">
                <a:ln>
                  <a:noFill/>
                </a:ln>
                <a:solidFill>
                  <a:srgbClr val="2AA198"/>
                </a:solidFill>
                <a:effectLst/>
                <a:latin typeface="Consolas" panose="020B0609020204030204" pitchFamily="49" charset="0"/>
              </a:rPr>
              <a:t>span</a:t>
            </a:r>
            <a:r>
              <a:rPr kumimoji="0" lang="es-ES" altLang="es-ES" b="0" i="0" u="none" strike="noStrike" cap="none" normalizeH="0" baseline="0" dirty="0">
                <a:ln>
                  <a:noFill/>
                </a:ln>
                <a:solidFill>
                  <a:srgbClr val="2AA198"/>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style</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err="1">
                <a:ln>
                  <a:noFill/>
                </a:ln>
                <a:solidFill>
                  <a:srgbClr val="2AA198"/>
                </a:solidFill>
                <a:effectLst/>
                <a:latin typeface="Consolas" panose="020B0609020204030204" pitchFamily="49" charset="0"/>
              </a:rPr>
              <a:t>font-size</a:t>
            </a:r>
            <a:r>
              <a:rPr kumimoji="0" lang="es-ES" altLang="es-ES" b="0" i="0" u="none" strike="noStrike" cap="none" normalizeH="0" baseline="0" dirty="0">
                <a:ln>
                  <a:noFill/>
                </a:ln>
                <a:solidFill>
                  <a:srgbClr val="2AA198"/>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size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rem\"&gt;Tamaño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size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rem&lt;/</a:t>
            </a:r>
            <a:r>
              <a:rPr kumimoji="0" lang="es-ES" altLang="es-ES" b="0" i="0" u="none" strike="noStrike" cap="none" normalizeH="0" baseline="0" dirty="0" err="1">
                <a:ln>
                  <a:noFill/>
                </a:ln>
                <a:solidFill>
                  <a:srgbClr val="2AA198"/>
                </a:solidFill>
                <a:effectLst/>
                <a:latin typeface="Consolas" panose="020B0609020204030204" pitchFamily="49" charset="0"/>
              </a:rPr>
              <a:t>span</a:t>
            </a:r>
            <a:r>
              <a:rPr kumimoji="0" lang="es-ES" altLang="es-ES" b="0" i="0" u="none" strike="noStrike" cap="none" normalizeH="0" baseline="0" dirty="0">
                <a:ln>
                  <a:noFill/>
                </a:ln>
                <a:solidFill>
                  <a:srgbClr val="2AA198"/>
                </a:solidFill>
                <a:effectLst/>
                <a:latin typeface="Consolas" panose="020B0609020204030204" pitchFamily="49" charset="0"/>
              </a:rPr>
              <a:t>&gt;&lt;</a:t>
            </a:r>
            <a:r>
              <a:rPr kumimoji="0" lang="es-ES" altLang="es-ES" b="0" i="0" u="none" strike="noStrike" cap="none" normalizeH="0" baseline="0" dirty="0" err="1">
                <a:ln>
                  <a:noFill/>
                </a:ln>
                <a:solidFill>
                  <a:srgbClr val="2AA198"/>
                </a:solidFill>
                <a:effectLst/>
                <a:latin typeface="Consolas" panose="020B0609020204030204" pitchFamily="49" charset="0"/>
              </a:rPr>
              <a:t>br</a:t>
            </a:r>
            <a:r>
              <a:rPr kumimoji="0" lang="es-ES" altLang="es-ES" b="0" i="0" u="none" strike="noStrike" cap="none" normalizeH="0" baseline="0" dirty="0">
                <a:ln>
                  <a:noFill/>
                </a:ln>
                <a:solidFill>
                  <a:srgbClr val="2AA198"/>
                </a:solidFill>
                <a:effectLst/>
                <a:latin typeface="Consolas" panose="020B0609020204030204" pitchFamily="49" charset="0"/>
              </a:rPr>
              <a:t>&gt;\n"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size</a:t>
            </a:r>
            <a:r>
              <a:rPr kumimoji="0" lang="es-ES" altLang="es-ES" b="0" i="0" u="none" strike="noStrike" cap="none" normalizeH="0" baseline="0" dirty="0">
                <a:ln>
                  <a:noFill/>
                </a:ln>
                <a:solidFill>
                  <a:srgbClr val="657B83"/>
                </a:solidFill>
                <a:effectLst/>
                <a:latin typeface="Consolas" panose="020B0609020204030204" pitchFamily="49" charset="0"/>
              </a:rPr>
              <a: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2782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23314"/>
            <a:ext cx="8856984" cy="857400"/>
          </a:xfrm>
        </p:spPr>
        <p:txBody>
          <a:bodyPr/>
          <a:lstStyle/>
          <a:p>
            <a:pPr algn="l"/>
            <a:r>
              <a:rPr lang="es-ES" b="0" i="0" dirty="0">
                <a:solidFill>
                  <a:srgbClr val="000000"/>
                </a:solidFill>
                <a:effectLst/>
                <a:latin typeface="Roboto" panose="02000000000000000000" pitchFamily="2" charset="0"/>
              </a:rPr>
              <a:t>Otros ejemplos del bucle </a:t>
            </a:r>
            <a:r>
              <a:rPr lang="es-ES" b="0" i="0" dirty="0" err="1">
                <a:solidFill>
                  <a:srgbClr val="000000"/>
                </a:solidFill>
                <a:effectLst/>
                <a:latin typeface="Roboto" panose="02000000000000000000" pitchFamily="2" charset="0"/>
              </a:rPr>
              <a:t>while</a:t>
            </a:r>
            <a:r>
              <a:rPr lang="es-ES" b="0" i="0" dirty="0">
                <a:solidFill>
                  <a:srgbClr val="000000"/>
                </a:solidFill>
                <a:effectLst/>
                <a:latin typeface="Roboto" panose="02000000000000000000" pitchFamily="2" charset="0"/>
              </a:rPr>
              <a:t> en PHP</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11</a:t>
            </a:fld>
            <a:endParaRPr lang="es-ES" dirty="0"/>
          </a:p>
        </p:txBody>
      </p:sp>
      <p:sp>
        <p:nvSpPr>
          <p:cNvPr id="12" name="CuadroTexto 11">
            <a:extLst>
              <a:ext uri="{FF2B5EF4-FFF2-40B4-BE49-F238E27FC236}">
                <a16:creationId xmlns:a16="http://schemas.microsoft.com/office/drawing/2014/main" id="{CF8AB5A5-D9A3-083A-CFA1-9C4FE1355C47}"/>
              </a:ext>
            </a:extLst>
          </p:cNvPr>
          <p:cNvSpPr txBox="1"/>
          <p:nvPr/>
        </p:nvSpPr>
        <p:spPr>
          <a:xfrm>
            <a:off x="353145" y="1080714"/>
            <a:ext cx="8136904" cy="1077218"/>
          </a:xfrm>
          <a:prstGeom prst="rect">
            <a:avLst/>
          </a:prstGeom>
          <a:noFill/>
        </p:spPr>
        <p:txBody>
          <a:bodyPr wrap="square">
            <a:spAutoFit/>
          </a:bodyPr>
          <a:lstStyle/>
          <a:p>
            <a:r>
              <a:rPr lang="es-ES" sz="1600" dirty="0">
                <a:solidFill>
                  <a:schemeClr val="dk1"/>
                </a:solidFill>
                <a:latin typeface="Lato"/>
                <a:ea typeface="Lato"/>
                <a:cs typeface="Lato"/>
                <a:sym typeface="Lato"/>
              </a:rPr>
              <a:t>El bucle </a:t>
            </a:r>
            <a:r>
              <a:rPr lang="es-ES" sz="1600" dirty="0" err="1">
                <a:solidFill>
                  <a:schemeClr val="dk1"/>
                </a:solidFill>
                <a:latin typeface="Lato"/>
                <a:ea typeface="Lato"/>
                <a:cs typeface="Lato"/>
                <a:sym typeface="Lato"/>
              </a:rPr>
              <a:t>while</a:t>
            </a:r>
            <a:r>
              <a:rPr lang="es-ES" sz="1600" dirty="0">
                <a:solidFill>
                  <a:schemeClr val="dk1"/>
                </a:solidFill>
                <a:latin typeface="Lato"/>
                <a:ea typeface="Lato"/>
                <a:cs typeface="Lato"/>
                <a:sym typeface="Lato"/>
              </a:rPr>
              <a:t> se suele utilizar cuando no se sabe exactamente cuantas iteraciones se deben realizar antes de acabar. Vamos a utilizarlo en otro ejemplo, en el que hay que recorrer una cadena hasta encontrar un carácter dado. Si lo encuentra, escribir su posición. Si no, escribir que no se ha encontrado.</a:t>
            </a:r>
            <a:endParaRPr lang="es-ES" sz="1600" dirty="0">
              <a:solidFill>
                <a:schemeClr val="dk1"/>
              </a:solidFill>
              <a:latin typeface="Lato"/>
              <a:ea typeface="Lato"/>
              <a:cs typeface="Lato"/>
            </a:endParaRPr>
          </a:p>
        </p:txBody>
      </p:sp>
      <p:sp>
        <p:nvSpPr>
          <p:cNvPr id="5" name="Rectangle 1">
            <a:extLst>
              <a:ext uri="{FF2B5EF4-FFF2-40B4-BE49-F238E27FC236}">
                <a16:creationId xmlns:a16="http://schemas.microsoft.com/office/drawing/2014/main" id="{2D0716DE-8A25-8A8C-F464-28E77E578C07}"/>
              </a:ext>
            </a:extLst>
          </p:cNvPr>
          <p:cNvSpPr>
            <a:spLocks noChangeArrowheads="1"/>
          </p:cNvSpPr>
          <p:nvPr/>
        </p:nvSpPr>
        <p:spPr bwMode="auto">
          <a:xfrm>
            <a:off x="899592" y="2355437"/>
            <a:ext cx="6966651" cy="237624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&lt;?</a:t>
            </a:r>
            <a:r>
              <a:rPr kumimoji="0" lang="es-ES" altLang="es-ES" sz="1200" b="1" i="0" u="none" strike="noStrike" cap="none" normalizeH="0" baseline="0" dirty="0" err="1">
                <a:ln>
                  <a:noFill/>
                </a:ln>
                <a:solidFill>
                  <a:srgbClr val="CB4B16"/>
                </a:solidFill>
                <a:effectLst/>
                <a:latin typeface="Consolas" panose="020B0609020204030204" pitchFamily="49" charset="0"/>
              </a:rPr>
              <a:t>php</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$cadena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AA198"/>
                </a:solidFill>
                <a:effectLst/>
                <a:latin typeface="Consolas" panose="020B0609020204030204" pitchFamily="49" charset="0"/>
              </a:rPr>
              <a:t>"hola a todo el mundo"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//recorro la cadena hasta encontrar una "m"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93A1A1"/>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$i</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68BD2"/>
                </a:solidFill>
                <a:effectLst/>
                <a:latin typeface="Consolas" panose="020B0609020204030204" pitchFamily="49" charset="0"/>
              </a:rPr>
              <a:t>0</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while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$i</a:t>
            </a:r>
            <a:r>
              <a:rPr kumimoji="0" lang="es-ES" altLang="es-ES" sz="1200" b="0" i="0" u="none" strike="noStrike" cap="none" normalizeH="0" baseline="0" dirty="0">
                <a:ln>
                  <a:noFill/>
                </a:ln>
                <a:solidFill>
                  <a:srgbClr val="657B83"/>
                </a:solidFill>
                <a:effectLst/>
                <a:latin typeface="Consolas" panose="020B0609020204030204" pitchFamily="49" charset="0"/>
              </a:rPr>
              <a:t> &lt; </a:t>
            </a:r>
            <a:r>
              <a:rPr kumimoji="0" lang="es-ES" altLang="es-ES" sz="1200" b="0" i="0" u="none" strike="noStrike" cap="none" normalizeH="0" baseline="0" dirty="0" err="1">
                <a:ln>
                  <a:noFill/>
                </a:ln>
                <a:solidFill>
                  <a:srgbClr val="B58900"/>
                </a:solidFill>
                <a:effectLst/>
                <a:latin typeface="Consolas" panose="020B0609020204030204" pitchFamily="49" charset="0"/>
              </a:rPr>
              <a:t>strlen</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$cadena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&amp;&amp; </a:t>
            </a:r>
            <a:r>
              <a:rPr kumimoji="0" lang="es-ES" altLang="es-ES" sz="1200" b="0" i="0" u="none" strike="noStrike" cap="none" normalizeH="0" baseline="0" dirty="0">
                <a:ln>
                  <a:noFill/>
                </a:ln>
                <a:solidFill>
                  <a:srgbClr val="CB4B16"/>
                </a:solidFill>
                <a:effectLst/>
                <a:latin typeface="Consolas" panose="020B0609020204030204" pitchFamily="49" charset="0"/>
              </a:rPr>
              <a:t>$cadena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$i</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AA198"/>
                </a:solidFill>
                <a:effectLst/>
                <a:latin typeface="Consolas" panose="020B0609020204030204" pitchFamily="49" charset="0"/>
              </a:rPr>
              <a:t>"m"</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$i</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if</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$i</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err="1">
                <a:ln>
                  <a:noFill/>
                </a:ln>
                <a:solidFill>
                  <a:srgbClr val="B58900"/>
                </a:solidFill>
                <a:effectLst/>
                <a:latin typeface="Consolas" panose="020B0609020204030204" pitchFamily="49" charset="0"/>
              </a:rPr>
              <a:t>strlen</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$cadena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"No se encuentra..."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else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"Está en la posición </a:t>
            </a:r>
            <a:r>
              <a:rPr kumimoji="0" lang="es-ES" altLang="es-ES" sz="1200" b="0" i="0" u="none" strike="noStrike" cap="none" normalizeH="0" baseline="0" dirty="0">
                <a:ln>
                  <a:noFill/>
                </a:ln>
                <a:solidFill>
                  <a:srgbClr val="CB4B16"/>
                </a:solidFill>
                <a:effectLst/>
                <a:latin typeface="Consolas" panose="020B0609020204030204" pitchFamily="49" charset="0"/>
              </a:rPr>
              <a:t>$i</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?&gt;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2227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23314"/>
            <a:ext cx="8856984" cy="857400"/>
          </a:xfrm>
        </p:spPr>
        <p:txBody>
          <a:bodyPr/>
          <a:lstStyle/>
          <a:p>
            <a:endParaRPr lang="es-ES" sz="3200" dirty="0">
              <a:solidFill>
                <a:schemeClr val="bg2">
                  <a:lumMod val="25000"/>
                </a:schemeClr>
              </a:solidFill>
              <a:latin typeface="Lato"/>
              <a:ea typeface="Lato"/>
              <a:cs typeface="Lato"/>
              <a:sym typeface="Lato"/>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12</a:t>
            </a:fld>
            <a:endParaRPr lang="es-ES" dirty="0"/>
          </a:p>
        </p:txBody>
      </p:sp>
      <p:sp>
        <p:nvSpPr>
          <p:cNvPr id="12" name="CuadroTexto 11">
            <a:extLst>
              <a:ext uri="{FF2B5EF4-FFF2-40B4-BE49-F238E27FC236}">
                <a16:creationId xmlns:a16="http://schemas.microsoft.com/office/drawing/2014/main" id="{CF8AB5A5-D9A3-083A-CFA1-9C4FE1355C47}"/>
              </a:ext>
            </a:extLst>
          </p:cNvPr>
          <p:cNvSpPr txBox="1"/>
          <p:nvPr/>
        </p:nvSpPr>
        <p:spPr>
          <a:xfrm>
            <a:off x="174735" y="1347614"/>
            <a:ext cx="8625775" cy="3046988"/>
          </a:xfrm>
          <a:prstGeom prst="rect">
            <a:avLst/>
          </a:prstGeom>
          <a:noFill/>
        </p:spPr>
        <p:txBody>
          <a:bodyPr wrap="square">
            <a:spAutoFit/>
          </a:bodyPr>
          <a:lstStyle/>
          <a:p>
            <a:r>
              <a:rPr lang="es-ES" sz="1600" dirty="0">
                <a:solidFill>
                  <a:schemeClr val="dk1"/>
                </a:solidFill>
                <a:latin typeface="Lato"/>
                <a:ea typeface="Lato"/>
                <a:cs typeface="Lato"/>
                <a:sym typeface="Lato"/>
              </a:rPr>
              <a:t>En este ejemplo se define una cadena con el valor "hola a todo el mundo". Posteriormente se recorre esa cadena hasta el final de la cadena o hasta encontrar el </a:t>
            </a:r>
            <a:r>
              <a:rPr lang="es-ES" sz="1600" dirty="0" err="1">
                <a:solidFill>
                  <a:schemeClr val="dk1"/>
                </a:solidFill>
                <a:latin typeface="Lato"/>
                <a:ea typeface="Lato"/>
                <a:cs typeface="Lato"/>
                <a:sym typeface="Lato"/>
              </a:rPr>
              <a:t>caracter</a:t>
            </a:r>
            <a:r>
              <a:rPr lang="es-ES" sz="1600" dirty="0">
                <a:solidFill>
                  <a:schemeClr val="dk1"/>
                </a:solidFill>
                <a:latin typeface="Lato"/>
                <a:ea typeface="Lato"/>
                <a:cs typeface="Lato"/>
                <a:sym typeface="Lato"/>
              </a:rPr>
              <a:t> "m", utilizando una variable $i que lleva la cuenta de los caracteres recorridos.</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Una vez se ha ejecutado el bucle </a:t>
            </a:r>
            <a:r>
              <a:rPr lang="es-ES" sz="1600" dirty="0" err="1">
                <a:solidFill>
                  <a:schemeClr val="dk1"/>
                </a:solidFill>
                <a:latin typeface="Lato"/>
                <a:ea typeface="Lato"/>
                <a:cs typeface="Lato"/>
                <a:sym typeface="Lato"/>
              </a:rPr>
              <a:t>while</a:t>
            </a:r>
            <a:r>
              <a:rPr lang="es-ES" sz="1600" dirty="0">
                <a:solidFill>
                  <a:schemeClr val="dk1"/>
                </a:solidFill>
                <a:latin typeface="Lato"/>
                <a:ea typeface="Lato"/>
                <a:cs typeface="Lato"/>
                <a:sym typeface="Lato"/>
              </a:rPr>
              <a:t>, si se salió porque se encontró el </a:t>
            </a:r>
            <a:r>
              <a:rPr lang="es-ES" sz="1600" dirty="0" err="1">
                <a:solidFill>
                  <a:schemeClr val="dk1"/>
                </a:solidFill>
                <a:latin typeface="Lato"/>
                <a:ea typeface="Lato"/>
                <a:cs typeface="Lato"/>
                <a:sym typeface="Lato"/>
              </a:rPr>
              <a:t>caracter</a:t>
            </a:r>
            <a:r>
              <a:rPr lang="es-ES" sz="1600" dirty="0">
                <a:solidFill>
                  <a:schemeClr val="dk1"/>
                </a:solidFill>
                <a:latin typeface="Lato"/>
                <a:ea typeface="Lato"/>
                <a:cs typeface="Lato"/>
                <a:sym typeface="Lato"/>
              </a:rPr>
              <a:t> "m", la variable $i valdrá un número menor que la longitud de la </a:t>
            </a:r>
            <a:r>
              <a:rPr lang="es-ES" sz="1600" dirty="0" err="1">
                <a:solidFill>
                  <a:schemeClr val="dk1"/>
                </a:solidFill>
                <a:latin typeface="Lato"/>
                <a:ea typeface="Lato"/>
                <a:cs typeface="Lato"/>
                <a:sym typeface="Lato"/>
              </a:rPr>
              <a:t>cadema</a:t>
            </a:r>
            <a:r>
              <a:rPr lang="es-ES" sz="1600" dirty="0">
                <a:solidFill>
                  <a:schemeClr val="dk1"/>
                </a:solidFill>
                <a:latin typeface="Lato"/>
                <a:ea typeface="Lato"/>
                <a:cs typeface="Lato"/>
                <a:sym typeface="Lato"/>
              </a:rPr>
              <a:t>.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Si se salió por llegar al final de la cadena, la variable $i valdrá lo mismo que la longitud en caracteres de esa cadena.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En el condicional simplemente se comprueba si $i vale o no lo mismo que la longitud de la cadena, mostrando los mensajes adecuados en cada caso.</a:t>
            </a:r>
            <a:endParaRPr lang="es-ES" sz="1600" dirty="0">
              <a:solidFill>
                <a:schemeClr val="dk1"/>
              </a:solidFill>
              <a:latin typeface="Lato"/>
              <a:ea typeface="Lato"/>
              <a:cs typeface="Lato"/>
            </a:endParaRPr>
          </a:p>
        </p:txBody>
      </p:sp>
    </p:spTree>
    <p:extLst>
      <p:ext uri="{BB962C8B-B14F-4D97-AF65-F5344CB8AC3E}">
        <p14:creationId xmlns:p14="http://schemas.microsoft.com/office/powerpoint/2010/main" val="4031336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659E91BB-38EE-AFE7-999F-4F3B4ADDF7AC}"/>
              </a:ext>
            </a:extLst>
          </p:cNvPr>
          <p:cNvSpPr>
            <a:spLocks noGrp="1"/>
          </p:cNvSpPr>
          <p:nvPr>
            <p:ph type="body" idx="1"/>
          </p:nvPr>
        </p:nvSpPr>
        <p:spPr>
          <a:xfrm>
            <a:off x="395536" y="627534"/>
            <a:ext cx="8424936" cy="3552300"/>
          </a:xfrm>
        </p:spPr>
        <p:txBody>
          <a:bodyPr/>
          <a:lstStyle/>
          <a:p>
            <a:r>
              <a:rPr lang="es-ES" sz="1800" dirty="0"/>
              <a:t>Veamos un tercer ejemplo de código con el bucle </a:t>
            </a:r>
            <a:r>
              <a:rPr lang="es-ES" sz="1800" dirty="0" err="1"/>
              <a:t>while</a:t>
            </a:r>
            <a:r>
              <a:rPr lang="es-ES" sz="1800" dirty="0"/>
              <a:t>. En este ejemplo queremos acumular la suma de los valores de un array de números hasta que lleguemos a 10 o más.</a:t>
            </a:r>
          </a:p>
        </p:txBody>
      </p:sp>
      <p:sp>
        <p:nvSpPr>
          <p:cNvPr id="4" name="Marcador de número de diapositiva 3">
            <a:extLst>
              <a:ext uri="{FF2B5EF4-FFF2-40B4-BE49-F238E27FC236}">
                <a16:creationId xmlns:a16="http://schemas.microsoft.com/office/drawing/2014/main" id="{87A74CCD-16A1-C6DF-DBC9-69E9CEF83E66}"/>
              </a:ext>
            </a:extLst>
          </p:cNvPr>
          <p:cNvSpPr>
            <a:spLocks noGrp="1"/>
          </p:cNvSpPr>
          <p:nvPr>
            <p:ph type="sldNum" idx="10"/>
          </p:nvPr>
        </p:nvSpPr>
        <p:spPr/>
        <p:txBody>
          <a:bodyPr/>
          <a:lstStyle/>
          <a:p>
            <a:fld id="{00000000-1234-1234-1234-123412341234}" type="slidenum">
              <a:rPr lang="es-ES" smtClean="0"/>
              <a:pPr/>
              <a:t>13</a:t>
            </a:fld>
            <a:endParaRPr lang="es-ES" dirty="0"/>
          </a:p>
        </p:txBody>
      </p:sp>
      <p:sp>
        <p:nvSpPr>
          <p:cNvPr id="5" name="Rectangle 1">
            <a:extLst>
              <a:ext uri="{FF2B5EF4-FFF2-40B4-BE49-F238E27FC236}">
                <a16:creationId xmlns:a16="http://schemas.microsoft.com/office/drawing/2014/main" id="{A04C47B7-318D-43A5-167D-79200829B84A}"/>
              </a:ext>
            </a:extLst>
          </p:cNvPr>
          <p:cNvSpPr>
            <a:spLocks noChangeArrowheads="1"/>
          </p:cNvSpPr>
          <p:nvPr/>
        </p:nvSpPr>
        <p:spPr bwMode="auto">
          <a:xfrm>
            <a:off x="578919" y="2067694"/>
            <a:ext cx="7986161" cy="200690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&lt;?</a:t>
            </a:r>
            <a:r>
              <a:rPr kumimoji="0" lang="es-ES" altLang="es-ES" sz="1200" b="1" i="0" u="none" strike="noStrike" cap="none" normalizeH="0" baseline="0" dirty="0" err="1">
                <a:ln>
                  <a:noFill/>
                </a:ln>
                <a:solidFill>
                  <a:srgbClr val="CB4B16"/>
                </a:solidFill>
                <a:effectLst/>
                <a:latin typeface="Consolas" panose="020B0609020204030204" pitchFamily="49" charset="0"/>
              </a:rPr>
              <a:t>php</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numeros</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68BD2"/>
                </a:solidFill>
                <a:effectLst/>
                <a:latin typeface="Consolas" panose="020B0609020204030204" pitchFamily="49" charset="0"/>
              </a:rPr>
              <a:t>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68BD2"/>
                </a:solidFill>
                <a:effectLst/>
                <a:latin typeface="Consolas" panose="020B0609020204030204" pitchFamily="49" charset="0"/>
              </a:rPr>
              <a:t>5</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68BD2"/>
                </a:solidFill>
                <a:effectLst/>
                <a:latin typeface="Consolas" panose="020B0609020204030204" pitchFamily="49" charset="0"/>
              </a:rPr>
              <a:t>13</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68BD2"/>
                </a:solidFill>
                <a:effectLst/>
                <a:latin typeface="Consolas" panose="020B0609020204030204" pitchFamily="49" charset="0"/>
              </a:rPr>
              <a:t>50</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 Voy sumando las posiciones de un array hasta que llegue a 10</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posicion</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68BD2"/>
                </a:solidFill>
                <a:effectLst/>
                <a:latin typeface="Consolas" panose="020B0609020204030204" pitchFamily="49" charset="0"/>
              </a:rPr>
              <a:t>0</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$suma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68BD2"/>
                </a:solidFill>
                <a:effectLst/>
                <a:latin typeface="Consolas" panose="020B0609020204030204" pitchFamily="49" charset="0"/>
              </a:rPr>
              <a:t>0</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while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posicion</a:t>
            </a:r>
            <a:r>
              <a:rPr kumimoji="0" lang="es-ES" altLang="es-ES" sz="1200" b="0" i="0" u="none" strike="noStrike" cap="none" normalizeH="0" baseline="0" dirty="0">
                <a:ln>
                  <a:noFill/>
                </a:ln>
                <a:solidFill>
                  <a:srgbClr val="657B83"/>
                </a:solidFill>
                <a:effectLst/>
                <a:latin typeface="Consolas" panose="020B0609020204030204" pitchFamily="49" charset="0"/>
              </a:rPr>
              <a:t> &lt; </a:t>
            </a:r>
            <a:r>
              <a:rPr kumimoji="0" lang="es-ES" altLang="es-ES" sz="1200" b="0" i="0" u="none" strike="noStrike" cap="none" normalizeH="0" baseline="0" dirty="0" err="1">
                <a:ln>
                  <a:noFill/>
                </a:ln>
                <a:solidFill>
                  <a:srgbClr val="B58900"/>
                </a:solidFill>
                <a:effectLst/>
                <a:latin typeface="Consolas" panose="020B0609020204030204" pitchFamily="49" charset="0"/>
              </a:rPr>
              <a:t>count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numeros</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&amp;&amp; </a:t>
            </a:r>
            <a:r>
              <a:rPr kumimoji="0" lang="es-ES" altLang="es-ES" sz="1200" b="0" i="0" u="none" strike="noStrike" cap="none" normalizeH="0" baseline="0" dirty="0">
                <a:ln>
                  <a:noFill/>
                </a:ln>
                <a:solidFill>
                  <a:srgbClr val="CB4B16"/>
                </a:solidFill>
                <a:effectLst/>
                <a:latin typeface="Consolas" panose="020B0609020204030204" pitchFamily="49" charset="0"/>
              </a:rPr>
              <a:t>$suma</a:t>
            </a:r>
            <a:r>
              <a:rPr kumimoji="0" lang="es-ES" altLang="es-ES" sz="1200" b="0" i="0" u="none" strike="noStrike" cap="none" normalizeH="0" baseline="0" dirty="0">
                <a:ln>
                  <a:noFill/>
                </a:ln>
                <a:solidFill>
                  <a:srgbClr val="657B83"/>
                </a:solidFill>
                <a:effectLst/>
                <a:latin typeface="Consolas" panose="020B0609020204030204" pitchFamily="49" charset="0"/>
              </a:rPr>
              <a:t> &lt; </a:t>
            </a:r>
            <a:r>
              <a:rPr kumimoji="0" lang="es-ES" altLang="es-ES" sz="1200" b="0" i="0" u="none" strike="noStrike" cap="none" normalizeH="0" baseline="0" dirty="0">
                <a:ln>
                  <a:noFill/>
                </a:ln>
                <a:solidFill>
                  <a:srgbClr val="268BD2"/>
                </a:solidFill>
                <a:effectLst/>
                <a:latin typeface="Consolas" panose="020B0609020204030204" pitchFamily="49" charset="0"/>
              </a:rPr>
              <a:t>10</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$suma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numeros</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posicion</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posicion</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"La suma a la que he llegado es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$suma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?&gt;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2403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5089DA-7165-B1B7-39ED-76CF5EC58D4D}"/>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Bucle do-</a:t>
            </a:r>
            <a:r>
              <a:rPr lang="es-ES" b="0" i="0" dirty="0" err="1">
                <a:solidFill>
                  <a:srgbClr val="000000"/>
                </a:solidFill>
                <a:effectLst/>
                <a:latin typeface="Roboto" panose="02000000000000000000" pitchFamily="2" charset="0"/>
              </a:rPr>
              <a:t>while</a:t>
            </a:r>
            <a:endParaRPr lang="es-ES" b="0" i="0" dirty="0">
              <a:solidFill>
                <a:srgbClr val="000000"/>
              </a:solidFill>
              <a:effectLst/>
              <a:latin typeface="Roboto" panose="02000000000000000000" pitchFamily="2" charset="0"/>
            </a:endParaRPr>
          </a:p>
        </p:txBody>
      </p:sp>
      <p:sp>
        <p:nvSpPr>
          <p:cNvPr id="3" name="Marcador de texto 2">
            <a:extLst>
              <a:ext uri="{FF2B5EF4-FFF2-40B4-BE49-F238E27FC236}">
                <a16:creationId xmlns:a16="http://schemas.microsoft.com/office/drawing/2014/main" id="{5A752D16-AE56-0003-7CE7-46AAA5D49658}"/>
              </a:ext>
            </a:extLst>
          </p:cNvPr>
          <p:cNvSpPr>
            <a:spLocks noGrp="1"/>
          </p:cNvSpPr>
          <p:nvPr>
            <p:ph type="body" idx="1"/>
          </p:nvPr>
        </p:nvSpPr>
        <p:spPr>
          <a:xfrm>
            <a:off x="893700" y="1373588"/>
            <a:ext cx="7926772" cy="3552300"/>
          </a:xfrm>
        </p:spPr>
        <p:txBody>
          <a:bodyPr/>
          <a:lstStyle/>
          <a:p>
            <a:pPr marL="114300" indent="0">
              <a:buNone/>
            </a:pPr>
            <a:r>
              <a:rPr lang="es-ES" sz="1800" dirty="0"/>
              <a:t>Este tipo de bucle no difiere en exceso del anterior. De hecho es el mismo esquema de funcionamiento con la diferencia que la condición se comprueba al final del cuerpo del bucle. La sintaxis es la siguiente:</a:t>
            </a:r>
          </a:p>
        </p:txBody>
      </p:sp>
      <p:sp>
        <p:nvSpPr>
          <p:cNvPr id="4" name="Marcador de número de diapositiva 3">
            <a:extLst>
              <a:ext uri="{FF2B5EF4-FFF2-40B4-BE49-F238E27FC236}">
                <a16:creationId xmlns:a16="http://schemas.microsoft.com/office/drawing/2014/main" id="{91D659D4-6E7A-837A-96EE-25B47D89D9C2}"/>
              </a:ext>
            </a:extLst>
          </p:cNvPr>
          <p:cNvSpPr>
            <a:spLocks noGrp="1"/>
          </p:cNvSpPr>
          <p:nvPr>
            <p:ph type="sldNum" idx="10"/>
          </p:nvPr>
        </p:nvSpPr>
        <p:spPr/>
        <p:txBody>
          <a:bodyPr/>
          <a:lstStyle/>
          <a:p>
            <a:fld id="{00000000-1234-1234-1234-123412341234}" type="slidenum">
              <a:rPr lang="es-ES" smtClean="0"/>
              <a:pPr/>
              <a:t>14</a:t>
            </a:fld>
            <a:endParaRPr lang="es-ES" dirty="0"/>
          </a:p>
        </p:txBody>
      </p:sp>
      <p:sp>
        <p:nvSpPr>
          <p:cNvPr id="5" name="Rectangle 1">
            <a:extLst>
              <a:ext uri="{FF2B5EF4-FFF2-40B4-BE49-F238E27FC236}">
                <a16:creationId xmlns:a16="http://schemas.microsoft.com/office/drawing/2014/main" id="{67E7C122-4D2E-495B-3917-4AB2AAAB8F3C}"/>
              </a:ext>
            </a:extLst>
          </p:cNvPr>
          <p:cNvSpPr>
            <a:spLocks noChangeArrowheads="1"/>
          </p:cNvSpPr>
          <p:nvPr/>
        </p:nvSpPr>
        <p:spPr bwMode="auto">
          <a:xfrm>
            <a:off x="1403648" y="2854846"/>
            <a:ext cx="2236190" cy="1237468"/>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859900"/>
                </a:solidFill>
                <a:effectLst/>
                <a:latin typeface="Consolas" panose="020B0609020204030204" pitchFamily="49" charset="0"/>
              </a:rPr>
              <a:t>do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instruccion1</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instruccion2</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err="1">
                <a:ln>
                  <a:noFill/>
                </a:ln>
                <a:solidFill>
                  <a:srgbClr val="859900"/>
                </a:solidFill>
                <a:effectLst/>
                <a:latin typeface="Consolas" panose="020B0609020204030204" pitchFamily="49" charset="0"/>
              </a:rPr>
              <a:t>while</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condición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F854395D-6F0A-9F64-0F81-9C9DFF3B045A}"/>
              </a:ext>
            </a:extLst>
          </p:cNvPr>
          <p:cNvSpPr txBox="1"/>
          <p:nvPr/>
        </p:nvSpPr>
        <p:spPr>
          <a:xfrm>
            <a:off x="4454594" y="2521676"/>
            <a:ext cx="4581902" cy="1754326"/>
          </a:xfrm>
          <a:prstGeom prst="rect">
            <a:avLst/>
          </a:prstGeom>
          <a:noFill/>
        </p:spPr>
        <p:txBody>
          <a:bodyPr wrap="square">
            <a:spAutoFit/>
          </a:bodyPr>
          <a:lstStyle/>
          <a:p>
            <a:r>
              <a:rPr lang="es-ES" sz="1800" dirty="0">
                <a:solidFill>
                  <a:schemeClr val="dk1"/>
                </a:solidFill>
                <a:latin typeface="Lato"/>
                <a:ea typeface="Lato"/>
                <a:cs typeface="Lato"/>
                <a:sym typeface="Lato"/>
              </a:rPr>
              <a:t>La diferencia con respecto a los bucles </a:t>
            </a:r>
            <a:r>
              <a:rPr lang="es-ES" sz="1800" dirty="0" err="1">
                <a:solidFill>
                  <a:schemeClr val="dk1"/>
                </a:solidFill>
                <a:latin typeface="Lato"/>
                <a:ea typeface="Lato"/>
                <a:cs typeface="Lato"/>
                <a:sym typeface="Lato"/>
              </a:rPr>
              <a:t>while</a:t>
            </a:r>
            <a:r>
              <a:rPr lang="es-ES" sz="1800" dirty="0">
                <a:solidFill>
                  <a:schemeClr val="dk1"/>
                </a:solidFill>
                <a:latin typeface="Lato"/>
                <a:ea typeface="Lato"/>
                <a:cs typeface="Lato"/>
                <a:sym typeface="Lato"/>
              </a:rPr>
              <a:t> es un pequeño matiz, pero a veces es representativa. Como hemos dicho, este tipo de bucle evalúa la condición al final con lo que, incluso siendo falsa desde el principio, éste se ejecuta al menos una vez.</a:t>
            </a:r>
          </a:p>
        </p:txBody>
      </p:sp>
    </p:spTree>
    <p:extLst>
      <p:ext uri="{BB962C8B-B14F-4D97-AF65-F5344CB8AC3E}">
        <p14:creationId xmlns:p14="http://schemas.microsoft.com/office/powerpoint/2010/main" val="2861260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4EF9F4B-2514-46F9-CA3F-1FA558FF0FC7}"/>
              </a:ext>
            </a:extLst>
          </p:cNvPr>
          <p:cNvSpPr>
            <a:spLocks noGrp="1"/>
          </p:cNvSpPr>
          <p:nvPr>
            <p:ph type="body" idx="1"/>
          </p:nvPr>
        </p:nvSpPr>
        <p:spPr>
          <a:xfrm>
            <a:off x="395536" y="290747"/>
            <a:ext cx="8568952" cy="1850082"/>
          </a:xfrm>
        </p:spPr>
        <p:txBody>
          <a:bodyPr/>
          <a:lstStyle/>
          <a:p>
            <a:pPr marL="114300" indent="0">
              <a:buNone/>
            </a:pPr>
            <a:r>
              <a:rPr lang="es-ES" sz="1600" dirty="0"/>
              <a:t>En este ejemplo vamos a sacar números aleatorios entre el 1 y el 9, y seguiremos sacando números mientras que el número aleatorio que haya salido sea menor que 8.</a:t>
            </a:r>
          </a:p>
        </p:txBody>
      </p:sp>
      <p:sp>
        <p:nvSpPr>
          <p:cNvPr id="4" name="Marcador de número de diapositiva 3">
            <a:extLst>
              <a:ext uri="{FF2B5EF4-FFF2-40B4-BE49-F238E27FC236}">
                <a16:creationId xmlns:a16="http://schemas.microsoft.com/office/drawing/2014/main" id="{80F7C562-0E8C-F432-41FA-33C08A81C7CA}"/>
              </a:ext>
            </a:extLst>
          </p:cNvPr>
          <p:cNvSpPr>
            <a:spLocks noGrp="1"/>
          </p:cNvSpPr>
          <p:nvPr>
            <p:ph type="sldNum" idx="10"/>
          </p:nvPr>
        </p:nvSpPr>
        <p:spPr/>
        <p:txBody>
          <a:bodyPr/>
          <a:lstStyle/>
          <a:p>
            <a:fld id="{00000000-1234-1234-1234-123412341234}" type="slidenum">
              <a:rPr lang="es-ES" smtClean="0"/>
              <a:pPr/>
              <a:t>15</a:t>
            </a:fld>
            <a:endParaRPr lang="es-ES" dirty="0"/>
          </a:p>
        </p:txBody>
      </p:sp>
      <p:sp>
        <p:nvSpPr>
          <p:cNvPr id="6" name="Rectangle 1">
            <a:extLst>
              <a:ext uri="{FF2B5EF4-FFF2-40B4-BE49-F238E27FC236}">
                <a16:creationId xmlns:a16="http://schemas.microsoft.com/office/drawing/2014/main" id="{8FD12F69-2AFC-D018-B890-61B377FF6AE4}"/>
              </a:ext>
            </a:extLst>
          </p:cNvPr>
          <p:cNvSpPr>
            <a:spLocks noChangeArrowheads="1"/>
          </p:cNvSpPr>
          <p:nvPr/>
        </p:nvSpPr>
        <p:spPr bwMode="auto">
          <a:xfrm>
            <a:off x="474553" y="2209997"/>
            <a:ext cx="3654847" cy="1560633"/>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1" i="0" u="none" strike="noStrike" cap="none" normalizeH="0" baseline="0" dirty="0">
                <a:ln>
                  <a:noFill/>
                </a:ln>
                <a:solidFill>
                  <a:srgbClr val="CB4B16"/>
                </a:solidFill>
                <a:effectLst/>
                <a:latin typeface="Consolas" panose="020B0609020204030204" pitchFamily="49" charset="0"/>
              </a:rPr>
              <a:t>&lt;?</a:t>
            </a:r>
            <a:r>
              <a:rPr kumimoji="0" lang="es-ES" altLang="es-ES" sz="1300" b="1" i="0" u="none" strike="noStrike" cap="none" normalizeH="0" baseline="0" dirty="0" err="1">
                <a:ln>
                  <a:noFill/>
                </a:ln>
                <a:solidFill>
                  <a:srgbClr val="CB4B16"/>
                </a:solidFill>
                <a:effectLst/>
                <a:latin typeface="Consolas" panose="020B0609020204030204" pitchFamily="49" charset="0"/>
              </a:rPr>
              <a:t>php</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do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$aleatorio</a:t>
            </a:r>
            <a:r>
              <a:rPr kumimoji="0" lang="es-ES" altLang="es-ES" sz="1300" b="0" i="0" u="none" strike="noStrike" cap="none" normalizeH="0" baseline="0" dirty="0">
                <a:ln>
                  <a:noFill/>
                </a:ln>
                <a:solidFill>
                  <a:srgbClr val="657B83"/>
                </a:solidFill>
                <a:effectLst/>
                <a:latin typeface="Consolas" panose="020B0609020204030204" pitchFamily="49" charset="0"/>
              </a:rPr>
              <a:t> = </a:t>
            </a:r>
            <a:r>
              <a:rPr kumimoji="0" lang="es-ES" altLang="es-ES" sz="1300" b="0" i="0" u="none" strike="noStrike" cap="none" normalizeH="0" baseline="0" dirty="0" err="1">
                <a:ln>
                  <a:noFill/>
                </a:ln>
                <a:solidFill>
                  <a:srgbClr val="B58900"/>
                </a:solidFill>
                <a:effectLst/>
                <a:latin typeface="Consolas" panose="020B0609020204030204" pitchFamily="49" charset="0"/>
              </a:rPr>
              <a:t>mt_rand</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1</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9</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"Ha salido </a:t>
            </a:r>
            <a:r>
              <a:rPr kumimoji="0" lang="es-ES" altLang="es-ES" sz="1300" b="0" i="0" u="none" strike="noStrike" cap="none" normalizeH="0" baseline="0" dirty="0">
                <a:ln>
                  <a:noFill/>
                </a:ln>
                <a:solidFill>
                  <a:srgbClr val="CB4B16"/>
                </a:solidFill>
                <a:effectLst/>
                <a:latin typeface="Consolas" panose="020B0609020204030204" pitchFamily="49" charset="0"/>
              </a:rPr>
              <a:t>$aleatorio</a:t>
            </a:r>
            <a:r>
              <a:rPr kumimoji="0" lang="es-ES" altLang="es-ES" sz="1300" b="0" i="0" u="none" strike="noStrike" cap="none" normalizeH="0" baseline="0" dirty="0">
                <a:ln>
                  <a:noFill/>
                </a:ln>
                <a:solidFill>
                  <a:srgbClr val="2AA198"/>
                </a:solidFill>
                <a:effectLst/>
                <a:latin typeface="Consolas" panose="020B0609020204030204" pitchFamily="49" charset="0"/>
              </a:rPr>
              <a:t>&lt;</a:t>
            </a:r>
            <a:r>
              <a:rPr kumimoji="0" lang="es-ES" altLang="es-ES" sz="1300" b="0" i="0" u="none" strike="noStrike" cap="none" normalizeH="0" baseline="0" dirty="0" err="1">
                <a:ln>
                  <a:noFill/>
                </a:ln>
                <a:solidFill>
                  <a:srgbClr val="2AA198"/>
                </a:solidFill>
                <a:effectLst/>
                <a:latin typeface="Consolas" panose="020B0609020204030204" pitchFamily="49" charset="0"/>
              </a:rPr>
              <a:t>br</a:t>
            </a:r>
            <a:r>
              <a:rPr kumimoji="0" lang="es-ES" altLang="es-ES" sz="1300" b="0" i="0" u="none" strike="noStrike" cap="none" normalizeH="0" baseline="0" dirty="0">
                <a:ln>
                  <a:noFill/>
                </a:ln>
                <a:solidFill>
                  <a:srgbClr val="2AA198"/>
                </a:solidFill>
                <a:effectLst/>
                <a:latin typeface="Consolas" panose="020B0609020204030204" pitchFamily="49" charset="0"/>
              </a:rPr>
              <a:t>&gt;"</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err="1">
                <a:ln>
                  <a:noFill/>
                </a:ln>
                <a:solidFill>
                  <a:srgbClr val="859900"/>
                </a:solidFill>
                <a:effectLst/>
                <a:latin typeface="Consolas" panose="020B0609020204030204" pitchFamily="49" charset="0"/>
              </a:rPr>
              <a:t>while</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CB4B16"/>
                </a:solidFill>
                <a:effectLst/>
                <a:latin typeface="Consolas" panose="020B0609020204030204" pitchFamily="49" charset="0"/>
              </a:rPr>
              <a:t>$aleatorio</a:t>
            </a:r>
            <a:r>
              <a:rPr kumimoji="0" lang="es-ES" altLang="es-ES" sz="1300" b="0" i="0" u="none" strike="noStrike" cap="none" normalizeH="0" baseline="0" dirty="0">
                <a:ln>
                  <a:noFill/>
                </a:ln>
                <a:solidFill>
                  <a:srgbClr val="657B83"/>
                </a:solidFill>
                <a:effectLst/>
                <a:latin typeface="Consolas" panose="020B0609020204030204" pitchFamily="49" charset="0"/>
              </a:rPr>
              <a:t> &lt; </a:t>
            </a:r>
            <a:r>
              <a:rPr kumimoji="0" lang="es-ES" altLang="es-ES" sz="1300" b="0" i="0" u="none" strike="noStrike" cap="none" normalizeH="0" baseline="0" dirty="0">
                <a:ln>
                  <a:noFill/>
                </a:ln>
                <a:solidFill>
                  <a:srgbClr val="268BD2"/>
                </a:solidFill>
                <a:effectLst/>
                <a:latin typeface="Consolas" panose="020B0609020204030204" pitchFamily="49" charset="0"/>
              </a:rPr>
              <a:t>8</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1" i="0" u="none" strike="noStrike" cap="none" normalizeH="0" baseline="0" dirty="0">
                <a:ln>
                  <a:noFill/>
                </a:ln>
                <a:solidFill>
                  <a:srgbClr val="CB4B16"/>
                </a:solidFill>
                <a:effectLst/>
                <a:latin typeface="Consolas" panose="020B0609020204030204" pitchFamily="49" charset="0"/>
              </a:rPr>
              <a:t>?&gt;</a:t>
            </a:r>
            <a:r>
              <a:rPr kumimoji="0" lang="es-ES" altLang="es-ES" sz="1300" b="0" i="0" u="none" strike="noStrike" cap="none" normalizeH="0" baseline="0" dirty="0">
                <a:ln>
                  <a:noFill/>
                </a:ln>
                <a:solidFill>
                  <a:schemeClr val="tx1"/>
                </a:solidFill>
                <a:effectLst/>
              </a:rPr>
              <a:t> </a:t>
            </a:r>
            <a:endParaRPr kumimoji="0" lang="es-ES" altLang="es-ES" sz="1300" b="0" i="0" u="none" strike="noStrike" cap="none" normalizeH="0" baseline="0" dirty="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EB7F9C29-3DFD-6F3A-3C37-CB986C9545C6}"/>
              </a:ext>
            </a:extLst>
          </p:cNvPr>
          <p:cNvSpPr txBox="1"/>
          <p:nvPr/>
        </p:nvSpPr>
        <p:spPr>
          <a:xfrm>
            <a:off x="4283968" y="2427734"/>
            <a:ext cx="4583622" cy="1323439"/>
          </a:xfrm>
          <a:prstGeom prst="rect">
            <a:avLst/>
          </a:prstGeom>
          <a:noFill/>
        </p:spPr>
        <p:txBody>
          <a:bodyPr wrap="square">
            <a:spAutoFit/>
          </a:bodyPr>
          <a:lstStyle/>
          <a:p>
            <a:r>
              <a:rPr lang="es-ES" sz="1600" dirty="0">
                <a:solidFill>
                  <a:schemeClr val="dk1"/>
                </a:solidFill>
                <a:latin typeface="Lato"/>
                <a:ea typeface="Lato"/>
                <a:cs typeface="Lato"/>
                <a:sym typeface="Lato"/>
              </a:rPr>
              <a:t>Puedes ver que vamos iterando mientras se cumple la condición, pero al menos tenemos que iterar una vez, dado que por lo menos siempre necesitamos el primer número aleatorio para trabajar.</a:t>
            </a:r>
          </a:p>
        </p:txBody>
      </p:sp>
    </p:spTree>
    <p:extLst>
      <p:ext uri="{BB962C8B-B14F-4D97-AF65-F5344CB8AC3E}">
        <p14:creationId xmlns:p14="http://schemas.microsoft.com/office/powerpoint/2010/main" val="454783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7AA70D-A5DC-7976-3A07-A110BC0045E8}"/>
              </a:ext>
            </a:extLst>
          </p:cNvPr>
          <p:cNvSpPr>
            <a:spLocks noGrp="1"/>
          </p:cNvSpPr>
          <p:nvPr>
            <p:ph type="title"/>
          </p:nvPr>
        </p:nvSpPr>
        <p:spPr>
          <a:xfrm>
            <a:off x="683568" y="0"/>
            <a:ext cx="6462600" cy="857400"/>
          </a:xfrm>
        </p:spPr>
        <p:txBody>
          <a:bodyPr/>
          <a:lstStyle/>
          <a:p>
            <a:r>
              <a:rPr lang="es-ES" b="0" i="0" dirty="0">
                <a:solidFill>
                  <a:srgbClr val="000000"/>
                </a:solidFill>
                <a:effectLst/>
                <a:latin typeface="Roboto" panose="02000000000000000000" pitchFamily="2" charset="0"/>
              </a:rPr>
              <a:t>Bucle </a:t>
            </a:r>
            <a:r>
              <a:rPr lang="es-ES" b="0" i="0" dirty="0" err="1">
                <a:solidFill>
                  <a:srgbClr val="000000"/>
                </a:solidFill>
                <a:effectLst/>
                <a:latin typeface="Roboto" panose="02000000000000000000" pitchFamily="2" charset="0"/>
              </a:rPr>
              <a:t>for</a:t>
            </a:r>
            <a:endParaRPr lang="es-ES" dirty="0"/>
          </a:p>
        </p:txBody>
      </p:sp>
      <p:sp>
        <p:nvSpPr>
          <p:cNvPr id="3" name="Marcador de texto 2">
            <a:extLst>
              <a:ext uri="{FF2B5EF4-FFF2-40B4-BE49-F238E27FC236}">
                <a16:creationId xmlns:a16="http://schemas.microsoft.com/office/drawing/2014/main" id="{BF4D537D-9579-16D3-FDD3-3F174B843B24}"/>
              </a:ext>
            </a:extLst>
          </p:cNvPr>
          <p:cNvSpPr>
            <a:spLocks noGrp="1"/>
          </p:cNvSpPr>
          <p:nvPr>
            <p:ph type="body" idx="1"/>
          </p:nvPr>
        </p:nvSpPr>
        <p:spPr>
          <a:xfrm>
            <a:off x="107504" y="864411"/>
            <a:ext cx="8496944" cy="3552300"/>
          </a:xfrm>
        </p:spPr>
        <p:txBody>
          <a:bodyPr/>
          <a:lstStyle/>
          <a:p>
            <a:r>
              <a:rPr lang="es-ES" sz="1600" dirty="0"/>
              <a:t>PHP está provisto de otros tipos de bucle que también resultan muy prácticos en determinadas situaciones. </a:t>
            </a:r>
          </a:p>
          <a:p>
            <a:endParaRPr lang="es-ES" sz="1600" dirty="0"/>
          </a:p>
          <a:p>
            <a:r>
              <a:rPr lang="es-ES" sz="1600" dirty="0"/>
              <a:t>El más popular de ellos es el bucle </a:t>
            </a:r>
            <a:r>
              <a:rPr lang="es-ES" sz="1600" dirty="0" err="1"/>
              <a:t>for</a:t>
            </a:r>
            <a:r>
              <a:rPr lang="es-ES" sz="1600" dirty="0"/>
              <a:t> que, como para los casos anteriores, se encarga de ejecutar las instrucciones que hay entre llaves. </a:t>
            </a:r>
          </a:p>
          <a:p>
            <a:endParaRPr lang="es-ES" sz="1600" dirty="0"/>
          </a:p>
          <a:p>
            <a:r>
              <a:rPr lang="es-ES" sz="1600" dirty="0"/>
              <a:t>La diferencia con los anteriores radica en cómo se plantea la condición de finalización del bucle. Para aclarar su funcionamiento vamos a expresar el primer ejemplo de bucle </a:t>
            </a:r>
            <a:r>
              <a:rPr lang="es-ES" sz="1600" dirty="0" err="1"/>
              <a:t>while</a:t>
            </a:r>
            <a:r>
              <a:rPr lang="es-ES" sz="1600" dirty="0"/>
              <a:t> visto en el capítulo anterior en forma de bucle </a:t>
            </a:r>
            <a:r>
              <a:rPr lang="es-ES" sz="1600" dirty="0" err="1"/>
              <a:t>for</a:t>
            </a:r>
            <a:r>
              <a:rPr lang="es-ES" sz="1600" dirty="0"/>
              <a:t>:</a:t>
            </a:r>
          </a:p>
        </p:txBody>
      </p:sp>
      <p:sp>
        <p:nvSpPr>
          <p:cNvPr id="4" name="Marcador de número de diapositiva 3">
            <a:extLst>
              <a:ext uri="{FF2B5EF4-FFF2-40B4-BE49-F238E27FC236}">
                <a16:creationId xmlns:a16="http://schemas.microsoft.com/office/drawing/2014/main" id="{DB209220-57E0-B353-0289-55A0D400A1E2}"/>
              </a:ext>
            </a:extLst>
          </p:cNvPr>
          <p:cNvSpPr>
            <a:spLocks noGrp="1"/>
          </p:cNvSpPr>
          <p:nvPr>
            <p:ph type="sldNum" idx="10"/>
          </p:nvPr>
        </p:nvSpPr>
        <p:spPr/>
        <p:txBody>
          <a:bodyPr/>
          <a:lstStyle/>
          <a:p>
            <a:fld id="{00000000-1234-1234-1234-123412341234}" type="slidenum">
              <a:rPr lang="es-ES" smtClean="0"/>
              <a:pPr/>
              <a:t>16</a:t>
            </a:fld>
            <a:endParaRPr lang="es-ES" dirty="0"/>
          </a:p>
        </p:txBody>
      </p:sp>
      <p:sp>
        <p:nvSpPr>
          <p:cNvPr id="5" name="Rectangle 1">
            <a:extLst>
              <a:ext uri="{FF2B5EF4-FFF2-40B4-BE49-F238E27FC236}">
                <a16:creationId xmlns:a16="http://schemas.microsoft.com/office/drawing/2014/main" id="{89EBEC20-FB34-06EC-9DBE-8B8222FE3ADF}"/>
              </a:ext>
            </a:extLst>
          </p:cNvPr>
          <p:cNvSpPr>
            <a:spLocks noChangeArrowheads="1"/>
          </p:cNvSpPr>
          <p:nvPr/>
        </p:nvSpPr>
        <p:spPr bwMode="auto">
          <a:xfrm>
            <a:off x="1111801" y="3539776"/>
            <a:ext cx="7136569" cy="108357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&lt;?</a:t>
            </a:r>
            <a:r>
              <a:rPr kumimoji="0" lang="es-ES" altLang="es-ES" sz="1200" b="1" i="0" u="none" strike="noStrike" cap="none" normalizeH="0" baseline="0" dirty="0" err="1">
                <a:ln>
                  <a:noFill/>
                </a:ln>
                <a:solidFill>
                  <a:srgbClr val="CB4B16"/>
                </a:solidFill>
                <a:effectLst/>
                <a:latin typeface="Consolas" panose="020B0609020204030204" pitchFamily="49" charset="0"/>
              </a:rPr>
              <a:t>php</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for</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size</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68BD2"/>
                </a:solidFill>
                <a:effectLst/>
                <a:latin typeface="Consolas" panose="020B0609020204030204" pitchFamily="49" charset="0"/>
              </a:rPr>
              <a:t>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size</a:t>
            </a:r>
            <a:r>
              <a:rPr kumimoji="0" lang="es-ES" altLang="es-ES" sz="1200" b="0" i="0" u="none" strike="noStrike" cap="none" normalizeH="0" baseline="0" dirty="0">
                <a:ln>
                  <a:noFill/>
                </a:ln>
                <a:solidFill>
                  <a:srgbClr val="657B83"/>
                </a:solidFill>
                <a:effectLst/>
                <a:latin typeface="Consolas" panose="020B0609020204030204" pitchFamily="49" charset="0"/>
              </a:rPr>
              <a:t> &lt;= </a:t>
            </a:r>
            <a:r>
              <a:rPr kumimoji="0" lang="es-ES" altLang="es-ES" sz="1200" b="0" i="0" u="none" strike="noStrike" cap="none" normalizeH="0" baseline="0" dirty="0">
                <a:ln>
                  <a:noFill/>
                </a:ln>
                <a:solidFill>
                  <a:srgbClr val="268BD2"/>
                </a:solidFill>
                <a:effectLst/>
                <a:latin typeface="Consolas" panose="020B0609020204030204" pitchFamily="49" charset="0"/>
              </a:rPr>
              <a:t>6</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size</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span</a:t>
            </a:r>
            <a:r>
              <a:rPr kumimoji="0" lang="es-ES" altLang="es-ES" sz="1200" b="0" i="0" u="none" strike="noStrike" cap="none" normalizeH="0" baseline="0" dirty="0">
                <a:ln>
                  <a:noFill/>
                </a:ln>
                <a:solidFill>
                  <a:srgbClr val="2AA198"/>
                </a:solidFill>
                <a:effectLst/>
                <a:latin typeface="Consolas" panose="020B0609020204030204" pitchFamily="49" charset="0"/>
              </a:rPr>
              <a:t> </a:t>
            </a:r>
            <a:r>
              <a:rPr kumimoji="0" lang="es-ES" altLang="es-ES" sz="1200" b="0" i="0" u="none" strike="noStrike" cap="none" normalizeH="0" baseline="0" dirty="0" err="1">
                <a:ln>
                  <a:noFill/>
                </a:ln>
                <a:solidFill>
                  <a:srgbClr val="2AA198"/>
                </a:solidFill>
                <a:effectLst/>
                <a:latin typeface="Consolas" panose="020B0609020204030204" pitchFamily="49" charset="0"/>
              </a:rPr>
              <a:t>style</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err="1">
                <a:ln>
                  <a:noFill/>
                </a:ln>
                <a:solidFill>
                  <a:srgbClr val="2AA198"/>
                </a:solidFill>
                <a:effectLst/>
                <a:latin typeface="Consolas" panose="020B0609020204030204" pitchFamily="49" charset="0"/>
              </a:rPr>
              <a:t>font-size</a:t>
            </a:r>
            <a:r>
              <a:rPr kumimoji="0" lang="es-ES" altLang="es-ES" sz="1200" b="0" i="0" u="none" strike="noStrike" cap="none" normalizeH="0" baseline="0" dirty="0">
                <a:ln>
                  <a:noFill/>
                </a:ln>
                <a:solidFill>
                  <a:srgbClr val="2AA198"/>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size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rem\"&gt;Tamaño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size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rem&lt;/</a:t>
            </a:r>
            <a:r>
              <a:rPr kumimoji="0" lang="es-ES" altLang="es-ES" sz="1200" b="0" i="0" u="none" strike="noStrike" cap="none" normalizeH="0" baseline="0" dirty="0" err="1">
                <a:ln>
                  <a:noFill/>
                </a:ln>
                <a:solidFill>
                  <a:srgbClr val="2AA198"/>
                </a:solidFill>
                <a:effectLst/>
                <a:latin typeface="Consolas" panose="020B0609020204030204" pitchFamily="49" charset="0"/>
              </a:rPr>
              <a:t>span</a:t>
            </a:r>
            <a:r>
              <a:rPr kumimoji="0" lang="es-ES" altLang="es-ES" sz="1200" b="0" i="0" u="none" strike="noStrike" cap="none" normalizeH="0" baseline="0" dirty="0">
                <a:ln>
                  <a:noFill/>
                </a:ln>
                <a:solidFill>
                  <a:srgbClr val="2AA198"/>
                </a:solidFill>
                <a:effectLst/>
                <a:latin typeface="Consolas" panose="020B0609020204030204" pitchFamily="49" charset="0"/>
              </a:rPr>
              <a:t>&gt;&lt;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&gt;\n"</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?&gt;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419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6AC5F-1333-EA97-820B-7D573C63822A}"/>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4495B136-35D1-560B-BBB3-018B11AC2C2D}"/>
              </a:ext>
            </a:extLst>
          </p:cNvPr>
          <p:cNvSpPr>
            <a:spLocks noGrp="1"/>
          </p:cNvSpPr>
          <p:nvPr>
            <p:ph type="body" idx="1"/>
          </p:nvPr>
        </p:nvSpPr>
        <p:spPr>
          <a:xfrm>
            <a:off x="395536" y="1191802"/>
            <a:ext cx="8568952" cy="3552300"/>
          </a:xfrm>
        </p:spPr>
        <p:txBody>
          <a:bodyPr/>
          <a:lstStyle/>
          <a:p>
            <a:pPr marL="114300" indent="0">
              <a:buNone/>
            </a:pPr>
            <a:r>
              <a:rPr lang="es-ES" sz="1800" dirty="0"/>
              <a:t>Las expresiones dentro del paréntesis definen respectivamente:</a:t>
            </a:r>
          </a:p>
          <a:p>
            <a:pPr marL="114300" indent="0">
              <a:buNone/>
            </a:pPr>
            <a:endParaRPr lang="es-ES" sz="1800" dirty="0"/>
          </a:p>
          <a:p>
            <a:pPr marL="571500" lvl="1" indent="0">
              <a:buNone/>
            </a:pPr>
            <a:r>
              <a:rPr lang="es-ES" sz="1800" dirty="0"/>
              <a:t>Inicialización de la variable. Valida para la primera vuelta del bucle.</a:t>
            </a:r>
          </a:p>
          <a:p>
            <a:pPr marL="571500" lvl="1" indent="0">
              <a:buNone/>
            </a:pPr>
            <a:endParaRPr lang="es-ES" sz="1800" dirty="0"/>
          </a:p>
          <a:p>
            <a:pPr marL="571500" lvl="1" indent="0">
              <a:buNone/>
            </a:pPr>
            <a:r>
              <a:rPr lang="es-ES" sz="1800" dirty="0"/>
              <a:t>Condición de evaluación a cada vuelta. Si es cierta, el bucle continua.</a:t>
            </a:r>
          </a:p>
          <a:p>
            <a:pPr marL="571500" lvl="1" indent="0">
              <a:buNone/>
            </a:pPr>
            <a:endParaRPr lang="es-ES" sz="1800" dirty="0"/>
          </a:p>
          <a:p>
            <a:pPr marL="571500" lvl="1" indent="0">
              <a:buNone/>
            </a:pPr>
            <a:r>
              <a:rPr lang="es-ES" sz="1800" dirty="0"/>
              <a:t>Acción a realizar al final de cada vuelta de bucle.</a:t>
            </a:r>
          </a:p>
          <a:p>
            <a:pPr marL="571500" lvl="1" indent="0">
              <a:buNone/>
            </a:pPr>
            <a:endParaRPr lang="es-ES" sz="1800" dirty="0"/>
          </a:p>
          <a:p>
            <a:pPr marL="114300" indent="0">
              <a:buNone/>
            </a:pPr>
            <a:r>
              <a:rPr lang="es-ES" sz="1800" dirty="0"/>
              <a:t>Como hemos podido comprobar, el bucle </a:t>
            </a:r>
            <a:r>
              <a:rPr lang="es-ES" sz="1800" dirty="0" err="1"/>
              <a:t>for</a:t>
            </a:r>
            <a:r>
              <a:rPr lang="es-ES" sz="1800" dirty="0"/>
              <a:t> es capaz de definir muchos parámetros del bucle en su cabecera, por lo que es una estructura muy potente. Esto se demuestra porque hemos conseguido hacer lo mismo con menos líneas de código.</a:t>
            </a:r>
          </a:p>
        </p:txBody>
      </p:sp>
      <p:sp>
        <p:nvSpPr>
          <p:cNvPr id="4" name="Marcador de número de diapositiva 3">
            <a:extLst>
              <a:ext uri="{FF2B5EF4-FFF2-40B4-BE49-F238E27FC236}">
                <a16:creationId xmlns:a16="http://schemas.microsoft.com/office/drawing/2014/main" id="{573820BB-979A-F226-E9FF-ECC91382EC4C}"/>
              </a:ext>
            </a:extLst>
          </p:cNvPr>
          <p:cNvSpPr>
            <a:spLocks noGrp="1"/>
          </p:cNvSpPr>
          <p:nvPr>
            <p:ph type="sldNum" idx="10"/>
          </p:nvPr>
        </p:nvSpPr>
        <p:spPr/>
        <p:txBody>
          <a:bodyPr/>
          <a:lstStyle/>
          <a:p>
            <a:fld id="{00000000-1234-1234-1234-123412341234}" type="slidenum">
              <a:rPr lang="es-ES" smtClean="0"/>
              <a:pPr/>
              <a:t>17</a:t>
            </a:fld>
            <a:endParaRPr lang="es-ES" dirty="0"/>
          </a:p>
        </p:txBody>
      </p:sp>
    </p:spTree>
    <p:extLst>
      <p:ext uri="{BB962C8B-B14F-4D97-AF65-F5344CB8AC3E}">
        <p14:creationId xmlns:p14="http://schemas.microsoft.com/office/powerpoint/2010/main" val="2830840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071491-2AF3-E4B9-78A4-07C79A55D0E5}"/>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Uso de las llaves para el cuerpo del bucle</a:t>
            </a:r>
            <a:endParaRPr lang="es-ES" dirty="0"/>
          </a:p>
        </p:txBody>
      </p:sp>
      <p:sp>
        <p:nvSpPr>
          <p:cNvPr id="3" name="Marcador de texto 2">
            <a:extLst>
              <a:ext uri="{FF2B5EF4-FFF2-40B4-BE49-F238E27FC236}">
                <a16:creationId xmlns:a16="http://schemas.microsoft.com/office/drawing/2014/main" id="{ED2E4FF1-788D-0379-CF2D-68BD37AB8489}"/>
              </a:ext>
            </a:extLst>
          </p:cNvPr>
          <p:cNvSpPr>
            <a:spLocks noGrp="1"/>
          </p:cNvSpPr>
          <p:nvPr>
            <p:ph type="body" idx="1"/>
          </p:nvPr>
        </p:nvSpPr>
        <p:spPr/>
        <p:txBody>
          <a:bodyPr/>
          <a:lstStyle/>
          <a:p>
            <a:r>
              <a:rPr lang="es-ES" sz="1800" dirty="0"/>
              <a:t>Cuando el bucle no tiene más que una sentencia es posible omitir las llaves que engloban las sentencias del cuerpo. Por tanto, el ejemplo anterior se podría escribir también así:</a:t>
            </a:r>
          </a:p>
        </p:txBody>
      </p:sp>
      <p:sp>
        <p:nvSpPr>
          <p:cNvPr id="4" name="Marcador de número de diapositiva 3">
            <a:extLst>
              <a:ext uri="{FF2B5EF4-FFF2-40B4-BE49-F238E27FC236}">
                <a16:creationId xmlns:a16="http://schemas.microsoft.com/office/drawing/2014/main" id="{F083ED3F-C1C2-9DEE-5079-CA7918320B63}"/>
              </a:ext>
            </a:extLst>
          </p:cNvPr>
          <p:cNvSpPr>
            <a:spLocks noGrp="1"/>
          </p:cNvSpPr>
          <p:nvPr>
            <p:ph type="sldNum" idx="10"/>
          </p:nvPr>
        </p:nvSpPr>
        <p:spPr/>
        <p:txBody>
          <a:bodyPr/>
          <a:lstStyle/>
          <a:p>
            <a:fld id="{00000000-1234-1234-1234-123412341234}" type="slidenum">
              <a:rPr lang="es-ES" smtClean="0"/>
              <a:pPr/>
              <a:t>18</a:t>
            </a:fld>
            <a:endParaRPr lang="es-ES" dirty="0"/>
          </a:p>
        </p:txBody>
      </p:sp>
      <p:sp>
        <p:nvSpPr>
          <p:cNvPr id="6" name="Rectangle 1">
            <a:extLst>
              <a:ext uri="{FF2B5EF4-FFF2-40B4-BE49-F238E27FC236}">
                <a16:creationId xmlns:a16="http://schemas.microsoft.com/office/drawing/2014/main" id="{9705A301-019C-894F-0F8D-9E55D88ECE1C}"/>
              </a:ext>
            </a:extLst>
          </p:cNvPr>
          <p:cNvSpPr>
            <a:spLocks noChangeArrowheads="1"/>
          </p:cNvSpPr>
          <p:nvPr/>
        </p:nvSpPr>
        <p:spPr bwMode="auto">
          <a:xfrm>
            <a:off x="107504" y="3001039"/>
            <a:ext cx="9002464" cy="66808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1" i="0" u="none" strike="noStrike" cap="none" normalizeH="0" baseline="0" dirty="0">
                <a:ln>
                  <a:noFill/>
                </a:ln>
                <a:solidFill>
                  <a:srgbClr val="CB4B16"/>
                </a:solidFill>
                <a:effectLst/>
                <a:latin typeface="Consolas" panose="020B0609020204030204" pitchFamily="49" charset="0"/>
              </a:rPr>
              <a:t>&lt;?</a:t>
            </a:r>
            <a:r>
              <a:rPr kumimoji="0" lang="es-ES" altLang="es-ES" sz="1100" b="1" i="0" u="none" strike="noStrike" cap="none" normalizeH="0" baseline="0" dirty="0" err="1">
                <a:ln>
                  <a:noFill/>
                </a:ln>
                <a:solidFill>
                  <a:srgbClr val="CB4B16"/>
                </a:solidFill>
                <a:effectLst/>
                <a:latin typeface="Consolas" panose="020B0609020204030204" pitchFamily="49" charset="0"/>
              </a:rPr>
              <a:t>php</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100" dirty="0">
                <a:solidFill>
                  <a:srgbClr val="657B83"/>
                </a:solidFill>
                <a:latin typeface="Consolas" panose="020B0609020204030204" pitchFamily="49" charset="0"/>
              </a:rPr>
              <a:t>    </a:t>
            </a:r>
            <a:r>
              <a:rPr kumimoji="0" lang="es-ES" altLang="es-ES" sz="1100" b="0" i="0" u="none" strike="noStrike" cap="none" normalizeH="0" baseline="0" dirty="0" err="1">
                <a:ln>
                  <a:noFill/>
                </a:ln>
                <a:solidFill>
                  <a:srgbClr val="859900"/>
                </a:solidFill>
                <a:effectLst/>
                <a:latin typeface="Consolas" panose="020B0609020204030204" pitchFamily="49" charset="0"/>
              </a:rPr>
              <a:t>for</a:t>
            </a: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CB4B16"/>
                </a:solidFill>
                <a:effectLst/>
                <a:latin typeface="Consolas" panose="020B0609020204030204" pitchFamily="49" charset="0"/>
              </a:rPr>
              <a:t>$</a:t>
            </a:r>
            <a:r>
              <a:rPr kumimoji="0" lang="es-ES" altLang="es-ES" sz="1100" b="0" i="0" u="none" strike="noStrike" cap="none" normalizeH="0" baseline="0" dirty="0" err="1">
                <a:ln>
                  <a:noFill/>
                </a:ln>
                <a:solidFill>
                  <a:srgbClr val="CB4B16"/>
                </a:solidFill>
                <a:effectLst/>
                <a:latin typeface="Consolas" panose="020B0609020204030204" pitchFamily="49" charset="0"/>
              </a:rPr>
              <a:t>size</a:t>
            </a:r>
            <a:r>
              <a:rPr kumimoji="0" lang="es-ES" altLang="es-ES" sz="1100" b="0" i="0" u="none" strike="noStrike" cap="none" normalizeH="0" baseline="0" dirty="0">
                <a:ln>
                  <a:noFill/>
                </a:ln>
                <a:solidFill>
                  <a:srgbClr val="657B83"/>
                </a:solidFill>
                <a:effectLst/>
                <a:latin typeface="Consolas" panose="020B0609020204030204" pitchFamily="49" charset="0"/>
              </a:rPr>
              <a:t> = </a:t>
            </a:r>
            <a:r>
              <a:rPr kumimoji="0" lang="es-ES" altLang="es-ES" sz="1100" b="0" i="0" u="none" strike="noStrike" cap="none" normalizeH="0" baseline="0" dirty="0">
                <a:ln>
                  <a:noFill/>
                </a:ln>
                <a:solidFill>
                  <a:srgbClr val="268BD2"/>
                </a:solidFill>
                <a:effectLst/>
                <a:latin typeface="Consolas" panose="020B0609020204030204" pitchFamily="49" charset="0"/>
              </a:rPr>
              <a:t>1</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a:ln>
                  <a:noFill/>
                </a:ln>
                <a:solidFill>
                  <a:srgbClr val="CB4B16"/>
                </a:solidFill>
                <a:effectLst/>
                <a:latin typeface="Consolas" panose="020B0609020204030204" pitchFamily="49" charset="0"/>
              </a:rPr>
              <a:t>$</a:t>
            </a:r>
            <a:r>
              <a:rPr kumimoji="0" lang="es-ES" altLang="es-ES" sz="1100" b="0" i="0" u="none" strike="noStrike" cap="none" normalizeH="0" baseline="0" dirty="0" err="1">
                <a:ln>
                  <a:noFill/>
                </a:ln>
                <a:solidFill>
                  <a:srgbClr val="CB4B16"/>
                </a:solidFill>
                <a:effectLst/>
                <a:latin typeface="Consolas" panose="020B0609020204030204" pitchFamily="49" charset="0"/>
              </a:rPr>
              <a:t>size</a:t>
            </a:r>
            <a:r>
              <a:rPr kumimoji="0" lang="es-ES" altLang="es-ES" sz="1100" b="0" i="0" u="none" strike="noStrike" cap="none" normalizeH="0" baseline="0" dirty="0">
                <a:ln>
                  <a:noFill/>
                </a:ln>
                <a:solidFill>
                  <a:srgbClr val="657B83"/>
                </a:solidFill>
                <a:effectLst/>
                <a:latin typeface="Consolas" panose="020B0609020204030204" pitchFamily="49" charset="0"/>
              </a:rPr>
              <a:t> &lt;= </a:t>
            </a:r>
            <a:r>
              <a:rPr kumimoji="0" lang="es-ES" altLang="es-ES" sz="1100" b="0" i="0" u="none" strike="noStrike" cap="none" normalizeH="0" baseline="0" dirty="0">
                <a:ln>
                  <a:noFill/>
                </a:ln>
                <a:solidFill>
                  <a:srgbClr val="268BD2"/>
                </a:solidFill>
                <a:effectLst/>
                <a:latin typeface="Consolas" panose="020B0609020204030204" pitchFamily="49" charset="0"/>
              </a:rPr>
              <a:t>6</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a:ln>
                  <a:noFill/>
                </a:ln>
                <a:solidFill>
                  <a:srgbClr val="CB4B16"/>
                </a:solidFill>
                <a:effectLst/>
                <a:latin typeface="Consolas" panose="020B0609020204030204" pitchFamily="49" charset="0"/>
              </a:rPr>
              <a:t>$</a:t>
            </a:r>
            <a:r>
              <a:rPr kumimoji="0" lang="es-ES" altLang="es-ES" sz="1100" b="0" i="0" u="none" strike="noStrike" cap="none" normalizeH="0" baseline="0" dirty="0" err="1">
                <a:ln>
                  <a:noFill/>
                </a:ln>
                <a:solidFill>
                  <a:srgbClr val="CB4B16"/>
                </a:solidFill>
                <a:effectLst/>
                <a:latin typeface="Consolas" panose="020B0609020204030204" pitchFamily="49" charset="0"/>
              </a:rPr>
              <a:t>size</a:t>
            </a:r>
            <a:r>
              <a:rPr kumimoji="0" lang="es-ES" altLang="es-ES" sz="1100" b="0" i="0" u="none" strike="noStrike" cap="none" normalizeH="0" baseline="0" dirty="0">
                <a:ln>
                  <a:noFill/>
                </a:ln>
                <a:solidFill>
                  <a:srgbClr val="657B83"/>
                </a:solidFill>
                <a:effectLst/>
                <a:latin typeface="Consolas" panose="020B0609020204030204" pitchFamily="49" charset="0"/>
              </a:rPr>
              <a:t>++</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a:ln>
                  <a:noFill/>
                </a:ln>
                <a:solidFill>
                  <a:srgbClr val="859900"/>
                </a:solidFill>
                <a:effectLst/>
                <a:latin typeface="Consolas" panose="020B0609020204030204" pitchFamily="49" charset="0"/>
              </a:rPr>
              <a:t>echo</a:t>
            </a:r>
            <a:r>
              <a:rPr kumimoji="0" lang="es-ES" altLang="es-ES" sz="1100" b="0" i="0" u="none" strike="noStrike" cap="none" normalizeH="0" baseline="0" dirty="0">
                <a:ln>
                  <a:noFill/>
                </a:ln>
                <a:solidFill>
                  <a:srgbClr val="2AA198"/>
                </a:solidFill>
                <a:effectLst/>
                <a:latin typeface="Consolas" panose="020B0609020204030204" pitchFamily="49" charset="0"/>
              </a:rPr>
              <a:t>"&lt;</a:t>
            </a:r>
            <a:r>
              <a:rPr kumimoji="0" lang="es-ES" altLang="es-ES" sz="1100" b="0" i="0" u="none" strike="noStrike" cap="none" normalizeH="0" baseline="0" dirty="0" err="1">
                <a:ln>
                  <a:noFill/>
                </a:ln>
                <a:solidFill>
                  <a:srgbClr val="2AA198"/>
                </a:solidFill>
                <a:effectLst/>
                <a:latin typeface="Consolas" panose="020B0609020204030204" pitchFamily="49" charset="0"/>
              </a:rPr>
              <a:t>span</a:t>
            </a:r>
            <a:r>
              <a:rPr kumimoji="0" lang="es-ES" altLang="es-ES" sz="1100" b="0" i="0" u="none" strike="noStrike" cap="none" normalizeH="0" baseline="0" dirty="0">
                <a:ln>
                  <a:noFill/>
                </a:ln>
                <a:solidFill>
                  <a:srgbClr val="2AA198"/>
                </a:solidFill>
                <a:effectLst/>
                <a:latin typeface="Consolas" panose="020B0609020204030204" pitchFamily="49" charset="0"/>
              </a:rPr>
              <a:t> </a:t>
            </a:r>
            <a:r>
              <a:rPr kumimoji="0" lang="es-ES" altLang="es-ES" sz="1100" b="0" i="0" u="none" strike="noStrike" cap="none" normalizeH="0" baseline="0" dirty="0" err="1">
                <a:ln>
                  <a:noFill/>
                </a:ln>
                <a:solidFill>
                  <a:srgbClr val="2AA198"/>
                </a:solidFill>
                <a:effectLst/>
                <a:latin typeface="Consolas" panose="020B0609020204030204" pitchFamily="49" charset="0"/>
              </a:rPr>
              <a:t>style</a:t>
            </a:r>
            <a:r>
              <a:rPr kumimoji="0" lang="es-ES" altLang="es-ES" sz="1100" b="0" i="0" u="none" strike="noStrike" cap="none" normalizeH="0" baseline="0" dirty="0">
                <a:ln>
                  <a:noFill/>
                </a:ln>
                <a:solidFill>
                  <a:srgbClr val="2AA198"/>
                </a:solidFill>
                <a:effectLst/>
                <a:latin typeface="Consolas" panose="020B0609020204030204" pitchFamily="49" charset="0"/>
              </a:rPr>
              <a:t>=\"</a:t>
            </a:r>
            <a:r>
              <a:rPr kumimoji="0" lang="es-ES" altLang="es-ES" sz="1100" b="0" i="0" u="none" strike="noStrike" cap="none" normalizeH="0" baseline="0" dirty="0" err="1">
                <a:ln>
                  <a:noFill/>
                </a:ln>
                <a:solidFill>
                  <a:srgbClr val="2AA198"/>
                </a:solidFill>
                <a:effectLst/>
                <a:latin typeface="Consolas" panose="020B0609020204030204" pitchFamily="49" charset="0"/>
              </a:rPr>
              <a:t>font-size</a:t>
            </a:r>
            <a:r>
              <a:rPr kumimoji="0" lang="es-ES" altLang="es-ES" sz="1100" b="0" i="0" u="none" strike="noStrike" cap="none" normalizeH="0" baseline="0" dirty="0">
                <a:ln>
                  <a:noFill/>
                </a:ln>
                <a:solidFill>
                  <a:srgbClr val="2AA198"/>
                </a:solidFill>
                <a:effectLst/>
                <a:latin typeface="Consolas" panose="020B0609020204030204" pitchFamily="49" charset="0"/>
              </a:rPr>
              <a:t>: </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CB4B16"/>
                </a:solidFill>
                <a:effectLst/>
                <a:latin typeface="Consolas" panose="020B0609020204030204" pitchFamily="49" charset="0"/>
              </a:rPr>
              <a:t>$</a:t>
            </a:r>
            <a:r>
              <a:rPr kumimoji="0" lang="es-ES" altLang="es-ES" sz="1100" b="0" i="0" u="none" strike="noStrike" cap="none" normalizeH="0" baseline="0" dirty="0" err="1">
                <a:ln>
                  <a:noFill/>
                </a:ln>
                <a:solidFill>
                  <a:srgbClr val="CB4B16"/>
                </a:solidFill>
                <a:effectLst/>
                <a:latin typeface="Consolas" panose="020B0609020204030204" pitchFamily="49" charset="0"/>
              </a:rPr>
              <a:t>size</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2AA198"/>
                </a:solidFill>
                <a:effectLst/>
                <a:latin typeface="Consolas" panose="020B0609020204030204" pitchFamily="49" charset="0"/>
              </a:rPr>
              <a:t>rem\"&gt;Tamaño </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CB4B16"/>
                </a:solidFill>
                <a:effectLst/>
                <a:latin typeface="Consolas" panose="020B0609020204030204" pitchFamily="49" charset="0"/>
              </a:rPr>
              <a:t>$</a:t>
            </a:r>
            <a:r>
              <a:rPr kumimoji="0" lang="es-ES" altLang="es-ES" sz="1100" b="0" i="0" u="none" strike="noStrike" cap="none" normalizeH="0" baseline="0" dirty="0" err="1">
                <a:ln>
                  <a:noFill/>
                </a:ln>
                <a:solidFill>
                  <a:srgbClr val="CB4B16"/>
                </a:solidFill>
                <a:effectLst/>
                <a:latin typeface="Consolas" panose="020B0609020204030204" pitchFamily="49" charset="0"/>
              </a:rPr>
              <a:t>size</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2AA198"/>
                </a:solidFill>
                <a:effectLst/>
                <a:latin typeface="Consolas" panose="020B0609020204030204" pitchFamily="49" charset="0"/>
              </a:rPr>
              <a:t>rem&lt;/</a:t>
            </a:r>
            <a:r>
              <a:rPr kumimoji="0" lang="es-ES" altLang="es-ES" sz="1100" b="0" i="0" u="none" strike="noStrike" cap="none" normalizeH="0" baseline="0" dirty="0" err="1">
                <a:ln>
                  <a:noFill/>
                </a:ln>
                <a:solidFill>
                  <a:srgbClr val="2AA198"/>
                </a:solidFill>
                <a:effectLst/>
                <a:latin typeface="Consolas" panose="020B0609020204030204" pitchFamily="49" charset="0"/>
              </a:rPr>
              <a:t>span</a:t>
            </a:r>
            <a:r>
              <a:rPr kumimoji="0" lang="es-ES" altLang="es-ES" sz="1100" b="0" i="0" u="none" strike="noStrike" cap="none" normalizeH="0" baseline="0" dirty="0">
                <a:ln>
                  <a:noFill/>
                </a:ln>
                <a:solidFill>
                  <a:srgbClr val="2AA198"/>
                </a:solidFill>
                <a:effectLst/>
                <a:latin typeface="Consolas" panose="020B0609020204030204" pitchFamily="49" charset="0"/>
              </a:rPr>
              <a:t>&gt;&lt;</a:t>
            </a:r>
            <a:r>
              <a:rPr kumimoji="0" lang="es-ES" altLang="es-ES" sz="1100" b="0" i="0" u="none" strike="noStrike" cap="none" normalizeH="0" baseline="0" dirty="0" err="1">
                <a:ln>
                  <a:noFill/>
                </a:ln>
                <a:solidFill>
                  <a:srgbClr val="2AA198"/>
                </a:solidFill>
                <a:effectLst/>
                <a:latin typeface="Consolas" panose="020B0609020204030204" pitchFamily="49" charset="0"/>
              </a:rPr>
              <a:t>br</a:t>
            </a:r>
            <a:r>
              <a:rPr kumimoji="0" lang="es-ES" altLang="es-ES" sz="1100" b="0" i="0" u="none" strike="noStrike" cap="none" normalizeH="0" baseline="0" dirty="0">
                <a:ln>
                  <a:noFill/>
                </a:ln>
                <a:solidFill>
                  <a:srgbClr val="2AA198"/>
                </a:solidFill>
                <a:effectLst/>
                <a:latin typeface="Consolas" panose="020B0609020204030204" pitchFamily="49" charset="0"/>
              </a:rPr>
              <a:t>&gt;\n"</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1" i="0" u="none" strike="noStrike" cap="none" normalizeH="0" baseline="0" dirty="0">
                <a:ln>
                  <a:noFill/>
                </a:ln>
                <a:solidFill>
                  <a:srgbClr val="CB4B16"/>
                </a:solidFill>
                <a:effectLst/>
                <a:latin typeface="Consolas" panose="020B0609020204030204" pitchFamily="49" charset="0"/>
              </a:rPr>
              <a:t>?&gt;</a:t>
            </a:r>
            <a:r>
              <a:rPr kumimoji="0" lang="es-ES" altLang="es-ES" sz="1100" b="0" i="0" u="none" strike="noStrike" cap="none" normalizeH="0" baseline="0" dirty="0">
                <a:ln>
                  <a:noFill/>
                </a:ln>
                <a:solidFill>
                  <a:schemeClr val="tx1"/>
                </a:solidFill>
                <a:effectLst/>
              </a:rPr>
              <a:t> </a:t>
            </a:r>
            <a:endParaRPr kumimoji="0" lang="es-ES" altLang="es-ES"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22054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9D748FCA-A8F9-FC30-773F-069BB97CA344}"/>
              </a:ext>
            </a:extLst>
          </p:cNvPr>
          <p:cNvSpPr>
            <a:spLocks noGrp="1"/>
          </p:cNvSpPr>
          <p:nvPr>
            <p:ph type="body" idx="1"/>
          </p:nvPr>
        </p:nvSpPr>
        <p:spPr>
          <a:xfrm>
            <a:off x="179512" y="483518"/>
            <a:ext cx="8712968" cy="3552300"/>
          </a:xfrm>
        </p:spPr>
        <p:txBody>
          <a:bodyPr/>
          <a:lstStyle/>
          <a:p>
            <a:r>
              <a:rPr lang="es-ES" sz="1600" dirty="0"/>
              <a:t>Para leer la lengua aceptada por el navegador lo que hacemos es definir una variable ($idioma) y, mediante la función </a:t>
            </a:r>
            <a:r>
              <a:rPr lang="es-ES" sz="1600" dirty="0" err="1"/>
              <a:t>substr</a:t>
            </a:r>
            <a:r>
              <a:rPr lang="es-ES" sz="1600" dirty="0"/>
              <a:t>, recogemos las dos primeras letras del código correspondiente al idioma aceptado por el navegador ($_SERVER["HTTP_ACCEPT_LANGUAGE"]).</a:t>
            </a:r>
          </a:p>
          <a:p>
            <a:endParaRPr lang="es-ES" sz="1600" dirty="0"/>
          </a:p>
          <a:p>
            <a:r>
              <a:rPr lang="es-ES" sz="1600" dirty="0"/>
              <a:t>La tercera parte de script se encarga de ver si el navegador está en español (es), francés (</a:t>
            </a:r>
            <a:r>
              <a:rPr lang="es-ES" sz="1600" dirty="0" err="1"/>
              <a:t>fr</a:t>
            </a:r>
            <a:r>
              <a:rPr lang="es-ES" sz="1600" dirty="0"/>
              <a:t>) o en cualquier otro idioma que no sea ninguno de estos dos y de imprimir el mensaje que proceda en cada caso.</a:t>
            </a:r>
          </a:p>
          <a:p>
            <a:endParaRPr lang="es-ES" sz="1600" dirty="0"/>
          </a:p>
          <a:p>
            <a:r>
              <a:rPr lang="es-ES" sz="1600" dirty="0"/>
              <a:t>Es muy importante notar que, cuando se trata de comparar variables, ponemos un doble igual "==" en lugar de un simple "=". Recuerda siempre que el doble igual es para comparar y el igual simple se usa exclusivamente para asignar valores a variables.</a:t>
            </a:r>
          </a:p>
        </p:txBody>
      </p:sp>
      <p:sp>
        <p:nvSpPr>
          <p:cNvPr id="4" name="Marcador de número de diapositiva 3">
            <a:extLst>
              <a:ext uri="{FF2B5EF4-FFF2-40B4-BE49-F238E27FC236}">
                <a16:creationId xmlns:a16="http://schemas.microsoft.com/office/drawing/2014/main" id="{263CFEF1-206E-EE04-2991-0C6193FD2202}"/>
              </a:ext>
            </a:extLst>
          </p:cNvPr>
          <p:cNvSpPr>
            <a:spLocks noGrp="1"/>
          </p:cNvSpPr>
          <p:nvPr>
            <p:ph type="sldNum" idx="10"/>
          </p:nvPr>
        </p:nvSpPr>
        <p:spPr/>
        <p:txBody>
          <a:bodyPr/>
          <a:lstStyle/>
          <a:p>
            <a:fld id="{00000000-1234-1234-1234-123412341234}" type="slidenum">
              <a:rPr lang="es-ES" smtClean="0"/>
              <a:pPr/>
              <a:t>19</a:t>
            </a:fld>
            <a:endParaRPr lang="es-ES" dirty="0"/>
          </a:p>
        </p:txBody>
      </p:sp>
    </p:spTree>
    <p:extLst>
      <p:ext uri="{BB962C8B-B14F-4D97-AF65-F5344CB8AC3E}">
        <p14:creationId xmlns:p14="http://schemas.microsoft.com/office/powerpoint/2010/main" val="3736311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429905-E032-7BF0-51D0-27C7184B99F6}"/>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Bucle </a:t>
            </a:r>
            <a:r>
              <a:rPr lang="es-ES" b="0" i="0" dirty="0" err="1">
                <a:solidFill>
                  <a:srgbClr val="000000"/>
                </a:solidFill>
                <a:effectLst/>
                <a:latin typeface="Roboto" panose="02000000000000000000" pitchFamily="2" charset="0"/>
              </a:rPr>
              <a:t>foreach</a:t>
            </a:r>
            <a:endParaRPr lang="es-ES" dirty="0"/>
          </a:p>
        </p:txBody>
      </p:sp>
      <p:sp>
        <p:nvSpPr>
          <p:cNvPr id="3" name="Marcador de texto 2">
            <a:extLst>
              <a:ext uri="{FF2B5EF4-FFF2-40B4-BE49-F238E27FC236}">
                <a16:creationId xmlns:a16="http://schemas.microsoft.com/office/drawing/2014/main" id="{20F5E5F2-5BF5-D8F7-2523-5BD9A7CD8A31}"/>
              </a:ext>
            </a:extLst>
          </p:cNvPr>
          <p:cNvSpPr>
            <a:spLocks noGrp="1"/>
          </p:cNvSpPr>
          <p:nvPr>
            <p:ph type="body" idx="1"/>
          </p:nvPr>
        </p:nvSpPr>
        <p:spPr>
          <a:xfrm>
            <a:off x="179512" y="1431577"/>
            <a:ext cx="8964488" cy="3552300"/>
          </a:xfrm>
        </p:spPr>
        <p:txBody>
          <a:bodyPr/>
          <a:lstStyle/>
          <a:p>
            <a:pPr marL="114300" indent="0">
              <a:buNone/>
            </a:pPr>
            <a:r>
              <a:rPr lang="es-ES" sz="1800" dirty="0"/>
              <a:t>Este bucle, implementado en las versiones de PHP 4 en adelante, nos ayuda a recorrer los valores de un array lo cual puede resultar muy útil por ejemplo para efectuar una lectura rápida del mismo. Recordamos que un array es una variable que guarda un conjunto de elementos (valores) catalogados por claves.</a:t>
            </a:r>
          </a:p>
          <a:p>
            <a:pPr marL="114300" indent="0">
              <a:buNone/>
            </a:pPr>
            <a:endParaRPr lang="es-ES" sz="1800" dirty="0"/>
          </a:p>
          <a:p>
            <a:pPr marL="114300" indent="0">
              <a:buNone/>
            </a:pPr>
            <a:r>
              <a:rPr lang="es-ES" sz="1800" dirty="0"/>
              <a:t>La estructura general es la siguiente:</a:t>
            </a:r>
          </a:p>
        </p:txBody>
      </p:sp>
      <p:sp>
        <p:nvSpPr>
          <p:cNvPr id="4" name="Marcador de número de diapositiva 3">
            <a:extLst>
              <a:ext uri="{FF2B5EF4-FFF2-40B4-BE49-F238E27FC236}">
                <a16:creationId xmlns:a16="http://schemas.microsoft.com/office/drawing/2014/main" id="{B92E9798-276D-D454-277D-2EA5A08A789A}"/>
              </a:ext>
            </a:extLst>
          </p:cNvPr>
          <p:cNvSpPr>
            <a:spLocks noGrp="1"/>
          </p:cNvSpPr>
          <p:nvPr>
            <p:ph type="sldNum" idx="10"/>
          </p:nvPr>
        </p:nvSpPr>
        <p:spPr/>
        <p:txBody>
          <a:bodyPr/>
          <a:lstStyle/>
          <a:p>
            <a:fld id="{00000000-1234-1234-1234-123412341234}" type="slidenum">
              <a:rPr lang="es-ES" smtClean="0"/>
              <a:pPr/>
              <a:t>20</a:t>
            </a:fld>
            <a:endParaRPr lang="es-ES" dirty="0"/>
          </a:p>
        </p:txBody>
      </p:sp>
      <p:sp>
        <p:nvSpPr>
          <p:cNvPr id="5" name="Rectangle 1">
            <a:extLst>
              <a:ext uri="{FF2B5EF4-FFF2-40B4-BE49-F238E27FC236}">
                <a16:creationId xmlns:a16="http://schemas.microsoft.com/office/drawing/2014/main" id="{87E95A45-0F34-4D1B-02D0-ED61E484E3B7}"/>
              </a:ext>
            </a:extLst>
          </p:cNvPr>
          <p:cNvSpPr>
            <a:spLocks noChangeArrowheads="1"/>
          </p:cNvSpPr>
          <p:nvPr/>
        </p:nvSpPr>
        <p:spPr bwMode="auto">
          <a:xfrm>
            <a:off x="2186969" y="3530653"/>
            <a:ext cx="3876061" cy="102202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err="1">
                <a:ln>
                  <a:noFill/>
                </a:ln>
                <a:solidFill>
                  <a:srgbClr val="859900"/>
                </a:solidFill>
                <a:effectLst/>
                <a:latin typeface="Consolas" panose="020B0609020204030204" pitchFamily="49" charset="0"/>
              </a:rPr>
              <a:t>foreach</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$array</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as</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$clave</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CB4B16"/>
                </a:solidFill>
                <a:effectLst/>
                <a:latin typeface="Consolas" panose="020B0609020204030204" pitchFamily="49" charset="0"/>
              </a:rPr>
              <a:t>$valor</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instruccion1</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instruccion2</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7196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BE0D60F2-4DD3-23B8-7E42-BE8D153BDF2D}"/>
              </a:ext>
            </a:extLst>
          </p:cNvPr>
          <p:cNvSpPr>
            <a:spLocks noGrp="1"/>
          </p:cNvSpPr>
          <p:nvPr>
            <p:ph type="body" idx="1"/>
          </p:nvPr>
        </p:nvSpPr>
        <p:spPr>
          <a:xfrm>
            <a:off x="467544" y="339502"/>
            <a:ext cx="6462600" cy="3552300"/>
          </a:xfrm>
        </p:spPr>
        <p:txBody>
          <a:bodyPr/>
          <a:lstStyle/>
          <a:p>
            <a:r>
              <a:rPr lang="es-ES" sz="1800" dirty="0"/>
              <a:t>Un ejemplo práctico es la lectura de un array lo cual podría hacerse del siguiente modo:</a:t>
            </a:r>
          </a:p>
        </p:txBody>
      </p:sp>
      <p:sp>
        <p:nvSpPr>
          <p:cNvPr id="4" name="Marcador de número de diapositiva 3">
            <a:extLst>
              <a:ext uri="{FF2B5EF4-FFF2-40B4-BE49-F238E27FC236}">
                <a16:creationId xmlns:a16="http://schemas.microsoft.com/office/drawing/2014/main" id="{4F331459-FBCE-5943-6475-622C380822C3}"/>
              </a:ext>
            </a:extLst>
          </p:cNvPr>
          <p:cNvSpPr>
            <a:spLocks noGrp="1"/>
          </p:cNvSpPr>
          <p:nvPr>
            <p:ph type="sldNum" idx="10"/>
          </p:nvPr>
        </p:nvSpPr>
        <p:spPr/>
        <p:txBody>
          <a:bodyPr/>
          <a:lstStyle/>
          <a:p>
            <a:fld id="{00000000-1234-1234-1234-123412341234}" type="slidenum">
              <a:rPr lang="es-ES" smtClean="0"/>
              <a:pPr/>
              <a:t>21</a:t>
            </a:fld>
            <a:endParaRPr lang="es-ES" dirty="0"/>
          </a:p>
        </p:txBody>
      </p:sp>
      <p:sp>
        <p:nvSpPr>
          <p:cNvPr id="5" name="Rectangle 1">
            <a:extLst>
              <a:ext uri="{FF2B5EF4-FFF2-40B4-BE49-F238E27FC236}">
                <a16:creationId xmlns:a16="http://schemas.microsoft.com/office/drawing/2014/main" id="{37A90131-A7DC-CDE6-4CB2-EC2BF6D43024}"/>
              </a:ext>
            </a:extLst>
          </p:cNvPr>
          <p:cNvSpPr>
            <a:spLocks noChangeArrowheads="1"/>
          </p:cNvSpPr>
          <p:nvPr/>
        </p:nvSpPr>
        <p:spPr bwMode="auto">
          <a:xfrm>
            <a:off x="132356" y="2211710"/>
            <a:ext cx="4162999" cy="200690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&lt;?</a:t>
            </a:r>
            <a:r>
              <a:rPr kumimoji="0" lang="es-ES" altLang="es-ES" sz="1200" b="1" i="0" u="none" strike="noStrike" cap="none" normalizeH="0" baseline="0" dirty="0" err="1">
                <a:ln>
                  <a:noFill/>
                </a:ln>
                <a:solidFill>
                  <a:srgbClr val="CB4B16"/>
                </a:solidFill>
                <a:effectLst/>
                <a:latin typeface="Consolas" panose="020B0609020204030204" pitchFamily="49" charset="0"/>
              </a:rPr>
              <a:t>php</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$moneda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"España"</a:t>
            </a:r>
            <a:r>
              <a:rPr kumimoji="0" lang="es-ES" altLang="es-ES" sz="1200" b="0" i="0" u="none" strike="noStrike" cap="none" normalizeH="0" baseline="0" dirty="0">
                <a:ln>
                  <a:noFill/>
                </a:ln>
                <a:solidFill>
                  <a:srgbClr val="657B83"/>
                </a:solidFill>
                <a:effectLst/>
                <a:latin typeface="Consolas" panose="020B0609020204030204" pitchFamily="49" charset="0"/>
              </a:rPr>
              <a:t>=&gt; </a:t>
            </a:r>
            <a:r>
              <a:rPr kumimoji="0" lang="es-ES" altLang="es-ES" sz="1200" b="0" i="0" u="none" strike="noStrike" cap="none" normalizeH="0" baseline="0" dirty="0">
                <a:ln>
                  <a:noFill/>
                </a:ln>
                <a:solidFill>
                  <a:srgbClr val="2AA198"/>
                </a:solidFill>
                <a:effectLst/>
                <a:latin typeface="Consolas" panose="020B0609020204030204" pitchFamily="49" charset="0"/>
              </a:rPr>
              <a:t>"Euro"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"Reino Unido"</a:t>
            </a:r>
            <a:r>
              <a:rPr kumimoji="0" lang="es-ES" altLang="es-ES" sz="1200" b="0" i="0" u="none" strike="noStrike" cap="none" normalizeH="0" baseline="0" dirty="0">
                <a:ln>
                  <a:noFill/>
                </a:ln>
                <a:solidFill>
                  <a:srgbClr val="657B83"/>
                </a:solidFill>
                <a:effectLst/>
                <a:latin typeface="Consolas" panose="020B0609020204030204" pitchFamily="49" charset="0"/>
              </a:rPr>
              <a:t> =&gt; </a:t>
            </a:r>
            <a:r>
              <a:rPr kumimoji="0" lang="es-ES" altLang="es-ES" sz="1200" b="0" i="0" u="none" strike="noStrike" cap="none" normalizeH="0" baseline="0" dirty="0">
                <a:ln>
                  <a:noFill/>
                </a:ln>
                <a:solidFill>
                  <a:srgbClr val="2AA198"/>
                </a:solidFill>
                <a:effectLst/>
                <a:latin typeface="Consolas" panose="020B0609020204030204" pitchFamily="49" charset="0"/>
              </a:rPr>
              <a:t>"Libra"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"USA"</a:t>
            </a:r>
            <a:r>
              <a:rPr kumimoji="0" lang="es-ES" altLang="es-ES" sz="1200" b="0" i="0" u="none" strike="noStrike" cap="none" normalizeH="0" baseline="0" dirty="0">
                <a:ln>
                  <a:noFill/>
                </a:ln>
                <a:solidFill>
                  <a:srgbClr val="657B83"/>
                </a:solidFill>
                <a:effectLst/>
                <a:latin typeface="Consolas" panose="020B0609020204030204" pitchFamily="49" charset="0"/>
              </a:rPr>
              <a:t> =&gt; </a:t>
            </a:r>
            <a:r>
              <a:rPr kumimoji="0" lang="es-ES" altLang="es-ES" sz="1200" b="0" i="0" u="none" strike="noStrike" cap="none" normalizeH="0" baseline="0" dirty="0">
                <a:ln>
                  <a:noFill/>
                </a:ln>
                <a:solidFill>
                  <a:srgbClr val="2AA198"/>
                </a:solidFill>
                <a:effectLst/>
                <a:latin typeface="Consolas" panose="020B0609020204030204" pitchFamily="49" charset="0"/>
              </a:rPr>
              <a:t>"Dólar"</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foreach</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$moneda</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as</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$clave</a:t>
            </a:r>
            <a:r>
              <a:rPr kumimoji="0" lang="es-ES" altLang="es-ES" sz="1200" b="0" i="0" u="none" strike="noStrike" cap="none" normalizeH="0" baseline="0" dirty="0">
                <a:ln>
                  <a:noFill/>
                </a:ln>
                <a:solidFill>
                  <a:srgbClr val="657B83"/>
                </a:solidFill>
                <a:effectLst/>
                <a:latin typeface="Consolas" panose="020B0609020204030204" pitchFamily="49" charset="0"/>
              </a:rPr>
              <a:t> =&gt; </a:t>
            </a:r>
            <a:r>
              <a:rPr kumimoji="0" lang="es-ES" altLang="es-ES" sz="1200" b="0" i="0" u="none" strike="noStrike" cap="none" normalizeH="0" baseline="0" dirty="0">
                <a:ln>
                  <a:noFill/>
                </a:ln>
                <a:solidFill>
                  <a:srgbClr val="CB4B16"/>
                </a:solidFill>
                <a:effectLst/>
                <a:latin typeface="Consolas" panose="020B0609020204030204" pitchFamily="49" charset="0"/>
              </a:rPr>
              <a:t>$valor</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err="1">
                <a:ln>
                  <a:noFill/>
                </a:ln>
                <a:solidFill>
                  <a:srgbClr val="2AA198"/>
                </a:solidFill>
                <a:effectLst/>
                <a:latin typeface="Consolas" panose="020B0609020204030204" pitchFamily="49" charset="0"/>
              </a:rPr>
              <a:t>Pais</a:t>
            </a:r>
            <a:r>
              <a:rPr kumimoji="0" lang="es-ES" altLang="es-ES" sz="1200" b="0" i="0" u="none" strike="noStrike" cap="none" normalizeH="0" baseline="0" dirty="0">
                <a:ln>
                  <a:noFill/>
                </a:ln>
                <a:solidFill>
                  <a:srgbClr val="2AA198"/>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$clave</a:t>
            </a:r>
            <a:r>
              <a:rPr kumimoji="0" lang="es-ES" altLang="es-ES" sz="1200" b="0" i="0" u="none" strike="noStrike" cap="none" normalizeH="0" baseline="0" dirty="0">
                <a:ln>
                  <a:noFill/>
                </a:ln>
                <a:solidFill>
                  <a:srgbClr val="2AA198"/>
                </a:solidFill>
                <a:effectLst/>
                <a:latin typeface="Consolas" panose="020B0609020204030204" pitchFamily="49" charset="0"/>
              </a:rPr>
              <a:t> Moneda: </a:t>
            </a:r>
            <a:r>
              <a:rPr kumimoji="0" lang="es-ES" altLang="es-ES" sz="1200" b="0" i="0" u="none" strike="noStrike" cap="none" normalizeH="0" baseline="0" dirty="0">
                <a:ln>
                  <a:noFill/>
                </a:ln>
                <a:solidFill>
                  <a:srgbClr val="CB4B16"/>
                </a:solidFill>
                <a:effectLst/>
                <a:latin typeface="Consolas" panose="020B0609020204030204" pitchFamily="49" charset="0"/>
              </a:rPr>
              <a:t>$valor</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?&gt;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201C91EA-128B-B364-2E89-17D613B2B658}"/>
              </a:ext>
            </a:extLst>
          </p:cNvPr>
          <p:cNvSpPr txBox="1"/>
          <p:nvPr/>
        </p:nvSpPr>
        <p:spPr>
          <a:xfrm>
            <a:off x="4731112" y="1779662"/>
            <a:ext cx="4032926" cy="2308324"/>
          </a:xfrm>
          <a:prstGeom prst="rect">
            <a:avLst/>
          </a:prstGeom>
          <a:noFill/>
        </p:spPr>
        <p:txBody>
          <a:bodyPr wrap="square">
            <a:spAutoFit/>
          </a:bodyPr>
          <a:lstStyle/>
          <a:p>
            <a:r>
              <a:rPr lang="es-ES" sz="1800" dirty="0">
                <a:solidFill>
                  <a:schemeClr val="dk1"/>
                </a:solidFill>
                <a:latin typeface="Lato"/>
                <a:ea typeface="Lato"/>
                <a:cs typeface="Lato"/>
                <a:sym typeface="Lato"/>
              </a:rPr>
              <a:t>Este script se encargaría de mostrarnos por pantalla el contenido del array $moneda de una manera legible. Como has visto, el bucle </a:t>
            </a:r>
            <a:r>
              <a:rPr lang="es-ES" sz="1800" dirty="0" err="1">
                <a:solidFill>
                  <a:schemeClr val="dk1"/>
                </a:solidFill>
                <a:latin typeface="Lato"/>
                <a:ea typeface="Lato"/>
                <a:cs typeface="Lato"/>
                <a:sym typeface="Lato"/>
              </a:rPr>
              <a:t>foreach</a:t>
            </a:r>
            <a:r>
              <a:rPr lang="es-ES" sz="1800" dirty="0">
                <a:solidFill>
                  <a:schemeClr val="dk1"/>
                </a:solidFill>
                <a:latin typeface="Lato"/>
                <a:ea typeface="Lato"/>
                <a:cs typeface="Lato"/>
                <a:sym typeface="Lato"/>
              </a:rPr>
              <a:t> es muy cómodo porque nos dispensa llevar variables con los índices del array. El propio PHP nos los proporciona.</a:t>
            </a:r>
          </a:p>
        </p:txBody>
      </p:sp>
    </p:spTree>
    <p:extLst>
      <p:ext uri="{BB962C8B-B14F-4D97-AF65-F5344CB8AC3E}">
        <p14:creationId xmlns:p14="http://schemas.microsoft.com/office/powerpoint/2010/main" val="3940350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AF0FAE-9FD0-64C2-BCD8-C95B751F9F7E}"/>
              </a:ext>
            </a:extLst>
          </p:cNvPr>
          <p:cNvSpPr>
            <a:spLocks noGrp="1"/>
          </p:cNvSpPr>
          <p:nvPr>
            <p:ph type="title"/>
          </p:nvPr>
        </p:nvSpPr>
        <p:spPr>
          <a:xfrm>
            <a:off x="539552" y="123478"/>
            <a:ext cx="6462600" cy="857400"/>
          </a:xfrm>
        </p:spPr>
        <p:txBody>
          <a:bodyPr/>
          <a:lstStyle/>
          <a:p>
            <a:r>
              <a:rPr lang="es-ES" b="0" i="0" dirty="0">
                <a:solidFill>
                  <a:srgbClr val="000000"/>
                </a:solidFill>
                <a:effectLst/>
                <a:latin typeface="Roboto" panose="02000000000000000000" pitchFamily="2" charset="0"/>
              </a:rPr>
              <a:t>Sentencias break y continue</a:t>
            </a:r>
            <a:endParaRPr lang="es-ES" dirty="0"/>
          </a:p>
        </p:txBody>
      </p:sp>
      <p:sp>
        <p:nvSpPr>
          <p:cNvPr id="3" name="Marcador de texto 2">
            <a:extLst>
              <a:ext uri="{FF2B5EF4-FFF2-40B4-BE49-F238E27FC236}">
                <a16:creationId xmlns:a16="http://schemas.microsoft.com/office/drawing/2014/main" id="{2EBDD730-7357-D44A-247F-A115111FA894}"/>
              </a:ext>
            </a:extLst>
          </p:cNvPr>
          <p:cNvSpPr>
            <a:spLocks noGrp="1"/>
          </p:cNvSpPr>
          <p:nvPr>
            <p:ph type="body" idx="1"/>
          </p:nvPr>
        </p:nvSpPr>
        <p:spPr>
          <a:xfrm>
            <a:off x="143656" y="1131590"/>
            <a:ext cx="8352928" cy="3552300"/>
          </a:xfrm>
        </p:spPr>
        <p:txBody>
          <a:bodyPr/>
          <a:lstStyle/>
          <a:p>
            <a:r>
              <a:rPr lang="es-ES" sz="1800" dirty="0"/>
              <a:t>Estas dos instrucciones sirven para manipular de manera arbitraria el funcionamiento de los bucles. Se deben colocar dentro del cuerpo del bucle para cambiar el funcionamiento normal del mismo. Funcionan de la siguiente manera:</a:t>
            </a:r>
          </a:p>
          <a:p>
            <a:endParaRPr lang="es-ES" sz="1800" dirty="0"/>
          </a:p>
          <a:p>
            <a:r>
              <a:rPr lang="es-ES" sz="1800" b="1" dirty="0"/>
              <a:t>Sentencia break: </a:t>
            </a:r>
            <a:r>
              <a:rPr lang="es-ES" sz="1800" dirty="0"/>
              <a:t>Nos sirve para escapar del bucle, es decir, parar su ejecución inmediatamente.</a:t>
            </a:r>
          </a:p>
          <a:p>
            <a:endParaRPr lang="es-ES" sz="1800" dirty="0"/>
          </a:p>
          <a:p>
            <a:r>
              <a:rPr lang="es-ES" sz="1800" b="1" dirty="0"/>
              <a:t>Sentencia continue:</a:t>
            </a:r>
            <a:r>
              <a:rPr lang="es-ES" sz="1800" dirty="0"/>
              <a:t> Nos sirve para saltar a la iteración siguiente del bucle y por tanto detener la iteración actual.</a:t>
            </a:r>
          </a:p>
        </p:txBody>
      </p:sp>
      <p:sp>
        <p:nvSpPr>
          <p:cNvPr id="4" name="Marcador de número de diapositiva 3">
            <a:extLst>
              <a:ext uri="{FF2B5EF4-FFF2-40B4-BE49-F238E27FC236}">
                <a16:creationId xmlns:a16="http://schemas.microsoft.com/office/drawing/2014/main" id="{5685DFA1-454A-2A0D-164D-56DBEEDA7CE8}"/>
              </a:ext>
            </a:extLst>
          </p:cNvPr>
          <p:cNvSpPr>
            <a:spLocks noGrp="1"/>
          </p:cNvSpPr>
          <p:nvPr>
            <p:ph type="sldNum" idx="10"/>
          </p:nvPr>
        </p:nvSpPr>
        <p:spPr/>
        <p:txBody>
          <a:bodyPr/>
          <a:lstStyle/>
          <a:p>
            <a:fld id="{00000000-1234-1234-1234-123412341234}" type="slidenum">
              <a:rPr lang="es-ES" smtClean="0"/>
              <a:pPr/>
              <a:t>22</a:t>
            </a:fld>
            <a:endParaRPr lang="es-ES" dirty="0"/>
          </a:p>
        </p:txBody>
      </p:sp>
    </p:spTree>
    <p:extLst>
      <p:ext uri="{BB962C8B-B14F-4D97-AF65-F5344CB8AC3E}">
        <p14:creationId xmlns:p14="http://schemas.microsoft.com/office/powerpoint/2010/main" val="4178463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9E997A-1325-8FC4-135F-72C540BEFBD1}"/>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D1AAC72-D71D-418E-9FC7-C5BB12E4F7C4}"/>
              </a:ext>
            </a:extLst>
          </p:cNvPr>
          <p:cNvSpPr>
            <a:spLocks noGrp="1"/>
          </p:cNvSpPr>
          <p:nvPr>
            <p:ph type="body" idx="1"/>
          </p:nvPr>
        </p:nvSpPr>
        <p:spPr>
          <a:xfrm>
            <a:off x="179512" y="1373588"/>
            <a:ext cx="8712968" cy="3552300"/>
          </a:xfrm>
        </p:spPr>
        <p:txBody>
          <a:bodyPr/>
          <a:lstStyle/>
          <a:p>
            <a:r>
              <a:rPr lang="es-ES" sz="1800" dirty="0"/>
              <a:t>Pueden resultarnos muy prácticas en algunas situaciones.</a:t>
            </a:r>
          </a:p>
          <a:p>
            <a:endParaRPr lang="es-ES" sz="1800" dirty="0"/>
          </a:p>
          <a:p>
            <a:pPr lvl="1"/>
            <a:r>
              <a:rPr lang="es-ES" sz="1800" dirty="0"/>
              <a:t>Durante una iteración de un bucle podemos saltar directamente a la siguiente iteración, sin seguir con la actual, con la instrucción continue.</a:t>
            </a:r>
          </a:p>
          <a:p>
            <a:pPr lvl="1"/>
            <a:endParaRPr lang="es-ES" sz="1800" dirty="0"/>
          </a:p>
          <a:p>
            <a:pPr lvl="1"/>
            <a:r>
              <a:rPr lang="es-ES" sz="1800" dirty="0"/>
              <a:t>También podemos detener completamente las repeticiones de cualquier bucle con break, lo que parará la ejecución de la iteración actual y de las siguientes que pudiera haber.</a:t>
            </a:r>
          </a:p>
        </p:txBody>
      </p:sp>
      <p:sp>
        <p:nvSpPr>
          <p:cNvPr id="4" name="Marcador de número de diapositiva 3">
            <a:extLst>
              <a:ext uri="{FF2B5EF4-FFF2-40B4-BE49-F238E27FC236}">
                <a16:creationId xmlns:a16="http://schemas.microsoft.com/office/drawing/2014/main" id="{3600FB14-6A76-62AF-DAF1-9F4E814C0949}"/>
              </a:ext>
            </a:extLst>
          </p:cNvPr>
          <p:cNvSpPr>
            <a:spLocks noGrp="1"/>
          </p:cNvSpPr>
          <p:nvPr>
            <p:ph type="sldNum" idx="10"/>
          </p:nvPr>
        </p:nvSpPr>
        <p:spPr/>
        <p:txBody>
          <a:bodyPr/>
          <a:lstStyle/>
          <a:p>
            <a:fld id="{00000000-1234-1234-1234-123412341234}" type="slidenum">
              <a:rPr lang="es-ES" smtClean="0"/>
              <a:pPr/>
              <a:t>23</a:t>
            </a:fld>
            <a:endParaRPr lang="es-ES" dirty="0"/>
          </a:p>
        </p:txBody>
      </p:sp>
    </p:spTree>
    <p:extLst>
      <p:ext uri="{BB962C8B-B14F-4D97-AF65-F5344CB8AC3E}">
        <p14:creationId xmlns:p14="http://schemas.microsoft.com/office/powerpoint/2010/main" val="148562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2945899-6078-5520-CACB-991B5A7A2C97}"/>
              </a:ext>
            </a:extLst>
          </p:cNvPr>
          <p:cNvSpPr>
            <a:spLocks noGrp="1"/>
          </p:cNvSpPr>
          <p:nvPr>
            <p:ph type="body" idx="1"/>
          </p:nvPr>
        </p:nvSpPr>
        <p:spPr>
          <a:xfrm>
            <a:off x="0" y="195486"/>
            <a:ext cx="8656534" cy="3552300"/>
          </a:xfrm>
        </p:spPr>
        <p:txBody>
          <a:bodyPr/>
          <a:lstStyle/>
          <a:p>
            <a:r>
              <a:rPr lang="es-ES" sz="1800" dirty="0"/>
              <a:t>Sin embargo, no se recomiendan usar porque rompen con el flujo normal de los programas y si no las apreciamos en el código en una lectura rápida de un bucle podemos pensar que se hace algo y al ver el cuerpo por culpa de un break o un continue colocado dentro el bucle puede estar haciendo otra cosa totalmente distinta a lo que parecía.</a:t>
            </a:r>
          </a:p>
        </p:txBody>
      </p:sp>
      <p:sp>
        <p:nvSpPr>
          <p:cNvPr id="4" name="Marcador de número de diapositiva 3">
            <a:extLst>
              <a:ext uri="{FF2B5EF4-FFF2-40B4-BE49-F238E27FC236}">
                <a16:creationId xmlns:a16="http://schemas.microsoft.com/office/drawing/2014/main" id="{D83A86EB-36FE-EAA8-3407-1443B6BD1F61}"/>
              </a:ext>
            </a:extLst>
          </p:cNvPr>
          <p:cNvSpPr>
            <a:spLocks noGrp="1"/>
          </p:cNvSpPr>
          <p:nvPr>
            <p:ph type="sldNum" idx="10"/>
          </p:nvPr>
        </p:nvSpPr>
        <p:spPr/>
        <p:txBody>
          <a:bodyPr/>
          <a:lstStyle/>
          <a:p>
            <a:fld id="{00000000-1234-1234-1234-123412341234}" type="slidenum">
              <a:rPr lang="es-ES" smtClean="0"/>
              <a:pPr/>
              <a:t>24</a:t>
            </a:fld>
            <a:endParaRPr lang="es-ES" dirty="0"/>
          </a:p>
        </p:txBody>
      </p:sp>
      <p:sp>
        <p:nvSpPr>
          <p:cNvPr id="5" name="Rectangle 1">
            <a:extLst>
              <a:ext uri="{FF2B5EF4-FFF2-40B4-BE49-F238E27FC236}">
                <a16:creationId xmlns:a16="http://schemas.microsoft.com/office/drawing/2014/main" id="{D0D2D02C-8889-0007-722F-BCBFF92F7A6C}"/>
              </a:ext>
            </a:extLst>
          </p:cNvPr>
          <p:cNvSpPr>
            <a:spLocks noChangeArrowheads="1"/>
          </p:cNvSpPr>
          <p:nvPr/>
        </p:nvSpPr>
        <p:spPr bwMode="auto">
          <a:xfrm>
            <a:off x="251520" y="2067694"/>
            <a:ext cx="4472378" cy="253012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$moneda</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"España"</a:t>
            </a:r>
            <a:r>
              <a:rPr kumimoji="0" lang="es-ES" altLang="es-ES" b="0" i="0" u="none" strike="noStrike" cap="none" normalizeH="0" baseline="0" dirty="0">
                <a:ln>
                  <a:noFill/>
                </a:ln>
                <a:solidFill>
                  <a:srgbClr val="657B83"/>
                </a:solidFill>
                <a:effectLst/>
                <a:latin typeface="Consolas" panose="020B0609020204030204" pitchFamily="49" charset="0"/>
              </a:rPr>
              <a:t>=&gt; </a:t>
            </a:r>
            <a:r>
              <a:rPr kumimoji="0" lang="es-ES" altLang="es-ES" b="0" i="0" u="none" strike="noStrike" cap="none" normalizeH="0" baseline="0" dirty="0">
                <a:ln>
                  <a:noFill/>
                </a:ln>
                <a:solidFill>
                  <a:srgbClr val="2AA198"/>
                </a:solidFill>
                <a:effectLst/>
                <a:latin typeface="Consolas" panose="020B0609020204030204" pitchFamily="49" charset="0"/>
              </a:rPr>
              <a:t>"Euro"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"Reino Unido"</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2AA198"/>
                </a:solidFill>
                <a:effectLst/>
                <a:latin typeface="Consolas" panose="020B0609020204030204" pitchFamily="49" charset="0"/>
              </a:rPr>
              <a:t>"Libra"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"USA"</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2AA198"/>
                </a:solidFill>
                <a:effectLst/>
                <a:latin typeface="Consolas" panose="020B0609020204030204" pitchFamily="49" charset="0"/>
              </a:rPr>
              <a:t>"Dólar"</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err="1">
                <a:ln>
                  <a:noFill/>
                </a:ln>
                <a:solidFill>
                  <a:srgbClr val="859900"/>
                </a:solidFill>
                <a:effectLst/>
                <a:latin typeface="Consolas" panose="020B0609020204030204" pitchFamily="49" charset="0"/>
              </a:rPr>
              <a:t>foreach</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$moneda</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as</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$clave</a:t>
            </a:r>
            <a:r>
              <a:rPr kumimoji="0" lang="es-ES" altLang="es-ES" b="0" i="0" u="none" strike="noStrike" cap="none" normalizeH="0" baseline="0" dirty="0">
                <a:ln>
                  <a:noFill/>
                </a:ln>
                <a:solidFill>
                  <a:srgbClr val="657B83"/>
                </a:solidFill>
                <a:effectLst/>
                <a:latin typeface="Consolas" panose="020B0609020204030204" pitchFamily="49" charset="0"/>
              </a:rPr>
              <a:t> =&gt; </a:t>
            </a:r>
            <a:r>
              <a:rPr kumimoji="0" lang="es-ES" altLang="es-ES" b="0" i="0" u="none" strike="noStrike" cap="none" normalizeH="0" baseline="0" dirty="0">
                <a:ln>
                  <a:noFill/>
                </a:ln>
                <a:solidFill>
                  <a:srgbClr val="CB4B16"/>
                </a:solidFill>
                <a:effectLst/>
                <a:latin typeface="Consolas" panose="020B0609020204030204" pitchFamily="49" charset="0"/>
              </a:rPr>
              <a:t>$valor</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err="1">
                <a:ln>
                  <a:noFill/>
                </a:ln>
                <a:solidFill>
                  <a:srgbClr val="2AA198"/>
                </a:solidFill>
                <a:effectLst/>
                <a:latin typeface="Consolas" panose="020B0609020204030204" pitchFamily="49" charset="0"/>
              </a:rPr>
              <a:t>Pais</a:t>
            </a:r>
            <a:r>
              <a:rPr kumimoji="0" lang="es-ES" altLang="es-ES" b="0" i="0" u="none" strike="noStrike" cap="none" normalizeH="0" baseline="0" dirty="0">
                <a:ln>
                  <a:noFill/>
                </a:ln>
                <a:solidFill>
                  <a:srgbClr val="2AA198"/>
                </a:solidFill>
                <a:effectLst/>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$clave</a:t>
            </a:r>
            <a:r>
              <a:rPr kumimoji="0" lang="es-ES" altLang="es-ES" b="0" i="0" u="none" strike="noStrike" cap="none" normalizeH="0" baseline="0" dirty="0">
                <a:ln>
                  <a:noFill/>
                </a:ln>
                <a:solidFill>
                  <a:srgbClr val="2AA198"/>
                </a:solidFill>
                <a:effectLst/>
                <a:latin typeface="Consolas" panose="020B0609020204030204" pitchFamily="49" charset="0"/>
              </a:rPr>
              <a:t> Moneda: </a:t>
            </a:r>
            <a:r>
              <a:rPr kumimoji="0" lang="es-ES" altLang="es-ES" b="0" i="0" u="none" strike="noStrike" cap="none" normalizeH="0" baseline="0" dirty="0">
                <a:ln>
                  <a:noFill/>
                </a:ln>
                <a:solidFill>
                  <a:srgbClr val="CB4B16"/>
                </a:solidFill>
                <a:effectLst/>
                <a:latin typeface="Consolas" panose="020B0609020204030204" pitchFamily="49" charset="0"/>
              </a:rPr>
              <a:t>$valor</a:t>
            </a:r>
            <a:r>
              <a:rPr kumimoji="0" lang="es-ES" altLang="es-ES" b="0" i="0" u="none" strike="noStrike" cap="none" normalizeH="0" baseline="0" dirty="0">
                <a:ln>
                  <a:noFill/>
                </a:ln>
                <a:solidFill>
                  <a:srgbClr val="2AA198"/>
                </a:solidFill>
                <a:effectLst/>
                <a:latin typeface="Consolas" panose="020B0609020204030204" pitchFamily="49" charset="0"/>
              </a:rPr>
              <a:t>&lt;</a:t>
            </a:r>
            <a:r>
              <a:rPr kumimoji="0" lang="es-ES" altLang="es-ES" b="0" i="0" u="none" strike="noStrike" cap="none" normalizeH="0" baseline="0" dirty="0" err="1">
                <a:ln>
                  <a:noFill/>
                </a:ln>
                <a:solidFill>
                  <a:srgbClr val="2AA198"/>
                </a:solidFill>
                <a:effectLst/>
                <a:latin typeface="Consolas" panose="020B0609020204030204" pitchFamily="49" charset="0"/>
              </a:rPr>
              <a:t>br</a:t>
            </a:r>
            <a:r>
              <a:rPr kumimoji="0" lang="es-ES" altLang="es-ES" b="0" i="0" u="none" strike="noStrike" cap="none" normalizeH="0" baseline="0" dirty="0">
                <a:ln>
                  <a:noFill/>
                </a:ln>
                <a:solidFill>
                  <a:srgbClr val="2AA198"/>
                </a:solidFill>
                <a:effectLst/>
                <a:latin typeface="Consolas" panose="020B0609020204030204" pitchFamily="49" charset="0"/>
              </a:rPr>
              <a:t>&gt;"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break</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42BD273F-1583-A2B2-FE42-B6CA6F2BAE43}"/>
              </a:ext>
            </a:extLst>
          </p:cNvPr>
          <p:cNvSpPr txBox="1"/>
          <p:nvPr/>
        </p:nvSpPr>
        <p:spPr>
          <a:xfrm>
            <a:off x="4875606" y="1563638"/>
            <a:ext cx="4032448" cy="3139321"/>
          </a:xfrm>
          <a:prstGeom prst="rect">
            <a:avLst/>
          </a:prstGeom>
          <a:noFill/>
        </p:spPr>
        <p:txBody>
          <a:bodyPr wrap="square">
            <a:spAutoFit/>
          </a:bodyPr>
          <a:lstStyle/>
          <a:p>
            <a:r>
              <a:rPr lang="es-ES" sz="1800" dirty="0">
                <a:solidFill>
                  <a:schemeClr val="dk1"/>
                </a:solidFill>
                <a:latin typeface="Lato"/>
                <a:ea typeface="Lato"/>
                <a:cs typeface="Lato"/>
                <a:sym typeface="Lato"/>
              </a:rPr>
              <a:t>Si leemos el bucle </a:t>
            </a:r>
            <a:r>
              <a:rPr lang="es-ES" sz="1800" dirty="0" err="1">
                <a:solidFill>
                  <a:schemeClr val="dk1"/>
                </a:solidFill>
                <a:latin typeface="Lato"/>
                <a:ea typeface="Lato"/>
                <a:cs typeface="Lato"/>
                <a:sym typeface="Lato"/>
              </a:rPr>
              <a:t>foreach</a:t>
            </a:r>
            <a:r>
              <a:rPr lang="es-ES" sz="1800" dirty="0">
                <a:solidFill>
                  <a:schemeClr val="dk1"/>
                </a:solidFill>
                <a:latin typeface="Lato"/>
                <a:ea typeface="Lato"/>
                <a:cs typeface="Lato"/>
                <a:sym typeface="Lato"/>
              </a:rPr>
              <a:t> nos damos cuenta que vamos a recorrer todos los elementos de un array. Sin embargo, hay un break, por lo que solamente se mostrará el primer elemento. Esto puede confundir bastante si no se hace una lectura con detenimiento del código. Claro que este ejemplo es muy tonto, pero piensa en un bucle con un cuerpo mucho mayor en el que el break pueda estar más escondido.</a:t>
            </a:r>
          </a:p>
        </p:txBody>
      </p:sp>
    </p:spTree>
    <p:extLst>
      <p:ext uri="{BB962C8B-B14F-4D97-AF65-F5344CB8AC3E}">
        <p14:creationId xmlns:p14="http://schemas.microsoft.com/office/powerpoint/2010/main" val="201716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2.</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r>
              <a:rPr lang="es-ES" b="0" dirty="0">
                <a:solidFill>
                  <a:schemeClr val="accent2"/>
                </a:solidFill>
                <a:latin typeface="Raleway"/>
                <a:sym typeface="Raleway"/>
              </a:rPr>
              <a:t>Pasar variables por la URL con PHP</a:t>
            </a:r>
            <a:endParaRPr lang="es-ES" dirty="0"/>
          </a:p>
        </p:txBody>
      </p:sp>
    </p:spTree>
    <p:extLst>
      <p:ext uri="{BB962C8B-B14F-4D97-AF65-F5344CB8AC3E}">
        <p14:creationId xmlns:p14="http://schemas.microsoft.com/office/powerpoint/2010/main" val="1213823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FE46F-5C5F-42E4-0EE0-DCA8DD93D77D}"/>
              </a:ext>
            </a:extLst>
          </p:cNvPr>
          <p:cNvSpPr>
            <a:spLocks noGrp="1"/>
          </p:cNvSpPr>
          <p:nvPr>
            <p:ph type="title"/>
          </p:nvPr>
        </p:nvSpPr>
        <p:spPr>
          <a:xfrm>
            <a:off x="323528" y="358388"/>
            <a:ext cx="8568952" cy="857400"/>
          </a:xfrm>
        </p:spPr>
        <p:txBody>
          <a:bodyPr/>
          <a:lstStyle/>
          <a:p>
            <a:endParaRPr lang="es-ES" dirty="0"/>
          </a:p>
        </p:txBody>
      </p:sp>
      <p:sp>
        <p:nvSpPr>
          <p:cNvPr id="3" name="Marcador de texto 2">
            <a:extLst>
              <a:ext uri="{FF2B5EF4-FFF2-40B4-BE49-F238E27FC236}">
                <a16:creationId xmlns:a16="http://schemas.microsoft.com/office/drawing/2014/main" id="{B1014993-C5BC-6AF9-01D2-3AF47E53C390}"/>
              </a:ext>
            </a:extLst>
          </p:cNvPr>
          <p:cNvSpPr>
            <a:spLocks noGrp="1"/>
          </p:cNvSpPr>
          <p:nvPr>
            <p:ph type="body" idx="1"/>
          </p:nvPr>
        </p:nvSpPr>
        <p:spPr>
          <a:xfrm>
            <a:off x="323528" y="1373588"/>
            <a:ext cx="8568952" cy="3552300"/>
          </a:xfrm>
        </p:spPr>
        <p:txBody>
          <a:bodyPr/>
          <a:lstStyle/>
          <a:p>
            <a:pPr marL="114300" indent="0">
              <a:buNone/>
            </a:pPr>
            <a:r>
              <a:rPr lang="es-ES" sz="1800" dirty="0"/>
              <a:t>Hasta el momento en el Manual de PHP hemos aprendido muchos asuntos interesantes con el lenguaje de programación, como las estructuras de control para hacer bucles y condicionales. </a:t>
            </a:r>
          </a:p>
          <a:p>
            <a:pPr marL="114300" indent="0">
              <a:buNone/>
            </a:pPr>
            <a:endParaRPr lang="es-ES" sz="1800" dirty="0"/>
          </a:p>
          <a:p>
            <a:pPr marL="114300" indent="0">
              <a:buNone/>
            </a:pPr>
            <a:r>
              <a:rPr lang="es-ES" sz="1800" dirty="0"/>
              <a:t>Seguro que ya te </a:t>
            </a:r>
            <a:r>
              <a:rPr lang="es-ES" sz="1800" dirty="0" err="1"/>
              <a:t>abrán</a:t>
            </a:r>
            <a:r>
              <a:rPr lang="es-ES" sz="1800" dirty="0"/>
              <a:t> abierto muchas posibilidades. </a:t>
            </a:r>
          </a:p>
          <a:p>
            <a:pPr marL="114300" indent="0">
              <a:buNone/>
            </a:pPr>
            <a:endParaRPr lang="es-ES" sz="1800" dirty="0"/>
          </a:p>
          <a:p>
            <a:pPr marL="114300" indent="0">
              <a:buNone/>
            </a:pPr>
            <a:r>
              <a:rPr lang="es-ES" sz="1800" dirty="0"/>
              <a:t>Sin embargo, un sitio web está compuesto por diversas páginas y cada una de ellas contiene código que, en principio se ejecuta de manera independiente.</a:t>
            </a:r>
          </a:p>
        </p:txBody>
      </p:sp>
      <p:sp>
        <p:nvSpPr>
          <p:cNvPr id="4" name="Marcador de número de diapositiva 3">
            <a:extLst>
              <a:ext uri="{FF2B5EF4-FFF2-40B4-BE49-F238E27FC236}">
                <a16:creationId xmlns:a16="http://schemas.microsoft.com/office/drawing/2014/main" id="{B084EE17-E59F-9057-41C3-47CB1C7FB1AA}"/>
              </a:ext>
            </a:extLst>
          </p:cNvPr>
          <p:cNvSpPr>
            <a:spLocks noGrp="1"/>
          </p:cNvSpPr>
          <p:nvPr>
            <p:ph type="sldNum" idx="10"/>
          </p:nvPr>
        </p:nvSpPr>
        <p:spPr/>
        <p:txBody>
          <a:bodyPr/>
          <a:lstStyle/>
          <a:p>
            <a:fld id="{00000000-1234-1234-1234-123412341234}" type="slidenum">
              <a:rPr lang="es-ES" smtClean="0"/>
              <a:pPr/>
              <a:t>26</a:t>
            </a:fld>
            <a:endParaRPr lang="es-ES" dirty="0"/>
          </a:p>
        </p:txBody>
      </p:sp>
    </p:spTree>
    <p:extLst>
      <p:ext uri="{BB962C8B-B14F-4D97-AF65-F5344CB8AC3E}">
        <p14:creationId xmlns:p14="http://schemas.microsoft.com/office/powerpoint/2010/main" val="636686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248F34A-677B-8599-E8E2-7AFBDAD94672}"/>
              </a:ext>
            </a:extLst>
          </p:cNvPr>
          <p:cNvSpPr>
            <a:spLocks noGrp="1"/>
          </p:cNvSpPr>
          <p:nvPr>
            <p:ph type="body" idx="1"/>
          </p:nvPr>
        </p:nvSpPr>
        <p:spPr>
          <a:xfrm>
            <a:off x="107504" y="1232811"/>
            <a:ext cx="8656534" cy="3552300"/>
          </a:xfrm>
        </p:spPr>
        <p:txBody>
          <a:bodyPr/>
          <a:lstStyle/>
          <a:p>
            <a:r>
              <a:rPr lang="es-ES" sz="1600" dirty="0"/>
              <a:t>Muy a menudo necesitamos que nuestros distintos scripts, en cada archivo de PHP (o página) por separado, estén conectados unos con otros y que se sirvan de variables comunes. Por otro lado, el usuario interacciona por medio de formularios cuyos campos han de ser procesados para poder dar una respuesta. Todo este tipo de factores dinámicos han de ser eficazmente regulados por un lenguaje como PHP.</a:t>
            </a:r>
          </a:p>
          <a:p>
            <a:endParaRPr lang="es-ES" sz="1600" dirty="0"/>
          </a:p>
          <a:p>
            <a:r>
              <a:rPr lang="es-ES" sz="1600" dirty="0"/>
              <a:t>El objetivo final es conseguir que un conglomerado de páginas sueltas se comporte como una aplicación y en este sentido PHP ofrece diversos mecanismos muy útiles,</a:t>
            </a:r>
          </a:p>
        </p:txBody>
      </p:sp>
      <p:sp>
        <p:nvSpPr>
          <p:cNvPr id="4" name="Marcador de número de diapositiva 3">
            <a:extLst>
              <a:ext uri="{FF2B5EF4-FFF2-40B4-BE49-F238E27FC236}">
                <a16:creationId xmlns:a16="http://schemas.microsoft.com/office/drawing/2014/main" id="{E6A00363-BBF8-CB92-C57B-7677FD8623E3}"/>
              </a:ext>
            </a:extLst>
          </p:cNvPr>
          <p:cNvSpPr>
            <a:spLocks noGrp="1"/>
          </p:cNvSpPr>
          <p:nvPr>
            <p:ph type="sldNum" idx="10"/>
          </p:nvPr>
        </p:nvSpPr>
        <p:spPr/>
        <p:txBody>
          <a:bodyPr/>
          <a:lstStyle/>
          <a:p>
            <a:fld id="{00000000-1234-1234-1234-123412341234}" type="slidenum">
              <a:rPr lang="es-ES" smtClean="0"/>
              <a:pPr/>
              <a:t>27</a:t>
            </a:fld>
            <a:endParaRPr lang="es-ES" dirty="0"/>
          </a:p>
        </p:txBody>
      </p:sp>
      <p:sp>
        <p:nvSpPr>
          <p:cNvPr id="7" name="Título 6">
            <a:extLst>
              <a:ext uri="{FF2B5EF4-FFF2-40B4-BE49-F238E27FC236}">
                <a16:creationId xmlns:a16="http://schemas.microsoft.com/office/drawing/2014/main" id="{959E78B8-D909-47A0-E38A-BA20E5808E78}"/>
              </a:ext>
            </a:extLst>
          </p:cNvPr>
          <p:cNvSpPr>
            <a:spLocks noGrp="1"/>
          </p:cNvSpPr>
          <p:nvPr>
            <p:ph type="title"/>
          </p:nvPr>
        </p:nvSpPr>
        <p:spPr/>
        <p:txBody>
          <a:bodyPr/>
          <a:lstStyle/>
          <a:p>
            <a:endParaRPr lang="es-ES"/>
          </a:p>
        </p:txBody>
      </p:sp>
    </p:spTree>
    <p:extLst>
      <p:ext uri="{BB962C8B-B14F-4D97-AF65-F5344CB8AC3E}">
        <p14:creationId xmlns:p14="http://schemas.microsoft.com/office/powerpoint/2010/main" val="4076477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181041"/>
            <a:ext cx="8928992" cy="857400"/>
          </a:xfrm>
        </p:spPr>
        <p:txBody>
          <a:bodyPr/>
          <a:lstStyle/>
          <a:p>
            <a:pPr algn="l"/>
            <a:r>
              <a:rPr lang="es-ES" b="0" i="0" dirty="0">
                <a:solidFill>
                  <a:srgbClr val="000000"/>
                </a:solidFill>
                <a:effectLst/>
                <a:latin typeface="Roboto" panose="02000000000000000000" pitchFamily="2" charset="0"/>
              </a:rPr>
              <a:t>Pasar variables por URL</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28</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352928" cy="3552300"/>
          </a:xfrm>
        </p:spPr>
        <p:txBody>
          <a:bodyPr/>
          <a:lstStyle/>
          <a:p>
            <a:r>
              <a:rPr lang="es-ES" sz="1600" dirty="0"/>
              <a:t>Es posible que ya os hayáis percatado de que las variables de un script tienen una validez exclusiva para el script y que nos resulta imposible conservar su valor cuando ejecutamos otro archivo distinto, aunque ambos estén en el mismo dominio y sus páginas estén vinculadas con enlaces HTML.</a:t>
            </a:r>
          </a:p>
          <a:p>
            <a:endParaRPr lang="es-ES" sz="1600" dirty="0"/>
          </a:p>
          <a:p>
            <a:r>
              <a:rPr lang="es-ES" sz="1600" dirty="0"/>
              <a:t>Existen varias formas de enviar las variables de una página a otra, de manera a que la página destino reconozca el valor asignado por el script de origen. En este artículo te vamos a explicar cómo enviar los datos por medio de la URL, lo que se conoce técnicamente como envío de datos por "GET".</a:t>
            </a:r>
          </a:p>
        </p:txBody>
      </p:sp>
    </p:spTree>
    <p:extLst>
      <p:ext uri="{BB962C8B-B14F-4D97-AF65-F5344CB8AC3E}">
        <p14:creationId xmlns:p14="http://schemas.microsoft.com/office/powerpoint/2010/main" val="9052262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268748"/>
            <a:ext cx="8496944" cy="857400"/>
          </a:xfrm>
        </p:spPr>
        <p:txBody>
          <a:bodyPr/>
          <a:lstStyle/>
          <a:p>
            <a:pPr algn="l"/>
            <a:endParaRPr lang="es-ES"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29</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07504" y="987574"/>
            <a:ext cx="8712968" cy="1080120"/>
          </a:xfrm>
        </p:spPr>
        <p:txBody>
          <a:bodyPr/>
          <a:lstStyle/>
          <a:p>
            <a:r>
              <a:rPr lang="es-ES" sz="1600" dirty="0"/>
              <a:t>Para pasar las variables de una página a otra lo podemos hacer introduciendo dicha variable dentro del enlace hipertexto de la página destino. La sintaxis sería la siguiente:</a:t>
            </a:r>
          </a:p>
        </p:txBody>
      </p:sp>
      <p:sp>
        <p:nvSpPr>
          <p:cNvPr id="3" name="Rectangle 1">
            <a:extLst>
              <a:ext uri="{FF2B5EF4-FFF2-40B4-BE49-F238E27FC236}">
                <a16:creationId xmlns:a16="http://schemas.microsoft.com/office/drawing/2014/main" id="{D719386F-B7AB-0041-4736-26C4CA5510DE}"/>
              </a:ext>
            </a:extLst>
          </p:cNvPr>
          <p:cNvSpPr>
            <a:spLocks noChangeArrowheads="1"/>
          </p:cNvSpPr>
          <p:nvPr/>
        </p:nvSpPr>
        <p:spPr bwMode="auto">
          <a:xfrm>
            <a:off x="467544" y="2453098"/>
            <a:ext cx="7800212"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657B83"/>
                </a:solidFill>
                <a:effectLst/>
                <a:latin typeface="Consolas" panose="020B0609020204030204" pitchFamily="49" charset="0"/>
              </a:rPr>
              <a:t>&lt;a href=</a:t>
            </a:r>
            <a:r>
              <a:rPr kumimoji="0" lang="es-ES" altLang="es-ES" sz="1600" b="0" i="0" u="none" strike="noStrike" cap="none" normalizeH="0" baseline="0">
                <a:ln>
                  <a:noFill/>
                </a:ln>
                <a:solidFill>
                  <a:srgbClr val="2AA198"/>
                </a:solidFill>
                <a:effectLst/>
                <a:latin typeface="Consolas" panose="020B0609020204030204" pitchFamily="49" charset="0"/>
              </a:rPr>
              <a:t>"destino.php?variable1=valor1&amp;variable2=valor2"</a:t>
            </a:r>
            <a:r>
              <a:rPr kumimoji="0" lang="es-ES" altLang="es-ES" sz="1600" b="0" i="0" u="none" strike="noStrike" cap="none" normalizeH="0" baseline="0">
                <a:ln>
                  <a:noFill/>
                </a:ln>
                <a:solidFill>
                  <a:srgbClr val="657B83"/>
                </a:solidFill>
                <a:effectLst/>
                <a:latin typeface="Consolas" panose="020B0609020204030204" pitchFamily="49" charset="0"/>
              </a:rPr>
              <a:t>&gt;Mi enlace&lt;/a&gt;</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6013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30</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087" y="195486"/>
            <a:ext cx="8496944" cy="1669580"/>
          </a:xfrm>
        </p:spPr>
        <p:txBody>
          <a:bodyPr/>
          <a:lstStyle/>
          <a:p>
            <a:pPr marL="114300" indent="0">
              <a:buNone/>
            </a:pPr>
            <a:r>
              <a:rPr lang="es-ES" sz="1600" dirty="0"/>
              <a:t>Mediante el enlace anterior estaríamos enviando dos variables a la página de </a:t>
            </a:r>
            <a:r>
              <a:rPr lang="es-ES" sz="1600" dirty="0" err="1"/>
              <a:t>destino.php</a:t>
            </a:r>
            <a:r>
              <a:rPr lang="es-ES" sz="1600" dirty="0"/>
              <a:t>.</a:t>
            </a:r>
          </a:p>
          <a:p>
            <a:pPr marL="114300" indent="0">
              <a:buNone/>
            </a:pPr>
            <a:endParaRPr lang="es-ES" sz="1600" dirty="0"/>
          </a:p>
          <a:p>
            <a:pPr marL="114300" indent="0">
              <a:buNone/>
            </a:pPr>
            <a:r>
              <a:rPr lang="es-ES" sz="1600" dirty="0"/>
              <a:t>variable1 con el dato "valor1"</a:t>
            </a:r>
          </a:p>
          <a:p>
            <a:pPr marL="114300" indent="0">
              <a:buNone/>
            </a:pPr>
            <a:r>
              <a:rPr lang="es-ES" sz="1600" dirty="0"/>
              <a:t>variable2 con el dato "valor2“</a:t>
            </a:r>
          </a:p>
          <a:p>
            <a:pPr marL="114300" indent="0">
              <a:buNone/>
            </a:pPr>
            <a:endParaRPr lang="es-ES" sz="1600" dirty="0"/>
          </a:p>
          <a:p>
            <a:pPr marL="114300" indent="0">
              <a:buNone/>
            </a:pPr>
            <a:r>
              <a:rPr lang="es-ES" sz="1600" dirty="0"/>
              <a:t>Podéis observar que estas variables no poseen el símbolo $ delante. Esto es debido a que en realidad este modo de pasar variables no es específico de PHP sino que es utilizado por el protocolo HTTP en general.</a:t>
            </a:r>
          </a:p>
          <a:p>
            <a:pPr marL="114300" indent="0">
              <a:buNone/>
            </a:pPr>
            <a:endParaRPr lang="es-ES" sz="1600" dirty="0"/>
          </a:p>
          <a:p>
            <a:pPr marL="114300" indent="0">
              <a:buNone/>
            </a:pPr>
            <a:r>
              <a:rPr lang="es-ES" sz="1600" dirty="0"/>
              <a:t>Ahora nuestra variable pertenece también al entorno de la página </a:t>
            </a:r>
            <a:r>
              <a:rPr lang="es-ES" sz="1600" dirty="0" err="1"/>
              <a:t>destino.php</a:t>
            </a:r>
            <a:r>
              <a:rPr lang="es-ES" sz="1600" dirty="0"/>
              <a:t> y está lista para su explotación.</a:t>
            </a:r>
          </a:p>
          <a:p>
            <a:pPr marL="114300" indent="0">
              <a:buNone/>
            </a:pPr>
            <a:endParaRPr lang="es-ES" sz="1600" dirty="0"/>
          </a:p>
          <a:p>
            <a:pPr marL="114300" indent="0">
              <a:buNone/>
            </a:pPr>
            <a:r>
              <a:rPr lang="es-ES" sz="1600" dirty="0"/>
              <a:t>En la página de destino tendrás que recibir las variables mediante un array </a:t>
            </a:r>
            <a:r>
              <a:rPr lang="es-ES" sz="1600" dirty="0" err="1"/>
              <a:t>superglobal</a:t>
            </a:r>
            <a:r>
              <a:rPr lang="es-ES" sz="1600" dirty="0"/>
              <a:t> llamado $_GET. Este es un array asociativo, cuyos índices serán el nombre de la variable que queremos recibir.</a:t>
            </a:r>
          </a:p>
        </p:txBody>
      </p:sp>
    </p:spTree>
    <p:extLst>
      <p:ext uri="{BB962C8B-B14F-4D97-AF65-F5344CB8AC3E}">
        <p14:creationId xmlns:p14="http://schemas.microsoft.com/office/powerpoint/2010/main" val="4288020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endParaRPr lang="es-ES" b="0" i="0" dirty="0">
              <a:solidFill>
                <a:srgbClr val="000000"/>
              </a:solidFill>
              <a:effectLst/>
              <a:latin typeface="Roboto" panose="02000000000000000000" pitchFamily="2" charset="0"/>
            </a:endParaRP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233622" y="1217429"/>
            <a:ext cx="7782756" cy="1944216"/>
          </a:xfrm>
        </p:spPr>
        <p:txBody>
          <a:bodyPr/>
          <a:lstStyle/>
          <a:p>
            <a:r>
              <a:rPr lang="es-ES" sz="1600" dirty="0"/>
              <a:t>Página que envía los datos origen.html</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31</a:t>
            </a:fld>
            <a:endParaRPr lang="es-ES" dirty="0"/>
          </a:p>
        </p:txBody>
      </p:sp>
      <p:sp>
        <p:nvSpPr>
          <p:cNvPr id="5" name="Rectangle 1">
            <a:extLst>
              <a:ext uri="{FF2B5EF4-FFF2-40B4-BE49-F238E27FC236}">
                <a16:creationId xmlns:a16="http://schemas.microsoft.com/office/drawing/2014/main" id="{04AA3F5B-38D6-1B6D-5709-987DB9D02D05}"/>
              </a:ext>
            </a:extLst>
          </p:cNvPr>
          <p:cNvSpPr>
            <a:spLocks noChangeArrowheads="1"/>
          </p:cNvSpPr>
          <p:nvPr/>
        </p:nvSpPr>
        <p:spPr bwMode="auto">
          <a:xfrm>
            <a:off x="0" y="1837419"/>
            <a:ext cx="9242915" cy="2099242"/>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657B83"/>
                </a:solidFill>
                <a:effectLst/>
                <a:latin typeface="Consolas" panose="020B0609020204030204" pitchFamily="49" charset="0"/>
              </a:rPr>
              <a:t>&gt;origen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html&lt;/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&lt;a </a:t>
            </a:r>
            <a:r>
              <a:rPr kumimoji="0" lang="es-ES" altLang="es-ES" b="0" i="0" u="none" strike="noStrike" cap="none" normalizeH="0" baseline="0" dirty="0" err="1">
                <a:ln>
                  <a:noFill/>
                </a:ln>
                <a:solidFill>
                  <a:srgbClr val="657B83"/>
                </a:solidFill>
                <a:effectLst/>
                <a:latin typeface="Consolas" panose="020B0609020204030204" pitchFamily="49" charset="0"/>
              </a:rPr>
              <a:t>href</a:t>
            </a:r>
            <a:r>
              <a:rPr kumimoji="0" lang="es-ES" altLang="es-ES" b="0" i="0" u="none" strike="noStrike" cap="none" normalizeH="0" baseline="0" dirty="0">
                <a:ln>
                  <a:noFill/>
                </a:ln>
                <a:solidFill>
                  <a:srgbClr val="657B83"/>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err="1">
                <a:ln>
                  <a:noFill/>
                </a:ln>
                <a:solidFill>
                  <a:srgbClr val="2AA198"/>
                </a:solidFill>
                <a:effectLst/>
                <a:latin typeface="Consolas" panose="020B0609020204030204" pitchFamily="49" charset="0"/>
              </a:rPr>
              <a:t>destino.php?saludo</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err="1">
                <a:ln>
                  <a:noFill/>
                </a:ln>
                <a:solidFill>
                  <a:srgbClr val="2AA198"/>
                </a:solidFill>
                <a:effectLst/>
                <a:latin typeface="Consolas" panose="020B0609020204030204" pitchFamily="49" charset="0"/>
              </a:rPr>
              <a:t>hola&amp;texto</a:t>
            </a:r>
            <a:r>
              <a:rPr kumimoji="0" lang="es-ES" altLang="es-ES" b="0" i="0" u="none" strike="noStrike" cap="none" normalizeH="0" baseline="0" dirty="0">
                <a:ln>
                  <a:noFill/>
                </a:ln>
                <a:solidFill>
                  <a:srgbClr val="2AA198"/>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2AA198"/>
                </a:solidFill>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Esto es una variable texto"</a:t>
            </a:r>
            <a:r>
              <a:rPr kumimoji="0" lang="es-ES" altLang="es-ES" b="0" i="0" u="none" strike="noStrike" cap="none" normalizeH="0" baseline="0" dirty="0">
                <a:ln>
                  <a:noFill/>
                </a:ln>
                <a:solidFill>
                  <a:srgbClr val="657B83"/>
                </a:solidFill>
                <a:effectLst/>
                <a:latin typeface="Consolas" panose="020B0609020204030204" pitchFamily="49" charset="0"/>
              </a:rPr>
              <a:t>&gt;Paso variables saludo y texto a la página </a:t>
            </a:r>
            <a:r>
              <a:rPr kumimoji="0" lang="es-ES" altLang="es-ES" b="0" i="0" u="none" strike="noStrike" cap="none" normalizeH="0" baseline="0" dirty="0" err="1">
                <a:ln>
                  <a:noFill/>
                </a:ln>
                <a:solidFill>
                  <a:srgbClr val="657B83"/>
                </a:solidFill>
                <a:effectLst/>
                <a:latin typeface="Consolas" panose="020B0609020204030204" pitchFamily="49" charset="0"/>
              </a:rPr>
              <a:t>destino</a:t>
            </a:r>
            <a:r>
              <a:rPr kumimoji="0" lang="es-ES" altLang="es-ES" b="0" i="0" u="none" strike="noStrike" cap="none" normalizeH="0" baseline="0" dirty="0" err="1">
                <a:ln>
                  <a:noFill/>
                </a:ln>
                <a:solidFill>
                  <a:srgbClr val="586E75"/>
                </a:solidFill>
                <a:effectLst/>
                <a:latin typeface="Consolas" panose="020B0609020204030204" pitchFamily="49" charset="0"/>
              </a:rPr>
              <a:t>.</a:t>
            </a:r>
            <a:r>
              <a:rPr kumimoji="0" lang="es-ES" altLang="es-ES" b="0" i="0" u="none" strike="noStrike" cap="none" normalizeH="0" baseline="0" dirty="0" err="1">
                <a:ln>
                  <a:noFill/>
                </a:ln>
                <a:solidFill>
                  <a:srgbClr val="657B83"/>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&lt;/a&gt;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657B83"/>
                </a:solidFill>
                <a:effectLst/>
                <a:latin typeface="Consolas" panose="020B0609020204030204" pitchFamily="49" charset="0"/>
              </a:rPr>
              <a:t>   &lt;/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657B83"/>
                </a:solidFill>
                <a:effectLst/>
                <a:latin typeface="Consolas" panose="020B0609020204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657B83"/>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657B83"/>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19282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a:xfrm>
            <a:off x="611560" y="123478"/>
            <a:ext cx="6462600" cy="857400"/>
          </a:xfrm>
        </p:spPr>
        <p:txBody>
          <a:bodyPr/>
          <a:lstStyle/>
          <a:p>
            <a:pPr algn="l"/>
            <a:endParaRPr lang="es-ES" b="0" i="0" dirty="0">
              <a:solidFill>
                <a:srgbClr val="000000"/>
              </a:solidFill>
              <a:effectLst/>
              <a:latin typeface="Roboto" panose="02000000000000000000" pitchFamily="2" charset="0"/>
            </a:endParaRP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0" y="1043330"/>
            <a:ext cx="9036496" cy="3552300"/>
          </a:xfrm>
        </p:spPr>
        <p:txBody>
          <a:bodyPr/>
          <a:lstStyle/>
          <a:p>
            <a:r>
              <a:rPr lang="es-ES" sz="1600" dirty="0"/>
              <a:t>Página que recibe los datos </a:t>
            </a:r>
            <a:r>
              <a:rPr lang="es-ES" sz="1600" dirty="0" err="1"/>
              <a:t>destino.php</a:t>
            </a:r>
            <a:endParaRPr lang="es-ES" sz="1600" dirty="0"/>
          </a:p>
          <a:p>
            <a:endParaRPr lang="es-ES" sz="1600" dirty="0"/>
          </a:p>
          <a:p>
            <a:endParaRPr lang="es-ES" sz="1600" dirty="0"/>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32</a:t>
            </a:fld>
            <a:endParaRPr lang="es-ES" dirty="0"/>
          </a:p>
        </p:txBody>
      </p:sp>
      <p:sp>
        <p:nvSpPr>
          <p:cNvPr id="9" name="Rectangle 1">
            <a:extLst>
              <a:ext uri="{FF2B5EF4-FFF2-40B4-BE49-F238E27FC236}">
                <a16:creationId xmlns:a16="http://schemas.microsoft.com/office/drawing/2014/main" id="{CDD017C7-0103-6F6E-3B8D-AC6BA6053B2B}"/>
              </a:ext>
            </a:extLst>
          </p:cNvPr>
          <p:cNvSpPr>
            <a:spLocks noChangeArrowheads="1"/>
          </p:cNvSpPr>
          <p:nvPr/>
        </p:nvSpPr>
        <p:spPr bwMode="auto">
          <a:xfrm>
            <a:off x="1010354" y="1995686"/>
            <a:ext cx="5665012" cy="231468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err="1">
                <a:ln>
                  <a:noFill/>
                </a:ln>
                <a:solidFill>
                  <a:srgbClr val="657B83"/>
                </a:solidFill>
                <a:effectLst/>
                <a:latin typeface="Consolas" panose="020B0609020204030204" pitchFamily="49" charset="0"/>
              </a:rPr>
              <a:t>destino.php</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Variable "saludo": </a:t>
            </a: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$_GET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"saludo"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Variable "texto" </a:t>
            </a: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$_GET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"texto"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567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$HTTP_GET_VARS vs $_GET</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07504" y="1215788"/>
            <a:ext cx="8928992" cy="3552300"/>
          </a:xfrm>
        </p:spPr>
        <p:txBody>
          <a:bodyPr/>
          <a:lstStyle/>
          <a:p>
            <a:r>
              <a:rPr lang="es-ES" sz="1500" dirty="0"/>
              <a:t>A lo largo de las versiones de PHP ha ido cambiando la manera con la que se recibían las variables por la URL.</a:t>
            </a:r>
          </a:p>
          <a:p>
            <a:endParaRPr lang="es-ES" sz="1500" dirty="0"/>
          </a:p>
          <a:p>
            <a:r>
              <a:rPr lang="es-ES" sz="1500" dirty="0"/>
              <a:t>Al principio del todo las variables se encontraban declaradas en la página de destino de manera automática, lo que podría resultar más cómodo, pero daba lugar a posibles problemas de seguridad, ya que cualquier persona sería capaz de "falsear" variables en la página de destino, creando automáticamente nuevas variables con cualquier valor, solo por enviarlas en la URL.</a:t>
            </a:r>
          </a:p>
          <a:p>
            <a:endParaRPr lang="es-ES" sz="1500" dirty="0"/>
          </a:p>
          <a:p>
            <a:r>
              <a:rPr lang="es-ES" sz="1500" dirty="0"/>
              <a:t>Esta situación no era deseable y hacía que el lenguaje PHP fuera menos seguro, por dos razones: la primera que, si recibimos las variables siempre por $_GET nos aseguramos que esa variable viene realmente de la URL. La segunda es que así nuestro código será más claro cuando lo volvamos a leer, porque quedará especificado que esa variable estamos recibiéndola por la URL.</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33</a:t>
            </a:fld>
            <a:endParaRPr lang="es-ES" dirty="0"/>
          </a:p>
        </p:txBody>
      </p:sp>
    </p:spTree>
    <p:extLst>
      <p:ext uri="{BB962C8B-B14F-4D97-AF65-F5344CB8AC3E}">
        <p14:creationId xmlns:p14="http://schemas.microsoft.com/office/powerpoint/2010/main" val="21445703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01E2647-27F0-2E73-626A-597C80A2C8BA}"/>
              </a:ext>
            </a:extLst>
          </p:cNvPr>
          <p:cNvSpPr>
            <a:spLocks noGrp="1"/>
          </p:cNvSpPr>
          <p:nvPr>
            <p:ph type="body" idx="1"/>
          </p:nvPr>
        </p:nvSpPr>
        <p:spPr>
          <a:xfrm>
            <a:off x="323528" y="483518"/>
            <a:ext cx="7782756" cy="3552300"/>
          </a:xfrm>
        </p:spPr>
        <p:txBody>
          <a:bodyPr/>
          <a:lstStyle/>
          <a:p>
            <a:r>
              <a:rPr lang="es-ES" sz="1600" dirty="0"/>
              <a:t>En versiones tempranas de PHP se usaba $HTTP_GET_VARS para recibir las variables por GET. Ahora el array donde se encuentran estas variables es $_GET. Este cambio permitió un código más conciso, más corto y de lectura más rápida. Pero en principio el array se usa exactamente igual.</a:t>
            </a:r>
          </a:p>
        </p:txBody>
      </p:sp>
      <p:sp>
        <p:nvSpPr>
          <p:cNvPr id="4" name="Marcador de número de diapositiva 3">
            <a:extLst>
              <a:ext uri="{FF2B5EF4-FFF2-40B4-BE49-F238E27FC236}">
                <a16:creationId xmlns:a16="http://schemas.microsoft.com/office/drawing/2014/main" id="{16F9E2F4-1024-87EB-F61F-930312FB9DE4}"/>
              </a:ext>
            </a:extLst>
          </p:cNvPr>
          <p:cNvSpPr>
            <a:spLocks noGrp="1"/>
          </p:cNvSpPr>
          <p:nvPr>
            <p:ph type="sldNum" idx="10"/>
          </p:nvPr>
        </p:nvSpPr>
        <p:spPr/>
        <p:txBody>
          <a:bodyPr/>
          <a:lstStyle/>
          <a:p>
            <a:fld id="{00000000-1234-1234-1234-123412341234}" type="slidenum">
              <a:rPr lang="es-ES" smtClean="0"/>
              <a:pPr/>
              <a:t>34</a:t>
            </a:fld>
            <a:endParaRPr lang="es-ES" dirty="0"/>
          </a:p>
        </p:txBody>
      </p:sp>
      <p:sp>
        <p:nvSpPr>
          <p:cNvPr id="5" name="Rectangle 1">
            <a:extLst>
              <a:ext uri="{FF2B5EF4-FFF2-40B4-BE49-F238E27FC236}">
                <a16:creationId xmlns:a16="http://schemas.microsoft.com/office/drawing/2014/main" id="{1DD7DCEF-4E7F-5D34-C3C6-7D384589B81D}"/>
              </a:ext>
            </a:extLst>
          </p:cNvPr>
          <p:cNvSpPr>
            <a:spLocks noChangeArrowheads="1"/>
          </p:cNvSpPr>
          <p:nvPr/>
        </p:nvSpPr>
        <p:spPr bwMode="auto">
          <a:xfrm>
            <a:off x="611560" y="2669122"/>
            <a:ext cx="6341480"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859900"/>
                </a:solidFill>
                <a:effectLst/>
                <a:latin typeface="Consolas" panose="020B0609020204030204" pitchFamily="49" charset="0"/>
              </a:rPr>
              <a:t>echo</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2AA198"/>
                </a:solidFill>
                <a:effectLst/>
                <a:latin typeface="Consolas" panose="020B0609020204030204" pitchFamily="49" charset="0"/>
              </a:rPr>
              <a:t>"Este dato: "</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657B83"/>
                </a:solidFill>
                <a:effectLst/>
                <a:latin typeface="Consolas" panose="020B0609020204030204" pitchFamily="49" charset="0"/>
              </a:rPr>
              <a:t> $_GET</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2AA198"/>
                </a:solidFill>
                <a:effectLst/>
                <a:latin typeface="Consolas" panose="020B0609020204030204" pitchFamily="49" charset="0"/>
              </a:rPr>
              <a:t>"x"</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rgbClr val="657B83"/>
                </a:solidFill>
                <a:effectLst/>
                <a:latin typeface="Consolas" panose="020B0609020204030204" pitchFamily="49" charset="0"/>
              </a:rPr>
              <a:t> </a:t>
            </a:r>
            <a:r>
              <a:rPr kumimoji="0" lang="es-ES" altLang="es-ES" sz="1600" b="0" i="0" u="none" strike="noStrike" cap="none" normalizeH="0" baseline="0">
                <a:ln>
                  <a:noFill/>
                </a:ln>
                <a:solidFill>
                  <a:srgbClr val="2AA198"/>
                </a:solidFill>
                <a:effectLst/>
                <a:latin typeface="Consolas" panose="020B0609020204030204" pitchFamily="49" charset="0"/>
              </a:rPr>
              <a:t>" lo recibo por URL."</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7452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90CA2C-89C2-1FA2-56E1-4424D17A7F23}"/>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Conclusión sobre el envío de variables por GET en PHP</a:t>
            </a:r>
            <a:endParaRPr lang="es-ES" dirty="0"/>
          </a:p>
        </p:txBody>
      </p:sp>
      <p:sp>
        <p:nvSpPr>
          <p:cNvPr id="3" name="Marcador de texto 2">
            <a:extLst>
              <a:ext uri="{FF2B5EF4-FFF2-40B4-BE49-F238E27FC236}">
                <a16:creationId xmlns:a16="http://schemas.microsoft.com/office/drawing/2014/main" id="{6825A908-78E5-4428-DE60-15526AB54EB4}"/>
              </a:ext>
            </a:extLst>
          </p:cNvPr>
          <p:cNvSpPr>
            <a:spLocks noGrp="1"/>
          </p:cNvSpPr>
          <p:nvPr>
            <p:ph type="body" idx="1"/>
          </p:nvPr>
        </p:nvSpPr>
        <p:spPr/>
        <p:txBody>
          <a:bodyPr/>
          <a:lstStyle/>
          <a:p>
            <a:r>
              <a:rPr lang="es-ES" dirty="0"/>
              <a:t>Con esta información ya estás en disposición de enviar datos de una página a otra con PHP. </a:t>
            </a:r>
          </a:p>
          <a:p>
            <a:endParaRPr lang="es-ES" dirty="0"/>
          </a:p>
          <a:p>
            <a:r>
              <a:rPr lang="es-ES" dirty="0"/>
              <a:t>Este es el primer mecanismo que queremos para poder compartir variables entre páginas y enviar señales entre los distintos scripts que componen un sitio web.</a:t>
            </a:r>
          </a:p>
        </p:txBody>
      </p:sp>
      <p:sp>
        <p:nvSpPr>
          <p:cNvPr id="4" name="Marcador de número de diapositiva 3">
            <a:extLst>
              <a:ext uri="{FF2B5EF4-FFF2-40B4-BE49-F238E27FC236}">
                <a16:creationId xmlns:a16="http://schemas.microsoft.com/office/drawing/2014/main" id="{745B85D1-0D5A-303B-DDA2-8BF2E87BC9D1}"/>
              </a:ext>
            </a:extLst>
          </p:cNvPr>
          <p:cNvSpPr>
            <a:spLocks noGrp="1"/>
          </p:cNvSpPr>
          <p:nvPr>
            <p:ph type="sldNum" idx="10"/>
          </p:nvPr>
        </p:nvSpPr>
        <p:spPr/>
        <p:txBody>
          <a:bodyPr/>
          <a:lstStyle/>
          <a:p>
            <a:fld id="{00000000-1234-1234-1234-123412341234}" type="slidenum">
              <a:rPr lang="es-ES" smtClean="0"/>
              <a:pPr/>
              <a:t>35</a:t>
            </a:fld>
            <a:endParaRPr lang="es-ES" dirty="0"/>
          </a:p>
        </p:txBody>
      </p:sp>
    </p:spTree>
    <p:extLst>
      <p:ext uri="{BB962C8B-B14F-4D97-AF65-F5344CB8AC3E}">
        <p14:creationId xmlns:p14="http://schemas.microsoft.com/office/powerpoint/2010/main" val="42673172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3.</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r>
              <a:rPr lang="es-ES" dirty="0"/>
              <a:t>Procesar variables de formularios. POST en PHP</a:t>
            </a:r>
          </a:p>
        </p:txBody>
      </p:sp>
    </p:spTree>
    <p:extLst>
      <p:ext uri="{BB962C8B-B14F-4D97-AF65-F5344CB8AC3E}">
        <p14:creationId xmlns:p14="http://schemas.microsoft.com/office/powerpoint/2010/main" val="3564785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r>
              <a:rPr lang="es-ES" sz="1600" dirty="0"/>
              <a:t>Enviar y recibir variables desde formularios es uno de los comportamientos más básicos que necesitaremos implementar en las aplicaciones web. </a:t>
            </a:r>
          </a:p>
          <a:p>
            <a:endParaRPr lang="es-ES" sz="1600" dirty="0"/>
          </a:p>
          <a:p>
            <a:r>
              <a:rPr lang="es-ES" sz="1600" dirty="0"/>
              <a:t>Este tipo de transferencia es de gran utilidad ya que nos permite interaccionar directamente con el usuario, produciendo entrada de datos a las aplicaciones PHP.</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37</a:t>
            </a:fld>
            <a:endParaRPr lang="es-ES" dirty="0"/>
          </a:p>
        </p:txBody>
      </p:sp>
    </p:spTree>
    <p:extLst>
      <p:ext uri="{BB962C8B-B14F-4D97-AF65-F5344CB8AC3E}">
        <p14:creationId xmlns:p14="http://schemas.microsoft.com/office/powerpoint/2010/main" val="14136714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Explicación básica del envío de formularios con PHP</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79512" y="1373588"/>
            <a:ext cx="8352928" cy="3552300"/>
          </a:xfrm>
        </p:spPr>
        <p:txBody>
          <a:bodyPr/>
          <a:lstStyle/>
          <a:p>
            <a:pPr marL="114300" indent="0">
              <a:buNone/>
            </a:pPr>
            <a:r>
              <a:rPr lang="es-ES" sz="1800" dirty="0"/>
              <a:t>En el proceso de enviar y recibir datos de un formulario existen dos páginas. La que tiene el formulario y la página que lo recibe. </a:t>
            </a:r>
          </a:p>
          <a:p>
            <a:pPr marL="114300" indent="0">
              <a:buNone/>
            </a:pPr>
            <a:endParaRPr lang="es-ES" sz="1800" dirty="0"/>
          </a:p>
          <a:p>
            <a:pPr marL="114300" indent="0">
              <a:buNone/>
            </a:pPr>
            <a:r>
              <a:rPr lang="es-ES" sz="1800" dirty="0"/>
              <a:t>La página que contiene el formulario podría ser una página normal HTML. </a:t>
            </a:r>
          </a:p>
          <a:p>
            <a:pPr marL="114300" indent="0">
              <a:buNone/>
            </a:pPr>
            <a:endParaRPr lang="es-ES" sz="1800" dirty="0"/>
          </a:p>
          <a:p>
            <a:pPr marL="114300" indent="0">
              <a:buNone/>
            </a:pPr>
            <a:r>
              <a:rPr lang="es-ES" sz="1800" dirty="0"/>
              <a:t>La segunda página, que recibe el formulario, por supuesto tendrá que ser una página PHP.</a:t>
            </a:r>
          </a:p>
          <a:p>
            <a:pPr marL="114300" indent="0">
              <a:buNone/>
            </a:pPr>
            <a:endParaRPr lang="es-ES" sz="1800" dirty="0"/>
          </a:p>
          <a:p>
            <a:pPr marL="114300" indent="0">
              <a:buNone/>
            </a:pPr>
            <a:endParaRPr lang="es-ES" sz="1800" dirty="0"/>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38</a:t>
            </a:fld>
            <a:endParaRPr lang="es-ES" dirty="0"/>
          </a:p>
        </p:txBody>
      </p:sp>
    </p:spTree>
    <p:extLst>
      <p:ext uri="{BB962C8B-B14F-4D97-AF65-F5344CB8AC3E}">
        <p14:creationId xmlns:p14="http://schemas.microsoft.com/office/powerpoint/2010/main" val="1159801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35496" y="483518"/>
            <a:ext cx="8640960" cy="3552300"/>
          </a:xfrm>
        </p:spPr>
        <p:txBody>
          <a:bodyPr/>
          <a:lstStyle/>
          <a:p>
            <a:pPr marL="114300" indent="0">
              <a:buNone/>
            </a:pPr>
            <a:r>
              <a:rPr lang="es-ES" sz="1800" dirty="0"/>
              <a:t>El formulario tiene un atributo llamado "</a:t>
            </a:r>
            <a:r>
              <a:rPr lang="es-ES" sz="1800" dirty="0" err="1"/>
              <a:t>action</a:t>
            </a:r>
            <a:r>
              <a:rPr lang="es-ES" sz="1800" dirty="0"/>
              <a:t>" que indica la dirección de la página PHP que recibirá el formulario. Además, si queremos que los datos se envíen por POST, debemos incluir el atributo "</a:t>
            </a:r>
            <a:r>
              <a:rPr lang="es-ES" sz="1800" dirty="0" err="1"/>
              <a:t>method</a:t>
            </a:r>
            <a:r>
              <a:rPr lang="es-ES" sz="1800" dirty="0"/>
              <a:t>" con el valor "post". Lo puedes ver en el siguiente código HTML.</a:t>
            </a:r>
          </a:p>
          <a:p>
            <a:pPr marL="114300" indent="0">
              <a:buNone/>
            </a:pPr>
            <a:endParaRPr lang="es-ES" sz="1800" dirty="0"/>
          </a:p>
          <a:p>
            <a:pPr marL="114300" indent="0">
              <a:buNone/>
            </a:pPr>
            <a:endParaRPr lang="es-ES" sz="1800" dirty="0"/>
          </a:p>
          <a:p>
            <a:pPr marL="114300" indent="0">
              <a:buNone/>
            </a:pPr>
            <a:endParaRPr lang="es-ES" sz="1800" dirty="0"/>
          </a:p>
          <a:p>
            <a:pPr marL="114300" indent="0">
              <a:buNone/>
            </a:pPr>
            <a:r>
              <a:rPr lang="es-ES" sz="1800" dirty="0"/>
              <a:t>En los formularios tenemos que incluir los campos que necesitemos. El nombre de los campos, definido por el atributo </a:t>
            </a:r>
            <a:r>
              <a:rPr lang="es-ES" sz="1800" dirty="0" err="1"/>
              <a:t>name</a:t>
            </a:r>
            <a:r>
              <a:rPr lang="es-ES" sz="1800" dirty="0"/>
              <a:t> de la etiqueta, definirá el nombre de la variable que vamos a recibir más tarde en PHP.</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39</a:t>
            </a:fld>
            <a:endParaRPr lang="es-ES" dirty="0"/>
          </a:p>
        </p:txBody>
      </p:sp>
      <p:sp>
        <p:nvSpPr>
          <p:cNvPr id="6" name="Rectangle 1">
            <a:extLst>
              <a:ext uri="{FF2B5EF4-FFF2-40B4-BE49-F238E27FC236}">
                <a16:creationId xmlns:a16="http://schemas.microsoft.com/office/drawing/2014/main" id="{584DF82E-8B46-FAC3-5811-58B08AD8A8DF}"/>
              </a:ext>
            </a:extLst>
          </p:cNvPr>
          <p:cNvSpPr>
            <a:spLocks noChangeArrowheads="1"/>
          </p:cNvSpPr>
          <p:nvPr/>
        </p:nvSpPr>
        <p:spPr bwMode="auto">
          <a:xfrm>
            <a:off x="395536" y="1935479"/>
            <a:ext cx="3808735" cy="62191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586E75"/>
                </a:solidFill>
                <a:effectLst/>
                <a:latin typeface="Consolas" panose="020B0609020204030204" pitchFamily="49" charset="0"/>
              </a:rPr>
              <a:t>&lt;</a:t>
            </a:r>
            <a:r>
              <a:rPr kumimoji="0" lang="es-ES" altLang="es-ES" sz="1000" b="0" i="0" u="none" strike="noStrike" cap="none" normalizeH="0" baseline="0" dirty="0" err="1">
                <a:ln>
                  <a:noFill/>
                </a:ln>
                <a:solidFill>
                  <a:srgbClr val="268BD2"/>
                </a:solidFill>
                <a:effectLst/>
                <a:latin typeface="Consolas" panose="020B0609020204030204" pitchFamily="49" charset="0"/>
              </a:rPr>
              <a:t>form</a:t>
            </a:r>
            <a:r>
              <a:rPr kumimoji="0" lang="es-ES" altLang="es-ES" sz="1000" b="0" i="0" u="none" strike="noStrike" cap="none" normalizeH="0" baseline="0" dirty="0">
                <a:ln>
                  <a:noFill/>
                </a:ln>
                <a:solidFill>
                  <a:srgbClr val="268BD2"/>
                </a:solidFill>
                <a:effectLst/>
                <a:latin typeface="Consolas" panose="020B0609020204030204" pitchFamily="49" charset="0"/>
              </a:rPr>
              <a:t> </a:t>
            </a:r>
            <a:r>
              <a:rPr kumimoji="0" lang="es-ES" altLang="es-ES" sz="1000" b="0" i="0" u="none" strike="noStrike" cap="none" normalizeH="0" baseline="0" dirty="0" err="1">
                <a:ln>
                  <a:noFill/>
                </a:ln>
                <a:solidFill>
                  <a:srgbClr val="2AA198"/>
                </a:solidFill>
                <a:effectLst/>
                <a:latin typeface="Consolas" panose="020B0609020204030204" pitchFamily="49" charset="0"/>
              </a:rPr>
              <a:t>action</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859900"/>
                </a:solidFill>
                <a:effectLst/>
                <a:latin typeface="Consolas" panose="020B0609020204030204" pitchFamily="49" charset="0"/>
              </a:rPr>
              <a:t>pagina-para-</a:t>
            </a:r>
            <a:r>
              <a:rPr kumimoji="0" lang="es-ES" altLang="es-ES" sz="1000" b="0" i="0" u="none" strike="noStrike" cap="none" normalizeH="0" baseline="0" dirty="0" err="1">
                <a:ln>
                  <a:noFill/>
                </a:ln>
                <a:solidFill>
                  <a:srgbClr val="859900"/>
                </a:solidFill>
                <a:effectLst/>
                <a:latin typeface="Consolas" panose="020B0609020204030204" pitchFamily="49" charset="0"/>
              </a:rPr>
              <a:t>recibir.php</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268BD2"/>
                </a:solidFill>
                <a:effectLst/>
                <a:latin typeface="Consolas" panose="020B0609020204030204" pitchFamily="49" charset="0"/>
              </a:rPr>
              <a:t> </a:t>
            </a:r>
            <a:r>
              <a:rPr kumimoji="0" lang="es-ES" altLang="es-ES" sz="1000" b="0" i="0" u="none" strike="noStrike" cap="none" normalizeH="0" baseline="0" dirty="0" err="1">
                <a:ln>
                  <a:noFill/>
                </a:ln>
                <a:solidFill>
                  <a:srgbClr val="2AA198"/>
                </a:solidFill>
                <a:effectLst/>
                <a:latin typeface="Consolas" panose="020B0609020204030204" pitchFamily="49" charset="0"/>
              </a:rPr>
              <a:t>method</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859900"/>
                </a:solidFill>
                <a:effectLst/>
                <a:latin typeface="Consolas" panose="020B0609020204030204" pitchFamily="49" charset="0"/>
              </a:rPr>
              <a:t>post</a:t>
            </a:r>
            <a:r>
              <a:rPr kumimoji="0" lang="es-ES" altLang="es-ES" sz="1000" b="0" i="0" u="none" strike="noStrike" cap="none" normalizeH="0" baseline="0" dirty="0">
                <a:ln>
                  <a:noFill/>
                </a:ln>
                <a:solidFill>
                  <a:srgbClr val="586E75"/>
                </a:solidFill>
                <a:effectLst/>
                <a:latin typeface="Consolas" panose="020B0609020204030204" pitchFamily="49" charset="0"/>
              </a:rPr>
              <a:t>"&gt;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586E75"/>
                </a:solidFill>
                <a:effectLst/>
                <a:latin typeface="Consolas" panose="020B0609020204030204" pitchFamily="49" charset="0"/>
              </a:rPr>
              <a:t>&lt;/</a:t>
            </a:r>
            <a:r>
              <a:rPr kumimoji="0" lang="es-ES" altLang="es-ES" sz="1000" b="0" i="0" u="none" strike="noStrike" cap="none" normalizeH="0" baseline="0" dirty="0" err="1">
                <a:ln>
                  <a:noFill/>
                </a:ln>
                <a:solidFill>
                  <a:srgbClr val="268BD2"/>
                </a:solidFill>
                <a:effectLst/>
                <a:latin typeface="Consolas" panose="020B0609020204030204" pitchFamily="49" charset="0"/>
              </a:rPr>
              <a:t>form</a:t>
            </a:r>
            <a:r>
              <a:rPr kumimoji="0" lang="es-ES" altLang="es-ES" sz="1000" b="0" i="0" u="none" strike="noStrike" cap="none" normalizeH="0" baseline="0" dirty="0">
                <a:ln>
                  <a:noFill/>
                </a:ln>
                <a:solidFill>
                  <a:srgbClr val="586E75"/>
                </a:solidFill>
                <a:effectLst/>
                <a:latin typeface="Consolas" panose="020B0609020204030204" pitchFamily="49" charset="0"/>
              </a:rPr>
              <a:t>&gt;</a:t>
            </a:r>
            <a:r>
              <a:rPr kumimoji="0" lang="es-ES" altLang="es-ES" sz="600" b="0" i="0" u="none" strike="noStrike" cap="none" normalizeH="0" baseline="0" dirty="0">
                <a:ln>
                  <a:noFill/>
                </a:ln>
                <a:solidFill>
                  <a:schemeClr val="tx1"/>
                </a:solidFill>
                <a:effectLst/>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16BAE429-E20C-624B-007B-07F350B057D7}"/>
              </a:ext>
            </a:extLst>
          </p:cNvPr>
          <p:cNvSpPr>
            <a:spLocks noChangeArrowheads="1"/>
          </p:cNvSpPr>
          <p:nvPr/>
        </p:nvSpPr>
        <p:spPr bwMode="auto">
          <a:xfrm>
            <a:off x="683568" y="4016462"/>
            <a:ext cx="3329438" cy="375693"/>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a:ln>
                  <a:noFill/>
                </a:ln>
                <a:solidFill>
                  <a:srgbClr val="586E75"/>
                </a:solidFill>
                <a:effectLst/>
                <a:latin typeface="Consolas" panose="020B0609020204030204" pitchFamily="49" charset="0"/>
              </a:rPr>
              <a:t>&lt;</a:t>
            </a:r>
            <a:r>
              <a:rPr kumimoji="0" lang="es-ES" altLang="es-ES" b="0" i="0" u="none" strike="noStrike" cap="none" normalizeH="0" baseline="0">
                <a:ln>
                  <a:noFill/>
                </a:ln>
                <a:solidFill>
                  <a:srgbClr val="268BD2"/>
                </a:solidFill>
                <a:effectLst/>
                <a:latin typeface="Consolas" panose="020B0609020204030204" pitchFamily="49" charset="0"/>
              </a:rPr>
              <a:t>input </a:t>
            </a:r>
            <a:r>
              <a:rPr kumimoji="0" lang="es-ES" altLang="es-ES" b="0" i="0" u="none" strike="noStrike" cap="none" normalizeH="0" baseline="0">
                <a:ln>
                  <a:noFill/>
                </a:ln>
                <a:solidFill>
                  <a:srgbClr val="2AA198"/>
                </a:solidFill>
                <a:effectLst/>
                <a:latin typeface="Consolas" panose="020B0609020204030204" pitchFamily="49" charset="0"/>
              </a:rPr>
              <a:t>type</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rgbClr val="859900"/>
                </a:solidFill>
                <a:effectLst/>
                <a:latin typeface="Consolas" panose="020B0609020204030204" pitchFamily="49" charset="0"/>
              </a:rPr>
              <a:t>text</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rgbClr val="268BD2"/>
                </a:solidFill>
                <a:effectLst/>
                <a:latin typeface="Consolas" panose="020B0609020204030204" pitchFamily="49" charset="0"/>
              </a:rPr>
              <a:t> </a:t>
            </a:r>
            <a:r>
              <a:rPr kumimoji="0" lang="es-ES" altLang="es-ES" b="0" i="0" u="none" strike="noStrike" cap="none" normalizeH="0" baseline="0">
                <a:ln>
                  <a:noFill/>
                </a:ln>
                <a:solidFill>
                  <a:srgbClr val="2AA198"/>
                </a:solidFill>
                <a:effectLst/>
                <a:latin typeface="Consolas" panose="020B0609020204030204" pitchFamily="49" charset="0"/>
              </a:rPr>
              <a:t>name</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rgbClr val="859900"/>
                </a:solidFill>
                <a:effectLst/>
                <a:latin typeface="Consolas" panose="020B0609020204030204" pitchFamily="49" charset="0"/>
              </a:rPr>
              <a:t>midato</a:t>
            </a:r>
            <a:r>
              <a:rPr kumimoji="0" lang="es-ES" altLang="es-ES" b="0" i="0" u="none" strike="noStrike" cap="none" normalizeH="0" baseline="0">
                <a:ln>
                  <a:noFill/>
                </a:ln>
                <a:solidFill>
                  <a:srgbClr val="586E75"/>
                </a:solidFill>
                <a:effectLst/>
                <a:latin typeface="Consolas" panose="020B0609020204030204" pitchFamily="49" charset="0"/>
              </a:rPr>
              <a:t>"&gt;</a:t>
            </a:r>
            <a:r>
              <a:rPr kumimoji="0" lang="es-ES" altLang="es-ES" b="0" i="0" u="none" strike="noStrike" cap="none" normalizeH="0" baseline="0">
                <a:ln>
                  <a:noFill/>
                </a:ln>
                <a:solidFill>
                  <a:schemeClr val="tx1"/>
                </a:solidFill>
                <a:effectLst/>
              </a:rPr>
              <a:t> </a:t>
            </a:r>
            <a:endParaRPr kumimoji="0" lang="es-ES" altLang="es-E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5952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79512" y="1373588"/>
            <a:ext cx="8928992" cy="3552300"/>
          </a:xfrm>
        </p:spPr>
        <p:txBody>
          <a:bodyPr/>
          <a:lstStyle/>
          <a:p>
            <a:r>
              <a:rPr lang="es-ES" sz="1800" dirty="0"/>
              <a:t>En el campo de texto anterior, hemos indicado </a:t>
            </a:r>
            <a:r>
              <a:rPr lang="es-ES" sz="1800" dirty="0" err="1"/>
              <a:t>name</a:t>
            </a:r>
            <a:r>
              <a:rPr lang="es-ES" sz="1800" dirty="0"/>
              <a:t>="</a:t>
            </a:r>
            <a:r>
              <a:rPr lang="es-ES" sz="1800" dirty="0" err="1"/>
              <a:t>midato</a:t>
            </a:r>
            <a:r>
              <a:rPr lang="es-ES" sz="1800" dirty="0"/>
              <a:t>" por lo tanto, el valor lo vamos a recibir con el nombre "</a:t>
            </a:r>
            <a:r>
              <a:rPr lang="es-ES" sz="1800" dirty="0" err="1"/>
              <a:t>midato</a:t>
            </a:r>
            <a:r>
              <a:rPr lang="es-ES" sz="1800" dirty="0"/>
              <a:t>".</a:t>
            </a:r>
          </a:p>
          <a:p>
            <a:endParaRPr lang="es-ES" sz="1800" dirty="0"/>
          </a:p>
          <a:p>
            <a:r>
              <a:rPr lang="es-ES" sz="1800" dirty="0"/>
              <a:t>Ya en la página PHP, el campo de formulario lo vamos a recibir con el array </a:t>
            </a:r>
            <a:r>
              <a:rPr lang="es-ES" sz="1800" dirty="0" err="1"/>
              <a:t>superglobal</a:t>
            </a:r>
            <a:r>
              <a:rPr lang="es-ES" sz="1800" dirty="0"/>
              <a:t> $_POST. Este es un array asociativo que se crea automáticamente por PHP y que está disponible en cualquier lugar del código de la página donde recibimos el formulario. El nombre del campo de formulario es el que usaremos como índice del array $_POST, tal que así.</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40</a:t>
            </a:fld>
            <a:endParaRPr lang="es-ES" dirty="0"/>
          </a:p>
        </p:txBody>
      </p:sp>
      <p:sp>
        <p:nvSpPr>
          <p:cNvPr id="6" name="Rectangle 1">
            <a:extLst>
              <a:ext uri="{FF2B5EF4-FFF2-40B4-BE49-F238E27FC236}">
                <a16:creationId xmlns:a16="http://schemas.microsoft.com/office/drawing/2014/main" id="{50F51264-8260-163C-1577-1AF48629999D}"/>
              </a:ext>
            </a:extLst>
          </p:cNvPr>
          <p:cNvSpPr>
            <a:spLocks noChangeArrowheads="1"/>
          </p:cNvSpPr>
          <p:nvPr/>
        </p:nvSpPr>
        <p:spPr bwMode="auto">
          <a:xfrm>
            <a:off x="1979712" y="4155926"/>
            <a:ext cx="2236190" cy="375693"/>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a:ln>
                  <a:noFill/>
                </a:ln>
                <a:solidFill>
                  <a:srgbClr val="859900"/>
                </a:solidFill>
                <a:effectLst/>
                <a:latin typeface="Consolas" panose="020B0609020204030204" pitchFamily="49" charset="0"/>
              </a:rPr>
              <a:t>echo</a:t>
            </a:r>
            <a:r>
              <a:rPr kumimoji="0" lang="es-ES" altLang="es-ES" b="0" i="0" u="none" strike="noStrike" cap="none" normalizeH="0" baseline="0">
                <a:ln>
                  <a:noFill/>
                </a:ln>
                <a:solidFill>
                  <a:srgbClr val="657B83"/>
                </a:solidFill>
                <a:effectLst/>
                <a:latin typeface="Consolas" panose="020B0609020204030204" pitchFamily="49" charset="0"/>
              </a:rPr>
              <a:t> $_POST</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rgbClr val="2AA198"/>
                </a:solidFill>
                <a:effectLst/>
                <a:latin typeface="Consolas" panose="020B0609020204030204" pitchFamily="49" charset="0"/>
              </a:rPr>
              <a:t>"midato"</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chemeClr val="tx1"/>
                </a:solidFill>
                <a:effectLst/>
              </a:rPr>
              <a:t> </a:t>
            </a:r>
            <a:endParaRPr kumimoji="0" lang="es-ES" altLang="es-E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8945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Ejemplo de envío y recepción por POST en PHP</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611560" y="1373588"/>
            <a:ext cx="7848872" cy="3552300"/>
          </a:xfrm>
        </p:spPr>
        <p:txBody>
          <a:bodyPr/>
          <a:lstStyle/>
          <a:p>
            <a:r>
              <a:rPr lang="es-ES" dirty="0"/>
              <a:t>El siguiente código te ilustra una página HTML con un formulario que se va a enviar a otra página </a:t>
            </a:r>
            <a:r>
              <a:rPr lang="es-ES" dirty="0" err="1"/>
              <a:t>php</a:t>
            </a:r>
            <a:r>
              <a:rPr lang="es-ES" dirty="0"/>
              <a:t>.</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41</a:t>
            </a:fld>
            <a:endParaRPr lang="es-ES" dirty="0"/>
          </a:p>
        </p:txBody>
      </p:sp>
    </p:spTree>
    <p:extLst>
      <p:ext uri="{BB962C8B-B14F-4D97-AF65-F5344CB8AC3E}">
        <p14:creationId xmlns:p14="http://schemas.microsoft.com/office/powerpoint/2010/main" val="34932115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42</a:t>
            </a:fld>
            <a:endParaRPr lang="es-ES" dirty="0"/>
          </a:p>
        </p:txBody>
      </p:sp>
      <p:sp>
        <p:nvSpPr>
          <p:cNvPr id="6" name="Título 5">
            <a:extLst>
              <a:ext uri="{FF2B5EF4-FFF2-40B4-BE49-F238E27FC236}">
                <a16:creationId xmlns:a16="http://schemas.microsoft.com/office/drawing/2014/main" id="{341F895F-7775-DC65-58A2-A1647AECFF1D}"/>
              </a:ext>
            </a:extLst>
          </p:cNvPr>
          <p:cNvSpPr>
            <a:spLocks noGrp="1"/>
          </p:cNvSpPr>
          <p:nvPr>
            <p:ph type="title"/>
          </p:nvPr>
        </p:nvSpPr>
        <p:spPr/>
        <p:txBody>
          <a:bodyPr/>
          <a:lstStyle/>
          <a:p>
            <a:endParaRPr lang="es-ES"/>
          </a:p>
        </p:txBody>
      </p:sp>
      <p:sp>
        <p:nvSpPr>
          <p:cNvPr id="7" name="Rectangle 1">
            <a:extLst>
              <a:ext uri="{FF2B5EF4-FFF2-40B4-BE49-F238E27FC236}">
                <a16:creationId xmlns:a16="http://schemas.microsoft.com/office/drawing/2014/main" id="{30EDFEBA-8314-DF6F-B035-12ACC699C046}"/>
              </a:ext>
            </a:extLst>
          </p:cNvPr>
          <p:cNvSpPr>
            <a:spLocks noChangeArrowheads="1"/>
          </p:cNvSpPr>
          <p:nvPr/>
        </p:nvSpPr>
        <p:spPr bwMode="auto">
          <a:xfrm>
            <a:off x="251520" y="1347614"/>
            <a:ext cx="4671151" cy="3176460"/>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   &lt;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   &lt;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formulario.html</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FORM </a:t>
            </a:r>
            <a:r>
              <a:rPr kumimoji="0" lang="es-ES" altLang="es-ES" b="0" i="0" u="none" strike="noStrike" cap="none" normalizeH="0" baseline="0" dirty="0">
                <a:ln>
                  <a:noFill/>
                </a:ln>
                <a:solidFill>
                  <a:srgbClr val="2AA198"/>
                </a:solidFill>
                <a:effectLst/>
                <a:latin typeface="Consolas" panose="020B0609020204030204" pitchFamily="49" charset="0"/>
              </a:rPr>
              <a:t>METHOD</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POST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ACTION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destino2.php</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Nombre</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INPUT </a:t>
            </a:r>
            <a:r>
              <a:rPr kumimoji="0" lang="es-ES" altLang="es-ES" b="0" i="0" u="none" strike="noStrike" cap="none" normalizeH="0" baseline="0" dirty="0">
                <a:ln>
                  <a:noFill/>
                </a:ln>
                <a:solidFill>
                  <a:srgbClr val="2AA198"/>
                </a:solidFill>
                <a:effectLst/>
                <a:latin typeface="Consolas" panose="020B0609020204030204" pitchFamily="49" charset="0"/>
              </a:rPr>
              <a:t>TYPE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TEXT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NAME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nombre</a:t>
            </a:r>
            <a:r>
              <a:rPr kumimoji="0" lang="es-ES" altLang="es-ES" b="0" i="0" u="none" strike="noStrike" cap="none" normalizeH="0" baseline="0" dirty="0">
                <a:ln>
                  <a:noFill/>
                </a:ln>
                <a:solidFill>
                  <a:srgbClr val="586E75"/>
                </a:solidFill>
                <a:effectLst/>
                <a:latin typeface="Consolas" panose="020B0609020204030204" pitchFamily="49" charset="0"/>
              </a:rPr>
              <a:t>"&gt;&lt;</a:t>
            </a:r>
            <a:r>
              <a:rPr kumimoji="0" lang="es-ES" altLang="es-ES" b="0" i="0" u="none" strike="noStrike" cap="none" normalizeH="0" baseline="0" dirty="0" err="1">
                <a:ln>
                  <a:noFill/>
                </a:ln>
                <a:solidFill>
                  <a:srgbClr val="268BD2"/>
                </a:solidFill>
                <a:effectLst/>
                <a:latin typeface="Consolas" panose="020B0609020204030204" pitchFamily="49" charset="0"/>
              </a:rPr>
              <a:t>br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Apellidos</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INPUT </a:t>
            </a:r>
            <a:r>
              <a:rPr kumimoji="0" lang="es-ES" altLang="es-ES" b="0" i="0" u="none" strike="noStrike" cap="none" normalizeH="0" baseline="0" dirty="0">
                <a:ln>
                  <a:noFill/>
                </a:ln>
                <a:solidFill>
                  <a:srgbClr val="2AA198"/>
                </a:solidFill>
                <a:effectLst/>
                <a:latin typeface="Consolas" panose="020B0609020204030204" pitchFamily="49" charset="0"/>
              </a:rPr>
              <a:t>TYPE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TEXT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NAME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apellidos</a:t>
            </a:r>
            <a:r>
              <a:rPr kumimoji="0" lang="es-ES" altLang="es-ES" b="0" i="0" u="none" strike="noStrike" cap="none" normalizeH="0" baseline="0" dirty="0">
                <a:ln>
                  <a:noFill/>
                </a:ln>
                <a:solidFill>
                  <a:srgbClr val="586E75"/>
                </a:solidFill>
                <a:effectLst/>
                <a:latin typeface="Consolas" panose="020B0609020204030204" pitchFamily="49" charset="0"/>
              </a:rPr>
              <a:t>"&gt;&lt;</a:t>
            </a:r>
            <a:r>
              <a:rPr kumimoji="0" lang="es-ES" altLang="es-ES" b="0" i="0" u="none" strike="noStrike" cap="none" normalizeH="0" baseline="0" dirty="0" err="1">
                <a:ln>
                  <a:noFill/>
                </a:ln>
                <a:solidFill>
                  <a:srgbClr val="268BD2"/>
                </a:solidFill>
                <a:effectLst/>
                <a:latin typeface="Consolas" panose="020B0609020204030204" pitchFamily="49" charset="0"/>
              </a:rPr>
              <a:t>br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INPUT </a:t>
            </a:r>
            <a:r>
              <a:rPr kumimoji="0" lang="es-ES" altLang="es-ES" b="0" i="0" u="none" strike="noStrike" cap="none" normalizeH="0" baseline="0" dirty="0">
                <a:ln>
                  <a:noFill/>
                </a:ln>
                <a:solidFill>
                  <a:srgbClr val="2AA198"/>
                </a:solidFill>
                <a:effectLst/>
                <a:latin typeface="Consolas" panose="020B0609020204030204" pitchFamily="49" charset="0"/>
              </a:rPr>
              <a:t>TYPE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SUBMIT</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FORM</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
        <p:nvSpPr>
          <p:cNvPr id="9" name="CuadroTexto 8">
            <a:extLst>
              <a:ext uri="{FF2B5EF4-FFF2-40B4-BE49-F238E27FC236}">
                <a16:creationId xmlns:a16="http://schemas.microsoft.com/office/drawing/2014/main" id="{53E585C6-17AE-3854-7558-FC5F61866EB7}"/>
              </a:ext>
            </a:extLst>
          </p:cNvPr>
          <p:cNvSpPr txBox="1"/>
          <p:nvPr/>
        </p:nvSpPr>
        <p:spPr>
          <a:xfrm>
            <a:off x="5148064" y="2067694"/>
            <a:ext cx="3384376" cy="1477328"/>
          </a:xfrm>
          <a:prstGeom prst="rect">
            <a:avLst/>
          </a:prstGeom>
          <a:noFill/>
        </p:spPr>
        <p:txBody>
          <a:bodyPr wrap="square">
            <a:spAutoFit/>
          </a:bodyPr>
          <a:lstStyle/>
          <a:p>
            <a:r>
              <a:rPr lang="es-ES" sz="1800" dirty="0">
                <a:solidFill>
                  <a:schemeClr val="dk1"/>
                </a:solidFill>
                <a:latin typeface="Lato"/>
                <a:ea typeface="Lato"/>
                <a:cs typeface="Lato"/>
                <a:sym typeface="Lato"/>
              </a:rPr>
              <a:t>Fíjate que la página donde se enviará el formulario se llama "destino2.php". El código de esta página podría ser más o menos como este:</a:t>
            </a:r>
          </a:p>
        </p:txBody>
      </p:sp>
    </p:spTree>
    <p:extLst>
      <p:ext uri="{BB962C8B-B14F-4D97-AF65-F5344CB8AC3E}">
        <p14:creationId xmlns:p14="http://schemas.microsoft.com/office/powerpoint/2010/main" val="21285970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43</a:t>
            </a:fld>
            <a:endParaRPr lang="es-ES" dirty="0"/>
          </a:p>
        </p:txBody>
      </p:sp>
      <p:sp>
        <p:nvSpPr>
          <p:cNvPr id="6" name="Rectangle 1">
            <a:extLst>
              <a:ext uri="{FF2B5EF4-FFF2-40B4-BE49-F238E27FC236}">
                <a16:creationId xmlns:a16="http://schemas.microsoft.com/office/drawing/2014/main" id="{9A94062A-85F4-10F1-41B8-A9A6DD9DFAD7}"/>
              </a:ext>
            </a:extLst>
          </p:cNvPr>
          <p:cNvSpPr>
            <a:spLocks noChangeArrowheads="1"/>
          </p:cNvSpPr>
          <p:nvPr/>
        </p:nvSpPr>
        <p:spPr bwMode="auto">
          <a:xfrm>
            <a:off x="251520" y="787088"/>
            <a:ext cx="6758260" cy="253012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   &lt;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destino2.php</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"Variable </a:t>
            </a:r>
            <a:r>
              <a:rPr kumimoji="0" lang="es-ES" altLang="es-ES" b="0" i="0" u="none" strike="noStrike" cap="none" normalizeH="0" baseline="0" dirty="0">
                <a:ln>
                  <a:noFill/>
                </a:ln>
                <a:solidFill>
                  <a:srgbClr val="CB4B16"/>
                </a:solidFill>
                <a:effectLst/>
                <a:latin typeface="Consolas" panose="020B0609020204030204" pitchFamily="49" charset="0"/>
              </a:rPr>
              <a:t>$nombre</a:t>
            </a:r>
            <a:r>
              <a:rPr kumimoji="0" lang="es-ES" altLang="es-ES" b="0" i="0" u="none" strike="noStrike" cap="none" normalizeH="0" baseline="0" dirty="0">
                <a:ln>
                  <a:noFill/>
                </a:ln>
                <a:solidFill>
                  <a:srgbClr val="2AA198"/>
                </a:solidFill>
                <a:effectLst/>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$_POST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"nombre"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"&lt;</a:t>
            </a:r>
            <a:r>
              <a:rPr kumimoji="0" lang="es-ES" altLang="es-ES" b="0" i="0" u="none" strike="noStrike" cap="none" normalizeH="0" baseline="0" dirty="0" err="1">
                <a:ln>
                  <a:noFill/>
                </a:ln>
                <a:solidFill>
                  <a:srgbClr val="2AA198"/>
                </a:solidFill>
                <a:effectLst/>
                <a:latin typeface="Consolas" panose="020B0609020204030204" pitchFamily="49" charset="0"/>
              </a:rPr>
              <a:t>br</a:t>
            </a:r>
            <a:r>
              <a:rPr kumimoji="0" lang="es-ES" altLang="es-ES" b="0" i="0" u="none" strike="noStrike" cap="none" normalizeH="0" baseline="0" dirty="0">
                <a:ln>
                  <a:noFill/>
                </a:ln>
                <a:solidFill>
                  <a:srgbClr val="2AA198"/>
                </a:solidFill>
                <a:effectLst/>
                <a:latin typeface="Consolas" panose="020B0609020204030204" pitchFamily="49" charset="0"/>
              </a:rPr>
              <a:t>&gt;n"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"Variable </a:t>
            </a:r>
            <a:r>
              <a:rPr kumimoji="0" lang="es-ES" altLang="es-ES" b="0" i="0" u="none" strike="noStrike" cap="none" normalizeH="0" baseline="0" dirty="0">
                <a:ln>
                  <a:noFill/>
                </a:ln>
                <a:solidFill>
                  <a:srgbClr val="CB4B16"/>
                </a:solidFill>
                <a:effectLst/>
                <a:latin typeface="Consolas" panose="020B0609020204030204" pitchFamily="49" charset="0"/>
              </a:rPr>
              <a:t>$apellidos</a:t>
            </a:r>
            <a:r>
              <a:rPr kumimoji="0" lang="es-ES" altLang="es-ES" b="0" i="0" u="none" strike="noStrike" cap="none" normalizeH="0" baseline="0" dirty="0">
                <a:ln>
                  <a:noFill/>
                </a:ln>
                <a:solidFill>
                  <a:srgbClr val="2AA198"/>
                </a:solidFill>
                <a:effectLst/>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$_POST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"apellidos"</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"&lt;</a:t>
            </a:r>
            <a:r>
              <a:rPr kumimoji="0" lang="es-ES" altLang="es-ES" b="0" i="0" u="none" strike="noStrike" cap="none" normalizeH="0" baseline="0" dirty="0" err="1">
                <a:ln>
                  <a:noFill/>
                </a:ln>
                <a:solidFill>
                  <a:srgbClr val="2AA198"/>
                </a:solidFill>
                <a:effectLst/>
                <a:latin typeface="Consolas" panose="020B0609020204030204" pitchFamily="49" charset="0"/>
              </a:rPr>
              <a:t>br</a:t>
            </a:r>
            <a:r>
              <a:rPr kumimoji="0" lang="es-ES" altLang="es-ES" b="0" i="0" u="none" strike="noStrike" cap="none" normalizeH="0" baseline="0" dirty="0">
                <a:ln>
                  <a:noFill/>
                </a:ln>
                <a:solidFill>
                  <a:srgbClr val="2AA198"/>
                </a:solidFill>
                <a:effectLst/>
                <a:latin typeface="Consolas" panose="020B0609020204030204" pitchFamily="49" charset="0"/>
              </a:rPr>
              <a:t>&gt;n"</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339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Ejemplo de restricción de acceso por edad</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79512" y="1215788"/>
            <a:ext cx="8784976" cy="3552300"/>
          </a:xfrm>
        </p:spPr>
        <p:txBody>
          <a:bodyPr/>
          <a:lstStyle/>
          <a:p>
            <a:r>
              <a:rPr lang="es-ES" sz="1600" dirty="0"/>
              <a:t>Para continuar aportando ejemplos al uso de formularios vamos a realizar una página que muestra solicita la edad del visitante y, dependiendo de dicha edad, permita o no visualizar el contenido de la web. A los mayores de 18 años se les permite ver la página y a los menores no.</a:t>
            </a:r>
          </a:p>
          <a:p>
            <a:endParaRPr lang="es-ES" sz="1600" dirty="0"/>
          </a:p>
          <a:p>
            <a:r>
              <a:rPr lang="es-ES" sz="1600" dirty="0"/>
              <a:t>El ejemplo es muy sencillo y no valdría tal cual está para utilizarlo a modo de una verdadera restricción de acceso. Únicamente nos sirve para saber cómo obtener datos de un formulario y como tratarlos para realizar una u otra acción, dependiendo de su valor.</a:t>
            </a:r>
          </a:p>
          <a:p>
            <a:endParaRPr lang="es-ES" sz="1600" dirty="0"/>
          </a:p>
          <a:p>
            <a:r>
              <a:rPr lang="es-ES" sz="1600" dirty="0"/>
              <a:t>La página del formulario, que hemos llamado </a:t>
            </a:r>
            <a:r>
              <a:rPr lang="es-ES" sz="1600" dirty="0" err="1"/>
              <a:t>edad.php</a:t>
            </a:r>
            <a:r>
              <a:rPr lang="es-ES" sz="1600" dirty="0"/>
              <a:t> tendría esta forma:</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44</a:t>
            </a:fld>
            <a:endParaRPr lang="es-ES" dirty="0"/>
          </a:p>
        </p:txBody>
      </p:sp>
    </p:spTree>
    <p:extLst>
      <p:ext uri="{BB962C8B-B14F-4D97-AF65-F5344CB8AC3E}">
        <p14:creationId xmlns:p14="http://schemas.microsoft.com/office/powerpoint/2010/main" val="33113290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34662" y="2939421"/>
            <a:ext cx="7494724" cy="1585057"/>
          </a:xfrm>
        </p:spPr>
        <p:txBody>
          <a:bodyPr/>
          <a:lstStyle/>
          <a:p>
            <a:r>
              <a:rPr lang="es-ES" sz="1800" dirty="0"/>
              <a:t>Esta es una página sin ningún código PHP, simplemente tiene un formulario. Fijémonos en el </a:t>
            </a:r>
            <a:r>
              <a:rPr lang="es-ES" sz="1800" dirty="0" err="1"/>
              <a:t>action</a:t>
            </a:r>
            <a:r>
              <a:rPr lang="es-ES" sz="1800" dirty="0"/>
              <a:t> del formulario, que está dirigido hacia una página llamada edad2.php, que es la que recibirá el dato de la edad y mostrará un contenido u otro dependiendo de ese valor. Su código es el siguiente:</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45</a:t>
            </a:fld>
            <a:endParaRPr lang="es-ES" dirty="0"/>
          </a:p>
        </p:txBody>
      </p:sp>
      <p:sp>
        <p:nvSpPr>
          <p:cNvPr id="5" name="Rectangle 1">
            <a:extLst>
              <a:ext uri="{FF2B5EF4-FFF2-40B4-BE49-F238E27FC236}">
                <a16:creationId xmlns:a16="http://schemas.microsoft.com/office/drawing/2014/main" id="{EDB2B6F3-06C4-648B-C4A1-AC8D32ED7B72}"/>
              </a:ext>
            </a:extLst>
          </p:cNvPr>
          <p:cNvSpPr>
            <a:spLocks noChangeArrowheads="1"/>
          </p:cNvSpPr>
          <p:nvPr/>
        </p:nvSpPr>
        <p:spPr bwMode="auto">
          <a:xfrm>
            <a:off x="34662" y="393452"/>
            <a:ext cx="6360716" cy="253012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   &lt;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Restringir por edad</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form</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action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edad2.php</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method</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post</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657B83"/>
                </a:solidFill>
                <a:effectLst/>
                <a:latin typeface="Consolas" panose="020B0609020204030204" pitchFamily="49" charset="0"/>
              </a:rPr>
              <a:t>Escribe tu edad: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input </a:t>
            </a:r>
            <a:r>
              <a:rPr kumimoji="0" lang="es-ES" altLang="es-ES" b="0" i="0" u="none" strike="noStrike" cap="none" normalizeH="0" baseline="0" dirty="0" err="1">
                <a:ln>
                  <a:noFill/>
                </a:ln>
                <a:solidFill>
                  <a:srgbClr val="2AA198"/>
                </a:solidFill>
                <a:effectLst/>
                <a:latin typeface="Consolas" panose="020B0609020204030204" pitchFamily="49" charset="0"/>
              </a:rPr>
              <a:t>type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err="1">
                <a:ln>
                  <a:noFill/>
                </a:ln>
                <a:solidFill>
                  <a:srgbClr val="859900"/>
                </a:solidFill>
                <a:effectLst/>
                <a:latin typeface="Consolas" panose="020B0609020204030204" pitchFamily="49" charset="0"/>
              </a:rPr>
              <a:t>text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name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edad</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size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2</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input </a:t>
            </a:r>
            <a:r>
              <a:rPr kumimoji="0" lang="es-ES" altLang="es-ES" b="0" i="0" u="none" strike="noStrike" cap="none" normalizeH="0" baseline="0" dirty="0" err="1">
                <a:ln>
                  <a:noFill/>
                </a:ln>
                <a:solidFill>
                  <a:srgbClr val="2AA198"/>
                </a:solidFill>
                <a:effectLst/>
                <a:latin typeface="Consolas" panose="020B0609020204030204" pitchFamily="49" charset="0"/>
              </a:rPr>
              <a:t>type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err="1">
                <a:ln>
                  <a:noFill/>
                </a:ln>
                <a:solidFill>
                  <a:srgbClr val="859900"/>
                </a:solidFill>
                <a:effectLst/>
                <a:latin typeface="Consolas" panose="020B0609020204030204" pitchFamily="49" charset="0"/>
              </a:rPr>
              <a:t>submit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68BD2"/>
                </a:solidFill>
                <a:effectLst/>
                <a:latin typeface="Consolas" panose="020B0609020204030204" pitchFamily="49" charset="0"/>
              </a:rPr>
              <a:t> </a:t>
            </a:r>
            <a:r>
              <a:rPr kumimoji="0" lang="es-ES" altLang="es-ES" b="0" i="0" u="none" strike="noStrike" cap="none" normalizeH="0" baseline="0" dirty="0" err="1">
                <a:ln>
                  <a:noFill/>
                </a:ln>
                <a:solidFill>
                  <a:srgbClr val="2AA198"/>
                </a:solidFill>
                <a:effectLst/>
                <a:latin typeface="Consolas" panose="020B0609020204030204" pitchFamily="49" charset="0"/>
              </a:rPr>
              <a:t>value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859900"/>
                </a:solidFill>
                <a:effectLst/>
                <a:latin typeface="Consolas" panose="020B0609020204030204" pitchFamily="49" charset="0"/>
              </a:rPr>
              <a:t>Entrar</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form</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897013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69A900-E8FF-9522-CBAF-BC1DF21BC361}"/>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4B77FEF5-3935-8A7D-FEC0-50BF338732F7}"/>
              </a:ext>
            </a:extLst>
          </p:cNvPr>
          <p:cNvSpPr>
            <a:spLocks noGrp="1"/>
          </p:cNvSpPr>
          <p:nvPr>
            <p:ph type="body" idx="1"/>
          </p:nvPr>
        </p:nvSpPr>
        <p:spPr>
          <a:xfrm>
            <a:off x="4211960" y="1373588"/>
            <a:ext cx="4680520" cy="3552300"/>
          </a:xfrm>
        </p:spPr>
        <p:txBody>
          <a:bodyPr/>
          <a:lstStyle/>
          <a:p>
            <a:r>
              <a:rPr lang="es-ES" sz="1600" dirty="0"/>
              <a:t>implemente se recibe la edad, utilizando el array $_POST. Luego se muestra la edad y se ejecuta una expresión condicional en función de que la edad sea menor que 18. En caso positivo (edad menor que 18), se muestra un mensaje que informa de que no se deja acceder al página. En caso negativo (mayor o igual a 18) se muestra un mensaje de bienvenida.</a:t>
            </a:r>
          </a:p>
          <a:p>
            <a:endParaRPr lang="es-ES" sz="1600" dirty="0"/>
          </a:p>
          <a:p>
            <a:r>
              <a:rPr lang="es-ES" sz="1600" dirty="0"/>
              <a:t>Estas son las bases del envío y recepción de datos mediante formularios en PHP. </a:t>
            </a:r>
          </a:p>
        </p:txBody>
      </p:sp>
      <p:sp>
        <p:nvSpPr>
          <p:cNvPr id="4" name="Marcador de número de diapositiva 3">
            <a:extLst>
              <a:ext uri="{FF2B5EF4-FFF2-40B4-BE49-F238E27FC236}">
                <a16:creationId xmlns:a16="http://schemas.microsoft.com/office/drawing/2014/main" id="{3C3ECE2E-FED3-A27D-50AA-7C0EDA45B688}"/>
              </a:ext>
            </a:extLst>
          </p:cNvPr>
          <p:cNvSpPr>
            <a:spLocks noGrp="1"/>
          </p:cNvSpPr>
          <p:nvPr>
            <p:ph type="sldNum" idx="10"/>
          </p:nvPr>
        </p:nvSpPr>
        <p:spPr/>
        <p:txBody>
          <a:bodyPr/>
          <a:lstStyle/>
          <a:p>
            <a:fld id="{00000000-1234-1234-1234-123412341234}" type="slidenum">
              <a:rPr lang="es-ES" smtClean="0"/>
              <a:pPr/>
              <a:t>46</a:t>
            </a:fld>
            <a:endParaRPr lang="es-ES" dirty="0"/>
          </a:p>
        </p:txBody>
      </p:sp>
      <p:sp>
        <p:nvSpPr>
          <p:cNvPr id="5" name="Rectangle 1">
            <a:extLst>
              <a:ext uri="{FF2B5EF4-FFF2-40B4-BE49-F238E27FC236}">
                <a16:creationId xmlns:a16="http://schemas.microsoft.com/office/drawing/2014/main" id="{C8DE87B8-70D8-8248-734F-07062E950F9B}"/>
              </a:ext>
            </a:extLst>
          </p:cNvPr>
          <p:cNvSpPr>
            <a:spLocks noChangeArrowheads="1"/>
          </p:cNvSpPr>
          <p:nvPr/>
        </p:nvSpPr>
        <p:spPr bwMode="auto">
          <a:xfrm>
            <a:off x="383376" y="555526"/>
            <a:ext cx="3776675" cy="3607347"/>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Restringir por edad</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title</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a:ln>
                  <a:noFill/>
                </a:ln>
                <a:solidFill>
                  <a:srgbClr val="268BD2"/>
                </a:solidFill>
                <a:effectLst/>
                <a:latin typeface="Consolas" panose="020B0609020204030204" pitchFamily="49" charset="0"/>
              </a:rPr>
              <a:t>head</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$edad</a:t>
            </a:r>
            <a:r>
              <a:rPr kumimoji="0" lang="es-ES" altLang="es-ES" b="0" i="0" u="none" strike="noStrike" cap="none" normalizeH="0" baseline="0" dirty="0">
                <a:ln>
                  <a:noFill/>
                </a:ln>
                <a:solidFill>
                  <a:srgbClr val="657B83"/>
                </a:solidFill>
                <a:effectLst/>
                <a:latin typeface="Consolas" panose="020B0609020204030204" pitchFamily="49" charset="0"/>
              </a:rPr>
              <a:t> = $_POST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"edad"</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"Tu edad: </a:t>
            </a:r>
            <a:r>
              <a:rPr kumimoji="0" lang="es-ES" altLang="es-ES" b="0" i="0" u="none" strike="noStrike" cap="none" normalizeH="0" baseline="0" dirty="0">
                <a:ln>
                  <a:noFill/>
                </a:ln>
                <a:solidFill>
                  <a:srgbClr val="CB4B16"/>
                </a:solidFill>
                <a:effectLst/>
                <a:latin typeface="Consolas" panose="020B0609020204030204" pitchFamily="49" charset="0"/>
              </a:rPr>
              <a:t>$edad</a:t>
            </a:r>
            <a:r>
              <a:rPr kumimoji="0" lang="es-ES" altLang="es-ES" b="0" i="0" u="none" strike="noStrike" cap="none" normalizeH="0" baseline="0" dirty="0">
                <a:ln>
                  <a:noFill/>
                </a:ln>
                <a:solidFill>
                  <a:srgbClr val="2AA198"/>
                </a:solidFill>
                <a:effectLst/>
                <a:latin typeface="Consolas" panose="020B0609020204030204" pitchFamily="49" charset="0"/>
              </a:rPr>
              <a:t>&lt;p&gt;"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err="1">
                <a:ln>
                  <a:noFill/>
                </a:ln>
                <a:solidFill>
                  <a:srgbClr val="859900"/>
                </a:solidFill>
                <a:effectLst/>
                <a:latin typeface="Consolas" panose="020B0609020204030204" pitchFamily="49" charset="0"/>
              </a:rPr>
              <a:t>if</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$edad</a:t>
            </a:r>
            <a:r>
              <a:rPr kumimoji="0" lang="es-ES" altLang="es-ES" b="0" i="0" u="none" strike="noStrike" cap="none" normalizeH="0" baseline="0" dirty="0">
                <a:ln>
                  <a:noFill/>
                </a:ln>
                <a:solidFill>
                  <a:srgbClr val="657B83"/>
                </a:solidFill>
                <a:effectLst/>
                <a:latin typeface="Consolas" panose="020B0609020204030204" pitchFamily="49" charset="0"/>
              </a:rPr>
              <a:t> &lt; </a:t>
            </a:r>
            <a:r>
              <a:rPr kumimoji="0" lang="es-ES" altLang="es-ES" b="0" i="0" u="none" strike="noStrike" cap="none" normalizeH="0" baseline="0" dirty="0">
                <a:ln>
                  <a:noFill/>
                </a:ln>
                <a:solidFill>
                  <a:srgbClr val="268BD2"/>
                </a:solidFill>
                <a:effectLst/>
                <a:latin typeface="Consolas" panose="020B0609020204030204" pitchFamily="49" charset="0"/>
              </a:rPr>
              <a:t>18</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"No puedes entrar"</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err="1">
                <a:ln>
                  <a:noFill/>
                </a:ln>
                <a:solidFill>
                  <a:srgbClr val="859900"/>
                </a:solidFill>
                <a:effectLst/>
                <a:latin typeface="Consolas" panose="020B0609020204030204" pitchFamily="49" charset="0"/>
              </a:rPr>
              <a:t>else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"Bienvenido"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body</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&lt;/</a:t>
            </a:r>
            <a:r>
              <a:rPr kumimoji="0" lang="es-ES" altLang="es-ES" b="0" i="0" u="none" strike="noStrike" cap="none" normalizeH="0" baseline="0" dirty="0" err="1">
                <a:ln>
                  <a:noFill/>
                </a:ln>
                <a:solidFill>
                  <a:srgbClr val="268BD2"/>
                </a:solidFill>
                <a:effectLst/>
                <a:latin typeface="Consolas" panose="020B0609020204030204" pitchFamily="49" charset="0"/>
              </a:rPr>
              <a:t>html</a:t>
            </a:r>
            <a:r>
              <a:rPr kumimoji="0" lang="es-ES" altLang="es-ES" b="0" i="0" u="none" strike="noStrike" cap="none" normalizeH="0" baseline="0" dirty="0">
                <a:ln>
                  <a:noFill/>
                </a:ln>
                <a:solidFill>
                  <a:srgbClr val="586E75"/>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54249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endParaRPr lang="es-ES"/>
          </a:p>
        </p:txBody>
      </p:sp>
      <p:sp>
        <p:nvSpPr>
          <p:cNvPr id="2" name="CuadroTexto 1">
            <a:extLst>
              <a:ext uri="{FF2B5EF4-FFF2-40B4-BE49-F238E27FC236}">
                <a16:creationId xmlns:a16="http://schemas.microsoft.com/office/drawing/2014/main" id="{23E35EFC-194F-7BF1-DBEA-23C9A4D2EAF3}"/>
              </a:ext>
            </a:extLst>
          </p:cNvPr>
          <p:cNvSpPr txBox="1"/>
          <p:nvPr/>
        </p:nvSpPr>
        <p:spPr>
          <a:xfrm>
            <a:off x="2156201" y="2403332"/>
            <a:ext cx="4668864" cy="307777"/>
          </a:xfrm>
          <a:prstGeom prst="rect">
            <a:avLst/>
          </a:prstGeom>
          <a:noFill/>
        </p:spPr>
        <p:txBody>
          <a:bodyPr wrap="square">
            <a:spAutoFit/>
          </a:bodyPr>
          <a:lstStyle/>
          <a:p>
            <a:r>
              <a:rPr lang="es-ES" dirty="0"/>
              <a:t>https://www.sitiolibre.com/curso/gallery.xml</a:t>
            </a:r>
          </a:p>
        </p:txBody>
      </p:sp>
    </p:spTree>
    <p:extLst>
      <p:ext uri="{BB962C8B-B14F-4D97-AF65-F5344CB8AC3E}">
        <p14:creationId xmlns:p14="http://schemas.microsoft.com/office/powerpoint/2010/main" val="3509798785"/>
      </p:ext>
    </p:extLst>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24299</TotalTime>
  <Words>4578</Words>
  <Application>Microsoft Office PowerPoint</Application>
  <PresentationFormat>Presentación en pantalla (16:9)</PresentationFormat>
  <Paragraphs>364</Paragraphs>
  <Slides>47</Slides>
  <Notes>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47</vt:i4>
      </vt:variant>
    </vt:vector>
  </HeadingPairs>
  <TitlesOfParts>
    <vt:vector size="55" baseType="lpstr">
      <vt:lpstr>Arial</vt:lpstr>
      <vt:lpstr>Calibri</vt:lpstr>
      <vt:lpstr>Helvetica Neue</vt:lpstr>
      <vt:lpstr>Roboto</vt:lpstr>
      <vt:lpstr>Lato</vt:lpstr>
      <vt:lpstr>Raleway</vt:lpstr>
      <vt:lpstr>Consolas</vt:lpstr>
      <vt:lpstr>Antonio template</vt:lpstr>
      <vt:lpstr>Bucles en PHP</vt:lpstr>
      <vt:lpstr>Licencia</vt:lpstr>
      <vt:lpstr>Presentación de PowerPoint</vt:lpstr>
      <vt:lpstr>Presentación de PowerPoint</vt:lpstr>
      <vt:lpstr>Presentación de PowerPoint</vt:lpstr>
      <vt:lpstr>Cuándo usar una estructura de repetición u otra</vt:lpstr>
      <vt:lpstr>Presentación de PowerPoint</vt:lpstr>
      <vt:lpstr>Presentación de PowerPoint</vt:lpstr>
      <vt:lpstr>Bucle while</vt:lpstr>
      <vt:lpstr>Estructurar el código de una aplicación con nuestras propias librerías de funciones</vt:lpstr>
      <vt:lpstr>Otros ejemplos del bucle while en PHP</vt:lpstr>
      <vt:lpstr>Presentación de PowerPoint</vt:lpstr>
      <vt:lpstr>Presentación de PowerPoint</vt:lpstr>
      <vt:lpstr>Bucle do-while</vt:lpstr>
      <vt:lpstr>Presentación de PowerPoint</vt:lpstr>
      <vt:lpstr>Bucle for</vt:lpstr>
      <vt:lpstr>Presentación de PowerPoint</vt:lpstr>
      <vt:lpstr>Uso de las llaves para el cuerpo del bucle</vt:lpstr>
      <vt:lpstr>Presentación de PowerPoint</vt:lpstr>
      <vt:lpstr>Bucle foreach</vt:lpstr>
      <vt:lpstr>Presentación de PowerPoint</vt:lpstr>
      <vt:lpstr>Sentencias break y continue</vt:lpstr>
      <vt:lpstr>Presentación de PowerPoint</vt:lpstr>
      <vt:lpstr>Presentación de PowerPoint</vt:lpstr>
      <vt:lpstr>2.</vt:lpstr>
      <vt:lpstr>Presentación de PowerPoint</vt:lpstr>
      <vt:lpstr>Presentación de PowerPoint</vt:lpstr>
      <vt:lpstr>Pasar variables por URL</vt:lpstr>
      <vt:lpstr>Presentación de PowerPoint</vt:lpstr>
      <vt:lpstr>Presentación de PowerPoint</vt:lpstr>
      <vt:lpstr>Presentación de PowerPoint</vt:lpstr>
      <vt:lpstr>Presentación de PowerPoint</vt:lpstr>
      <vt:lpstr>$HTTP_GET_VARS vs $_GET</vt:lpstr>
      <vt:lpstr>Presentación de PowerPoint</vt:lpstr>
      <vt:lpstr>Conclusión sobre el envío de variables por GET en PHP</vt:lpstr>
      <vt:lpstr>3.</vt:lpstr>
      <vt:lpstr>Presentación de PowerPoint</vt:lpstr>
      <vt:lpstr>Explicación básica del envío de formularios con PHP</vt:lpstr>
      <vt:lpstr>Presentación de PowerPoint</vt:lpstr>
      <vt:lpstr>Presentación de PowerPoint</vt:lpstr>
      <vt:lpstr>Ejemplo de envío y recepción por POST en PHP</vt:lpstr>
      <vt:lpstr>Presentación de PowerPoint</vt:lpstr>
      <vt:lpstr>Presentación de PowerPoint</vt:lpstr>
      <vt:lpstr>Ejemplo de restricción de acceso por edad</vt:lpstr>
      <vt:lpstr>Presentación de PowerPoint</vt:lpstr>
      <vt:lpstr>Presentación de PowerPoint</vt:lpstr>
      <vt:lpstr>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Antonio Pérez</dc:creator>
  <cp:lastModifiedBy>Antonio Francisco Pérez Fernandez</cp:lastModifiedBy>
  <cp:revision>61</cp:revision>
  <dcterms:modified xsi:type="dcterms:W3CDTF">2023-09-26T21:49:17Z</dcterms:modified>
</cp:coreProperties>
</file>