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8" r:id="rId1"/>
  </p:sldMasterIdLst>
  <p:notesMasterIdLst>
    <p:notesMasterId r:id="rId26"/>
  </p:notesMasterIdLst>
  <p:sldIdLst>
    <p:sldId id="475" r:id="rId2"/>
    <p:sldId id="476" r:id="rId3"/>
    <p:sldId id="533" r:id="rId4"/>
    <p:sldId id="534" r:id="rId5"/>
    <p:sldId id="507" r:id="rId6"/>
    <p:sldId id="508" r:id="rId7"/>
    <p:sldId id="509" r:id="rId8"/>
    <p:sldId id="535" r:id="rId9"/>
    <p:sldId id="536" r:id="rId10"/>
    <p:sldId id="537" r:id="rId11"/>
    <p:sldId id="568" r:id="rId12"/>
    <p:sldId id="569" r:id="rId13"/>
    <p:sldId id="540" r:id="rId14"/>
    <p:sldId id="538" r:id="rId15"/>
    <p:sldId id="541" r:id="rId16"/>
    <p:sldId id="542" r:id="rId17"/>
    <p:sldId id="543" r:id="rId18"/>
    <p:sldId id="544" r:id="rId19"/>
    <p:sldId id="545" r:id="rId20"/>
    <p:sldId id="546" r:id="rId21"/>
    <p:sldId id="547" r:id="rId22"/>
    <p:sldId id="555" r:id="rId23"/>
    <p:sldId id="570" r:id="rId24"/>
    <p:sldId id="318" r:id="rId25"/>
  </p:sldIdLst>
  <p:sldSz cx="9144000" cy="5143500" type="screen16x9"/>
  <p:notesSz cx="6858000" cy="9144000"/>
  <p:embeddedFontLst>
    <p:embeddedFont>
      <p:font typeface="Calibri" panose="020F0502020204030204" pitchFamily="34" charset="0"/>
      <p:regular r:id="rId27"/>
      <p:bold r:id="rId28"/>
      <p:italic r:id="rId29"/>
      <p:boldItalic r:id="rId30"/>
    </p:embeddedFont>
    <p:embeddedFont>
      <p:font typeface="Consolas" panose="020B0609020204030204" pitchFamily="49" charset="0"/>
      <p:regular r:id="rId31"/>
      <p:bold r:id="rId32"/>
      <p:italic r:id="rId33"/>
      <p:boldItalic r:id="rId34"/>
    </p:embeddedFont>
    <p:embeddedFont>
      <p:font typeface="Lato" panose="020F0502020204030203" pitchFamily="34" charset="0"/>
      <p:regular r:id="rId35"/>
      <p:bold r:id="rId36"/>
      <p:italic r:id="rId37"/>
      <p:boldItalic r:id="rId38"/>
    </p:embeddedFont>
    <p:embeddedFont>
      <p:font typeface="Raleway" pitchFamily="2" charset="0"/>
      <p:regular r:id="rId39"/>
      <p:bold r:id="rId40"/>
      <p:italic r:id="rId41"/>
      <p:boldItalic r:id="rId42"/>
    </p:embeddedFont>
    <p:embeddedFont>
      <p:font typeface="Roboto" panose="02000000000000000000" pitchFamily="2"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98665B7-6574-423E-A4B5-A6C020D860FF}">
  <a:tblStyle styleId="{C98665B7-6574-423E-A4B5-A6C020D860FF}"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01A8698C-63BC-4B6A-AE92-7E62379B4444}"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2" d="100"/>
          <a:sy n="82" d="100"/>
        </p:scale>
        <p:origin x="748" y="44"/>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font" Target="fonts/font16.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3.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45" Type="http://schemas.openxmlformats.org/officeDocument/2006/relationships/font" Target="fonts/font1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font" Target="fonts/font1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46" Type="http://schemas.openxmlformats.org/officeDocument/2006/relationships/font" Target="fonts/font20.fntdata"/><Relationship Id="rId20" Type="http://schemas.openxmlformats.org/officeDocument/2006/relationships/slide" Target="slides/slide19.xml"/><Relationship Id="rId41"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 name="Google Shape;11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382739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161940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8" name="7 Rectángulo"/>
          <p:cNvSpPr/>
          <p:nvPr userDrawn="1"/>
        </p:nvSpPr>
        <p:spPr>
          <a:xfrm>
            <a:off x="0" y="4786328"/>
            <a:ext cx="9144000" cy="357172"/>
          </a:xfrm>
          <a:prstGeom prst="rect">
            <a:avLst/>
          </a:prstGeom>
          <a:solidFill>
            <a:schemeClr val="accent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2">
                    <a:lumMod val="50000"/>
                  </a:schemeClr>
                </a:solidFill>
              </a:rPr>
              <a:t>Antonio Pérez</a:t>
            </a:r>
          </a:p>
        </p:txBody>
      </p:sp>
      <p:sp>
        <p:nvSpPr>
          <p:cNvPr id="10" name="Google Shape;10;p2"/>
          <p:cNvSpPr txBox="1">
            <a:spLocks noGrp="1"/>
          </p:cNvSpPr>
          <p:nvPr>
            <p:ph type="ctrTitle"/>
          </p:nvPr>
        </p:nvSpPr>
        <p:spPr>
          <a:xfrm>
            <a:off x="645225" y="2762725"/>
            <a:ext cx="6736500" cy="11598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4400"/>
              <a:buNone/>
              <a:defRPr sz="4400">
                <a:solidFill>
                  <a:schemeClr val="dk2"/>
                </a:solidFill>
              </a:defRPr>
            </a:lvl1pPr>
            <a:lvl2pPr lvl="1">
              <a:spcBef>
                <a:spcPts val="0"/>
              </a:spcBef>
              <a:spcAft>
                <a:spcPts val="0"/>
              </a:spcAft>
              <a:buClr>
                <a:schemeClr val="dk2"/>
              </a:buClr>
              <a:buSzPts val="4400"/>
              <a:buNone/>
              <a:defRPr sz="4400">
                <a:solidFill>
                  <a:schemeClr val="dk2"/>
                </a:solidFill>
              </a:defRPr>
            </a:lvl2pPr>
            <a:lvl3pPr lvl="2">
              <a:spcBef>
                <a:spcPts val="0"/>
              </a:spcBef>
              <a:spcAft>
                <a:spcPts val="0"/>
              </a:spcAft>
              <a:buClr>
                <a:schemeClr val="dk2"/>
              </a:buClr>
              <a:buSzPts val="4400"/>
              <a:buNone/>
              <a:defRPr sz="4400">
                <a:solidFill>
                  <a:schemeClr val="dk2"/>
                </a:solidFill>
              </a:defRPr>
            </a:lvl3pPr>
            <a:lvl4pPr lvl="3">
              <a:spcBef>
                <a:spcPts val="0"/>
              </a:spcBef>
              <a:spcAft>
                <a:spcPts val="0"/>
              </a:spcAft>
              <a:buClr>
                <a:schemeClr val="dk2"/>
              </a:buClr>
              <a:buSzPts val="4400"/>
              <a:buNone/>
              <a:defRPr sz="4400">
                <a:solidFill>
                  <a:schemeClr val="dk2"/>
                </a:solidFill>
              </a:defRPr>
            </a:lvl4pPr>
            <a:lvl5pPr lvl="4">
              <a:spcBef>
                <a:spcPts val="0"/>
              </a:spcBef>
              <a:spcAft>
                <a:spcPts val="0"/>
              </a:spcAft>
              <a:buClr>
                <a:schemeClr val="dk2"/>
              </a:buClr>
              <a:buSzPts val="4400"/>
              <a:buNone/>
              <a:defRPr sz="4400">
                <a:solidFill>
                  <a:schemeClr val="dk2"/>
                </a:solidFill>
              </a:defRPr>
            </a:lvl5pPr>
            <a:lvl6pPr lvl="5">
              <a:spcBef>
                <a:spcPts val="0"/>
              </a:spcBef>
              <a:spcAft>
                <a:spcPts val="0"/>
              </a:spcAft>
              <a:buClr>
                <a:schemeClr val="dk2"/>
              </a:buClr>
              <a:buSzPts val="4400"/>
              <a:buNone/>
              <a:defRPr sz="4400">
                <a:solidFill>
                  <a:schemeClr val="dk2"/>
                </a:solidFill>
              </a:defRPr>
            </a:lvl6pPr>
            <a:lvl7pPr lvl="6">
              <a:spcBef>
                <a:spcPts val="0"/>
              </a:spcBef>
              <a:spcAft>
                <a:spcPts val="0"/>
              </a:spcAft>
              <a:buClr>
                <a:schemeClr val="dk2"/>
              </a:buClr>
              <a:buSzPts val="4400"/>
              <a:buNone/>
              <a:defRPr sz="4400">
                <a:solidFill>
                  <a:schemeClr val="dk2"/>
                </a:solidFill>
              </a:defRPr>
            </a:lvl7pPr>
            <a:lvl8pPr lvl="7">
              <a:spcBef>
                <a:spcPts val="0"/>
              </a:spcBef>
              <a:spcAft>
                <a:spcPts val="0"/>
              </a:spcAft>
              <a:buClr>
                <a:schemeClr val="dk2"/>
              </a:buClr>
              <a:buSzPts val="4400"/>
              <a:buNone/>
              <a:defRPr sz="4400">
                <a:solidFill>
                  <a:schemeClr val="dk2"/>
                </a:solidFill>
              </a:defRPr>
            </a:lvl8pPr>
            <a:lvl9pPr lvl="8">
              <a:spcBef>
                <a:spcPts val="0"/>
              </a:spcBef>
              <a:spcAft>
                <a:spcPts val="0"/>
              </a:spcAft>
              <a:buClr>
                <a:schemeClr val="dk2"/>
              </a:buClr>
              <a:buSzPts val="4400"/>
              <a:buNone/>
              <a:defRPr sz="4400">
                <a:solidFill>
                  <a:schemeClr val="dk2"/>
                </a:solidFill>
              </a:defRPr>
            </a:lvl9pPr>
          </a:lstStyle>
          <a:p>
            <a:endParaRPr/>
          </a:p>
        </p:txBody>
      </p:sp>
      <p:sp>
        <p:nvSpPr>
          <p:cNvPr id="11" name="Google Shape;11;p2"/>
          <p:cNvSpPr/>
          <p:nvPr/>
        </p:nvSpPr>
        <p:spPr>
          <a:xfrm>
            <a:off x="5938246" y="2533163"/>
            <a:ext cx="721800" cy="7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6659861" y="2533163"/>
            <a:ext cx="721800" cy="77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1" y="2533163"/>
            <a:ext cx="721800" cy="77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721425" y="2533163"/>
            <a:ext cx="5216700" cy="77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6 Marcador de número de diapositiva"/>
          <p:cNvSpPr>
            <a:spLocks noGrp="1"/>
          </p:cNvSpPr>
          <p:nvPr>
            <p:ph type="sldNum" idx="10"/>
          </p:nvPr>
        </p:nvSpPr>
        <p:spPr>
          <a:xfrm>
            <a:off x="8215338" y="4830000"/>
            <a:ext cx="548700" cy="313500"/>
          </a:xfrm>
          <a:prstGeom prst="rect">
            <a:avLst/>
          </a:prstGeom>
        </p:spPr>
        <p:txBody>
          <a:bodyPr/>
          <a:lstStyle>
            <a:lvl1pPr>
              <a:defRPr>
                <a:solidFill>
                  <a:schemeClr val="bg2">
                    <a:lumMod val="50000"/>
                  </a:schemeClr>
                </a:solidFill>
              </a:defRPr>
            </a:lvl1pPr>
          </a:lstStyle>
          <a:p>
            <a:fld id="{00000000-1234-1234-1234-123412341234}" type="slidenum">
              <a:rPr lang="es-ES" smtClean="0"/>
              <a:pPr/>
              <a:t>‹Nº›</a:t>
            </a:fld>
            <a:endParaRPr lang="es-E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spTree>
      <p:nvGrpSpPr>
        <p:cNvPr id="1" name="Shape 15"/>
        <p:cNvGrpSpPr/>
        <p:nvPr/>
      </p:nvGrpSpPr>
      <p:grpSpPr>
        <a:xfrm>
          <a:off x="0" y="0"/>
          <a:ext cx="0" cy="0"/>
          <a:chOff x="0" y="0"/>
          <a:chExt cx="0" cy="0"/>
        </a:xfrm>
      </p:grpSpPr>
      <p:sp>
        <p:nvSpPr>
          <p:cNvPr id="16" name="Google Shape;16;p3"/>
          <p:cNvSpPr/>
          <p:nvPr/>
        </p:nvSpPr>
        <p:spPr>
          <a:xfrm>
            <a:off x="0" y="0"/>
            <a:ext cx="9144000" cy="3993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3"/>
          <p:cNvSpPr txBox="1">
            <a:spLocks noGrp="1"/>
          </p:cNvSpPr>
          <p:nvPr>
            <p:ph type="ctrTitle"/>
          </p:nvPr>
        </p:nvSpPr>
        <p:spPr>
          <a:xfrm>
            <a:off x="685800" y="1583342"/>
            <a:ext cx="7772400" cy="11598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4800"/>
              <a:buNone/>
              <a:defRPr sz="4800">
                <a:solidFill>
                  <a:schemeClr val="lt1"/>
                </a:solidFill>
              </a:defRPr>
            </a:lvl1pPr>
            <a:lvl2pPr lvl="1" algn="ctr" rtl="0">
              <a:spcBef>
                <a:spcPts val="0"/>
              </a:spcBef>
              <a:spcAft>
                <a:spcPts val="0"/>
              </a:spcAft>
              <a:buClr>
                <a:schemeClr val="lt1"/>
              </a:buClr>
              <a:buSzPts val="4800"/>
              <a:buNone/>
              <a:defRPr sz="4800">
                <a:solidFill>
                  <a:schemeClr val="lt1"/>
                </a:solidFill>
              </a:defRPr>
            </a:lvl2pPr>
            <a:lvl3pPr lvl="2" algn="ctr" rtl="0">
              <a:spcBef>
                <a:spcPts val="0"/>
              </a:spcBef>
              <a:spcAft>
                <a:spcPts val="0"/>
              </a:spcAft>
              <a:buClr>
                <a:schemeClr val="lt1"/>
              </a:buClr>
              <a:buSzPts val="4800"/>
              <a:buNone/>
              <a:defRPr sz="4800">
                <a:solidFill>
                  <a:schemeClr val="lt1"/>
                </a:solidFill>
              </a:defRPr>
            </a:lvl3pPr>
            <a:lvl4pPr lvl="3" algn="ctr" rtl="0">
              <a:spcBef>
                <a:spcPts val="0"/>
              </a:spcBef>
              <a:spcAft>
                <a:spcPts val="0"/>
              </a:spcAft>
              <a:buClr>
                <a:schemeClr val="lt1"/>
              </a:buClr>
              <a:buSzPts val="4800"/>
              <a:buNone/>
              <a:defRPr sz="4800">
                <a:solidFill>
                  <a:schemeClr val="lt1"/>
                </a:solidFill>
              </a:defRPr>
            </a:lvl4pPr>
            <a:lvl5pPr lvl="4" algn="ctr" rtl="0">
              <a:spcBef>
                <a:spcPts val="0"/>
              </a:spcBef>
              <a:spcAft>
                <a:spcPts val="0"/>
              </a:spcAft>
              <a:buClr>
                <a:schemeClr val="lt1"/>
              </a:buClr>
              <a:buSzPts val="4800"/>
              <a:buNone/>
              <a:defRPr sz="4800">
                <a:solidFill>
                  <a:schemeClr val="lt1"/>
                </a:solidFill>
              </a:defRPr>
            </a:lvl5pPr>
            <a:lvl6pPr lvl="5" algn="ctr" rtl="0">
              <a:spcBef>
                <a:spcPts val="0"/>
              </a:spcBef>
              <a:spcAft>
                <a:spcPts val="0"/>
              </a:spcAft>
              <a:buClr>
                <a:schemeClr val="lt1"/>
              </a:buClr>
              <a:buSzPts val="4800"/>
              <a:buNone/>
              <a:defRPr sz="4800">
                <a:solidFill>
                  <a:schemeClr val="lt1"/>
                </a:solidFill>
              </a:defRPr>
            </a:lvl6pPr>
            <a:lvl7pPr lvl="6" algn="ctr" rtl="0">
              <a:spcBef>
                <a:spcPts val="0"/>
              </a:spcBef>
              <a:spcAft>
                <a:spcPts val="0"/>
              </a:spcAft>
              <a:buClr>
                <a:schemeClr val="lt1"/>
              </a:buClr>
              <a:buSzPts val="4800"/>
              <a:buNone/>
              <a:defRPr sz="4800">
                <a:solidFill>
                  <a:schemeClr val="lt1"/>
                </a:solidFill>
              </a:defRPr>
            </a:lvl7pPr>
            <a:lvl8pPr lvl="7" algn="ctr" rtl="0">
              <a:spcBef>
                <a:spcPts val="0"/>
              </a:spcBef>
              <a:spcAft>
                <a:spcPts val="0"/>
              </a:spcAft>
              <a:buClr>
                <a:schemeClr val="lt1"/>
              </a:buClr>
              <a:buSzPts val="4800"/>
              <a:buNone/>
              <a:defRPr sz="4800">
                <a:solidFill>
                  <a:schemeClr val="lt1"/>
                </a:solidFill>
              </a:defRPr>
            </a:lvl8pPr>
            <a:lvl9pPr lvl="8" algn="ctr" rtl="0">
              <a:spcBef>
                <a:spcPts val="0"/>
              </a:spcBef>
              <a:spcAft>
                <a:spcPts val="0"/>
              </a:spcAft>
              <a:buClr>
                <a:schemeClr val="lt1"/>
              </a:buClr>
              <a:buSzPts val="4800"/>
              <a:buNone/>
              <a:defRPr sz="4800">
                <a:solidFill>
                  <a:schemeClr val="lt1"/>
                </a:solidFill>
              </a:defRPr>
            </a:lvl9pPr>
          </a:lstStyle>
          <a:p>
            <a:endParaRPr/>
          </a:p>
        </p:txBody>
      </p:sp>
      <p:sp>
        <p:nvSpPr>
          <p:cNvPr id="18" name="Google Shape;18;p3"/>
          <p:cNvSpPr txBox="1">
            <a:spLocks noGrp="1"/>
          </p:cNvSpPr>
          <p:nvPr>
            <p:ph type="subTitle" idx="1"/>
          </p:nvPr>
        </p:nvSpPr>
        <p:spPr>
          <a:xfrm>
            <a:off x="685800" y="2840053"/>
            <a:ext cx="7772400" cy="7848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2400"/>
              <a:buNone/>
              <a:defRPr sz="2400" b="1">
                <a:solidFill>
                  <a:schemeClr val="lt1"/>
                </a:solidFill>
              </a:defRPr>
            </a:lvl1pPr>
            <a:lvl2pPr lvl="1" algn="ctr" rtl="0">
              <a:spcBef>
                <a:spcPts val="0"/>
              </a:spcBef>
              <a:spcAft>
                <a:spcPts val="0"/>
              </a:spcAft>
              <a:buClr>
                <a:schemeClr val="lt1"/>
              </a:buClr>
              <a:buSzPts val="2400"/>
              <a:buNone/>
              <a:defRPr b="1">
                <a:solidFill>
                  <a:schemeClr val="lt1"/>
                </a:solidFill>
              </a:defRPr>
            </a:lvl2pPr>
            <a:lvl3pPr lvl="2" algn="ctr" rtl="0">
              <a:spcBef>
                <a:spcPts val="0"/>
              </a:spcBef>
              <a:spcAft>
                <a:spcPts val="0"/>
              </a:spcAft>
              <a:buClr>
                <a:schemeClr val="lt1"/>
              </a:buClr>
              <a:buSzPts val="2400"/>
              <a:buNone/>
              <a:defRPr b="1">
                <a:solidFill>
                  <a:schemeClr val="lt1"/>
                </a:solidFill>
              </a:defRPr>
            </a:lvl3pPr>
            <a:lvl4pPr lvl="3" algn="ctr" rtl="0">
              <a:spcBef>
                <a:spcPts val="0"/>
              </a:spcBef>
              <a:spcAft>
                <a:spcPts val="0"/>
              </a:spcAft>
              <a:buClr>
                <a:schemeClr val="lt1"/>
              </a:buClr>
              <a:buSzPts val="2400"/>
              <a:buNone/>
              <a:defRPr sz="2400" b="1">
                <a:solidFill>
                  <a:schemeClr val="lt1"/>
                </a:solidFill>
              </a:defRPr>
            </a:lvl4pPr>
            <a:lvl5pPr lvl="4" algn="ctr" rtl="0">
              <a:spcBef>
                <a:spcPts val="0"/>
              </a:spcBef>
              <a:spcAft>
                <a:spcPts val="0"/>
              </a:spcAft>
              <a:buClr>
                <a:schemeClr val="lt1"/>
              </a:buClr>
              <a:buSzPts val="2400"/>
              <a:buNone/>
              <a:defRPr sz="2400" b="1">
                <a:solidFill>
                  <a:schemeClr val="lt1"/>
                </a:solidFill>
              </a:defRPr>
            </a:lvl5pPr>
            <a:lvl6pPr lvl="5" algn="ctr" rtl="0">
              <a:spcBef>
                <a:spcPts val="0"/>
              </a:spcBef>
              <a:spcAft>
                <a:spcPts val="0"/>
              </a:spcAft>
              <a:buClr>
                <a:schemeClr val="lt1"/>
              </a:buClr>
              <a:buSzPts val="2400"/>
              <a:buNone/>
              <a:defRPr sz="2400" b="1">
                <a:solidFill>
                  <a:schemeClr val="lt1"/>
                </a:solidFill>
              </a:defRPr>
            </a:lvl6pPr>
            <a:lvl7pPr lvl="6" algn="ctr" rtl="0">
              <a:spcBef>
                <a:spcPts val="0"/>
              </a:spcBef>
              <a:spcAft>
                <a:spcPts val="0"/>
              </a:spcAft>
              <a:buClr>
                <a:schemeClr val="lt1"/>
              </a:buClr>
              <a:buSzPts val="2400"/>
              <a:buNone/>
              <a:defRPr sz="2400" b="1">
                <a:solidFill>
                  <a:schemeClr val="lt1"/>
                </a:solidFill>
              </a:defRPr>
            </a:lvl7pPr>
            <a:lvl8pPr lvl="7" algn="ctr" rtl="0">
              <a:spcBef>
                <a:spcPts val="0"/>
              </a:spcBef>
              <a:spcAft>
                <a:spcPts val="0"/>
              </a:spcAft>
              <a:buClr>
                <a:schemeClr val="lt1"/>
              </a:buClr>
              <a:buSzPts val="2400"/>
              <a:buNone/>
              <a:defRPr sz="2400" b="1">
                <a:solidFill>
                  <a:schemeClr val="lt1"/>
                </a:solidFill>
              </a:defRPr>
            </a:lvl8pPr>
            <a:lvl9pPr lvl="8" algn="ctr" rtl="0">
              <a:spcBef>
                <a:spcPts val="0"/>
              </a:spcBef>
              <a:spcAft>
                <a:spcPts val="0"/>
              </a:spcAft>
              <a:buClr>
                <a:schemeClr val="lt1"/>
              </a:buClr>
              <a:buSzPts val="2400"/>
              <a:buNone/>
              <a:defRPr sz="2400" b="1">
                <a:solidFill>
                  <a:schemeClr val="lt1"/>
                </a:solidFill>
              </a:defRPr>
            </a:lvl9pPr>
          </a:lstStyle>
          <a:p>
            <a:endParaRPr/>
          </a:p>
        </p:txBody>
      </p:sp>
      <p:sp>
        <p:nvSpPr>
          <p:cNvPr id="19" name="Google Shape;19;p3"/>
          <p:cNvSpPr/>
          <p:nvPr/>
        </p:nvSpPr>
        <p:spPr>
          <a:xfrm>
            <a:off x="3047704" y="3992850"/>
            <a:ext cx="3047700" cy="7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a:off x="6096271" y="3992850"/>
            <a:ext cx="3047700" cy="77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3"/>
          <p:cNvSpPr/>
          <p:nvPr/>
        </p:nvSpPr>
        <p:spPr>
          <a:xfrm>
            <a:off x="1" y="3992850"/>
            <a:ext cx="3047700" cy="77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93700" y="358388"/>
            <a:ext cx="6462600" cy="8574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33" name="Google Shape;33;p5"/>
          <p:cNvSpPr txBox="1">
            <a:spLocks noGrp="1"/>
          </p:cNvSpPr>
          <p:nvPr>
            <p:ph type="body" idx="1"/>
          </p:nvPr>
        </p:nvSpPr>
        <p:spPr>
          <a:xfrm>
            <a:off x="893700" y="1373588"/>
            <a:ext cx="6462600" cy="35523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Clr>
                <a:schemeClr val="accent6"/>
              </a:buClr>
              <a:buSzPts val="1800"/>
              <a:buChar char="▷"/>
              <a:defRPr>
                <a:solidFill>
                  <a:schemeClr val="dk1"/>
                </a:solidFill>
              </a:defRPr>
            </a:lvl1pPr>
            <a:lvl2pPr marL="914400" lvl="1" indent="-381000">
              <a:spcBef>
                <a:spcPts val="0"/>
              </a:spcBef>
              <a:spcAft>
                <a:spcPts val="0"/>
              </a:spcAft>
              <a:buClr>
                <a:schemeClr val="dk1"/>
              </a:buClr>
              <a:buSzPts val="2400"/>
              <a:buChar char="○"/>
              <a:defRPr>
                <a:solidFill>
                  <a:schemeClr val="dk1"/>
                </a:solidFill>
              </a:defRPr>
            </a:lvl2pPr>
            <a:lvl3pPr marL="1371600" lvl="2" indent="-381000">
              <a:spcBef>
                <a:spcPts val="0"/>
              </a:spcBef>
              <a:spcAft>
                <a:spcPts val="0"/>
              </a:spcAft>
              <a:buClr>
                <a:schemeClr val="dk1"/>
              </a:buClr>
              <a:buSzPts val="2400"/>
              <a:buChar char="■"/>
              <a:defRPr>
                <a:solidFill>
                  <a:schemeClr val="dk1"/>
                </a:solidFill>
              </a:defRPr>
            </a:lvl3pPr>
            <a:lvl4pPr marL="1828800" lvl="3" indent="-381000">
              <a:spcBef>
                <a:spcPts val="0"/>
              </a:spcBef>
              <a:spcAft>
                <a:spcPts val="0"/>
              </a:spcAft>
              <a:buClr>
                <a:schemeClr val="dk1"/>
              </a:buClr>
              <a:buSzPts val="2400"/>
              <a:buChar char="●"/>
              <a:defRPr>
                <a:solidFill>
                  <a:schemeClr val="dk1"/>
                </a:solidFill>
              </a:defRPr>
            </a:lvl4pPr>
            <a:lvl5pPr marL="2286000" lvl="4" indent="-381000">
              <a:spcBef>
                <a:spcPts val="0"/>
              </a:spcBef>
              <a:spcAft>
                <a:spcPts val="0"/>
              </a:spcAft>
              <a:buClr>
                <a:schemeClr val="dk1"/>
              </a:buClr>
              <a:buSzPts val="2400"/>
              <a:buChar char="○"/>
              <a:defRPr>
                <a:solidFill>
                  <a:schemeClr val="dk1"/>
                </a:solidFill>
              </a:defRPr>
            </a:lvl5pPr>
            <a:lvl6pPr marL="2743200" lvl="5" indent="-381000">
              <a:spcBef>
                <a:spcPts val="0"/>
              </a:spcBef>
              <a:spcAft>
                <a:spcPts val="0"/>
              </a:spcAft>
              <a:buClr>
                <a:schemeClr val="dk1"/>
              </a:buClr>
              <a:buSzPts val="2400"/>
              <a:buChar char="■"/>
              <a:defRPr>
                <a:solidFill>
                  <a:schemeClr val="dk1"/>
                </a:solidFill>
              </a:defRPr>
            </a:lvl6pPr>
            <a:lvl7pPr marL="3200400" lvl="6" indent="-381000">
              <a:spcBef>
                <a:spcPts val="0"/>
              </a:spcBef>
              <a:spcAft>
                <a:spcPts val="0"/>
              </a:spcAft>
              <a:buClr>
                <a:schemeClr val="dk1"/>
              </a:buClr>
              <a:buSzPts val="2400"/>
              <a:buChar char="●"/>
              <a:defRPr>
                <a:solidFill>
                  <a:schemeClr val="dk1"/>
                </a:solidFill>
              </a:defRPr>
            </a:lvl7pPr>
            <a:lvl8pPr marL="3657600" lvl="7" indent="-381000">
              <a:spcBef>
                <a:spcPts val="0"/>
              </a:spcBef>
              <a:spcAft>
                <a:spcPts val="0"/>
              </a:spcAft>
              <a:buClr>
                <a:schemeClr val="dk1"/>
              </a:buClr>
              <a:buSzPts val="2400"/>
              <a:buChar char="○"/>
              <a:defRPr>
                <a:solidFill>
                  <a:schemeClr val="dk1"/>
                </a:solidFill>
              </a:defRPr>
            </a:lvl8pPr>
            <a:lvl9pPr marL="4114800" lvl="8" indent="-381000">
              <a:spcBef>
                <a:spcPts val="0"/>
              </a:spcBef>
              <a:spcAft>
                <a:spcPts val="0"/>
              </a:spcAft>
              <a:buClr>
                <a:schemeClr val="dk1"/>
              </a:buClr>
              <a:buSzPts val="2400"/>
              <a:buChar char="■"/>
              <a:defRPr>
                <a:solidFill>
                  <a:schemeClr val="dk1"/>
                </a:solidFill>
              </a:defRPr>
            </a:lvl9pPr>
          </a:lstStyle>
          <a:p>
            <a:endParaRPr/>
          </a:p>
        </p:txBody>
      </p:sp>
      <p:sp>
        <p:nvSpPr>
          <p:cNvPr id="34" name="Google Shape;34;p5"/>
          <p:cNvSpPr/>
          <p:nvPr/>
        </p:nvSpPr>
        <p:spPr>
          <a:xfrm>
            <a:off x="7356366" y="5066325"/>
            <a:ext cx="893700" cy="7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a:off x="8250312" y="5066325"/>
            <a:ext cx="893700" cy="77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5"/>
          <p:cNvSpPr/>
          <p:nvPr/>
        </p:nvSpPr>
        <p:spPr>
          <a:xfrm>
            <a:off x="0" y="5066325"/>
            <a:ext cx="893700" cy="77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5"/>
          <p:cNvSpPr/>
          <p:nvPr/>
        </p:nvSpPr>
        <p:spPr>
          <a:xfrm>
            <a:off x="893710" y="5066325"/>
            <a:ext cx="6462600" cy="77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10 Rectángulo"/>
          <p:cNvSpPr/>
          <p:nvPr userDrawn="1"/>
        </p:nvSpPr>
        <p:spPr>
          <a:xfrm>
            <a:off x="0" y="4786328"/>
            <a:ext cx="9144000" cy="357172"/>
          </a:xfrm>
          <a:prstGeom prst="rect">
            <a:avLst/>
          </a:prstGeom>
          <a:solidFill>
            <a:schemeClr val="accent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2">
                    <a:lumMod val="50000"/>
                  </a:schemeClr>
                </a:solidFill>
              </a:rPr>
              <a:t>Antonio Pérez</a:t>
            </a:r>
          </a:p>
        </p:txBody>
      </p:sp>
      <p:sp>
        <p:nvSpPr>
          <p:cNvPr id="12" name="6 Marcador de número de diapositiva"/>
          <p:cNvSpPr>
            <a:spLocks noGrp="1"/>
          </p:cNvSpPr>
          <p:nvPr>
            <p:ph type="sldNum" idx="10"/>
          </p:nvPr>
        </p:nvSpPr>
        <p:spPr>
          <a:xfrm>
            <a:off x="8215338" y="4830000"/>
            <a:ext cx="548700" cy="313500"/>
          </a:xfrm>
          <a:prstGeom prst="rect">
            <a:avLst/>
          </a:prstGeom>
        </p:spPr>
        <p:txBody>
          <a:bodyPr/>
          <a:lstStyle>
            <a:lvl1pPr>
              <a:defRPr>
                <a:solidFill>
                  <a:schemeClr val="bg2">
                    <a:lumMod val="50000"/>
                  </a:schemeClr>
                </a:solidFill>
              </a:defRPr>
            </a:lvl1pPr>
          </a:lstStyle>
          <a:p>
            <a:fld id="{00000000-1234-1234-1234-123412341234}" type="slidenum">
              <a:rPr lang="es-ES" smtClean="0"/>
              <a:pPr/>
              <a:t>‹Nº›</a:t>
            </a:fld>
            <a:endParaRPr lang="es-ES" dirty="0"/>
          </a:p>
        </p:txBody>
      </p:sp>
    </p:spTree>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ítulo y objetos" type="obj">
  <p:cSld name="Título y objetos">
    <p:spTree>
      <p:nvGrpSpPr>
        <p:cNvPr id="1" name="Shape 27"/>
        <p:cNvGrpSpPr/>
        <p:nvPr/>
      </p:nvGrpSpPr>
      <p:grpSpPr>
        <a:xfrm>
          <a:off x="0" y="0"/>
          <a:ext cx="0" cy="0"/>
          <a:chOff x="0" y="0"/>
          <a:chExt cx="0" cy="0"/>
        </a:xfrm>
      </p:grpSpPr>
      <p:sp>
        <p:nvSpPr>
          <p:cNvPr id="28" name="Google Shape;28;p3"/>
          <p:cNvSpPr txBox="1">
            <a:spLocks noGrp="1"/>
          </p:cNvSpPr>
          <p:nvPr>
            <p:ph type="title"/>
          </p:nvPr>
        </p:nvSpPr>
        <p:spPr>
          <a:xfrm>
            <a:off x="822960" y="214953"/>
            <a:ext cx="7543800" cy="1088068"/>
          </a:xfrm>
          <a:prstGeom prst="rect">
            <a:avLst/>
          </a:prstGeom>
          <a:noFill/>
          <a:ln>
            <a:noFill/>
          </a:ln>
        </p:spPr>
        <p:txBody>
          <a:bodyPr spcFirstLastPara="1" wrap="square" lIns="68569" tIns="34275" rIns="68569" bIns="34275" anchor="b" anchorCtr="0">
            <a:noAutofit/>
          </a:bodyPr>
          <a:lstStyle>
            <a:lvl1pPr marR="0" lvl="0" algn="l">
              <a:lnSpc>
                <a:spcPct val="85000"/>
              </a:lnSpc>
              <a:spcBef>
                <a:spcPts val="0"/>
              </a:spcBef>
              <a:spcAft>
                <a:spcPts val="0"/>
              </a:spcAft>
              <a:buClr>
                <a:srgbClr val="3F3F3F"/>
              </a:buClr>
              <a:buSzPts val="4800"/>
              <a:buFont typeface="Calibri"/>
              <a:buNone/>
              <a:defRPr sz="3600" b="0" i="0" u="none" strike="noStrike" cap="none">
                <a:solidFill>
                  <a:srgbClr val="3F3F3F"/>
                </a:solidFill>
                <a:latin typeface="Calibri"/>
                <a:ea typeface="Calibri"/>
                <a:cs typeface="Calibri"/>
                <a:sym typeface="Calibri"/>
              </a:defRPr>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a:endParaRPr/>
          </a:p>
        </p:txBody>
      </p:sp>
      <p:sp>
        <p:nvSpPr>
          <p:cNvPr id="29" name="Google Shape;29;p3"/>
          <p:cNvSpPr txBox="1">
            <a:spLocks noGrp="1"/>
          </p:cNvSpPr>
          <p:nvPr>
            <p:ph type="body" idx="1"/>
          </p:nvPr>
        </p:nvSpPr>
        <p:spPr>
          <a:xfrm>
            <a:off x="822960" y="1384301"/>
            <a:ext cx="7543800" cy="3017520"/>
          </a:xfrm>
          <a:prstGeom prst="rect">
            <a:avLst/>
          </a:prstGeom>
          <a:noFill/>
          <a:ln>
            <a:noFill/>
          </a:ln>
        </p:spPr>
        <p:txBody>
          <a:bodyPr spcFirstLastPara="1" wrap="square" lIns="0" tIns="34275" rIns="0" bIns="34275" anchor="t" anchorCtr="0">
            <a:noAutofit/>
          </a:bodyPr>
          <a:lstStyle>
            <a:lvl1pPr marL="342900" marR="0" lvl="0" indent="-266700" algn="l">
              <a:lnSpc>
                <a:spcPct val="90000"/>
              </a:lnSpc>
              <a:spcBef>
                <a:spcPts val="900"/>
              </a:spcBef>
              <a:spcAft>
                <a:spcPts val="0"/>
              </a:spcAft>
              <a:buClr>
                <a:schemeClr val="accent1"/>
              </a:buClr>
              <a:buSzPts val="2000"/>
              <a:buFont typeface="Calibri"/>
              <a:buChar char=" "/>
              <a:defRPr sz="1500" b="0" i="0" u="none" strike="noStrike" cap="none">
                <a:solidFill>
                  <a:srgbClr val="3F3F3F"/>
                </a:solidFill>
                <a:latin typeface="Calibri"/>
                <a:ea typeface="Calibri"/>
                <a:cs typeface="Calibri"/>
                <a:sym typeface="Calibri"/>
              </a:defRPr>
            </a:lvl1pPr>
            <a:lvl2pPr marL="685800" marR="0" lvl="1" indent="-257175" algn="l">
              <a:lnSpc>
                <a:spcPct val="90000"/>
              </a:lnSpc>
              <a:spcBef>
                <a:spcPts val="150"/>
              </a:spcBef>
              <a:spcAft>
                <a:spcPts val="0"/>
              </a:spcAft>
              <a:buClr>
                <a:schemeClr val="accent1"/>
              </a:buClr>
              <a:buSzPts val="1800"/>
              <a:buFont typeface="Calibri"/>
              <a:buChar char="◦"/>
              <a:defRPr sz="1400" b="0" i="0" u="none" strike="noStrike" cap="none">
                <a:solidFill>
                  <a:srgbClr val="3F3F3F"/>
                </a:solidFill>
                <a:latin typeface="Calibri"/>
                <a:ea typeface="Calibri"/>
                <a:cs typeface="Calibri"/>
                <a:sym typeface="Calibri"/>
              </a:defRPr>
            </a:lvl2pPr>
            <a:lvl3pPr marL="1028700" marR="0" lvl="2" indent="-238125" algn="l">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3pPr>
            <a:lvl4pPr marL="1371600" marR="0" lvl="3" indent="-238125" algn="l">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4pPr>
            <a:lvl5pPr marL="1714500" marR="0" lvl="4" indent="-238125" algn="l">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5pPr>
            <a:lvl6pPr marL="2057400" marR="0" lvl="5" indent="-238125" algn="l">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6pPr>
            <a:lvl7pPr marL="2400300" marR="0" lvl="6" indent="-238125" algn="l">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7pPr>
            <a:lvl8pPr marL="2743200" marR="0" lvl="7" indent="-238125" algn="l">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8pPr>
            <a:lvl9pPr marL="3086100" marR="0" lvl="8" indent="-238125" algn="l">
              <a:lnSpc>
                <a:spcPct val="90000"/>
              </a:lnSpc>
              <a:spcBef>
                <a:spcPts val="300"/>
              </a:spcBef>
              <a:spcAft>
                <a:spcPts val="30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Ref idx="1003">
        <a:schemeClr val="bg1"/>
      </p:bgRef>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93700" y="358388"/>
            <a:ext cx="6462600" cy="8574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1pPr>
            <a:lvl2pPr lvl="1">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2pPr>
            <a:lvl3pPr lvl="2">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3pPr>
            <a:lvl4pPr lvl="3">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4pPr>
            <a:lvl5pPr lvl="4">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5pPr>
            <a:lvl6pPr lvl="5">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6pPr>
            <a:lvl7pPr lvl="6">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7pPr>
            <a:lvl8pPr lvl="7">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8pPr>
            <a:lvl9pPr lvl="8">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893700" y="1373588"/>
            <a:ext cx="6462600" cy="3552300"/>
          </a:xfrm>
          <a:prstGeom prst="rect">
            <a:avLst/>
          </a:prstGeom>
          <a:noFill/>
          <a:ln>
            <a:noFill/>
          </a:ln>
        </p:spPr>
        <p:txBody>
          <a:bodyPr spcFirstLastPara="1" wrap="square" lIns="91425" tIns="91425" rIns="91425" bIns="91425" anchor="t" anchorCtr="0">
            <a:noAutofit/>
          </a:bodyPr>
          <a:lstStyle>
            <a:lvl1pPr marL="457200" lvl="0" indent="-381000">
              <a:spcBef>
                <a:spcPts val="600"/>
              </a:spcBef>
              <a:spcAft>
                <a:spcPts val="0"/>
              </a:spcAft>
              <a:buClr>
                <a:schemeClr val="accent6"/>
              </a:buClr>
              <a:buSzPts val="2400"/>
              <a:buFont typeface="Lato"/>
              <a:buChar char="▷"/>
              <a:defRPr sz="2400">
                <a:solidFill>
                  <a:schemeClr val="dk1"/>
                </a:solidFill>
                <a:latin typeface="Lato"/>
                <a:ea typeface="Lato"/>
                <a:cs typeface="Lato"/>
                <a:sym typeface="Lato"/>
              </a:defRPr>
            </a:lvl1pPr>
            <a:lvl2pPr marL="914400" lvl="1"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2pPr>
            <a:lvl3pPr marL="1371600" lvl="2"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3pPr>
            <a:lvl4pPr marL="1828800" lvl="3"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4pPr>
            <a:lvl5pPr marL="2286000" lvl="4"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5pPr>
            <a:lvl6pPr marL="2743200" lvl="5"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6pPr>
            <a:lvl7pPr marL="3200400" lvl="6"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7pPr>
            <a:lvl8pPr marL="3657600" lvl="7"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8pPr>
            <a:lvl9pPr marL="4114800" lvl="8"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9pPr>
          </a:lstStyle>
          <a:p>
            <a:endParaRPr/>
          </a:p>
        </p:txBody>
      </p:sp>
      <p:sp>
        <p:nvSpPr>
          <p:cNvPr id="5" name="4 Rectángulo"/>
          <p:cNvSpPr/>
          <p:nvPr userDrawn="1"/>
        </p:nvSpPr>
        <p:spPr>
          <a:xfrm>
            <a:off x="0" y="4786328"/>
            <a:ext cx="9144000" cy="357172"/>
          </a:xfrm>
          <a:prstGeom prst="rect">
            <a:avLst/>
          </a:prstGeom>
          <a:solidFill>
            <a:schemeClr val="accent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2">
                    <a:lumMod val="50000"/>
                  </a:schemeClr>
                </a:solidFill>
              </a:rPr>
              <a:t>Antonio Pérez</a:t>
            </a:r>
          </a:p>
        </p:txBody>
      </p:sp>
      <p:sp>
        <p:nvSpPr>
          <p:cNvPr id="9" name="6 Marcador de número de diapositiva"/>
          <p:cNvSpPr txBox="1">
            <a:spLocks/>
          </p:cNvSpPr>
          <p:nvPr userDrawn="1"/>
        </p:nvSpPr>
        <p:spPr>
          <a:xfrm>
            <a:off x="8215338" y="4830000"/>
            <a:ext cx="548700" cy="313500"/>
          </a:xfrm>
          <a:prstGeom prst="rect">
            <a:avLst/>
          </a:prstGeom>
        </p:spPr>
        <p:txBody>
          <a:bodyPr/>
          <a:lstStyle>
            <a:lvl1pPr>
              <a:defRPr>
                <a:solidFill>
                  <a:schemeClr val="bg2">
                    <a:lumMod val="50000"/>
                  </a:schemeClr>
                </a:solidFill>
              </a:defRPr>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s-ES" sz="1400" b="0" i="0" u="none" strike="noStrike" kern="0" cap="none" spc="0" normalizeH="0" baseline="0" noProof="0" smtClean="0">
                <a:ln>
                  <a:noFill/>
                </a:ln>
                <a:solidFill>
                  <a:schemeClr val="bg2">
                    <a:lumMod val="50000"/>
                  </a:schemeClr>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‹Nº›</a:t>
            </a:fld>
            <a:endParaRPr kumimoji="0" lang="es-ES" sz="1400" b="0" i="0" u="none" strike="noStrike" kern="0" cap="none" spc="0" normalizeH="0" baseline="0" noProof="0" dirty="0">
              <a:ln>
                <a:noFill/>
              </a:ln>
              <a:solidFill>
                <a:schemeClr val="bg2">
                  <a:lumMod val="50000"/>
                </a:schemeClr>
              </a:solidFill>
              <a:effectLst/>
              <a:uLnTx/>
              <a:uFillTx/>
              <a:latin typeface="Arial"/>
              <a:ea typeface="Arial"/>
              <a:cs typeface="Arial"/>
              <a:sym typeface="Arial"/>
            </a:endParaRPr>
          </a:p>
        </p:txBody>
      </p:sp>
    </p:spTree>
  </p:cSld>
  <p:clrMap bg1="lt1" tx1="dk1" bg2="lt2" tx2="dk2" accent1="accent1" accent2="accent2" accent3="accent3" accent4="accent4" accent5="accent5" accent6="accent6" hlink="hlink" folHlink="folHlink"/>
  <p:sldLayoutIdLst>
    <p:sldLayoutId id="2147483648" r:id="rId1"/>
    <p:sldLayoutId id="2147483649" r:id="rId2"/>
    <p:sldLayoutId id="2147483651" r:id="rId3"/>
    <p:sldLayoutId id="2147483659" r:id="rId4"/>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hyperlink" Target="https://creativecommons.org/licenses/by-nc-nd/4.0/"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2"/>
          <p:cNvSpPr txBox="1">
            <a:spLocks noGrp="1"/>
          </p:cNvSpPr>
          <p:nvPr>
            <p:ph type="ctrTitle"/>
          </p:nvPr>
        </p:nvSpPr>
        <p:spPr>
          <a:xfrm>
            <a:off x="285720" y="2762725"/>
            <a:ext cx="8246720" cy="1159800"/>
          </a:xfrm>
          <a:prstGeom prst="rect">
            <a:avLst/>
          </a:prstGeom>
        </p:spPr>
        <p:txBody>
          <a:bodyPr spcFirstLastPara="1" wrap="square" lIns="91425" tIns="91425" rIns="91425" bIns="91425" anchor="t" anchorCtr="0">
            <a:noAutofit/>
          </a:bodyPr>
          <a:lstStyle/>
          <a:p>
            <a:pPr lvl="0"/>
            <a:r>
              <a:rPr lang="es-ES" sz="4000" dirty="0"/>
              <a:t>Pasar variables por la URL con PHP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4"/>
          <p:cNvSpPr txBox="1">
            <a:spLocks noGrp="1"/>
          </p:cNvSpPr>
          <p:nvPr>
            <p:ph type="title"/>
          </p:nvPr>
        </p:nvSpPr>
        <p:spPr>
          <a:xfrm>
            <a:off x="499382" y="124457"/>
            <a:ext cx="7886700" cy="994172"/>
          </a:xfrm>
          <a:prstGeom prst="rect">
            <a:avLst/>
          </a:prstGeom>
          <a:noFill/>
          <a:ln>
            <a:noFill/>
          </a:ln>
        </p:spPr>
        <p:txBody>
          <a:bodyPr spcFirstLastPara="1" wrap="square" lIns="68569" tIns="34275" rIns="68569" bIns="34275" anchor="b" anchorCtr="0">
            <a:noAutofit/>
          </a:bodyPr>
          <a:lstStyle/>
          <a:p>
            <a:pPr algn="ctr"/>
            <a:r>
              <a:rPr lang="en-US" b="1" dirty="0" err="1"/>
              <a:t>Licencia</a:t>
            </a:r>
            <a:endParaRPr/>
          </a:p>
        </p:txBody>
      </p:sp>
      <p:sp>
        <p:nvSpPr>
          <p:cNvPr id="113" name="Google Shape;113;p14"/>
          <p:cNvSpPr txBox="1"/>
          <p:nvPr/>
        </p:nvSpPr>
        <p:spPr>
          <a:xfrm>
            <a:off x="370115" y="1541274"/>
            <a:ext cx="8145234" cy="3052498"/>
          </a:xfrm>
          <a:prstGeom prst="rect">
            <a:avLst/>
          </a:prstGeom>
          <a:noFill/>
          <a:ln>
            <a:noFill/>
          </a:ln>
        </p:spPr>
        <p:txBody>
          <a:bodyPr spcFirstLastPara="1" wrap="square" lIns="0" tIns="34275" rIns="0" bIns="34275" anchor="t" anchorCtr="0">
            <a:noAutofit/>
          </a:bodyPr>
          <a:lstStyle/>
          <a:p>
            <a:pPr marL="272653" algn="ctr">
              <a:lnSpc>
                <a:spcPct val="90000"/>
              </a:lnSpc>
              <a:buClr>
                <a:schemeClr val="accent1"/>
              </a:buClr>
              <a:buSzPts val="2400"/>
            </a:pPr>
            <a:r>
              <a:rPr lang="en-US" sz="1800" b="1" dirty="0">
                <a:solidFill>
                  <a:srgbClr val="3F3F3F"/>
                </a:solidFill>
                <a:latin typeface="Calibri"/>
                <a:ea typeface="Calibri"/>
                <a:cs typeface="Calibri"/>
                <a:sym typeface="Calibri"/>
              </a:rPr>
              <a:t>Toda la </a:t>
            </a:r>
            <a:r>
              <a:rPr lang="en-US" sz="1800" b="1" dirty="0" err="1">
                <a:solidFill>
                  <a:srgbClr val="3F3F3F"/>
                </a:solidFill>
                <a:latin typeface="Calibri"/>
                <a:ea typeface="Calibri"/>
                <a:cs typeface="Calibri"/>
                <a:sym typeface="Calibri"/>
              </a:rPr>
              <a:t>documentación</a:t>
            </a:r>
            <a:r>
              <a:rPr lang="en-US" sz="1800" b="1" dirty="0">
                <a:solidFill>
                  <a:srgbClr val="3F3F3F"/>
                </a:solidFill>
                <a:latin typeface="Calibri"/>
                <a:ea typeface="Calibri"/>
                <a:cs typeface="Calibri"/>
                <a:sym typeface="Calibri"/>
              </a:rPr>
              <a:t> de </a:t>
            </a:r>
            <a:r>
              <a:rPr lang="en-US" sz="1800" b="1" dirty="0" err="1">
                <a:solidFill>
                  <a:srgbClr val="3F3F3F"/>
                </a:solidFill>
                <a:latin typeface="Calibri"/>
                <a:ea typeface="Calibri"/>
                <a:cs typeface="Calibri"/>
                <a:sym typeface="Calibri"/>
              </a:rPr>
              <a:t>esta</a:t>
            </a:r>
            <a:r>
              <a:rPr lang="en-US" sz="1800" b="1" dirty="0">
                <a:solidFill>
                  <a:srgbClr val="3F3F3F"/>
                </a:solidFill>
                <a:latin typeface="Calibri"/>
                <a:ea typeface="Calibri"/>
                <a:cs typeface="Calibri"/>
                <a:sym typeface="Calibri"/>
              </a:rPr>
              <a:t> </a:t>
            </a:r>
            <a:r>
              <a:rPr lang="en-US" sz="1800" b="1" dirty="0" err="1">
                <a:solidFill>
                  <a:srgbClr val="3F3F3F"/>
                </a:solidFill>
                <a:latin typeface="Calibri"/>
                <a:ea typeface="Calibri"/>
                <a:cs typeface="Calibri"/>
                <a:sym typeface="Calibri"/>
              </a:rPr>
              <a:t>asignatura</a:t>
            </a:r>
            <a:r>
              <a:rPr lang="en-US" sz="1800" b="1" dirty="0">
                <a:solidFill>
                  <a:srgbClr val="3F3F3F"/>
                </a:solidFill>
                <a:latin typeface="Calibri"/>
                <a:ea typeface="Calibri"/>
                <a:cs typeface="Calibri"/>
                <a:sym typeface="Calibri"/>
              </a:rPr>
              <a:t> </a:t>
            </a:r>
            <a:r>
              <a:rPr lang="en-US" sz="1800" b="1" dirty="0" err="1">
                <a:solidFill>
                  <a:srgbClr val="3F3F3F"/>
                </a:solidFill>
                <a:latin typeface="Calibri"/>
                <a:ea typeface="Calibri"/>
                <a:cs typeface="Calibri"/>
                <a:sym typeface="Calibri"/>
              </a:rPr>
              <a:t>queda</a:t>
            </a:r>
            <a:r>
              <a:rPr lang="en-US" sz="1800" b="1" dirty="0">
                <a:solidFill>
                  <a:srgbClr val="3F3F3F"/>
                </a:solidFill>
                <a:latin typeface="Calibri"/>
                <a:ea typeface="Calibri"/>
                <a:cs typeface="Calibri"/>
                <a:sym typeface="Calibri"/>
              </a:rPr>
              <a:t> </a:t>
            </a:r>
            <a:r>
              <a:rPr lang="en-US" sz="1800" b="1" dirty="0" err="1">
                <a:solidFill>
                  <a:srgbClr val="3F3F3F"/>
                </a:solidFill>
                <a:latin typeface="Calibri"/>
                <a:ea typeface="Calibri"/>
                <a:cs typeface="Calibri"/>
                <a:sym typeface="Calibri"/>
              </a:rPr>
              <a:t>recogida</a:t>
            </a:r>
            <a:r>
              <a:rPr lang="en-US" sz="1800" b="1" dirty="0">
                <a:solidFill>
                  <a:srgbClr val="3F3F3F"/>
                </a:solidFill>
                <a:latin typeface="Calibri"/>
                <a:ea typeface="Calibri"/>
                <a:cs typeface="Calibri"/>
                <a:sym typeface="Calibri"/>
              </a:rPr>
              <a:t> </a:t>
            </a:r>
            <a:r>
              <a:rPr lang="en-US" sz="1800" b="1" dirty="0" err="1">
                <a:solidFill>
                  <a:srgbClr val="3F3F3F"/>
                </a:solidFill>
                <a:latin typeface="Calibri"/>
                <a:ea typeface="Calibri"/>
                <a:cs typeface="Calibri"/>
                <a:sym typeface="Calibri"/>
              </a:rPr>
              <a:t>bajo</a:t>
            </a:r>
            <a:r>
              <a:rPr lang="en-US" sz="1800" b="1" dirty="0">
                <a:solidFill>
                  <a:srgbClr val="3F3F3F"/>
                </a:solidFill>
                <a:latin typeface="Calibri"/>
                <a:ea typeface="Calibri"/>
                <a:cs typeface="Calibri"/>
                <a:sym typeface="Calibri"/>
              </a:rPr>
              <a:t> la </a:t>
            </a:r>
            <a:r>
              <a:rPr lang="en-US" sz="1800" b="1" dirty="0" err="1">
                <a:solidFill>
                  <a:srgbClr val="3F3F3F"/>
                </a:solidFill>
                <a:latin typeface="Calibri"/>
                <a:ea typeface="Calibri"/>
                <a:cs typeface="Calibri"/>
                <a:sym typeface="Calibri"/>
              </a:rPr>
              <a:t>licencia</a:t>
            </a:r>
            <a:r>
              <a:rPr lang="en-US" sz="1800" b="1" dirty="0">
                <a:solidFill>
                  <a:srgbClr val="3F3F3F"/>
                </a:solidFill>
                <a:latin typeface="Calibri"/>
                <a:ea typeface="Calibri"/>
                <a:cs typeface="Calibri"/>
                <a:sym typeface="Calibri"/>
              </a:rPr>
              <a:t> de Creative Commons</a:t>
            </a:r>
            <a:endParaRPr sz="1800" b="1">
              <a:solidFill>
                <a:srgbClr val="3F3F3F"/>
              </a:solidFill>
              <a:latin typeface="Calibri"/>
              <a:ea typeface="Calibri"/>
              <a:cs typeface="Calibri"/>
              <a:sym typeface="Calibri"/>
            </a:endParaRPr>
          </a:p>
          <a:p>
            <a:pPr>
              <a:lnSpc>
                <a:spcPct val="90000"/>
              </a:lnSpc>
              <a:spcBef>
                <a:spcPts val="1050"/>
              </a:spcBef>
              <a:buClr>
                <a:schemeClr val="accent1"/>
              </a:buClr>
              <a:buSzPts val="1400"/>
            </a:pPr>
            <a:endParaRPr sz="1100">
              <a:solidFill>
                <a:srgbClr val="3F3F3F"/>
              </a:solidFill>
              <a:latin typeface="Calibri"/>
              <a:ea typeface="Calibri"/>
              <a:cs typeface="Calibri"/>
              <a:sym typeface="Calibri"/>
            </a:endParaRPr>
          </a:p>
          <a:p>
            <a:pPr>
              <a:lnSpc>
                <a:spcPct val="90000"/>
              </a:lnSpc>
              <a:spcBef>
                <a:spcPts val="1050"/>
              </a:spcBef>
              <a:buClr>
                <a:schemeClr val="accent1"/>
              </a:buClr>
              <a:buSzPts val="1400"/>
            </a:pPr>
            <a:endParaRPr sz="1100">
              <a:solidFill>
                <a:srgbClr val="3F3F3F"/>
              </a:solidFill>
              <a:latin typeface="Calibri"/>
              <a:ea typeface="Calibri"/>
              <a:cs typeface="Calibri"/>
              <a:sym typeface="Calibri"/>
            </a:endParaRPr>
          </a:p>
          <a:p>
            <a:pPr>
              <a:lnSpc>
                <a:spcPct val="90000"/>
              </a:lnSpc>
              <a:spcBef>
                <a:spcPts val="1050"/>
              </a:spcBef>
              <a:buClr>
                <a:schemeClr val="accent1"/>
              </a:buClr>
              <a:buSzPts val="1400"/>
            </a:pPr>
            <a:endParaRPr sz="1100">
              <a:solidFill>
                <a:srgbClr val="3F3F3F"/>
              </a:solidFill>
              <a:latin typeface="Calibri"/>
              <a:ea typeface="Calibri"/>
              <a:cs typeface="Calibri"/>
              <a:sym typeface="Calibri"/>
            </a:endParaRPr>
          </a:p>
          <a:p>
            <a:pPr marL="68580" indent="-1903">
              <a:lnSpc>
                <a:spcPct val="90000"/>
              </a:lnSpc>
              <a:spcBef>
                <a:spcPts val="1050"/>
              </a:spcBef>
              <a:buClr>
                <a:schemeClr val="accent1"/>
              </a:buClr>
              <a:buSzPts val="1400"/>
            </a:pPr>
            <a:endParaRPr sz="1100">
              <a:solidFill>
                <a:srgbClr val="3F3F3F"/>
              </a:solidFill>
              <a:latin typeface="Calibri"/>
              <a:ea typeface="Calibri"/>
              <a:cs typeface="Calibri"/>
              <a:sym typeface="Calibri"/>
            </a:endParaRPr>
          </a:p>
        </p:txBody>
      </p:sp>
      <p:pic>
        <p:nvPicPr>
          <p:cNvPr id="114" name="Google Shape;114;p14" descr="Licencia Creative Commons"/>
          <p:cNvPicPr preferRelativeResize="0"/>
          <p:nvPr/>
        </p:nvPicPr>
        <p:blipFill rotWithShape="1">
          <a:blip r:embed="rId3">
            <a:alphaModFix/>
          </a:blip>
          <a:srcRect/>
          <a:stretch/>
        </p:blipFill>
        <p:spPr>
          <a:xfrm>
            <a:off x="3400927" y="2398382"/>
            <a:ext cx="2083610" cy="733999"/>
          </a:xfrm>
          <a:prstGeom prst="rect">
            <a:avLst/>
          </a:prstGeom>
          <a:noFill/>
          <a:ln>
            <a:noFill/>
          </a:ln>
        </p:spPr>
      </p:pic>
      <p:sp>
        <p:nvSpPr>
          <p:cNvPr id="115" name="Google Shape;115;p14"/>
          <p:cNvSpPr/>
          <p:nvPr/>
        </p:nvSpPr>
        <p:spPr>
          <a:xfrm>
            <a:off x="2508212" y="3162748"/>
            <a:ext cx="4135490" cy="484748"/>
          </a:xfrm>
          <a:prstGeom prst="rect">
            <a:avLst/>
          </a:prstGeom>
          <a:noFill/>
          <a:ln>
            <a:noFill/>
          </a:ln>
        </p:spPr>
        <p:txBody>
          <a:bodyPr spcFirstLastPara="1" wrap="square" lIns="68569" tIns="34275" rIns="68569" bIns="34275" anchor="t" anchorCtr="0">
            <a:noAutofit/>
          </a:bodyPr>
          <a:lstStyle/>
          <a:p>
            <a:pPr>
              <a:buSzPts val="1800"/>
            </a:pPr>
            <a:r>
              <a:rPr lang="en-US" u="sng" dirty="0">
                <a:solidFill>
                  <a:schemeClr val="hlink"/>
                </a:solidFill>
                <a:latin typeface="Calibri"/>
                <a:ea typeface="Calibri"/>
                <a:cs typeface="Calibri"/>
                <a:sym typeface="Calibri"/>
                <a:hlinkClick r:id="rId4"/>
              </a:rPr>
              <a:t>https://creativecommons.org/licenses/by-nc-nd/4.0/</a:t>
            </a:r>
            <a:endParaRPr>
              <a:solidFill>
                <a:schemeClr val="dk1"/>
              </a:solidFill>
              <a:latin typeface="Calibri"/>
              <a:ea typeface="Calibri"/>
              <a:cs typeface="Calibri"/>
              <a:sym typeface="Calibri"/>
            </a:endParaRPr>
          </a:p>
          <a:p>
            <a:pPr>
              <a:buSzPts val="1800"/>
            </a:pPr>
            <a:endParaRPr>
              <a:solidFill>
                <a:schemeClr val="dk1"/>
              </a:solidFill>
              <a:latin typeface="Calibri"/>
              <a:ea typeface="Calibri"/>
              <a:cs typeface="Calibri"/>
              <a:sym typeface="Calibri"/>
            </a:endParaRPr>
          </a:p>
        </p:txBody>
      </p:sp>
      <p:sp>
        <p:nvSpPr>
          <p:cNvPr id="116" name="Google Shape;116;p14"/>
          <p:cNvSpPr/>
          <p:nvPr/>
        </p:nvSpPr>
        <p:spPr>
          <a:xfrm>
            <a:off x="604094" y="3585394"/>
            <a:ext cx="8145233" cy="1038746"/>
          </a:xfrm>
          <a:prstGeom prst="rect">
            <a:avLst/>
          </a:prstGeom>
          <a:noFill/>
          <a:ln>
            <a:noFill/>
          </a:ln>
        </p:spPr>
        <p:txBody>
          <a:bodyPr spcFirstLastPara="1" wrap="square" lIns="68569" tIns="34275" rIns="68569" bIns="34275" anchor="t" anchorCtr="0">
            <a:noAutofit/>
          </a:bodyPr>
          <a:lstStyle/>
          <a:p>
            <a:pPr algn="just">
              <a:buSzPts val="1200"/>
            </a:pPr>
            <a:r>
              <a:rPr lang="en-US" sz="900" i="1" dirty="0">
                <a:solidFill>
                  <a:srgbClr val="333333"/>
                </a:solidFill>
                <a:latin typeface="Helvetica Neue"/>
                <a:ea typeface="Helvetica Neue"/>
                <a:cs typeface="Helvetica Neue"/>
                <a:sym typeface="Helvetica Neue"/>
              </a:rPr>
              <a:t>En el </a:t>
            </a:r>
            <a:r>
              <a:rPr lang="en-US" sz="900" i="1" dirty="0" err="1">
                <a:solidFill>
                  <a:srgbClr val="333333"/>
                </a:solidFill>
                <a:latin typeface="Helvetica Neue"/>
                <a:ea typeface="Helvetica Neue"/>
                <a:cs typeface="Helvetica Neue"/>
                <a:sym typeface="Helvetica Neue"/>
              </a:rPr>
              <a:t>caso</a:t>
            </a:r>
            <a:r>
              <a:rPr lang="en-US" sz="900" i="1" dirty="0">
                <a:solidFill>
                  <a:srgbClr val="333333"/>
                </a:solidFill>
                <a:latin typeface="Helvetica Neue"/>
                <a:ea typeface="Helvetica Neue"/>
                <a:cs typeface="Helvetica Neue"/>
                <a:sym typeface="Helvetica Neue"/>
              </a:rPr>
              <a:t> de </a:t>
            </a:r>
            <a:r>
              <a:rPr lang="en-US" sz="900" i="1" dirty="0" err="1">
                <a:solidFill>
                  <a:srgbClr val="333333"/>
                </a:solidFill>
                <a:latin typeface="Helvetica Neue"/>
                <a:ea typeface="Helvetica Neue"/>
                <a:cs typeface="Helvetica Neue"/>
                <a:sym typeface="Helvetica Neue"/>
              </a:rPr>
              <a:t>incumplimiento</a:t>
            </a:r>
            <a:r>
              <a:rPr lang="en-US" sz="900" i="1" dirty="0">
                <a:solidFill>
                  <a:srgbClr val="333333"/>
                </a:solidFill>
                <a:latin typeface="Helvetica Neue"/>
                <a:ea typeface="Helvetica Neue"/>
                <a:cs typeface="Helvetica Neue"/>
                <a:sym typeface="Helvetica Neue"/>
              </a:rPr>
              <a:t> o </a:t>
            </a:r>
            <a:r>
              <a:rPr lang="en-US" sz="900" i="1" dirty="0" err="1">
                <a:solidFill>
                  <a:srgbClr val="333333"/>
                </a:solidFill>
                <a:latin typeface="Helvetica Neue"/>
                <a:ea typeface="Helvetica Neue"/>
                <a:cs typeface="Helvetica Neue"/>
                <a:sym typeface="Helvetica Neue"/>
              </a:rPr>
              <a:t>infracción</a:t>
            </a:r>
            <a:r>
              <a:rPr lang="en-US" sz="900" i="1" dirty="0">
                <a:solidFill>
                  <a:srgbClr val="333333"/>
                </a:solidFill>
                <a:latin typeface="Helvetica Neue"/>
                <a:ea typeface="Helvetica Neue"/>
                <a:cs typeface="Helvetica Neue"/>
                <a:sym typeface="Helvetica Neue"/>
              </a:rPr>
              <a:t> de </a:t>
            </a:r>
            <a:r>
              <a:rPr lang="en-US" sz="900" i="1" dirty="0" err="1">
                <a:solidFill>
                  <a:srgbClr val="333333"/>
                </a:solidFill>
                <a:latin typeface="Helvetica Neue"/>
                <a:ea typeface="Helvetica Neue"/>
                <a:cs typeface="Helvetica Neue"/>
                <a:sym typeface="Helvetica Neue"/>
              </a:rPr>
              <a:t>una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licencia</a:t>
            </a:r>
            <a:r>
              <a:rPr lang="en-US" sz="900" i="1" dirty="0">
                <a:solidFill>
                  <a:srgbClr val="333333"/>
                </a:solidFill>
                <a:latin typeface="Helvetica Neue"/>
                <a:ea typeface="Helvetica Neue"/>
                <a:cs typeface="Helvetica Neue"/>
                <a:sym typeface="Helvetica Neue"/>
              </a:rPr>
              <a:t> Creative Commons, el </a:t>
            </a:r>
            <a:r>
              <a:rPr lang="en-US" sz="900" i="1" dirty="0" err="1">
                <a:solidFill>
                  <a:srgbClr val="333333"/>
                </a:solidFill>
                <a:latin typeface="Helvetica Neue"/>
                <a:ea typeface="Helvetica Neue"/>
                <a:cs typeface="Helvetica Neue"/>
                <a:sym typeface="Helvetica Neue"/>
              </a:rPr>
              <a:t>autor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como</a:t>
            </a:r>
            <a:r>
              <a:rPr lang="en-US" sz="900" i="1" dirty="0">
                <a:solidFill>
                  <a:srgbClr val="333333"/>
                </a:solidFill>
                <a:latin typeface="Helvetica Neue"/>
                <a:ea typeface="Helvetica Neue"/>
                <a:cs typeface="Helvetica Neue"/>
                <a:sym typeface="Helvetica Neue"/>
              </a:rPr>
              <a:t> con </a:t>
            </a:r>
            <a:r>
              <a:rPr lang="en-US" sz="900" i="1" dirty="0" err="1">
                <a:solidFill>
                  <a:srgbClr val="333333"/>
                </a:solidFill>
                <a:latin typeface="Helvetica Neue"/>
                <a:ea typeface="Helvetica Neue"/>
                <a:cs typeface="Helvetica Neue"/>
                <a:sym typeface="Helvetica Neue"/>
              </a:rPr>
              <a:t>cualquier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otra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obra</a:t>
            </a:r>
            <a:r>
              <a:rPr lang="en-US" sz="900" i="1" dirty="0">
                <a:solidFill>
                  <a:srgbClr val="333333"/>
                </a:solidFill>
                <a:latin typeface="Helvetica Neue"/>
                <a:ea typeface="Helvetica Neue"/>
                <a:cs typeface="Helvetica Neue"/>
                <a:sym typeface="Helvetica Neue"/>
              </a:rPr>
              <a:t> y </a:t>
            </a:r>
            <a:r>
              <a:rPr lang="en-US" sz="900" i="1" dirty="0" err="1">
                <a:solidFill>
                  <a:srgbClr val="333333"/>
                </a:solidFill>
                <a:latin typeface="Helvetica Neue"/>
                <a:ea typeface="Helvetica Neue"/>
                <a:cs typeface="Helvetica Neue"/>
                <a:sym typeface="Helvetica Neue"/>
              </a:rPr>
              <a:t>licencia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habrá</a:t>
            </a:r>
            <a:r>
              <a:rPr lang="en-US" sz="900" i="1" dirty="0">
                <a:solidFill>
                  <a:srgbClr val="333333"/>
                </a:solidFill>
                <a:latin typeface="Helvetica Neue"/>
                <a:ea typeface="Helvetica Neue"/>
                <a:cs typeface="Helvetica Neue"/>
                <a:sym typeface="Helvetica Neue"/>
              </a:rPr>
              <a:t> de </a:t>
            </a:r>
            <a:r>
              <a:rPr lang="en-US" sz="900" i="1" dirty="0" err="1">
                <a:solidFill>
                  <a:srgbClr val="333333"/>
                </a:solidFill>
                <a:latin typeface="Helvetica Neue"/>
                <a:ea typeface="Helvetica Neue"/>
                <a:cs typeface="Helvetica Neue"/>
                <a:sym typeface="Helvetica Neue"/>
              </a:rPr>
              <a:t>recurrir</a:t>
            </a:r>
            <a:r>
              <a:rPr lang="en-US" sz="900" i="1" dirty="0">
                <a:solidFill>
                  <a:srgbClr val="333333"/>
                </a:solidFill>
                <a:latin typeface="Helvetica Neue"/>
                <a:ea typeface="Helvetica Neue"/>
                <a:cs typeface="Helvetica Neue"/>
                <a:sym typeface="Helvetica Neue"/>
              </a:rPr>
              <a:t> a los </a:t>
            </a:r>
            <a:r>
              <a:rPr lang="en-US" sz="900" i="1" dirty="0" err="1">
                <a:solidFill>
                  <a:srgbClr val="333333"/>
                </a:solidFill>
                <a:latin typeface="Helvetica Neue"/>
                <a:ea typeface="Helvetica Neue"/>
                <a:cs typeface="Helvetica Neue"/>
                <a:sym typeface="Helvetica Neue"/>
              </a:rPr>
              <a:t>tribunales</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Cuando</a:t>
            </a:r>
            <a:r>
              <a:rPr lang="en-US" sz="900" i="1" dirty="0">
                <a:solidFill>
                  <a:srgbClr val="333333"/>
                </a:solidFill>
                <a:latin typeface="Helvetica Neue"/>
                <a:ea typeface="Helvetica Neue"/>
                <a:cs typeface="Helvetica Neue"/>
                <a:sym typeface="Helvetica Neue"/>
              </a:rPr>
              <a:t> se </a:t>
            </a:r>
            <a:r>
              <a:rPr lang="en-US" sz="900" i="1" dirty="0" err="1">
                <a:solidFill>
                  <a:srgbClr val="333333"/>
                </a:solidFill>
                <a:latin typeface="Helvetica Neue"/>
                <a:ea typeface="Helvetica Neue"/>
                <a:cs typeface="Helvetica Neue"/>
                <a:sym typeface="Helvetica Neue"/>
              </a:rPr>
              <a:t>trate</a:t>
            </a:r>
            <a:r>
              <a:rPr lang="en-US" sz="900" i="1" dirty="0">
                <a:solidFill>
                  <a:srgbClr val="333333"/>
                </a:solidFill>
                <a:latin typeface="Helvetica Neue"/>
                <a:ea typeface="Helvetica Neue"/>
                <a:cs typeface="Helvetica Neue"/>
                <a:sym typeface="Helvetica Neue"/>
              </a:rPr>
              <a:t> de </a:t>
            </a:r>
            <a:r>
              <a:rPr lang="en-US" sz="900" i="1" dirty="0" err="1">
                <a:solidFill>
                  <a:srgbClr val="333333"/>
                </a:solidFill>
                <a:latin typeface="Helvetica Neue"/>
                <a:ea typeface="Helvetica Neue"/>
                <a:cs typeface="Helvetica Neue"/>
                <a:sym typeface="Helvetica Neue"/>
              </a:rPr>
              <a:t>una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infracción</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directa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por</a:t>
            </a:r>
            <a:r>
              <a:rPr lang="en-US" sz="900" i="1" dirty="0">
                <a:solidFill>
                  <a:srgbClr val="333333"/>
                </a:solidFill>
                <a:latin typeface="Helvetica Neue"/>
                <a:ea typeface="Helvetica Neue"/>
                <a:cs typeface="Helvetica Neue"/>
                <a:sym typeface="Helvetica Neue"/>
              </a:rPr>
              <a:t> un </a:t>
            </a:r>
            <a:r>
              <a:rPr lang="en-US" sz="900" i="1" dirty="0" err="1">
                <a:solidFill>
                  <a:srgbClr val="333333"/>
                </a:solidFill>
                <a:latin typeface="Helvetica Neue"/>
                <a:ea typeface="Helvetica Neue"/>
                <a:cs typeface="Helvetica Neue"/>
                <a:sym typeface="Helvetica Neue"/>
              </a:rPr>
              <a:t>usuario</a:t>
            </a:r>
            <a:r>
              <a:rPr lang="en-US" sz="900" i="1" dirty="0">
                <a:solidFill>
                  <a:srgbClr val="333333"/>
                </a:solidFill>
                <a:latin typeface="Helvetica Neue"/>
                <a:ea typeface="Helvetica Neue"/>
                <a:cs typeface="Helvetica Neue"/>
                <a:sym typeface="Helvetica Neue"/>
              </a:rPr>
              <a:t> de la </a:t>
            </a:r>
            <a:r>
              <a:rPr lang="en-US" sz="900" i="1" dirty="0" err="1">
                <a:solidFill>
                  <a:srgbClr val="333333"/>
                </a:solidFill>
                <a:latin typeface="Helvetica Neue"/>
                <a:ea typeface="Helvetica Neue"/>
                <a:cs typeface="Helvetica Neue"/>
                <a:sym typeface="Helvetica Neue"/>
              </a:rPr>
              <a:t>licencia</a:t>
            </a:r>
            <a:r>
              <a:rPr lang="en-US" sz="900" i="1" dirty="0">
                <a:solidFill>
                  <a:srgbClr val="333333"/>
                </a:solidFill>
                <a:latin typeface="Helvetica Neue"/>
                <a:ea typeface="Helvetica Neue"/>
                <a:cs typeface="Helvetica Neue"/>
                <a:sym typeface="Helvetica Neue"/>
              </a:rPr>
              <a:t> Creative Commons), el </a:t>
            </a:r>
            <a:r>
              <a:rPr lang="en-US" sz="900" i="1" dirty="0" err="1">
                <a:solidFill>
                  <a:srgbClr val="333333"/>
                </a:solidFill>
                <a:latin typeface="Helvetica Neue"/>
                <a:ea typeface="Helvetica Neue"/>
                <a:cs typeface="Helvetica Neue"/>
                <a:sym typeface="Helvetica Neue"/>
              </a:rPr>
              <a:t>autor</a:t>
            </a:r>
            <a:r>
              <a:rPr lang="en-US" sz="900" i="1" dirty="0">
                <a:solidFill>
                  <a:srgbClr val="333333"/>
                </a:solidFill>
                <a:latin typeface="Helvetica Neue"/>
                <a:ea typeface="Helvetica Neue"/>
                <a:cs typeface="Helvetica Neue"/>
                <a:sym typeface="Helvetica Neue"/>
              </a:rPr>
              <a:t> le </a:t>
            </a:r>
            <a:r>
              <a:rPr lang="en-US" sz="900" i="1" dirty="0" err="1">
                <a:solidFill>
                  <a:srgbClr val="333333"/>
                </a:solidFill>
                <a:latin typeface="Helvetica Neue"/>
                <a:ea typeface="Helvetica Neue"/>
                <a:cs typeface="Helvetica Neue"/>
                <a:sym typeface="Helvetica Neue"/>
              </a:rPr>
              <a:t>podrá</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demandar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tanto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infracción</a:t>
            </a:r>
            <a:r>
              <a:rPr lang="en-US" sz="900" i="1" dirty="0">
                <a:solidFill>
                  <a:srgbClr val="333333"/>
                </a:solidFill>
                <a:latin typeface="Helvetica Neue"/>
                <a:ea typeface="Helvetica Neue"/>
                <a:cs typeface="Helvetica Neue"/>
                <a:sym typeface="Helvetica Neue"/>
              </a:rPr>
              <a:t> de la </a:t>
            </a:r>
            <a:r>
              <a:rPr lang="en-US" sz="900" i="1" dirty="0" err="1">
                <a:solidFill>
                  <a:srgbClr val="333333"/>
                </a:solidFill>
                <a:latin typeface="Helvetica Neue"/>
                <a:ea typeface="Helvetica Neue"/>
                <a:cs typeface="Helvetica Neue"/>
                <a:sym typeface="Helvetica Neue"/>
              </a:rPr>
              <a:t>propiedad</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intelectual</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como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incumplimiento</a:t>
            </a:r>
            <a:r>
              <a:rPr lang="en-US" sz="900" i="1" dirty="0">
                <a:solidFill>
                  <a:srgbClr val="333333"/>
                </a:solidFill>
                <a:latin typeface="Helvetica Neue"/>
                <a:ea typeface="Helvetica Neue"/>
                <a:cs typeface="Helvetica Neue"/>
                <a:sym typeface="Helvetica Neue"/>
              </a:rPr>
              <a:t> contractual (</a:t>
            </a:r>
            <a:r>
              <a:rPr lang="en-US" sz="900" i="1" dirty="0" err="1">
                <a:solidFill>
                  <a:srgbClr val="333333"/>
                </a:solidFill>
                <a:latin typeface="Helvetica Neue"/>
                <a:ea typeface="Helvetica Neue"/>
                <a:cs typeface="Helvetica Neue"/>
                <a:sym typeface="Helvetica Neue"/>
              </a:rPr>
              <a:t>ya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que</a:t>
            </a:r>
            <a:r>
              <a:rPr lang="en-US" sz="900" i="1" dirty="0">
                <a:solidFill>
                  <a:srgbClr val="333333"/>
                </a:solidFill>
                <a:latin typeface="Helvetica Neue"/>
                <a:ea typeface="Helvetica Neue"/>
                <a:cs typeface="Helvetica Neue"/>
                <a:sym typeface="Helvetica Neue"/>
              </a:rPr>
              <a:t> la </a:t>
            </a:r>
            <a:r>
              <a:rPr lang="en-US" sz="900" i="1" dirty="0" err="1">
                <a:solidFill>
                  <a:srgbClr val="333333"/>
                </a:solidFill>
                <a:latin typeface="Helvetica Neue"/>
                <a:ea typeface="Helvetica Neue"/>
                <a:cs typeface="Helvetica Neue"/>
                <a:sym typeface="Helvetica Neue"/>
              </a:rPr>
              <a:t>licencia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crea</a:t>
            </a:r>
            <a:r>
              <a:rPr lang="en-US" sz="900" i="1" dirty="0">
                <a:solidFill>
                  <a:srgbClr val="333333"/>
                </a:solidFill>
                <a:latin typeface="Helvetica Neue"/>
                <a:ea typeface="Helvetica Neue"/>
                <a:cs typeface="Helvetica Neue"/>
                <a:sym typeface="Helvetica Neue"/>
              </a:rPr>
              <a:t> un </a:t>
            </a:r>
            <a:r>
              <a:rPr lang="en-US" sz="900" i="1" dirty="0" err="1">
                <a:solidFill>
                  <a:srgbClr val="333333"/>
                </a:solidFill>
                <a:latin typeface="Helvetica Neue"/>
                <a:ea typeface="Helvetica Neue"/>
                <a:cs typeface="Helvetica Neue"/>
                <a:sym typeface="Helvetica Neue"/>
              </a:rPr>
              <a:t>vínculo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directo</a:t>
            </a:r>
            <a:r>
              <a:rPr lang="en-US" sz="900" i="1" dirty="0">
                <a:solidFill>
                  <a:srgbClr val="333333"/>
                </a:solidFill>
                <a:latin typeface="Helvetica Neue"/>
                <a:ea typeface="Helvetica Neue"/>
                <a:cs typeface="Helvetica Neue"/>
                <a:sym typeface="Helvetica Neue"/>
              </a:rPr>
              <a:t> entre </a:t>
            </a:r>
            <a:r>
              <a:rPr lang="en-US" sz="900" i="1" dirty="0" err="1">
                <a:solidFill>
                  <a:srgbClr val="333333"/>
                </a:solidFill>
                <a:latin typeface="Helvetica Neue"/>
                <a:ea typeface="Helvetica Neue"/>
                <a:cs typeface="Helvetica Neue"/>
                <a:sym typeface="Helvetica Neue"/>
              </a:rPr>
              <a:t>autor</a:t>
            </a:r>
            <a:r>
              <a:rPr lang="en-US" sz="900" i="1" dirty="0">
                <a:solidFill>
                  <a:srgbClr val="333333"/>
                </a:solidFill>
                <a:latin typeface="Helvetica Neue"/>
                <a:ea typeface="Helvetica Neue"/>
                <a:cs typeface="Helvetica Neue"/>
                <a:sym typeface="Helvetica Neue"/>
              </a:rPr>
              <a:t> y </a:t>
            </a:r>
            <a:r>
              <a:rPr lang="en-US" sz="900" i="1" dirty="0" err="1">
                <a:solidFill>
                  <a:srgbClr val="333333"/>
                </a:solidFill>
                <a:latin typeface="Helvetica Neue"/>
                <a:ea typeface="Helvetica Neue"/>
                <a:cs typeface="Helvetica Neue"/>
                <a:sym typeface="Helvetica Neue"/>
              </a:rPr>
              <a:t>usuario</a:t>
            </a:r>
            <a:r>
              <a:rPr lang="en-US" sz="900" i="1" dirty="0">
                <a:solidFill>
                  <a:srgbClr val="333333"/>
                </a:solidFill>
                <a:latin typeface="Helvetica Neue"/>
                <a:ea typeface="Helvetica Neue"/>
                <a:cs typeface="Helvetica Neue"/>
                <a:sym typeface="Helvetica Neue"/>
              </a:rPr>
              <a:t>/</a:t>
            </a:r>
            <a:r>
              <a:rPr lang="en-US" sz="900" i="1" dirty="0" err="1">
                <a:solidFill>
                  <a:srgbClr val="333333"/>
                </a:solidFill>
                <a:latin typeface="Helvetica Neue"/>
                <a:ea typeface="Helvetica Neue"/>
                <a:cs typeface="Helvetica Neue"/>
                <a:sym typeface="Helvetica Neue"/>
              </a:rPr>
              <a:t>licenciatario</a:t>
            </a:r>
            <a:r>
              <a:rPr lang="en-US" sz="900" i="1" dirty="0">
                <a:solidFill>
                  <a:srgbClr val="333333"/>
                </a:solidFill>
                <a:latin typeface="Helvetica Neue"/>
                <a:ea typeface="Helvetica Neue"/>
                <a:cs typeface="Helvetica Neue"/>
                <a:sym typeface="Helvetica Neue"/>
              </a:rPr>
              <a:t>). El </a:t>
            </a:r>
            <a:r>
              <a:rPr lang="en-US" sz="900" i="1" dirty="0" err="1">
                <a:solidFill>
                  <a:srgbClr val="333333"/>
                </a:solidFill>
                <a:latin typeface="Helvetica Neue"/>
                <a:ea typeface="Helvetica Neue"/>
                <a:cs typeface="Helvetica Neue"/>
                <a:sym typeface="Helvetica Neue"/>
              </a:rPr>
              <a:t>derecho</a:t>
            </a:r>
            <a:r>
              <a:rPr lang="en-US" sz="900" i="1" dirty="0">
                <a:solidFill>
                  <a:srgbClr val="333333"/>
                </a:solidFill>
                <a:latin typeface="Helvetica Neue"/>
                <a:ea typeface="Helvetica Neue"/>
                <a:cs typeface="Helvetica Neue"/>
                <a:sym typeface="Helvetica Neue"/>
              </a:rPr>
              <a:t> moral de </a:t>
            </a:r>
            <a:r>
              <a:rPr lang="en-US" sz="900" i="1" dirty="0" err="1">
                <a:solidFill>
                  <a:srgbClr val="333333"/>
                </a:solidFill>
                <a:latin typeface="Helvetica Neue"/>
                <a:ea typeface="Helvetica Neue"/>
                <a:cs typeface="Helvetica Neue"/>
                <a:sym typeface="Helvetica Neue"/>
              </a:rPr>
              <a:t>integridad</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recogido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por</a:t>
            </a:r>
            <a:r>
              <a:rPr lang="en-US" sz="900" i="1" dirty="0">
                <a:solidFill>
                  <a:srgbClr val="333333"/>
                </a:solidFill>
                <a:latin typeface="Helvetica Neue"/>
                <a:ea typeface="Helvetica Neue"/>
                <a:cs typeface="Helvetica Neue"/>
                <a:sym typeface="Helvetica Neue"/>
              </a:rPr>
              <a:t> la </a:t>
            </a:r>
            <a:r>
              <a:rPr lang="en-US" sz="900" i="1" dirty="0" err="1">
                <a:solidFill>
                  <a:srgbClr val="333333"/>
                </a:solidFill>
                <a:latin typeface="Helvetica Neue"/>
                <a:ea typeface="Helvetica Neue"/>
                <a:cs typeface="Helvetica Neue"/>
                <a:sym typeface="Helvetica Neue"/>
              </a:rPr>
              <a:t>legislación</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española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queda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protegido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aunque</a:t>
            </a:r>
            <a:r>
              <a:rPr lang="en-US" sz="900" i="1" dirty="0">
                <a:solidFill>
                  <a:srgbClr val="333333"/>
                </a:solidFill>
                <a:latin typeface="Helvetica Neue"/>
                <a:ea typeface="Helvetica Neue"/>
                <a:cs typeface="Helvetica Neue"/>
                <a:sym typeface="Helvetica Neue"/>
              </a:rPr>
              <a:t> no </a:t>
            </a:r>
            <a:r>
              <a:rPr lang="en-US" sz="900" i="1" dirty="0" err="1">
                <a:solidFill>
                  <a:srgbClr val="333333"/>
                </a:solidFill>
                <a:latin typeface="Helvetica Neue"/>
                <a:ea typeface="Helvetica Neue"/>
                <a:cs typeface="Helvetica Neue"/>
                <a:sym typeface="Helvetica Neue"/>
              </a:rPr>
              <a:t>aparezca</a:t>
            </a:r>
            <a:r>
              <a:rPr lang="en-US" sz="900" i="1" dirty="0">
                <a:solidFill>
                  <a:srgbClr val="333333"/>
                </a:solidFill>
                <a:latin typeface="Helvetica Neue"/>
                <a:ea typeface="Helvetica Neue"/>
                <a:cs typeface="Helvetica Neue"/>
                <a:sym typeface="Helvetica Neue"/>
              </a:rPr>
              <a:t> en </a:t>
            </a:r>
            <a:r>
              <a:rPr lang="en-US" sz="900" i="1" dirty="0" err="1">
                <a:solidFill>
                  <a:srgbClr val="333333"/>
                </a:solidFill>
                <a:latin typeface="Helvetica Neue"/>
                <a:ea typeface="Helvetica Neue"/>
                <a:cs typeface="Helvetica Neue"/>
                <a:sym typeface="Helvetica Neue"/>
              </a:rPr>
              <a:t>las</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licencias</a:t>
            </a:r>
            <a:r>
              <a:rPr lang="en-US" sz="900" i="1" dirty="0">
                <a:solidFill>
                  <a:srgbClr val="333333"/>
                </a:solidFill>
                <a:latin typeface="Helvetica Neue"/>
                <a:ea typeface="Helvetica Neue"/>
                <a:cs typeface="Helvetica Neue"/>
                <a:sym typeface="Helvetica Neue"/>
              </a:rPr>
              <a:t> Creative Commons. </a:t>
            </a:r>
            <a:r>
              <a:rPr lang="en-US" sz="900" i="1" dirty="0" err="1">
                <a:solidFill>
                  <a:srgbClr val="333333"/>
                </a:solidFill>
                <a:latin typeface="Helvetica Neue"/>
                <a:ea typeface="Helvetica Neue"/>
                <a:cs typeface="Helvetica Neue"/>
                <a:sym typeface="Helvetica Neue"/>
              </a:rPr>
              <a:t>Estas</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licencias</a:t>
            </a:r>
            <a:r>
              <a:rPr lang="en-US" sz="900" i="1" dirty="0">
                <a:solidFill>
                  <a:srgbClr val="333333"/>
                </a:solidFill>
                <a:latin typeface="Helvetica Neue"/>
                <a:ea typeface="Helvetica Neue"/>
                <a:cs typeface="Helvetica Neue"/>
                <a:sym typeface="Helvetica Neue"/>
              </a:rPr>
              <a:t> no </a:t>
            </a:r>
            <a:r>
              <a:rPr lang="en-US" sz="900" i="1" dirty="0" err="1">
                <a:solidFill>
                  <a:srgbClr val="333333"/>
                </a:solidFill>
                <a:latin typeface="Helvetica Neue"/>
                <a:ea typeface="Helvetica Neue"/>
                <a:cs typeface="Helvetica Neue"/>
                <a:sym typeface="Helvetica Neue"/>
              </a:rPr>
              <a:t>sustituyen</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ni</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reducen</a:t>
            </a:r>
            <a:r>
              <a:rPr lang="en-US" sz="900" i="1" dirty="0">
                <a:solidFill>
                  <a:srgbClr val="333333"/>
                </a:solidFill>
                <a:latin typeface="Helvetica Neue"/>
                <a:ea typeface="Helvetica Neue"/>
                <a:cs typeface="Helvetica Neue"/>
                <a:sym typeface="Helvetica Neue"/>
              </a:rPr>
              <a:t> los </a:t>
            </a:r>
            <a:r>
              <a:rPr lang="en-US" sz="900" i="1" dirty="0" err="1">
                <a:solidFill>
                  <a:srgbClr val="333333"/>
                </a:solidFill>
                <a:latin typeface="Helvetica Neue"/>
                <a:ea typeface="Helvetica Neue"/>
                <a:cs typeface="Helvetica Neue"/>
                <a:sym typeface="Helvetica Neue"/>
              </a:rPr>
              <a:t>derechos</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que</a:t>
            </a:r>
            <a:r>
              <a:rPr lang="en-US" sz="900" i="1" dirty="0">
                <a:solidFill>
                  <a:srgbClr val="333333"/>
                </a:solidFill>
                <a:latin typeface="Helvetica Neue"/>
                <a:ea typeface="Helvetica Neue"/>
                <a:cs typeface="Helvetica Neue"/>
                <a:sym typeface="Helvetica Neue"/>
              </a:rPr>
              <a:t> la </a:t>
            </a:r>
            <a:r>
              <a:rPr lang="en-US" sz="900" i="1" dirty="0" err="1">
                <a:solidFill>
                  <a:srgbClr val="333333"/>
                </a:solidFill>
                <a:latin typeface="Helvetica Neue"/>
                <a:ea typeface="Helvetica Neue"/>
                <a:cs typeface="Helvetica Neue"/>
                <a:sym typeface="Helvetica Neue"/>
              </a:rPr>
              <a:t>ley</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confiere</a:t>
            </a:r>
            <a:r>
              <a:rPr lang="en-US" sz="900" i="1" dirty="0">
                <a:solidFill>
                  <a:srgbClr val="333333"/>
                </a:solidFill>
                <a:latin typeface="Helvetica Neue"/>
                <a:ea typeface="Helvetica Neue"/>
                <a:cs typeface="Helvetica Neue"/>
                <a:sym typeface="Helvetica Neue"/>
              </a:rPr>
              <a:t> al </a:t>
            </a:r>
            <a:r>
              <a:rPr lang="en-US" sz="900" i="1" dirty="0" err="1">
                <a:solidFill>
                  <a:srgbClr val="333333"/>
                </a:solidFill>
                <a:latin typeface="Helvetica Neue"/>
                <a:ea typeface="Helvetica Neue"/>
                <a:cs typeface="Helvetica Neue"/>
                <a:sym typeface="Helvetica Neue"/>
              </a:rPr>
              <a:t>autor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tanto</a:t>
            </a:r>
            <a:r>
              <a:rPr lang="en-US" sz="900" i="1" dirty="0">
                <a:solidFill>
                  <a:srgbClr val="333333"/>
                </a:solidFill>
                <a:latin typeface="Helvetica Neue"/>
                <a:ea typeface="Helvetica Neue"/>
                <a:cs typeface="Helvetica Neue"/>
                <a:sym typeface="Helvetica Neue"/>
              </a:rPr>
              <a:t>, el </a:t>
            </a:r>
            <a:r>
              <a:rPr lang="en-US" sz="900" i="1" dirty="0" err="1">
                <a:solidFill>
                  <a:srgbClr val="333333"/>
                </a:solidFill>
                <a:latin typeface="Helvetica Neue"/>
                <a:ea typeface="Helvetica Neue"/>
                <a:cs typeface="Helvetica Neue"/>
                <a:sym typeface="Helvetica Neue"/>
              </a:rPr>
              <a:t>autor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podría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demandar</a:t>
            </a:r>
            <a:r>
              <a:rPr lang="en-US" sz="900" i="1" dirty="0">
                <a:solidFill>
                  <a:srgbClr val="333333"/>
                </a:solidFill>
                <a:latin typeface="Helvetica Neue"/>
                <a:ea typeface="Helvetica Neue"/>
                <a:cs typeface="Helvetica Neue"/>
                <a:sym typeface="Helvetica Neue"/>
              </a:rPr>
              <a:t> a un </a:t>
            </a:r>
            <a:r>
              <a:rPr lang="en-US" sz="900" i="1" dirty="0" err="1">
                <a:solidFill>
                  <a:srgbClr val="333333"/>
                </a:solidFill>
                <a:latin typeface="Helvetica Neue"/>
                <a:ea typeface="Helvetica Neue"/>
                <a:cs typeface="Helvetica Neue"/>
                <a:sym typeface="Helvetica Neue"/>
              </a:rPr>
              <a:t>usuario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que</a:t>
            </a:r>
            <a:r>
              <a:rPr lang="en-US" sz="900" i="1" dirty="0">
                <a:solidFill>
                  <a:srgbClr val="333333"/>
                </a:solidFill>
                <a:latin typeface="Helvetica Neue"/>
                <a:ea typeface="Helvetica Neue"/>
                <a:cs typeface="Helvetica Neue"/>
                <a:sym typeface="Helvetica Neue"/>
              </a:rPr>
              <a:t>, con </a:t>
            </a:r>
            <a:r>
              <a:rPr lang="en-US" sz="900" i="1" dirty="0" err="1">
                <a:solidFill>
                  <a:srgbClr val="333333"/>
                </a:solidFill>
                <a:latin typeface="Helvetica Neue"/>
                <a:ea typeface="Helvetica Neue"/>
                <a:cs typeface="Helvetica Neue"/>
                <a:sym typeface="Helvetica Neue"/>
              </a:rPr>
              <a:t>cualquier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licencia</a:t>
            </a:r>
            <a:r>
              <a:rPr lang="en-US" sz="900" i="1" dirty="0">
                <a:solidFill>
                  <a:srgbClr val="333333"/>
                </a:solidFill>
                <a:latin typeface="Helvetica Neue"/>
                <a:ea typeface="Helvetica Neue"/>
                <a:cs typeface="Helvetica Neue"/>
                <a:sym typeface="Helvetica Neue"/>
              </a:rPr>
              <a:t> Creative Commons, </a:t>
            </a:r>
            <a:r>
              <a:rPr lang="en-US" sz="900" i="1" dirty="0" err="1">
                <a:solidFill>
                  <a:srgbClr val="333333"/>
                </a:solidFill>
                <a:latin typeface="Helvetica Neue"/>
                <a:ea typeface="Helvetica Neue"/>
                <a:cs typeface="Helvetica Neue"/>
                <a:sym typeface="Helvetica Neue"/>
              </a:rPr>
              <a:t>hubiera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modificado</a:t>
            </a:r>
            <a:r>
              <a:rPr lang="en-US" sz="900" i="1" dirty="0">
                <a:solidFill>
                  <a:srgbClr val="333333"/>
                </a:solidFill>
                <a:latin typeface="Helvetica Neue"/>
                <a:ea typeface="Helvetica Neue"/>
                <a:cs typeface="Helvetica Neue"/>
                <a:sym typeface="Helvetica Neue"/>
              </a:rPr>
              <a:t> o </a:t>
            </a:r>
            <a:r>
              <a:rPr lang="en-US" sz="900" i="1" dirty="0" err="1">
                <a:solidFill>
                  <a:srgbClr val="333333"/>
                </a:solidFill>
                <a:latin typeface="Helvetica Neue"/>
                <a:ea typeface="Helvetica Neue"/>
                <a:cs typeface="Helvetica Neue"/>
                <a:sym typeface="Helvetica Neue"/>
              </a:rPr>
              <a:t>mutilado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su</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obra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causando</a:t>
            </a:r>
            <a:r>
              <a:rPr lang="en-US" sz="900" i="1" dirty="0">
                <a:solidFill>
                  <a:srgbClr val="333333"/>
                </a:solidFill>
                <a:latin typeface="Helvetica Neue"/>
                <a:ea typeface="Helvetica Neue"/>
                <a:cs typeface="Helvetica Neue"/>
                <a:sym typeface="Helvetica Neue"/>
              </a:rPr>
              <a:t> un </a:t>
            </a:r>
            <a:r>
              <a:rPr lang="en-US" sz="900" i="1" dirty="0" err="1">
                <a:solidFill>
                  <a:srgbClr val="333333"/>
                </a:solidFill>
                <a:latin typeface="Helvetica Neue"/>
                <a:ea typeface="Helvetica Neue"/>
                <a:cs typeface="Helvetica Neue"/>
                <a:sym typeface="Helvetica Neue"/>
              </a:rPr>
              <a:t>perjuicio</a:t>
            </a:r>
            <a:r>
              <a:rPr lang="en-US" sz="900" i="1" dirty="0">
                <a:solidFill>
                  <a:srgbClr val="333333"/>
                </a:solidFill>
                <a:latin typeface="Helvetica Neue"/>
                <a:ea typeface="Helvetica Neue"/>
                <a:cs typeface="Helvetica Neue"/>
                <a:sym typeface="Helvetica Neue"/>
              </a:rPr>
              <a:t> a </a:t>
            </a:r>
            <a:r>
              <a:rPr lang="en-US" sz="900" i="1" dirty="0" err="1">
                <a:solidFill>
                  <a:srgbClr val="333333"/>
                </a:solidFill>
                <a:latin typeface="Helvetica Neue"/>
                <a:ea typeface="Helvetica Neue"/>
                <a:cs typeface="Helvetica Neue"/>
                <a:sym typeface="Helvetica Neue"/>
              </a:rPr>
              <a:t>su</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reputación</a:t>
            </a:r>
            <a:r>
              <a:rPr lang="en-US" sz="900" i="1" dirty="0">
                <a:solidFill>
                  <a:srgbClr val="333333"/>
                </a:solidFill>
                <a:latin typeface="Helvetica Neue"/>
                <a:ea typeface="Helvetica Neue"/>
                <a:cs typeface="Helvetica Neue"/>
                <a:sym typeface="Helvetica Neue"/>
              </a:rPr>
              <a:t> o </a:t>
            </a:r>
            <a:r>
              <a:rPr lang="en-US" sz="900" i="1" dirty="0" err="1">
                <a:solidFill>
                  <a:srgbClr val="333333"/>
                </a:solidFill>
                <a:latin typeface="Helvetica Neue"/>
                <a:ea typeface="Helvetica Neue"/>
                <a:cs typeface="Helvetica Neue"/>
                <a:sym typeface="Helvetica Neue"/>
              </a:rPr>
              <a:t>sus</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intereses</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descontado</a:t>
            </a:r>
            <a:r>
              <a:rPr lang="en-US" sz="900" i="1" dirty="0">
                <a:solidFill>
                  <a:srgbClr val="333333"/>
                </a:solidFill>
                <a:latin typeface="Helvetica Neue"/>
                <a:ea typeface="Helvetica Neue"/>
                <a:cs typeface="Helvetica Neue"/>
                <a:sym typeface="Helvetica Neue"/>
              </a:rPr>
              <a:t>, la </a:t>
            </a:r>
            <a:r>
              <a:rPr lang="en-US" sz="900" i="1" dirty="0" err="1">
                <a:solidFill>
                  <a:srgbClr val="333333"/>
                </a:solidFill>
                <a:latin typeface="Helvetica Neue"/>
                <a:ea typeface="Helvetica Neue"/>
                <a:cs typeface="Helvetica Neue"/>
                <a:sym typeface="Helvetica Neue"/>
              </a:rPr>
              <a:t>decisión</a:t>
            </a:r>
            <a:r>
              <a:rPr lang="en-US" sz="900" i="1" dirty="0">
                <a:solidFill>
                  <a:srgbClr val="333333"/>
                </a:solidFill>
                <a:latin typeface="Helvetica Neue"/>
                <a:ea typeface="Helvetica Neue"/>
                <a:cs typeface="Helvetica Neue"/>
                <a:sym typeface="Helvetica Neue"/>
              </a:rPr>
              <a:t> de </a:t>
            </a:r>
            <a:r>
              <a:rPr lang="en-US" sz="900" i="1" dirty="0" err="1">
                <a:solidFill>
                  <a:srgbClr val="333333"/>
                </a:solidFill>
                <a:latin typeface="Helvetica Neue"/>
                <a:ea typeface="Helvetica Neue"/>
                <a:cs typeface="Helvetica Neue"/>
                <a:sym typeface="Helvetica Neue"/>
              </a:rPr>
              <a:t>cuándo</a:t>
            </a:r>
            <a:r>
              <a:rPr lang="en-US" sz="900" i="1" dirty="0">
                <a:solidFill>
                  <a:srgbClr val="333333"/>
                </a:solidFill>
                <a:latin typeface="Helvetica Neue"/>
                <a:ea typeface="Helvetica Neue"/>
                <a:cs typeface="Helvetica Neue"/>
                <a:sym typeface="Helvetica Neue"/>
              </a:rPr>
              <a:t> ha </a:t>
            </a:r>
            <a:r>
              <a:rPr lang="en-US" sz="900" i="1" dirty="0" err="1">
                <a:solidFill>
                  <a:srgbClr val="333333"/>
                </a:solidFill>
                <a:latin typeface="Helvetica Neue"/>
                <a:ea typeface="Helvetica Neue"/>
                <a:cs typeface="Helvetica Neue"/>
                <a:sym typeface="Helvetica Neue"/>
              </a:rPr>
              <a:t>habido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mutilación</a:t>
            </a:r>
            <a:r>
              <a:rPr lang="en-US" sz="900" i="1" dirty="0">
                <a:solidFill>
                  <a:srgbClr val="333333"/>
                </a:solidFill>
                <a:latin typeface="Helvetica Neue"/>
                <a:ea typeface="Helvetica Neue"/>
                <a:cs typeface="Helvetica Neue"/>
                <a:sym typeface="Helvetica Neue"/>
              </a:rPr>
              <a:t> y de </a:t>
            </a:r>
            <a:r>
              <a:rPr lang="en-US" sz="900" i="1" dirty="0" err="1">
                <a:solidFill>
                  <a:srgbClr val="333333"/>
                </a:solidFill>
                <a:latin typeface="Helvetica Neue"/>
                <a:ea typeface="Helvetica Neue"/>
                <a:cs typeface="Helvetica Neue"/>
                <a:sym typeface="Helvetica Neue"/>
              </a:rPr>
              <a:t>cuándo</a:t>
            </a:r>
            <a:r>
              <a:rPr lang="en-US" sz="900" i="1" dirty="0">
                <a:solidFill>
                  <a:srgbClr val="333333"/>
                </a:solidFill>
                <a:latin typeface="Helvetica Neue"/>
                <a:ea typeface="Helvetica Neue"/>
                <a:cs typeface="Helvetica Neue"/>
                <a:sym typeface="Helvetica Neue"/>
              </a:rPr>
              <a:t> la </a:t>
            </a:r>
            <a:r>
              <a:rPr lang="en-US" sz="900" i="1" dirty="0" err="1">
                <a:solidFill>
                  <a:srgbClr val="333333"/>
                </a:solidFill>
                <a:latin typeface="Helvetica Neue"/>
                <a:ea typeface="Helvetica Neue"/>
                <a:cs typeface="Helvetica Neue"/>
                <a:sym typeface="Helvetica Neue"/>
              </a:rPr>
              <a:t>mutilación</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perjudica</a:t>
            </a:r>
            <a:r>
              <a:rPr lang="en-US" sz="900" i="1" dirty="0">
                <a:solidFill>
                  <a:srgbClr val="333333"/>
                </a:solidFill>
                <a:latin typeface="Helvetica Neue"/>
                <a:ea typeface="Helvetica Neue"/>
                <a:cs typeface="Helvetica Neue"/>
                <a:sym typeface="Helvetica Neue"/>
              </a:rPr>
              <a:t> la </a:t>
            </a:r>
            <a:r>
              <a:rPr lang="en-US" sz="900" i="1" dirty="0" err="1">
                <a:solidFill>
                  <a:srgbClr val="333333"/>
                </a:solidFill>
                <a:latin typeface="Helvetica Neue"/>
                <a:ea typeface="Helvetica Neue"/>
                <a:cs typeface="Helvetica Neue"/>
                <a:sym typeface="Helvetica Neue"/>
              </a:rPr>
              <a:t>reputación</a:t>
            </a:r>
            <a:r>
              <a:rPr lang="en-US" sz="900" i="1" dirty="0">
                <a:solidFill>
                  <a:srgbClr val="333333"/>
                </a:solidFill>
                <a:latin typeface="Helvetica Neue"/>
                <a:ea typeface="Helvetica Neue"/>
                <a:cs typeface="Helvetica Neue"/>
                <a:sym typeface="Helvetica Neue"/>
              </a:rPr>
              <a:t> o los </a:t>
            </a:r>
            <a:r>
              <a:rPr lang="en-US" sz="900" i="1" dirty="0" err="1">
                <a:solidFill>
                  <a:srgbClr val="333333"/>
                </a:solidFill>
                <a:latin typeface="Helvetica Neue"/>
                <a:ea typeface="Helvetica Neue"/>
                <a:cs typeface="Helvetica Neue"/>
                <a:sym typeface="Helvetica Neue"/>
              </a:rPr>
              <a:t>intereses</a:t>
            </a:r>
            <a:r>
              <a:rPr lang="en-US" sz="900" i="1" dirty="0">
                <a:solidFill>
                  <a:srgbClr val="333333"/>
                </a:solidFill>
                <a:latin typeface="Helvetica Neue"/>
                <a:ea typeface="Helvetica Neue"/>
                <a:cs typeface="Helvetica Neue"/>
                <a:sym typeface="Helvetica Neue"/>
              </a:rPr>
              <a:t> del </a:t>
            </a:r>
            <a:r>
              <a:rPr lang="en-US" sz="900" i="1" dirty="0" err="1">
                <a:solidFill>
                  <a:srgbClr val="333333"/>
                </a:solidFill>
                <a:latin typeface="Helvetica Neue"/>
                <a:ea typeface="Helvetica Neue"/>
                <a:cs typeface="Helvetica Neue"/>
                <a:sym typeface="Helvetica Neue"/>
              </a:rPr>
              <a:t>autor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quedaría</a:t>
            </a:r>
            <a:r>
              <a:rPr lang="en-US" sz="900" i="1" dirty="0">
                <a:solidFill>
                  <a:srgbClr val="333333"/>
                </a:solidFill>
                <a:latin typeface="Helvetica Neue"/>
                <a:ea typeface="Helvetica Neue"/>
                <a:cs typeface="Helvetica Neue"/>
                <a:sym typeface="Helvetica Neue"/>
              </a:rPr>
              <a:t> en </a:t>
            </a:r>
            <a:r>
              <a:rPr lang="en-US" sz="900" i="1" dirty="0" err="1">
                <a:solidFill>
                  <a:srgbClr val="333333"/>
                </a:solidFill>
                <a:latin typeface="Helvetica Neue"/>
                <a:ea typeface="Helvetica Neue"/>
                <a:cs typeface="Helvetica Neue"/>
                <a:sym typeface="Helvetica Neue"/>
              </a:rPr>
              <a:t>manos</a:t>
            </a:r>
            <a:r>
              <a:rPr lang="en-US" sz="900" i="1" dirty="0">
                <a:solidFill>
                  <a:srgbClr val="333333"/>
                </a:solidFill>
                <a:latin typeface="Helvetica Neue"/>
                <a:ea typeface="Helvetica Neue"/>
                <a:cs typeface="Helvetica Neue"/>
                <a:sym typeface="Helvetica Neue"/>
              </a:rPr>
              <a:t> de </a:t>
            </a:r>
            <a:r>
              <a:rPr lang="en-US" sz="900" i="1" dirty="0" err="1">
                <a:solidFill>
                  <a:srgbClr val="333333"/>
                </a:solidFill>
                <a:latin typeface="Helvetica Neue"/>
                <a:ea typeface="Helvetica Neue"/>
                <a:cs typeface="Helvetica Neue"/>
                <a:sym typeface="Helvetica Neue"/>
              </a:rPr>
              <a:t>cada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Juez</a:t>
            </a:r>
            <a:r>
              <a:rPr lang="en-US" sz="900" i="1" dirty="0">
                <a:solidFill>
                  <a:srgbClr val="333333"/>
                </a:solidFill>
                <a:latin typeface="Helvetica Neue"/>
                <a:ea typeface="Helvetica Neue"/>
                <a:cs typeface="Helvetica Neue"/>
                <a:sym typeface="Helvetica Neue"/>
              </a:rPr>
              <a:t> o Tribunal.</a:t>
            </a:r>
            <a:endParaRPr sz="900" i="1">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6FE46F-5C5F-42E4-0EE0-DCA8DD93D77D}"/>
              </a:ext>
            </a:extLst>
          </p:cNvPr>
          <p:cNvSpPr>
            <a:spLocks noGrp="1"/>
          </p:cNvSpPr>
          <p:nvPr>
            <p:ph type="title"/>
          </p:nvPr>
        </p:nvSpPr>
        <p:spPr>
          <a:xfrm>
            <a:off x="323528" y="358388"/>
            <a:ext cx="8568952" cy="857400"/>
          </a:xfrm>
        </p:spPr>
        <p:txBody>
          <a:bodyPr/>
          <a:lstStyle/>
          <a:p>
            <a:endParaRPr lang="es-ES" dirty="0"/>
          </a:p>
        </p:txBody>
      </p:sp>
      <p:sp>
        <p:nvSpPr>
          <p:cNvPr id="3" name="Marcador de texto 2">
            <a:extLst>
              <a:ext uri="{FF2B5EF4-FFF2-40B4-BE49-F238E27FC236}">
                <a16:creationId xmlns:a16="http://schemas.microsoft.com/office/drawing/2014/main" id="{B1014993-C5BC-6AF9-01D2-3AF47E53C390}"/>
              </a:ext>
            </a:extLst>
          </p:cNvPr>
          <p:cNvSpPr>
            <a:spLocks noGrp="1"/>
          </p:cNvSpPr>
          <p:nvPr>
            <p:ph type="body" idx="1"/>
          </p:nvPr>
        </p:nvSpPr>
        <p:spPr>
          <a:xfrm>
            <a:off x="323528" y="1373588"/>
            <a:ext cx="8568952" cy="3552300"/>
          </a:xfrm>
        </p:spPr>
        <p:txBody>
          <a:bodyPr/>
          <a:lstStyle/>
          <a:p>
            <a:pPr marL="114300" indent="0">
              <a:buNone/>
            </a:pPr>
            <a:r>
              <a:rPr lang="es-ES" sz="1800" dirty="0"/>
              <a:t>Hasta el momento en el Manual de PHP hemos aprendido muchos asuntos interesantes con el lenguaje de programación, como las estructuras de control para hacer bucles y condicionales. </a:t>
            </a:r>
          </a:p>
          <a:p>
            <a:pPr marL="114300" indent="0">
              <a:buNone/>
            </a:pPr>
            <a:endParaRPr lang="es-ES" sz="1800" dirty="0"/>
          </a:p>
          <a:p>
            <a:pPr marL="114300" indent="0">
              <a:buNone/>
            </a:pPr>
            <a:r>
              <a:rPr lang="es-ES" sz="1800" dirty="0"/>
              <a:t>Seguro que ya te </a:t>
            </a:r>
            <a:r>
              <a:rPr lang="es-ES" sz="1800" dirty="0" err="1"/>
              <a:t>abrán</a:t>
            </a:r>
            <a:r>
              <a:rPr lang="es-ES" sz="1800" dirty="0"/>
              <a:t> abierto muchas posibilidades. </a:t>
            </a:r>
          </a:p>
          <a:p>
            <a:pPr marL="114300" indent="0">
              <a:buNone/>
            </a:pPr>
            <a:endParaRPr lang="es-ES" sz="1800" dirty="0"/>
          </a:p>
          <a:p>
            <a:pPr marL="114300" indent="0">
              <a:buNone/>
            </a:pPr>
            <a:r>
              <a:rPr lang="es-ES" sz="1800" dirty="0"/>
              <a:t>Sin embargo, un sitio web está compuesto por diversas páginas y cada una de ellas contiene código que, en principio se ejecuta de manera independiente.</a:t>
            </a:r>
          </a:p>
        </p:txBody>
      </p:sp>
      <p:sp>
        <p:nvSpPr>
          <p:cNvPr id="4" name="Marcador de número de diapositiva 3">
            <a:extLst>
              <a:ext uri="{FF2B5EF4-FFF2-40B4-BE49-F238E27FC236}">
                <a16:creationId xmlns:a16="http://schemas.microsoft.com/office/drawing/2014/main" id="{B084EE17-E59F-9057-41C3-47CB1C7FB1AA}"/>
              </a:ext>
            </a:extLst>
          </p:cNvPr>
          <p:cNvSpPr>
            <a:spLocks noGrp="1"/>
          </p:cNvSpPr>
          <p:nvPr>
            <p:ph type="sldNum" idx="10"/>
          </p:nvPr>
        </p:nvSpPr>
        <p:spPr/>
        <p:txBody>
          <a:bodyPr/>
          <a:lstStyle/>
          <a:p>
            <a:fld id="{00000000-1234-1234-1234-123412341234}" type="slidenum">
              <a:rPr lang="es-ES" smtClean="0"/>
              <a:pPr/>
              <a:t>3</a:t>
            </a:fld>
            <a:endParaRPr lang="es-ES" dirty="0"/>
          </a:p>
        </p:txBody>
      </p:sp>
    </p:spTree>
    <p:extLst>
      <p:ext uri="{BB962C8B-B14F-4D97-AF65-F5344CB8AC3E}">
        <p14:creationId xmlns:p14="http://schemas.microsoft.com/office/powerpoint/2010/main" val="6366863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8248F34A-677B-8599-E8E2-7AFBDAD94672}"/>
              </a:ext>
            </a:extLst>
          </p:cNvPr>
          <p:cNvSpPr>
            <a:spLocks noGrp="1"/>
          </p:cNvSpPr>
          <p:nvPr>
            <p:ph type="body" idx="1"/>
          </p:nvPr>
        </p:nvSpPr>
        <p:spPr>
          <a:xfrm>
            <a:off x="107504" y="1232811"/>
            <a:ext cx="8656534" cy="3552300"/>
          </a:xfrm>
        </p:spPr>
        <p:txBody>
          <a:bodyPr/>
          <a:lstStyle/>
          <a:p>
            <a:r>
              <a:rPr lang="es-ES" sz="1600" dirty="0"/>
              <a:t>Muy a menudo necesitamos que nuestros distintos scripts, en cada archivo de PHP (o página) por separado, estén conectados unos con otros y que se sirvan de variables comunes. Por otro lado, el usuario interacciona por medio de formularios cuyos campos han de ser procesados para poder dar una respuesta. Todo este tipo de factores dinámicos han de ser eficazmente regulados por un lenguaje como PHP.</a:t>
            </a:r>
          </a:p>
          <a:p>
            <a:endParaRPr lang="es-ES" sz="1600" dirty="0"/>
          </a:p>
          <a:p>
            <a:r>
              <a:rPr lang="es-ES" sz="1600" dirty="0"/>
              <a:t>El objetivo final es conseguir que un conglomerado de páginas sueltas se comporte como una aplicación y en este sentido PHP ofrece diversos mecanismos muy útiles,</a:t>
            </a:r>
          </a:p>
        </p:txBody>
      </p:sp>
      <p:sp>
        <p:nvSpPr>
          <p:cNvPr id="4" name="Marcador de número de diapositiva 3">
            <a:extLst>
              <a:ext uri="{FF2B5EF4-FFF2-40B4-BE49-F238E27FC236}">
                <a16:creationId xmlns:a16="http://schemas.microsoft.com/office/drawing/2014/main" id="{E6A00363-BBF8-CB92-C57B-7677FD8623E3}"/>
              </a:ext>
            </a:extLst>
          </p:cNvPr>
          <p:cNvSpPr>
            <a:spLocks noGrp="1"/>
          </p:cNvSpPr>
          <p:nvPr>
            <p:ph type="sldNum" idx="10"/>
          </p:nvPr>
        </p:nvSpPr>
        <p:spPr/>
        <p:txBody>
          <a:bodyPr/>
          <a:lstStyle/>
          <a:p>
            <a:fld id="{00000000-1234-1234-1234-123412341234}" type="slidenum">
              <a:rPr lang="es-ES" smtClean="0"/>
              <a:pPr/>
              <a:t>4</a:t>
            </a:fld>
            <a:endParaRPr lang="es-ES" dirty="0"/>
          </a:p>
        </p:txBody>
      </p:sp>
      <p:sp>
        <p:nvSpPr>
          <p:cNvPr id="7" name="Título 6">
            <a:extLst>
              <a:ext uri="{FF2B5EF4-FFF2-40B4-BE49-F238E27FC236}">
                <a16:creationId xmlns:a16="http://schemas.microsoft.com/office/drawing/2014/main" id="{959E78B8-D909-47A0-E38A-BA20E5808E78}"/>
              </a:ext>
            </a:extLst>
          </p:cNvPr>
          <p:cNvSpPr>
            <a:spLocks noGrp="1"/>
          </p:cNvSpPr>
          <p:nvPr>
            <p:ph type="title"/>
          </p:nvPr>
        </p:nvSpPr>
        <p:spPr/>
        <p:txBody>
          <a:bodyPr/>
          <a:lstStyle/>
          <a:p>
            <a:endParaRPr lang="es-ES"/>
          </a:p>
        </p:txBody>
      </p:sp>
    </p:spTree>
    <p:extLst>
      <p:ext uri="{BB962C8B-B14F-4D97-AF65-F5344CB8AC3E}">
        <p14:creationId xmlns:p14="http://schemas.microsoft.com/office/powerpoint/2010/main" val="40764779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107504" y="181041"/>
            <a:ext cx="8928992" cy="857400"/>
          </a:xfrm>
        </p:spPr>
        <p:txBody>
          <a:bodyPr/>
          <a:lstStyle/>
          <a:p>
            <a:pPr algn="l"/>
            <a:r>
              <a:rPr lang="es-ES" b="0" i="0" dirty="0">
                <a:solidFill>
                  <a:srgbClr val="000000"/>
                </a:solidFill>
                <a:effectLst/>
                <a:latin typeface="Roboto" panose="02000000000000000000" pitchFamily="2" charset="0"/>
              </a:rPr>
              <a:t>Pasar variables por URL</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5</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323528" y="1118194"/>
            <a:ext cx="8352928" cy="3552300"/>
          </a:xfrm>
        </p:spPr>
        <p:txBody>
          <a:bodyPr/>
          <a:lstStyle/>
          <a:p>
            <a:r>
              <a:rPr lang="es-ES" sz="1600" dirty="0"/>
              <a:t>Es posible que ya os hayáis percatado de que las variables de un script tienen una validez exclusiva para el script y que nos resulta imposible conservar su valor cuando ejecutamos otro archivo distinto, aunque ambos estén en el mismo dominio y sus páginas estén vinculadas con enlaces HTML.</a:t>
            </a:r>
          </a:p>
          <a:p>
            <a:endParaRPr lang="es-ES" sz="1600" dirty="0"/>
          </a:p>
          <a:p>
            <a:r>
              <a:rPr lang="es-ES" sz="1600" dirty="0"/>
              <a:t>Existen varias formas de enviar las variables de una página a otra, de manera a que la página destino reconozca el valor asignado por el script de origen. En este artículo te vamos a explicar cómo enviar los datos por medio de la URL, lo que se conoce técnicamente como envío de datos por "GET".</a:t>
            </a:r>
          </a:p>
        </p:txBody>
      </p:sp>
    </p:spTree>
    <p:extLst>
      <p:ext uri="{BB962C8B-B14F-4D97-AF65-F5344CB8AC3E}">
        <p14:creationId xmlns:p14="http://schemas.microsoft.com/office/powerpoint/2010/main" val="9052262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107504" y="268748"/>
            <a:ext cx="8496944" cy="857400"/>
          </a:xfrm>
        </p:spPr>
        <p:txBody>
          <a:bodyPr/>
          <a:lstStyle/>
          <a:p>
            <a:pPr algn="l"/>
            <a:endParaRPr lang="es-ES" b="0" i="0" dirty="0">
              <a:solidFill>
                <a:srgbClr val="000000"/>
              </a:solidFill>
              <a:effectLst/>
              <a:latin typeface="Roboto" panose="02000000000000000000" pitchFamily="2" charset="0"/>
            </a:endParaRP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6</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107504" y="987574"/>
            <a:ext cx="8712968" cy="1080120"/>
          </a:xfrm>
        </p:spPr>
        <p:txBody>
          <a:bodyPr/>
          <a:lstStyle/>
          <a:p>
            <a:r>
              <a:rPr lang="es-ES" sz="1600" dirty="0"/>
              <a:t>Para pasar las variables de una página a otra lo podemos hacer introduciendo dicha variable dentro del enlace hipertexto de la página destino. La sintaxis sería la siguiente:</a:t>
            </a:r>
          </a:p>
        </p:txBody>
      </p:sp>
      <p:sp>
        <p:nvSpPr>
          <p:cNvPr id="3" name="Rectangle 1">
            <a:extLst>
              <a:ext uri="{FF2B5EF4-FFF2-40B4-BE49-F238E27FC236}">
                <a16:creationId xmlns:a16="http://schemas.microsoft.com/office/drawing/2014/main" id="{D719386F-B7AB-0041-4736-26C4CA5510DE}"/>
              </a:ext>
            </a:extLst>
          </p:cNvPr>
          <p:cNvSpPr>
            <a:spLocks noChangeArrowheads="1"/>
          </p:cNvSpPr>
          <p:nvPr/>
        </p:nvSpPr>
        <p:spPr bwMode="auto">
          <a:xfrm>
            <a:off x="467544" y="2453098"/>
            <a:ext cx="7800212" cy="406471"/>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657B83"/>
                </a:solidFill>
                <a:effectLst/>
                <a:latin typeface="Consolas" panose="020B0609020204030204" pitchFamily="49" charset="0"/>
              </a:rPr>
              <a:t>&lt;a href=</a:t>
            </a:r>
            <a:r>
              <a:rPr kumimoji="0" lang="es-ES" altLang="es-ES" sz="1600" b="0" i="0" u="none" strike="noStrike" cap="none" normalizeH="0" baseline="0">
                <a:ln>
                  <a:noFill/>
                </a:ln>
                <a:solidFill>
                  <a:srgbClr val="2AA198"/>
                </a:solidFill>
                <a:effectLst/>
                <a:latin typeface="Consolas" panose="020B0609020204030204" pitchFamily="49" charset="0"/>
              </a:rPr>
              <a:t>"destino.php?variable1=valor1&amp;variable2=valor2"</a:t>
            </a:r>
            <a:r>
              <a:rPr kumimoji="0" lang="es-ES" altLang="es-ES" sz="1600" b="0" i="0" u="none" strike="noStrike" cap="none" normalizeH="0" baseline="0">
                <a:ln>
                  <a:noFill/>
                </a:ln>
                <a:solidFill>
                  <a:srgbClr val="657B83"/>
                </a:solidFill>
                <a:effectLst/>
                <a:latin typeface="Consolas" panose="020B0609020204030204" pitchFamily="49" charset="0"/>
              </a:rPr>
              <a:t>&gt;Mi enlace&lt;/a&gt;</a:t>
            </a:r>
            <a:r>
              <a:rPr kumimoji="0" lang="es-ES" altLang="es-ES" sz="1600" b="0" i="0" u="none" strike="noStrike" cap="none" normalizeH="0" baseline="0">
                <a:ln>
                  <a:noFill/>
                </a:ln>
                <a:solidFill>
                  <a:schemeClr val="tx1"/>
                </a:solidFill>
                <a:effectLst/>
              </a:rPr>
              <a:t> </a:t>
            </a:r>
            <a:endParaRPr kumimoji="0" lang="es-ES" altLang="es-ES" sz="16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860137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7</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3087" y="195486"/>
            <a:ext cx="8496944" cy="1669580"/>
          </a:xfrm>
        </p:spPr>
        <p:txBody>
          <a:bodyPr/>
          <a:lstStyle/>
          <a:p>
            <a:pPr marL="114300" indent="0">
              <a:buNone/>
            </a:pPr>
            <a:r>
              <a:rPr lang="es-ES" sz="1600" dirty="0"/>
              <a:t>Mediante el enlace anterior estaríamos enviando dos variables a la página de </a:t>
            </a:r>
            <a:r>
              <a:rPr lang="es-ES" sz="1600" dirty="0" err="1"/>
              <a:t>destino.php</a:t>
            </a:r>
            <a:r>
              <a:rPr lang="es-ES" sz="1600" dirty="0"/>
              <a:t>.</a:t>
            </a:r>
          </a:p>
          <a:p>
            <a:pPr marL="114300" indent="0">
              <a:buNone/>
            </a:pPr>
            <a:endParaRPr lang="es-ES" sz="1600" dirty="0"/>
          </a:p>
          <a:p>
            <a:pPr marL="114300" indent="0">
              <a:buNone/>
            </a:pPr>
            <a:r>
              <a:rPr lang="es-ES" sz="1600" dirty="0"/>
              <a:t>variable1 con el dato "valor1"</a:t>
            </a:r>
          </a:p>
          <a:p>
            <a:pPr marL="114300" indent="0">
              <a:buNone/>
            </a:pPr>
            <a:r>
              <a:rPr lang="es-ES" sz="1600" dirty="0"/>
              <a:t>variable2 con el dato "valor2“</a:t>
            </a:r>
          </a:p>
          <a:p>
            <a:pPr marL="114300" indent="0">
              <a:buNone/>
            </a:pPr>
            <a:endParaRPr lang="es-ES" sz="1600" dirty="0"/>
          </a:p>
          <a:p>
            <a:pPr marL="114300" indent="0">
              <a:buNone/>
            </a:pPr>
            <a:r>
              <a:rPr lang="es-ES" sz="1600" dirty="0"/>
              <a:t>Podéis observar que estas variables no poseen el símbolo $ delante. Esto es debido a que en realidad este modo de pasar variables no es específico de PHP sino que es utilizado por el protocolo HTTP en general.</a:t>
            </a:r>
          </a:p>
          <a:p>
            <a:pPr marL="114300" indent="0">
              <a:buNone/>
            </a:pPr>
            <a:endParaRPr lang="es-ES" sz="1600" dirty="0"/>
          </a:p>
          <a:p>
            <a:pPr marL="114300" indent="0">
              <a:buNone/>
            </a:pPr>
            <a:r>
              <a:rPr lang="es-ES" sz="1600" dirty="0"/>
              <a:t>Ahora nuestra variable pertenece también al entorno de la página </a:t>
            </a:r>
            <a:r>
              <a:rPr lang="es-ES" sz="1600" dirty="0" err="1"/>
              <a:t>destino.php</a:t>
            </a:r>
            <a:r>
              <a:rPr lang="es-ES" sz="1600" dirty="0"/>
              <a:t> y está lista para su explotación.</a:t>
            </a:r>
          </a:p>
          <a:p>
            <a:pPr marL="114300" indent="0">
              <a:buNone/>
            </a:pPr>
            <a:endParaRPr lang="es-ES" sz="1600" dirty="0"/>
          </a:p>
          <a:p>
            <a:pPr marL="114300" indent="0">
              <a:buNone/>
            </a:pPr>
            <a:r>
              <a:rPr lang="es-ES" sz="1600" dirty="0"/>
              <a:t>En la página de destino tendrás que recibir las variables mediante un array </a:t>
            </a:r>
            <a:r>
              <a:rPr lang="es-ES" sz="1600" dirty="0" err="1"/>
              <a:t>superglobal</a:t>
            </a:r>
            <a:r>
              <a:rPr lang="es-ES" sz="1600" dirty="0"/>
              <a:t> llamado $_GET. Este es un array asociativo, cuyos índices serán el nombre de la variable que queremos recibir.</a:t>
            </a:r>
          </a:p>
        </p:txBody>
      </p:sp>
    </p:spTree>
    <p:extLst>
      <p:ext uri="{BB962C8B-B14F-4D97-AF65-F5344CB8AC3E}">
        <p14:creationId xmlns:p14="http://schemas.microsoft.com/office/powerpoint/2010/main" val="42880208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A7FA55-7582-2C1C-C48D-B282B61A631C}"/>
              </a:ext>
            </a:extLst>
          </p:cNvPr>
          <p:cNvSpPr>
            <a:spLocks noGrp="1"/>
          </p:cNvSpPr>
          <p:nvPr>
            <p:ph type="title"/>
          </p:nvPr>
        </p:nvSpPr>
        <p:spPr/>
        <p:txBody>
          <a:bodyPr/>
          <a:lstStyle/>
          <a:p>
            <a:pPr algn="l"/>
            <a:endParaRPr lang="es-ES" b="0" i="0" dirty="0">
              <a:solidFill>
                <a:srgbClr val="000000"/>
              </a:solidFill>
              <a:effectLst/>
              <a:latin typeface="Roboto" panose="02000000000000000000" pitchFamily="2" charset="0"/>
            </a:endParaRPr>
          </a:p>
        </p:txBody>
      </p:sp>
      <p:sp>
        <p:nvSpPr>
          <p:cNvPr id="3" name="Marcador de texto 2">
            <a:extLst>
              <a:ext uri="{FF2B5EF4-FFF2-40B4-BE49-F238E27FC236}">
                <a16:creationId xmlns:a16="http://schemas.microsoft.com/office/drawing/2014/main" id="{3270DFA4-F402-F1B4-05EB-690843FB1E28}"/>
              </a:ext>
            </a:extLst>
          </p:cNvPr>
          <p:cNvSpPr>
            <a:spLocks noGrp="1"/>
          </p:cNvSpPr>
          <p:nvPr>
            <p:ph type="body" idx="1"/>
          </p:nvPr>
        </p:nvSpPr>
        <p:spPr>
          <a:xfrm>
            <a:off x="233622" y="1217429"/>
            <a:ext cx="7782756" cy="1944216"/>
          </a:xfrm>
        </p:spPr>
        <p:txBody>
          <a:bodyPr/>
          <a:lstStyle/>
          <a:p>
            <a:r>
              <a:rPr lang="es-ES" sz="1600" dirty="0"/>
              <a:t>Página que envía los datos origen.html</a:t>
            </a:r>
          </a:p>
        </p:txBody>
      </p:sp>
      <p:sp>
        <p:nvSpPr>
          <p:cNvPr id="4" name="Marcador de número de diapositiva 3">
            <a:extLst>
              <a:ext uri="{FF2B5EF4-FFF2-40B4-BE49-F238E27FC236}">
                <a16:creationId xmlns:a16="http://schemas.microsoft.com/office/drawing/2014/main" id="{FF819A9C-D931-2EBD-8764-C1AC2A6C8298}"/>
              </a:ext>
            </a:extLst>
          </p:cNvPr>
          <p:cNvSpPr>
            <a:spLocks noGrp="1"/>
          </p:cNvSpPr>
          <p:nvPr>
            <p:ph type="sldNum" idx="10"/>
          </p:nvPr>
        </p:nvSpPr>
        <p:spPr/>
        <p:txBody>
          <a:bodyPr/>
          <a:lstStyle/>
          <a:p>
            <a:fld id="{00000000-1234-1234-1234-123412341234}" type="slidenum">
              <a:rPr lang="es-ES" smtClean="0"/>
              <a:pPr/>
              <a:t>8</a:t>
            </a:fld>
            <a:endParaRPr lang="es-ES" dirty="0"/>
          </a:p>
        </p:txBody>
      </p:sp>
      <p:sp>
        <p:nvSpPr>
          <p:cNvPr id="5" name="Rectangle 1">
            <a:extLst>
              <a:ext uri="{FF2B5EF4-FFF2-40B4-BE49-F238E27FC236}">
                <a16:creationId xmlns:a16="http://schemas.microsoft.com/office/drawing/2014/main" id="{04AA3F5B-38D6-1B6D-5709-987DB9D02D05}"/>
              </a:ext>
            </a:extLst>
          </p:cNvPr>
          <p:cNvSpPr>
            <a:spLocks noChangeArrowheads="1"/>
          </p:cNvSpPr>
          <p:nvPr/>
        </p:nvSpPr>
        <p:spPr bwMode="auto">
          <a:xfrm>
            <a:off x="0" y="1837419"/>
            <a:ext cx="9242915" cy="2099242"/>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657B83"/>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HTML</a:t>
            </a:r>
            <a:r>
              <a:rPr kumimoji="0" lang="es-ES" altLang="es-ES" b="0" i="0" u="none" strike="noStrike" cap="none" normalizeH="0" baseline="0" dirty="0">
                <a:ln>
                  <a:noFill/>
                </a:ln>
                <a:solidFill>
                  <a:srgbClr val="657B83"/>
                </a:solidFill>
                <a:effectLst/>
                <a:latin typeface="Consolas" panose="020B0609020204030204" pitchFamily="49" charset="0"/>
              </a:rPr>
              <a:t>&gt;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657B83"/>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HEAD</a:t>
            </a:r>
            <a:r>
              <a:rPr kumimoji="0" lang="es-ES" altLang="es-ES" b="0" i="0" u="none" strike="noStrike" cap="none" normalizeH="0" baseline="0" dirty="0">
                <a:ln>
                  <a:noFill/>
                </a:ln>
                <a:solidFill>
                  <a:srgbClr val="657B83"/>
                </a:solidFill>
                <a:effectLst/>
                <a:latin typeface="Consolas" panose="020B0609020204030204" pitchFamily="49" charset="0"/>
              </a:rPr>
              <a:t>&gt;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657B83"/>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TITLE</a:t>
            </a:r>
            <a:r>
              <a:rPr kumimoji="0" lang="es-ES" altLang="es-ES" b="0" i="0" u="none" strike="noStrike" cap="none" normalizeH="0" baseline="0" dirty="0">
                <a:ln>
                  <a:noFill/>
                </a:ln>
                <a:solidFill>
                  <a:srgbClr val="657B83"/>
                </a:solidFill>
                <a:effectLst/>
                <a:latin typeface="Consolas" panose="020B0609020204030204" pitchFamily="49" charset="0"/>
              </a:rPr>
              <a:t>&gt;origen</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html&lt;/</a:t>
            </a:r>
            <a:r>
              <a:rPr kumimoji="0" lang="es-ES" altLang="es-ES" b="0" i="0" u="none" strike="noStrike" cap="none" normalizeH="0" baseline="0" dirty="0">
                <a:ln>
                  <a:noFill/>
                </a:ln>
                <a:solidFill>
                  <a:srgbClr val="268BD2"/>
                </a:solidFill>
                <a:effectLst/>
                <a:latin typeface="Consolas" panose="020B0609020204030204" pitchFamily="49" charset="0"/>
              </a:rPr>
              <a:t>TITLE</a:t>
            </a:r>
            <a:r>
              <a:rPr kumimoji="0" lang="es-ES" altLang="es-ES" b="0" i="0" u="none" strike="noStrike" cap="none" normalizeH="0" baseline="0" dirty="0">
                <a:ln>
                  <a:noFill/>
                </a:ln>
                <a:solidFill>
                  <a:srgbClr val="657B83"/>
                </a:solidFill>
                <a:effectLst/>
                <a:latin typeface="Consolas" panose="020B0609020204030204" pitchFamily="49" charset="0"/>
              </a:rPr>
              <a:t>&gt;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657B83"/>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HEAD</a:t>
            </a:r>
            <a:r>
              <a:rPr kumimoji="0" lang="es-ES" altLang="es-ES" b="0" i="0" u="none" strike="noStrike" cap="none" normalizeH="0" baseline="0" dirty="0">
                <a:ln>
                  <a:noFill/>
                </a:ln>
                <a:solidFill>
                  <a:srgbClr val="657B83"/>
                </a:solidFill>
                <a:effectLst/>
                <a:latin typeface="Consolas" panose="020B0609020204030204" pitchFamily="49" charset="0"/>
              </a:rPr>
              <a:t>&gt;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657B83"/>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BODY</a:t>
            </a:r>
            <a:r>
              <a:rPr kumimoji="0" lang="es-ES" altLang="es-ES" b="0" i="0" u="none" strike="noStrike" cap="none" normalizeH="0" baseline="0" dirty="0">
                <a:ln>
                  <a:noFill/>
                </a:ln>
                <a:solidFill>
                  <a:srgbClr val="657B83"/>
                </a:solidFill>
                <a:effectLst/>
                <a:latin typeface="Consolas" panose="020B0609020204030204" pitchFamily="49" charset="0"/>
              </a:rPr>
              <a:t>&gt;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657B83"/>
                </a:solidFill>
                <a:effectLst/>
                <a:latin typeface="Consolas" panose="020B0609020204030204" pitchFamily="49" charset="0"/>
              </a:rPr>
              <a:t>&lt;a </a:t>
            </a:r>
            <a:r>
              <a:rPr kumimoji="0" lang="es-ES" altLang="es-ES" b="0" i="0" u="none" strike="noStrike" cap="none" normalizeH="0" baseline="0" dirty="0" err="1">
                <a:ln>
                  <a:noFill/>
                </a:ln>
                <a:solidFill>
                  <a:srgbClr val="657B83"/>
                </a:solidFill>
                <a:effectLst/>
                <a:latin typeface="Consolas" panose="020B0609020204030204" pitchFamily="49" charset="0"/>
              </a:rPr>
              <a:t>href</a:t>
            </a:r>
            <a:r>
              <a:rPr kumimoji="0" lang="es-ES" altLang="es-ES" b="0" i="0" u="none" strike="noStrike" cap="none" normalizeH="0" baseline="0" dirty="0">
                <a:ln>
                  <a:noFill/>
                </a:ln>
                <a:solidFill>
                  <a:srgbClr val="657B83"/>
                </a:solidFill>
                <a:effectLst/>
                <a:latin typeface="Consolas" panose="020B0609020204030204" pitchFamily="49" charset="0"/>
              </a:rPr>
              <a:t>=</a:t>
            </a:r>
            <a:r>
              <a:rPr kumimoji="0" lang="es-ES" altLang="es-ES" b="0" i="0" u="none" strike="noStrike" cap="none" normalizeH="0" baseline="0" dirty="0">
                <a:ln>
                  <a:noFill/>
                </a:ln>
                <a:solidFill>
                  <a:srgbClr val="2AA198"/>
                </a:solidFill>
                <a:effectLst/>
                <a:latin typeface="Consolas" panose="020B0609020204030204" pitchFamily="49" charset="0"/>
              </a:rPr>
              <a:t>"</a:t>
            </a:r>
            <a:r>
              <a:rPr kumimoji="0" lang="es-ES" altLang="es-ES" b="0" i="0" u="none" strike="noStrike" cap="none" normalizeH="0" baseline="0" dirty="0" err="1">
                <a:ln>
                  <a:noFill/>
                </a:ln>
                <a:solidFill>
                  <a:srgbClr val="2AA198"/>
                </a:solidFill>
                <a:effectLst/>
                <a:latin typeface="Consolas" panose="020B0609020204030204" pitchFamily="49" charset="0"/>
              </a:rPr>
              <a:t>destino.php?saludo</a:t>
            </a:r>
            <a:r>
              <a:rPr kumimoji="0" lang="es-ES" altLang="es-ES" b="0" i="0" u="none" strike="noStrike" cap="none" normalizeH="0" baseline="0" dirty="0">
                <a:ln>
                  <a:noFill/>
                </a:ln>
                <a:solidFill>
                  <a:srgbClr val="2AA198"/>
                </a:solidFill>
                <a:effectLst/>
                <a:latin typeface="Consolas" panose="020B0609020204030204" pitchFamily="49" charset="0"/>
              </a:rPr>
              <a:t>=</a:t>
            </a:r>
            <a:r>
              <a:rPr kumimoji="0" lang="es-ES" altLang="es-ES" b="0" i="0" u="none" strike="noStrike" cap="none" normalizeH="0" baseline="0" dirty="0" err="1">
                <a:ln>
                  <a:noFill/>
                </a:ln>
                <a:solidFill>
                  <a:srgbClr val="2AA198"/>
                </a:solidFill>
                <a:effectLst/>
                <a:latin typeface="Consolas" panose="020B0609020204030204" pitchFamily="49" charset="0"/>
              </a:rPr>
              <a:t>hola&amp;texto</a:t>
            </a:r>
            <a:r>
              <a:rPr kumimoji="0" lang="es-ES" altLang="es-ES" b="0" i="0" u="none" strike="noStrike" cap="none" normalizeH="0" baseline="0" dirty="0">
                <a:ln>
                  <a:noFill/>
                </a:ln>
                <a:solidFill>
                  <a:srgbClr val="2AA198"/>
                </a:solidFill>
                <a:effectLst/>
                <a:latin typeface="Consolas" panose="020B0609020204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2AA198"/>
                </a:solidFill>
                <a:latin typeface="Consolas" panose="020B0609020204030204" pitchFamily="49" charset="0"/>
              </a:rPr>
              <a:t>       </a:t>
            </a:r>
            <a:r>
              <a:rPr kumimoji="0" lang="es-ES" altLang="es-ES" b="0" i="0" u="none" strike="noStrike" cap="none" normalizeH="0" baseline="0" dirty="0">
                <a:ln>
                  <a:noFill/>
                </a:ln>
                <a:solidFill>
                  <a:srgbClr val="2AA198"/>
                </a:solidFill>
                <a:effectLst/>
                <a:latin typeface="Consolas" panose="020B0609020204030204" pitchFamily="49" charset="0"/>
              </a:rPr>
              <a:t>Esto es una variable texto"</a:t>
            </a:r>
            <a:r>
              <a:rPr kumimoji="0" lang="es-ES" altLang="es-ES" b="0" i="0" u="none" strike="noStrike" cap="none" normalizeH="0" baseline="0" dirty="0">
                <a:ln>
                  <a:noFill/>
                </a:ln>
                <a:solidFill>
                  <a:srgbClr val="657B83"/>
                </a:solidFill>
                <a:effectLst/>
                <a:latin typeface="Consolas" panose="020B0609020204030204" pitchFamily="49" charset="0"/>
              </a:rPr>
              <a:t>&gt;Paso variables saludo y texto a la página </a:t>
            </a:r>
            <a:r>
              <a:rPr kumimoji="0" lang="es-ES" altLang="es-ES" b="0" i="0" u="none" strike="noStrike" cap="none" normalizeH="0" baseline="0" dirty="0" err="1">
                <a:ln>
                  <a:noFill/>
                </a:ln>
                <a:solidFill>
                  <a:srgbClr val="657B83"/>
                </a:solidFill>
                <a:effectLst/>
                <a:latin typeface="Consolas" panose="020B0609020204030204" pitchFamily="49" charset="0"/>
              </a:rPr>
              <a:t>destino</a:t>
            </a:r>
            <a:r>
              <a:rPr kumimoji="0" lang="es-ES" altLang="es-ES" b="0" i="0" u="none" strike="noStrike" cap="none" normalizeH="0" baseline="0" dirty="0" err="1">
                <a:ln>
                  <a:noFill/>
                </a:ln>
                <a:solidFill>
                  <a:srgbClr val="586E75"/>
                </a:solidFill>
                <a:effectLst/>
                <a:latin typeface="Consolas" panose="020B0609020204030204" pitchFamily="49" charset="0"/>
              </a:rPr>
              <a:t>.</a:t>
            </a:r>
            <a:r>
              <a:rPr kumimoji="0" lang="es-ES" altLang="es-ES" b="0" i="0" u="none" strike="noStrike" cap="none" normalizeH="0" baseline="0" dirty="0" err="1">
                <a:ln>
                  <a:noFill/>
                </a:ln>
                <a:solidFill>
                  <a:srgbClr val="657B83"/>
                </a:solidFill>
                <a:effectLst/>
                <a:latin typeface="Consolas" panose="020B0609020204030204" pitchFamily="49" charset="0"/>
              </a:rPr>
              <a:t>php</a:t>
            </a:r>
            <a:r>
              <a:rPr kumimoji="0" lang="es-ES" altLang="es-ES" b="0" i="0" u="none" strike="noStrike" cap="none" normalizeH="0" baseline="0" dirty="0">
                <a:ln>
                  <a:noFill/>
                </a:ln>
                <a:solidFill>
                  <a:srgbClr val="657B83"/>
                </a:solidFill>
                <a:effectLst/>
                <a:latin typeface="Consolas" panose="020B0609020204030204" pitchFamily="49" charset="0"/>
              </a:rPr>
              <a:t>&lt;/a&gt;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657B83"/>
                </a:solidFill>
                <a:effectLst/>
                <a:latin typeface="Consolas" panose="020B0609020204030204" pitchFamily="49" charset="0"/>
              </a:rPr>
              <a:t>   &lt;/</a:t>
            </a:r>
            <a:r>
              <a:rPr kumimoji="0" lang="es-ES" altLang="es-ES" b="0" i="0" u="none" strike="noStrike" cap="none" normalizeH="0" baseline="0" dirty="0">
                <a:ln>
                  <a:noFill/>
                </a:ln>
                <a:solidFill>
                  <a:srgbClr val="268BD2"/>
                </a:solidFill>
                <a:effectLst/>
                <a:latin typeface="Consolas" panose="020B0609020204030204" pitchFamily="49" charset="0"/>
              </a:rPr>
              <a:t>BODY</a:t>
            </a:r>
            <a:r>
              <a:rPr kumimoji="0" lang="es-ES" altLang="es-ES" b="0" i="0" u="none" strike="noStrike" cap="none" normalizeH="0" baseline="0" dirty="0">
                <a:ln>
                  <a:noFill/>
                </a:ln>
                <a:solidFill>
                  <a:srgbClr val="657B83"/>
                </a:solidFill>
                <a:effectLst/>
                <a:latin typeface="Consolas" panose="020B0609020204030204" pitchFamily="49" charset="0"/>
              </a:rPr>
              <a:t>&gt;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657B83"/>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HTML</a:t>
            </a:r>
            <a:r>
              <a:rPr kumimoji="0" lang="es-ES" altLang="es-ES" b="0" i="0" u="none" strike="noStrike" cap="none" normalizeH="0" baseline="0" dirty="0">
                <a:ln>
                  <a:noFill/>
                </a:ln>
                <a:solidFill>
                  <a:srgbClr val="657B83"/>
                </a:solidFill>
                <a:effectLst/>
                <a:latin typeface="Consolas" panose="020B0609020204030204" pitchFamily="49" charset="0"/>
              </a:rPr>
              <a:t>&gt;</a:t>
            </a:r>
            <a:r>
              <a:rPr kumimoji="0" lang="es-ES" altLang="es-ES" b="0" i="0" u="none" strike="noStrike" cap="none" normalizeH="0" baseline="0" dirty="0">
                <a:ln>
                  <a:noFill/>
                </a:ln>
                <a:solidFill>
                  <a:schemeClr val="tx1"/>
                </a:solidFill>
                <a:effectLst/>
              </a:rPr>
              <a:t> </a:t>
            </a:r>
            <a:endParaRPr kumimoji="0" lang="es-ES" altLang="es-E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519282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A7FA55-7582-2C1C-C48D-B282B61A631C}"/>
              </a:ext>
            </a:extLst>
          </p:cNvPr>
          <p:cNvSpPr>
            <a:spLocks noGrp="1"/>
          </p:cNvSpPr>
          <p:nvPr>
            <p:ph type="title"/>
          </p:nvPr>
        </p:nvSpPr>
        <p:spPr>
          <a:xfrm>
            <a:off x="611560" y="123478"/>
            <a:ext cx="6462600" cy="857400"/>
          </a:xfrm>
        </p:spPr>
        <p:txBody>
          <a:bodyPr/>
          <a:lstStyle/>
          <a:p>
            <a:pPr algn="l"/>
            <a:endParaRPr lang="es-ES" b="0" i="0" dirty="0">
              <a:solidFill>
                <a:srgbClr val="000000"/>
              </a:solidFill>
              <a:effectLst/>
              <a:latin typeface="Roboto" panose="02000000000000000000" pitchFamily="2" charset="0"/>
            </a:endParaRPr>
          </a:p>
        </p:txBody>
      </p:sp>
      <p:sp>
        <p:nvSpPr>
          <p:cNvPr id="3" name="Marcador de texto 2">
            <a:extLst>
              <a:ext uri="{FF2B5EF4-FFF2-40B4-BE49-F238E27FC236}">
                <a16:creationId xmlns:a16="http://schemas.microsoft.com/office/drawing/2014/main" id="{3270DFA4-F402-F1B4-05EB-690843FB1E28}"/>
              </a:ext>
            </a:extLst>
          </p:cNvPr>
          <p:cNvSpPr>
            <a:spLocks noGrp="1"/>
          </p:cNvSpPr>
          <p:nvPr>
            <p:ph type="body" idx="1"/>
          </p:nvPr>
        </p:nvSpPr>
        <p:spPr>
          <a:xfrm>
            <a:off x="0" y="1043330"/>
            <a:ext cx="9036496" cy="3552300"/>
          </a:xfrm>
        </p:spPr>
        <p:txBody>
          <a:bodyPr/>
          <a:lstStyle/>
          <a:p>
            <a:r>
              <a:rPr lang="es-ES" sz="1600" dirty="0"/>
              <a:t>Página que recibe los datos </a:t>
            </a:r>
            <a:r>
              <a:rPr lang="es-ES" sz="1600" dirty="0" err="1"/>
              <a:t>destino.php</a:t>
            </a:r>
            <a:endParaRPr lang="es-ES" sz="1600" dirty="0"/>
          </a:p>
          <a:p>
            <a:endParaRPr lang="es-ES" sz="1600" dirty="0"/>
          </a:p>
          <a:p>
            <a:endParaRPr lang="es-ES" sz="1600" dirty="0"/>
          </a:p>
        </p:txBody>
      </p:sp>
      <p:sp>
        <p:nvSpPr>
          <p:cNvPr id="4" name="Marcador de número de diapositiva 3">
            <a:extLst>
              <a:ext uri="{FF2B5EF4-FFF2-40B4-BE49-F238E27FC236}">
                <a16:creationId xmlns:a16="http://schemas.microsoft.com/office/drawing/2014/main" id="{FF819A9C-D931-2EBD-8764-C1AC2A6C8298}"/>
              </a:ext>
            </a:extLst>
          </p:cNvPr>
          <p:cNvSpPr>
            <a:spLocks noGrp="1"/>
          </p:cNvSpPr>
          <p:nvPr>
            <p:ph type="sldNum" idx="10"/>
          </p:nvPr>
        </p:nvSpPr>
        <p:spPr/>
        <p:txBody>
          <a:bodyPr/>
          <a:lstStyle/>
          <a:p>
            <a:fld id="{00000000-1234-1234-1234-123412341234}" type="slidenum">
              <a:rPr lang="es-ES" smtClean="0"/>
              <a:pPr/>
              <a:t>9</a:t>
            </a:fld>
            <a:endParaRPr lang="es-ES" dirty="0"/>
          </a:p>
        </p:txBody>
      </p:sp>
      <p:sp>
        <p:nvSpPr>
          <p:cNvPr id="9" name="Rectangle 1">
            <a:extLst>
              <a:ext uri="{FF2B5EF4-FFF2-40B4-BE49-F238E27FC236}">
                <a16:creationId xmlns:a16="http://schemas.microsoft.com/office/drawing/2014/main" id="{CDD017C7-0103-6F6E-3B8D-AC6BA6053B2B}"/>
              </a:ext>
            </a:extLst>
          </p:cNvPr>
          <p:cNvSpPr>
            <a:spLocks noChangeArrowheads="1"/>
          </p:cNvSpPr>
          <p:nvPr/>
        </p:nvSpPr>
        <p:spPr bwMode="auto">
          <a:xfrm>
            <a:off x="1010354" y="1995686"/>
            <a:ext cx="5665012" cy="2314686"/>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HTML</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HEAD</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TITLE</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err="1">
                <a:ln>
                  <a:noFill/>
                </a:ln>
                <a:solidFill>
                  <a:srgbClr val="657B83"/>
                </a:solidFill>
                <a:effectLst/>
                <a:latin typeface="Consolas" panose="020B0609020204030204" pitchFamily="49" charset="0"/>
              </a:rPr>
              <a:t>destino.php</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TITLE</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HEAD</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BODY</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657B83"/>
                </a:solidFill>
                <a:effectLst/>
                <a:latin typeface="Consolas" panose="020B0609020204030204" pitchFamily="49" charset="0"/>
              </a:rPr>
              <a:t>Variable "saludo": </a:t>
            </a:r>
            <a:r>
              <a:rPr kumimoji="0" lang="es-ES" altLang="es-ES" b="1" i="0" u="none" strike="noStrike" cap="none" normalizeH="0" baseline="0" dirty="0">
                <a:ln>
                  <a:noFill/>
                </a:ln>
                <a:solidFill>
                  <a:srgbClr val="CB4B16"/>
                </a:solidFill>
                <a:effectLst/>
                <a:latin typeface="Consolas" panose="020B0609020204030204" pitchFamily="49" charset="0"/>
              </a:rPr>
              <a:t>&lt;?</a:t>
            </a:r>
            <a:r>
              <a:rPr kumimoji="0" lang="es-ES" altLang="es-ES" b="1" i="0" u="none" strike="noStrike" cap="none" normalizeH="0" baseline="0" dirty="0" err="1">
                <a:ln>
                  <a:noFill/>
                </a:ln>
                <a:solidFill>
                  <a:srgbClr val="CB4B16"/>
                </a:solidFill>
                <a:effectLst/>
                <a:latin typeface="Consolas" panose="020B0609020204030204" pitchFamily="49" charset="0"/>
              </a:rPr>
              <a:t>php</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859900"/>
                </a:solidFill>
                <a:effectLst/>
                <a:latin typeface="Consolas" panose="020B0609020204030204" pitchFamily="49" charset="0"/>
              </a:rPr>
              <a:t>echo</a:t>
            </a:r>
            <a:r>
              <a:rPr kumimoji="0" lang="es-ES" altLang="es-ES" b="0" i="0" u="none" strike="noStrike" cap="none" normalizeH="0" baseline="0" dirty="0">
                <a:ln>
                  <a:noFill/>
                </a:ln>
                <a:solidFill>
                  <a:srgbClr val="657B83"/>
                </a:solidFill>
                <a:effectLst/>
                <a:latin typeface="Consolas" panose="020B0609020204030204" pitchFamily="49" charset="0"/>
              </a:rPr>
              <a:t> $_GET</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2AA198"/>
                </a:solidFill>
                <a:effectLst/>
                <a:latin typeface="Consolas" panose="020B0609020204030204" pitchFamily="49" charset="0"/>
              </a:rPr>
              <a:t>"saludo"</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1" i="0" u="none" strike="noStrike" cap="none" normalizeH="0" baseline="0" dirty="0">
                <a:ln>
                  <a:noFill/>
                </a:ln>
                <a:solidFill>
                  <a:srgbClr val="CB4B16"/>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err="1">
                <a:ln>
                  <a:noFill/>
                </a:ln>
                <a:solidFill>
                  <a:srgbClr val="268BD2"/>
                </a:solidFill>
                <a:effectLst/>
                <a:latin typeface="Consolas" panose="020B0609020204030204" pitchFamily="49" charset="0"/>
              </a:rPr>
              <a:t>br</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657B83"/>
                </a:solidFill>
                <a:effectLst/>
                <a:latin typeface="Consolas" panose="020B0609020204030204" pitchFamily="49" charset="0"/>
              </a:rPr>
              <a:t>Variable "texto" </a:t>
            </a:r>
            <a:r>
              <a:rPr kumimoji="0" lang="es-ES" altLang="es-ES" b="1" i="0" u="none" strike="noStrike" cap="none" normalizeH="0" baseline="0" dirty="0">
                <a:ln>
                  <a:noFill/>
                </a:ln>
                <a:solidFill>
                  <a:srgbClr val="CB4B16"/>
                </a:solidFill>
                <a:effectLst/>
                <a:latin typeface="Consolas" panose="020B0609020204030204" pitchFamily="49" charset="0"/>
              </a:rPr>
              <a:t>&lt;?</a:t>
            </a:r>
            <a:r>
              <a:rPr kumimoji="0" lang="es-ES" altLang="es-ES" b="1" i="0" u="none" strike="noStrike" cap="none" normalizeH="0" baseline="0" dirty="0" err="1">
                <a:ln>
                  <a:noFill/>
                </a:ln>
                <a:solidFill>
                  <a:srgbClr val="CB4B16"/>
                </a:solidFill>
                <a:effectLst/>
                <a:latin typeface="Consolas" panose="020B0609020204030204" pitchFamily="49" charset="0"/>
              </a:rPr>
              <a:t>php</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859900"/>
                </a:solidFill>
                <a:effectLst/>
                <a:latin typeface="Consolas" panose="020B0609020204030204" pitchFamily="49" charset="0"/>
              </a:rPr>
              <a:t>echo</a:t>
            </a:r>
            <a:r>
              <a:rPr kumimoji="0" lang="es-ES" altLang="es-ES" b="0" i="0" u="none" strike="noStrike" cap="none" normalizeH="0" baseline="0" dirty="0">
                <a:ln>
                  <a:noFill/>
                </a:ln>
                <a:solidFill>
                  <a:srgbClr val="657B83"/>
                </a:solidFill>
                <a:effectLst/>
                <a:latin typeface="Consolas" panose="020B0609020204030204" pitchFamily="49" charset="0"/>
              </a:rPr>
              <a:t> $_GET</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2AA198"/>
                </a:solidFill>
                <a:effectLst/>
                <a:latin typeface="Consolas" panose="020B0609020204030204" pitchFamily="49" charset="0"/>
              </a:rPr>
              <a:t>"texto"</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1" i="0" u="none" strike="noStrike" cap="none" normalizeH="0" baseline="0" dirty="0">
                <a:ln>
                  <a:noFill/>
                </a:ln>
                <a:solidFill>
                  <a:srgbClr val="CB4B16"/>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BODY</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HTML</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chemeClr val="tx1"/>
                </a:solidFill>
                <a:effectLst/>
              </a:rPr>
              <a:t> </a:t>
            </a:r>
            <a:endParaRPr kumimoji="0" lang="es-ES" altLang="es-E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75673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A7FA55-7582-2C1C-C48D-B282B61A631C}"/>
              </a:ext>
            </a:extLst>
          </p:cNvPr>
          <p:cNvSpPr>
            <a:spLocks noGrp="1"/>
          </p:cNvSpPr>
          <p:nvPr>
            <p:ph type="title"/>
          </p:nvPr>
        </p:nvSpPr>
        <p:spPr/>
        <p:txBody>
          <a:bodyPr/>
          <a:lstStyle/>
          <a:p>
            <a:pPr algn="l"/>
            <a:r>
              <a:rPr lang="es-ES" b="0" i="0" dirty="0">
                <a:solidFill>
                  <a:srgbClr val="000000"/>
                </a:solidFill>
                <a:effectLst/>
                <a:latin typeface="Roboto" panose="02000000000000000000" pitchFamily="2" charset="0"/>
              </a:rPr>
              <a:t>$HTTP_GET_VARS vs $_GET</a:t>
            </a:r>
          </a:p>
        </p:txBody>
      </p:sp>
      <p:sp>
        <p:nvSpPr>
          <p:cNvPr id="3" name="Marcador de texto 2">
            <a:extLst>
              <a:ext uri="{FF2B5EF4-FFF2-40B4-BE49-F238E27FC236}">
                <a16:creationId xmlns:a16="http://schemas.microsoft.com/office/drawing/2014/main" id="{3270DFA4-F402-F1B4-05EB-690843FB1E28}"/>
              </a:ext>
            </a:extLst>
          </p:cNvPr>
          <p:cNvSpPr>
            <a:spLocks noGrp="1"/>
          </p:cNvSpPr>
          <p:nvPr>
            <p:ph type="body" idx="1"/>
          </p:nvPr>
        </p:nvSpPr>
        <p:spPr>
          <a:xfrm>
            <a:off x="107504" y="1215788"/>
            <a:ext cx="8928992" cy="3552300"/>
          </a:xfrm>
        </p:spPr>
        <p:txBody>
          <a:bodyPr/>
          <a:lstStyle/>
          <a:p>
            <a:r>
              <a:rPr lang="es-ES" sz="1500" dirty="0"/>
              <a:t>A lo largo de las versiones de PHP ha ido cambiando la manera con la que se recibían las variables por la URL.</a:t>
            </a:r>
          </a:p>
          <a:p>
            <a:endParaRPr lang="es-ES" sz="1500" dirty="0"/>
          </a:p>
          <a:p>
            <a:r>
              <a:rPr lang="es-ES" sz="1500" dirty="0"/>
              <a:t>Al principio del todo las variables se encontraban declaradas en la página de destino de manera automática, lo que podría resultar más cómodo, pero daba lugar a posibles problemas de seguridad, ya que cualquier persona sería capaz de "falsear" variables en la página de destino, creando automáticamente nuevas variables con cualquier valor, solo por enviarlas en la URL.</a:t>
            </a:r>
          </a:p>
          <a:p>
            <a:endParaRPr lang="es-ES" sz="1500" dirty="0"/>
          </a:p>
          <a:p>
            <a:r>
              <a:rPr lang="es-ES" sz="1500" dirty="0"/>
              <a:t>Esta situación no era deseable y hacía que el lenguaje PHP fuera menos seguro, por dos razones: la primera que, si recibimos las variables siempre por $_GET nos aseguramos que esa variable viene realmente de la URL. La segunda es que así nuestro código será más claro cuando lo volvamos a leer, porque quedará especificado que esa variable estamos recibiéndola por la URL.</a:t>
            </a:r>
          </a:p>
        </p:txBody>
      </p:sp>
      <p:sp>
        <p:nvSpPr>
          <p:cNvPr id="4" name="Marcador de número de diapositiva 3">
            <a:extLst>
              <a:ext uri="{FF2B5EF4-FFF2-40B4-BE49-F238E27FC236}">
                <a16:creationId xmlns:a16="http://schemas.microsoft.com/office/drawing/2014/main" id="{FF819A9C-D931-2EBD-8764-C1AC2A6C8298}"/>
              </a:ext>
            </a:extLst>
          </p:cNvPr>
          <p:cNvSpPr>
            <a:spLocks noGrp="1"/>
          </p:cNvSpPr>
          <p:nvPr>
            <p:ph type="sldNum" idx="10"/>
          </p:nvPr>
        </p:nvSpPr>
        <p:spPr/>
        <p:txBody>
          <a:bodyPr/>
          <a:lstStyle/>
          <a:p>
            <a:fld id="{00000000-1234-1234-1234-123412341234}" type="slidenum">
              <a:rPr lang="es-ES" smtClean="0"/>
              <a:pPr/>
              <a:t>10</a:t>
            </a:fld>
            <a:endParaRPr lang="es-ES" dirty="0"/>
          </a:p>
        </p:txBody>
      </p:sp>
    </p:spTree>
    <p:extLst>
      <p:ext uri="{BB962C8B-B14F-4D97-AF65-F5344CB8AC3E}">
        <p14:creationId xmlns:p14="http://schemas.microsoft.com/office/powerpoint/2010/main" val="21445703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C01E2647-27F0-2E73-626A-597C80A2C8BA}"/>
              </a:ext>
            </a:extLst>
          </p:cNvPr>
          <p:cNvSpPr>
            <a:spLocks noGrp="1"/>
          </p:cNvSpPr>
          <p:nvPr>
            <p:ph type="body" idx="1"/>
          </p:nvPr>
        </p:nvSpPr>
        <p:spPr>
          <a:xfrm>
            <a:off x="323528" y="483518"/>
            <a:ext cx="7782756" cy="3552300"/>
          </a:xfrm>
        </p:spPr>
        <p:txBody>
          <a:bodyPr/>
          <a:lstStyle/>
          <a:p>
            <a:r>
              <a:rPr lang="es-ES" sz="1600" dirty="0"/>
              <a:t>En versiones tempranas de PHP se usaba $HTTP_GET_VARS para recibir las variables por GET. Ahora el array donde se encuentran estas variables es $_GET. Este cambio permitió un código más conciso, más corto y de lectura más rápida. Pero en principio el array se usa exactamente igual.</a:t>
            </a:r>
          </a:p>
        </p:txBody>
      </p:sp>
      <p:sp>
        <p:nvSpPr>
          <p:cNvPr id="4" name="Marcador de número de diapositiva 3">
            <a:extLst>
              <a:ext uri="{FF2B5EF4-FFF2-40B4-BE49-F238E27FC236}">
                <a16:creationId xmlns:a16="http://schemas.microsoft.com/office/drawing/2014/main" id="{16F9E2F4-1024-87EB-F61F-930312FB9DE4}"/>
              </a:ext>
            </a:extLst>
          </p:cNvPr>
          <p:cNvSpPr>
            <a:spLocks noGrp="1"/>
          </p:cNvSpPr>
          <p:nvPr>
            <p:ph type="sldNum" idx="10"/>
          </p:nvPr>
        </p:nvSpPr>
        <p:spPr/>
        <p:txBody>
          <a:bodyPr/>
          <a:lstStyle/>
          <a:p>
            <a:fld id="{00000000-1234-1234-1234-123412341234}" type="slidenum">
              <a:rPr lang="es-ES" smtClean="0"/>
              <a:pPr/>
              <a:t>11</a:t>
            </a:fld>
            <a:endParaRPr lang="es-ES" dirty="0"/>
          </a:p>
        </p:txBody>
      </p:sp>
      <p:sp>
        <p:nvSpPr>
          <p:cNvPr id="5" name="Rectangle 1">
            <a:extLst>
              <a:ext uri="{FF2B5EF4-FFF2-40B4-BE49-F238E27FC236}">
                <a16:creationId xmlns:a16="http://schemas.microsoft.com/office/drawing/2014/main" id="{1DD7DCEF-4E7F-5D34-C3C6-7D384589B81D}"/>
              </a:ext>
            </a:extLst>
          </p:cNvPr>
          <p:cNvSpPr>
            <a:spLocks noChangeArrowheads="1"/>
          </p:cNvSpPr>
          <p:nvPr/>
        </p:nvSpPr>
        <p:spPr bwMode="auto">
          <a:xfrm>
            <a:off x="611560" y="2669122"/>
            <a:ext cx="6341480" cy="406471"/>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859900"/>
                </a:solidFill>
                <a:effectLst/>
                <a:latin typeface="Consolas" panose="020B0609020204030204" pitchFamily="49" charset="0"/>
              </a:rPr>
              <a:t>echo</a:t>
            </a:r>
            <a:r>
              <a:rPr kumimoji="0" lang="es-ES" altLang="es-ES" sz="1600" b="0" i="0" u="none" strike="noStrike" cap="none" normalizeH="0" baseline="0">
                <a:ln>
                  <a:noFill/>
                </a:ln>
                <a:solidFill>
                  <a:srgbClr val="657B83"/>
                </a:solidFill>
                <a:effectLst/>
                <a:latin typeface="Consolas" panose="020B0609020204030204" pitchFamily="49" charset="0"/>
              </a:rPr>
              <a:t> </a:t>
            </a:r>
            <a:r>
              <a:rPr kumimoji="0" lang="es-ES" altLang="es-ES" sz="1600" b="0" i="0" u="none" strike="noStrike" cap="none" normalizeH="0" baseline="0">
                <a:ln>
                  <a:noFill/>
                </a:ln>
                <a:solidFill>
                  <a:srgbClr val="2AA198"/>
                </a:solidFill>
                <a:effectLst/>
                <a:latin typeface="Consolas" panose="020B0609020204030204" pitchFamily="49" charset="0"/>
              </a:rPr>
              <a:t>"Este dato: "</a:t>
            </a:r>
            <a:r>
              <a:rPr kumimoji="0" lang="es-ES" altLang="es-ES" sz="1600" b="0" i="0" u="none" strike="noStrike" cap="none" normalizeH="0" baseline="0">
                <a:ln>
                  <a:noFill/>
                </a:ln>
                <a:solidFill>
                  <a:srgbClr val="657B83"/>
                </a:solidFill>
                <a:effectLst/>
                <a:latin typeface="Consolas" panose="020B0609020204030204" pitchFamily="49" charset="0"/>
              </a:rPr>
              <a:t> </a:t>
            </a:r>
            <a:r>
              <a:rPr kumimoji="0" lang="es-ES" altLang="es-ES" sz="1600" b="0" i="0" u="none" strike="noStrike" cap="none" normalizeH="0" baseline="0">
                <a:ln>
                  <a:noFill/>
                </a:ln>
                <a:solidFill>
                  <a:srgbClr val="586E75"/>
                </a:solidFill>
                <a:effectLst/>
                <a:latin typeface="Consolas" panose="020B0609020204030204" pitchFamily="49" charset="0"/>
              </a:rPr>
              <a:t>.</a:t>
            </a:r>
            <a:r>
              <a:rPr kumimoji="0" lang="es-ES" altLang="es-ES" sz="1600" b="0" i="0" u="none" strike="noStrike" cap="none" normalizeH="0" baseline="0">
                <a:ln>
                  <a:noFill/>
                </a:ln>
                <a:solidFill>
                  <a:srgbClr val="657B83"/>
                </a:solidFill>
                <a:effectLst/>
                <a:latin typeface="Consolas" panose="020B0609020204030204" pitchFamily="49" charset="0"/>
              </a:rPr>
              <a:t> $_GET</a:t>
            </a:r>
            <a:r>
              <a:rPr kumimoji="0" lang="es-ES" altLang="es-ES" sz="1600" b="0" i="0" u="none" strike="noStrike" cap="none" normalizeH="0" baseline="0">
                <a:ln>
                  <a:noFill/>
                </a:ln>
                <a:solidFill>
                  <a:srgbClr val="586E75"/>
                </a:solidFill>
                <a:effectLst/>
                <a:latin typeface="Consolas" panose="020B0609020204030204" pitchFamily="49" charset="0"/>
              </a:rPr>
              <a:t>[</a:t>
            </a:r>
            <a:r>
              <a:rPr kumimoji="0" lang="es-ES" altLang="es-ES" sz="1600" b="0" i="0" u="none" strike="noStrike" cap="none" normalizeH="0" baseline="0">
                <a:ln>
                  <a:noFill/>
                </a:ln>
                <a:solidFill>
                  <a:srgbClr val="2AA198"/>
                </a:solidFill>
                <a:effectLst/>
                <a:latin typeface="Consolas" panose="020B0609020204030204" pitchFamily="49" charset="0"/>
              </a:rPr>
              <a:t>"x"</a:t>
            </a:r>
            <a:r>
              <a:rPr kumimoji="0" lang="es-ES" altLang="es-ES" sz="1600" b="0" i="0" u="none" strike="noStrike" cap="none" normalizeH="0" baseline="0">
                <a:ln>
                  <a:noFill/>
                </a:ln>
                <a:solidFill>
                  <a:srgbClr val="586E75"/>
                </a:solidFill>
                <a:effectLst/>
                <a:latin typeface="Consolas" panose="020B0609020204030204" pitchFamily="49" charset="0"/>
              </a:rPr>
              <a:t>]</a:t>
            </a:r>
            <a:r>
              <a:rPr kumimoji="0" lang="es-ES" altLang="es-ES" sz="1600" b="0" i="0" u="none" strike="noStrike" cap="none" normalizeH="0" baseline="0">
                <a:ln>
                  <a:noFill/>
                </a:ln>
                <a:solidFill>
                  <a:srgbClr val="657B83"/>
                </a:solidFill>
                <a:effectLst/>
                <a:latin typeface="Consolas" panose="020B0609020204030204" pitchFamily="49" charset="0"/>
              </a:rPr>
              <a:t> </a:t>
            </a:r>
            <a:r>
              <a:rPr kumimoji="0" lang="es-ES" altLang="es-ES" sz="1600" b="0" i="0" u="none" strike="noStrike" cap="none" normalizeH="0" baseline="0">
                <a:ln>
                  <a:noFill/>
                </a:ln>
                <a:solidFill>
                  <a:srgbClr val="586E75"/>
                </a:solidFill>
                <a:effectLst/>
                <a:latin typeface="Consolas" panose="020B0609020204030204" pitchFamily="49" charset="0"/>
              </a:rPr>
              <a:t>.</a:t>
            </a:r>
            <a:r>
              <a:rPr kumimoji="0" lang="es-ES" altLang="es-ES" sz="1600" b="0" i="0" u="none" strike="noStrike" cap="none" normalizeH="0" baseline="0">
                <a:ln>
                  <a:noFill/>
                </a:ln>
                <a:solidFill>
                  <a:srgbClr val="657B83"/>
                </a:solidFill>
                <a:effectLst/>
                <a:latin typeface="Consolas" panose="020B0609020204030204" pitchFamily="49" charset="0"/>
              </a:rPr>
              <a:t> </a:t>
            </a:r>
            <a:r>
              <a:rPr kumimoji="0" lang="es-ES" altLang="es-ES" sz="1600" b="0" i="0" u="none" strike="noStrike" cap="none" normalizeH="0" baseline="0">
                <a:ln>
                  <a:noFill/>
                </a:ln>
                <a:solidFill>
                  <a:srgbClr val="2AA198"/>
                </a:solidFill>
                <a:effectLst/>
                <a:latin typeface="Consolas" panose="020B0609020204030204" pitchFamily="49" charset="0"/>
              </a:rPr>
              <a:t>" lo recibo por URL."</a:t>
            </a:r>
            <a:r>
              <a:rPr kumimoji="0" lang="es-ES" altLang="es-ES" sz="1600" b="0" i="0" u="none" strike="noStrike" cap="none" normalizeH="0" baseline="0">
                <a:ln>
                  <a:noFill/>
                </a:ln>
                <a:solidFill>
                  <a:srgbClr val="586E75"/>
                </a:solidFill>
                <a:effectLst/>
                <a:latin typeface="Consolas" panose="020B0609020204030204" pitchFamily="49" charset="0"/>
              </a:rPr>
              <a:t>;</a:t>
            </a:r>
            <a:r>
              <a:rPr kumimoji="0" lang="es-ES" altLang="es-ES" sz="1600" b="0" i="0" u="none" strike="noStrike" cap="none" normalizeH="0" baseline="0">
                <a:ln>
                  <a:noFill/>
                </a:ln>
                <a:solidFill>
                  <a:schemeClr val="tx1"/>
                </a:solidFill>
                <a:effectLst/>
              </a:rPr>
              <a:t> </a:t>
            </a:r>
            <a:endParaRPr kumimoji="0" lang="es-ES" altLang="es-ES" sz="16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974526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90CA2C-89C2-1FA2-56E1-4424D17A7F23}"/>
              </a:ext>
            </a:extLst>
          </p:cNvPr>
          <p:cNvSpPr>
            <a:spLocks noGrp="1"/>
          </p:cNvSpPr>
          <p:nvPr>
            <p:ph type="title"/>
          </p:nvPr>
        </p:nvSpPr>
        <p:spPr/>
        <p:txBody>
          <a:bodyPr/>
          <a:lstStyle/>
          <a:p>
            <a:r>
              <a:rPr lang="es-ES" b="0" i="0" dirty="0">
                <a:solidFill>
                  <a:srgbClr val="000000"/>
                </a:solidFill>
                <a:effectLst/>
                <a:latin typeface="Roboto" panose="02000000000000000000" pitchFamily="2" charset="0"/>
              </a:rPr>
              <a:t>Conclusión sobre el envío de variables por GET en PHP</a:t>
            </a:r>
            <a:endParaRPr lang="es-ES" dirty="0"/>
          </a:p>
        </p:txBody>
      </p:sp>
      <p:sp>
        <p:nvSpPr>
          <p:cNvPr id="3" name="Marcador de texto 2">
            <a:extLst>
              <a:ext uri="{FF2B5EF4-FFF2-40B4-BE49-F238E27FC236}">
                <a16:creationId xmlns:a16="http://schemas.microsoft.com/office/drawing/2014/main" id="{6825A908-78E5-4428-DE60-15526AB54EB4}"/>
              </a:ext>
            </a:extLst>
          </p:cNvPr>
          <p:cNvSpPr>
            <a:spLocks noGrp="1"/>
          </p:cNvSpPr>
          <p:nvPr>
            <p:ph type="body" idx="1"/>
          </p:nvPr>
        </p:nvSpPr>
        <p:spPr/>
        <p:txBody>
          <a:bodyPr/>
          <a:lstStyle/>
          <a:p>
            <a:r>
              <a:rPr lang="es-ES" dirty="0"/>
              <a:t>Con esta información ya estás en disposición de enviar datos de una página a otra con PHP. </a:t>
            </a:r>
          </a:p>
          <a:p>
            <a:endParaRPr lang="es-ES" dirty="0"/>
          </a:p>
          <a:p>
            <a:r>
              <a:rPr lang="es-ES" dirty="0"/>
              <a:t>Este es el primer mecanismo que queremos para poder compartir variables entre páginas y enviar señales entre los distintos scripts que componen un sitio web.</a:t>
            </a:r>
          </a:p>
        </p:txBody>
      </p:sp>
      <p:sp>
        <p:nvSpPr>
          <p:cNvPr id="4" name="Marcador de número de diapositiva 3">
            <a:extLst>
              <a:ext uri="{FF2B5EF4-FFF2-40B4-BE49-F238E27FC236}">
                <a16:creationId xmlns:a16="http://schemas.microsoft.com/office/drawing/2014/main" id="{745B85D1-0D5A-303B-DDA2-8BF2E87BC9D1}"/>
              </a:ext>
            </a:extLst>
          </p:cNvPr>
          <p:cNvSpPr>
            <a:spLocks noGrp="1"/>
          </p:cNvSpPr>
          <p:nvPr>
            <p:ph type="sldNum" idx="10"/>
          </p:nvPr>
        </p:nvSpPr>
        <p:spPr/>
        <p:txBody>
          <a:bodyPr/>
          <a:lstStyle/>
          <a:p>
            <a:fld id="{00000000-1234-1234-1234-123412341234}" type="slidenum">
              <a:rPr lang="es-ES" smtClean="0"/>
              <a:pPr/>
              <a:t>12</a:t>
            </a:fld>
            <a:endParaRPr lang="es-ES" dirty="0"/>
          </a:p>
        </p:txBody>
      </p:sp>
    </p:spTree>
    <p:extLst>
      <p:ext uri="{BB962C8B-B14F-4D97-AF65-F5344CB8AC3E}">
        <p14:creationId xmlns:p14="http://schemas.microsoft.com/office/powerpoint/2010/main" val="42673172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5"/>
          <p:cNvSpPr txBox="1">
            <a:spLocks noGrp="1"/>
          </p:cNvSpPr>
          <p:nvPr>
            <p:ph type="ctrTitle"/>
          </p:nvPr>
        </p:nvSpPr>
        <p:spPr>
          <a:xfrm>
            <a:off x="685800" y="1583342"/>
            <a:ext cx="7772400" cy="1159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7200" dirty="0">
                <a:solidFill>
                  <a:schemeClr val="accent2"/>
                </a:solidFill>
              </a:rPr>
              <a:t>1.</a:t>
            </a:r>
            <a:endParaRPr sz="7200" dirty="0">
              <a:solidFill>
                <a:schemeClr val="accent2"/>
              </a:solidFill>
            </a:endParaRPr>
          </a:p>
        </p:txBody>
      </p:sp>
      <p:sp>
        <p:nvSpPr>
          <p:cNvPr id="3" name="Subtítulo 2">
            <a:extLst>
              <a:ext uri="{FF2B5EF4-FFF2-40B4-BE49-F238E27FC236}">
                <a16:creationId xmlns:a16="http://schemas.microsoft.com/office/drawing/2014/main" id="{39EF6ABD-C778-4438-A8AE-7173C4644250}"/>
              </a:ext>
            </a:extLst>
          </p:cNvPr>
          <p:cNvSpPr>
            <a:spLocks noGrp="1"/>
          </p:cNvSpPr>
          <p:nvPr>
            <p:ph type="subTitle" idx="1"/>
          </p:nvPr>
        </p:nvSpPr>
        <p:spPr/>
        <p:txBody>
          <a:bodyPr/>
          <a:lstStyle/>
          <a:p>
            <a:r>
              <a:rPr lang="es-ES" dirty="0"/>
              <a:t>Procesar variables de formularios. POST en PHP</a:t>
            </a:r>
          </a:p>
        </p:txBody>
      </p:sp>
    </p:spTree>
    <p:extLst>
      <p:ext uri="{BB962C8B-B14F-4D97-AF65-F5344CB8AC3E}">
        <p14:creationId xmlns:p14="http://schemas.microsoft.com/office/powerpoint/2010/main" val="35647853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A7FA55-7582-2C1C-C48D-B282B61A631C}"/>
              </a:ext>
            </a:extLst>
          </p:cNvPr>
          <p:cNvSpPr>
            <a:spLocks noGrp="1"/>
          </p:cNvSpPr>
          <p:nvPr>
            <p:ph type="title"/>
          </p:nvPr>
        </p:nvSpPr>
        <p:spPr/>
        <p:txBody>
          <a:bodyPr/>
          <a:lstStyle/>
          <a:p>
            <a:endParaRPr lang="es-ES"/>
          </a:p>
        </p:txBody>
      </p:sp>
      <p:sp>
        <p:nvSpPr>
          <p:cNvPr id="3" name="Marcador de texto 2">
            <a:extLst>
              <a:ext uri="{FF2B5EF4-FFF2-40B4-BE49-F238E27FC236}">
                <a16:creationId xmlns:a16="http://schemas.microsoft.com/office/drawing/2014/main" id="{3270DFA4-F402-F1B4-05EB-690843FB1E28}"/>
              </a:ext>
            </a:extLst>
          </p:cNvPr>
          <p:cNvSpPr>
            <a:spLocks noGrp="1"/>
          </p:cNvSpPr>
          <p:nvPr>
            <p:ph type="body" idx="1"/>
          </p:nvPr>
        </p:nvSpPr>
        <p:spPr/>
        <p:txBody>
          <a:bodyPr/>
          <a:lstStyle/>
          <a:p>
            <a:r>
              <a:rPr lang="es-ES" sz="1600" dirty="0"/>
              <a:t>Enviar y recibir variables desde formularios es uno de los comportamientos más básicos que necesitaremos implementar en las aplicaciones web. </a:t>
            </a:r>
          </a:p>
          <a:p>
            <a:endParaRPr lang="es-ES" sz="1600" dirty="0"/>
          </a:p>
          <a:p>
            <a:r>
              <a:rPr lang="es-ES" sz="1600" dirty="0"/>
              <a:t>Este tipo de transferencia es de gran utilidad ya que nos permite interaccionar directamente con el usuario, produciendo entrada de datos a las aplicaciones PHP.</a:t>
            </a:r>
          </a:p>
        </p:txBody>
      </p:sp>
      <p:sp>
        <p:nvSpPr>
          <p:cNvPr id="4" name="Marcador de número de diapositiva 3">
            <a:extLst>
              <a:ext uri="{FF2B5EF4-FFF2-40B4-BE49-F238E27FC236}">
                <a16:creationId xmlns:a16="http://schemas.microsoft.com/office/drawing/2014/main" id="{FF819A9C-D931-2EBD-8764-C1AC2A6C8298}"/>
              </a:ext>
            </a:extLst>
          </p:cNvPr>
          <p:cNvSpPr>
            <a:spLocks noGrp="1"/>
          </p:cNvSpPr>
          <p:nvPr>
            <p:ph type="sldNum" idx="10"/>
          </p:nvPr>
        </p:nvSpPr>
        <p:spPr/>
        <p:txBody>
          <a:bodyPr/>
          <a:lstStyle/>
          <a:p>
            <a:fld id="{00000000-1234-1234-1234-123412341234}" type="slidenum">
              <a:rPr lang="es-ES" smtClean="0"/>
              <a:pPr/>
              <a:t>14</a:t>
            </a:fld>
            <a:endParaRPr lang="es-ES" dirty="0"/>
          </a:p>
        </p:txBody>
      </p:sp>
    </p:spTree>
    <p:extLst>
      <p:ext uri="{BB962C8B-B14F-4D97-AF65-F5344CB8AC3E}">
        <p14:creationId xmlns:p14="http://schemas.microsoft.com/office/powerpoint/2010/main" val="14136714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A7FA55-7582-2C1C-C48D-B282B61A631C}"/>
              </a:ext>
            </a:extLst>
          </p:cNvPr>
          <p:cNvSpPr>
            <a:spLocks noGrp="1"/>
          </p:cNvSpPr>
          <p:nvPr>
            <p:ph type="title"/>
          </p:nvPr>
        </p:nvSpPr>
        <p:spPr/>
        <p:txBody>
          <a:bodyPr/>
          <a:lstStyle/>
          <a:p>
            <a:pPr algn="l"/>
            <a:r>
              <a:rPr lang="es-ES" b="0" i="0" dirty="0">
                <a:solidFill>
                  <a:srgbClr val="000000"/>
                </a:solidFill>
                <a:effectLst/>
                <a:latin typeface="Roboto" panose="02000000000000000000" pitchFamily="2" charset="0"/>
              </a:rPr>
              <a:t>Explicación básica del envío de formularios con PHP</a:t>
            </a:r>
          </a:p>
        </p:txBody>
      </p:sp>
      <p:sp>
        <p:nvSpPr>
          <p:cNvPr id="3" name="Marcador de texto 2">
            <a:extLst>
              <a:ext uri="{FF2B5EF4-FFF2-40B4-BE49-F238E27FC236}">
                <a16:creationId xmlns:a16="http://schemas.microsoft.com/office/drawing/2014/main" id="{3270DFA4-F402-F1B4-05EB-690843FB1E28}"/>
              </a:ext>
            </a:extLst>
          </p:cNvPr>
          <p:cNvSpPr>
            <a:spLocks noGrp="1"/>
          </p:cNvSpPr>
          <p:nvPr>
            <p:ph type="body" idx="1"/>
          </p:nvPr>
        </p:nvSpPr>
        <p:spPr>
          <a:xfrm>
            <a:off x="179512" y="1373588"/>
            <a:ext cx="8352928" cy="3552300"/>
          </a:xfrm>
        </p:spPr>
        <p:txBody>
          <a:bodyPr/>
          <a:lstStyle/>
          <a:p>
            <a:pPr marL="114300" indent="0">
              <a:buNone/>
            </a:pPr>
            <a:r>
              <a:rPr lang="es-ES" sz="1800" dirty="0"/>
              <a:t>En el proceso de enviar y recibir datos de un formulario existen dos páginas. La que tiene el formulario y la página que lo recibe. </a:t>
            </a:r>
          </a:p>
          <a:p>
            <a:pPr marL="114300" indent="0">
              <a:buNone/>
            </a:pPr>
            <a:endParaRPr lang="es-ES" sz="1800" dirty="0"/>
          </a:p>
          <a:p>
            <a:pPr marL="114300" indent="0">
              <a:buNone/>
            </a:pPr>
            <a:r>
              <a:rPr lang="es-ES" sz="1800" dirty="0"/>
              <a:t>La página que contiene el formulario podría ser una página normal HTML. </a:t>
            </a:r>
          </a:p>
          <a:p>
            <a:pPr marL="114300" indent="0">
              <a:buNone/>
            </a:pPr>
            <a:endParaRPr lang="es-ES" sz="1800" dirty="0"/>
          </a:p>
          <a:p>
            <a:pPr marL="114300" indent="0">
              <a:buNone/>
            </a:pPr>
            <a:r>
              <a:rPr lang="es-ES" sz="1800" dirty="0"/>
              <a:t>La segunda página, que recibe el formulario, por supuesto tendrá que ser una página PHP.</a:t>
            </a:r>
          </a:p>
          <a:p>
            <a:pPr marL="114300" indent="0">
              <a:buNone/>
            </a:pPr>
            <a:endParaRPr lang="es-ES" sz="1800" dirty="0"/>
          </a:p>
          <a:p>
            <a:pPr marL="114300" indent="0">
              <a:buNone/>
            </a:pPr>
            <a:endParaRPr lang="es-ES" sz="1800" dirty="0"/>
          </a:p>
        </p:txBody>
      </p:sp>
      <p:sp>
        <p:nvSpPr>
          <p:cNvPr id="4" name="Marcador de número de diapositiva 3">
            <a:extLst>
              <a:ext uri="{FF2B5EF4-FFF2-40B4-BE49-F238E27FC236}">
                <a16:creationId xmlns:a16="http://schemas.microsoft.com/office/drawing/2014/main" id="{FF819A9C-D931-2EBD-8764-C1AC2A6C8298}"/>
              </a:ext>
            </a:extLst>
          </p:cNvPr>
          <p:cNvSpPr>
            <a:spLocks noGrp="1"/>
          </p:cNvSpPr>
          <p:nvPr>
            <p:ph type="sldNum" idx="10"/>
          </p:nvPr>
        </p:nvSpPr>
        <p:spPr/>
        <p:txBody>
          <a:bodyPr/>
          <a:lstStyle/>
          <a:p>
            <a:fld id="{00000000-1234-1234-1234-123412341234}" type="slidenum">
              <a:rPr lang="es-ES" smtClean="0"/>
              <a:pPr/>
              <a:t>15</a:t>
            </a:fld>
            <a:endParaRPr lang="es-ES" dirty="0"/>
          </a:p>
        </p:txBody>
      </p:sp>
    </p:spTree>
    <p:extLst>
      <p:ext uri="{BB962C8B-B14F-4D97-AF65-F5344CB8AC3E}">
        <p14:creationId xmlns:p14="http://schemas.microsoft.com/office/powerpoint/2010/main" val="11598015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3270DFA4-F402-F1B4-05EB-690843FB1E28}"/>
              </a:ext>
            </a:extLst>
          </p:cNvPr>
          <p:cNvSpPr>
            <a:spLocks noGrp="1"/>
          </p:cNvSpPr>
          <p:nvPr>
            <p:ph type="body" idx="1"/>
          </p:nvPr>
        </p:nvSpPr>
        <p:spPr>
          <a:xfrm>
            <a:off x="35496" y="483518"/>
            <a:ext cx="8640960" cy="3552300"/>
          </a:xfrm>
        </p:spPr>
        <p:txBody>
          <a:bodyPr/>
          <a:lstStyle/>
          <a:p>
            <a:pPr marL="114300" indent="0">
              <a:buNone/>
            </a:pPr>
            <a:r>
              <a:rPr lang="es-ES" sz="1800" dirty="0"/>
              <a:t>El formulario tiene un atributo llamado "</a:t>
            </a:r>
            <a:r>
              <a:rPr lang="es-ES" sz="1800" dirty="0" err="1"/>
              <a:t>action</a:t>
            </a:r>
            <a:r>
              <a:rPr lang="es-ES" sz="1800" dirty="0"/>
              <a:t>" que indica la dirección de la página PHP que recibirá el formulario. Además, si queremos que los datos se envíen por POST, debemos incluir el atributo "</a:t>
            </a:r>
            <a:r>
              <a:rPr lang="es-ES" sz="1800" dirty="0" err="1"/>
              <a:t>method</a:t>
            </a:r>
            <a:r>
              <a:rPr lang="es-ES" sz="1800" dirty="0"/>
              <a:t>" con el valor "post". Lo puedes ver en el siguiente código HTML.</a:t>
            </a:r>
          </a:p>
          <a:p>
            <a:pPr marL="114300" indent="0">
              <a:buNone/>
            </a:pPr>
            <a:endParaRPr lang="es-ES" sz="1800" dirty="0"/>
          </a:p>
          <a:p>
            <a:pPr marL="114300" indent="0">
              <a:buNone/>
            </a:pPr>
            <a:endParaRPr lang="es-ES" sz="1800" dirty="0"/>
          </a:p>
          <a:p>
            <a:pPr marL="114300" indent="0">
              <a:buNone/>
            </a:pPr>
            <a:endParaRPr lang="es-ES" sz="1800" dirty="0"/>
          </a:p>
          <a:p>
            <a:pPr marL="114300" indent="0">
              <a:buNone/>
            </a:pPr>
            <a:r>
              <a:rPr lang="es-ES" sz="1800" dirty="0"/>
              <a:t>En los formularios tenemos que incluir los campos que necesitemos. El nombre de los campos, definido por el atributo </a:t>
            </a:r>
            <a:r>
              <a:rPr lang="es-ES" sz="1800" dirty="0" err="1"/>
              <a:t>name</a:t>
            </a:r>
            <a:r>
              <a:rPr lang="es-ES" sz="1800" dirty="0"/>
              <a:t> de la etiqueta, definirá el nombre de la variable que vamos a recibir más tarde en PHP.</a:t>
            </a:r>
          </a:p>
        </p:txBody>
      </p:sp>
      <p:sp>
        <p:nvSpPr>
          <p:cNvPr id="4" name="Marcador de número de diapositiva 3">
            <a:extLst>
              <a:ext uri="{FF2B5EF4-FFF2-40B4-BE49-F238E27FC236}">
                <a16:creationId xmlns:a16="http://schemas.microsoft.com/office/drawing/2014/main" id="{FF819A9C-D931-2EBD-8764-C1AC2A6C8298}"/>
              </a:ext>
            </a:extLst>
          </p:cNvPr>
          <p:cNvSpPr>
            <a:spLocks noGrp="1"/>
          </p:cNvSpPr>
          <p:nvPr>
            <p:ph type="sldNum" idx="10"/>
          </p:nvPr>
        </p:nvSpPr>
        <p:spPr/>
        <p:txBody>
          <a:bodyPr/>
          <a:lstStyle/>
          <a:p>
            <a:fld id="{00000000-1234-1234-1234-123412341234}" type="slidenum">
              <a:rPr lang="es-ES" smtClean="0"/>
              <a:pPr/>
              <a:t>16</a:t>
            </a:fld>
            <a:endParaRPr lang="es-ES" dirty="0"/>
          </a:p>
        </p:txBody>
      </p:sp>
      <p:sp>
        <p:nvSpPr>
          <p:cNvPr id="6" name="Rectangle 1">
            <a:extLst>
              <a:ext uri="{FF2B5EF4-FFF2-40B4-BE49-F238E27FC236}">
                <a16:creationId xmlns:a16="http://schemas.microsoft.com/office/drawing/2014/main" id="{584DF82E-8B46-FAC3-5811-58B08AD8A8DF}"/>
              </a:ext>
            </a:extLst>
          </p:cNvPr>
          <p:cNvSpPr>
            <a:spLocks noChangeArrowheads="1"/>
          </p:cNvSpPr>
          <p:nvPr/>
        </p:nvSpPr>
        <p:spPr bwMode="auto">
          <a:xfrm>
            <a:off x="395536" y="1935479"/>
            <a:ext cx="3808735" cy="621915"/>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000" b="0" i="0" u="none" strike="noStrike" cap="none" normalizeH="0" baseline="0" dirty="0">
                <a:ln>
                  <a:noFill/>
                </a:ln>
                <a:solidFill>
                  <a:srgbClr val="586E75"/>
                </a:solidFill>
                <a:effectLst/>
                <a:latin typeface="Consolas" panose="020B0609020204030204" pitchFamily="49" charset="0"/>
              </a:rPr>
              <a:t>&lt;</a:t>
            </a:r>
            <a:r>
              <a:rPr kumimoji="0" lang="es-ES" altLang="es-ES" sz="1000" b="0" i="0" u="none" strike="noStrike" cap="none" normalizeH="0" baseline="0" dirty="0" err="1">
                <a:ln>
                  <a:noFill/>
                </a:ln>
                <a:solidFill>
                  <a:srgbClr val="268BD2"/>
                </a:solidFill>
                <a:effectLst/>
                <a:latin typeface="Consolas" panose="020B0609020204030204" pitchFamily="49" charset="0"/>
              </a:rPr>
              <a:t>form</a:t>
            </a:r>
            <a:r>
              <a:rPr kumimoji="0" lang="es-ES" altLang="es-ES" sz="1000" b="0" i="0" u="none" strike="noStrike" cap="none" normalizeH="0" baseline="0" dirty="0">
                <a:ln>
                  <a:noFill/>
                </a:ln>
                <a:solidFill>
                  <a:srgbClr val="268BD2"/>
                </a:solidFill>
                <a:effectLst/>
                <a:latin typeface="Consolas" panose="020B0609020204030204" pitchFamily="49" charset="0"/>
              </a:rPr>
              <a:t> </a:t>
            </a:r>
            <a:r>
              <a:rPr kumimoji="0" lang="es-ES" altLang="es-ES" sz="1000" b="0" i="0" u="none" strike="noStrike" cap="none" normalizeH="0" baseline="0" dirty="0" err="1">
                <a:ln>
                  <a:noFill/>
                </a:ln>
                <a:solidFill>
                  <a:srgbClr val="2AA198"/>
                </a:solidFill>
                <a:effectLst/>
                <a:latin typeface="Consolas" panose="020B0609020204030204" pitchFamily="49" charset="0"/>
              </a:rPr>
              <a:t>action</a:t>
            </a:r>
            <a:r>
              <a:rPr kumimoji="0" lang="es-ES" altLang="es-ES" sz="1000" b="0" i="0" u="none" strike="noStrike" cap="none" normalizeH="0" baseline="0" dirty="0">
                <a:ln>
                  <a:noFill/>
                </a:ln>
                <a:solidFill>
                  <a:srgbClr val="586E75"/>
                </a:solidFill>
                <a:effectLst/>
                <a:latin typeface="Consolas" panose="020B0609020204030204" pitchFamily="49" charset="0"/>
              </a:rPr>
              <a:t>="</a:t>
            </a:r>
            <a:r>
              <a:rPr kumimoji="0" lang="es-ES" altLang="es-ES" sz="1000" b="0" i="0" u="none" strike="noStrike" cap="none" normalizeH="0" baseline="0" dirty="0">
                <a:ln>
                  <a:noFill/>
                </a:ln>
                <a:solidFill>
                  <a:srgbClr val="859900"/>
                </a:solidFill>
                <a:effectLst/>
                <a:latin typeface="Consolas" panose="020B0609020204030204" pitchFamily="49" charset="0"/>
              </a:rPr>
              <a:t>pagina-para-</a:t>
            </a:r>
            <a:r>
              <a:rPr kumimoji="0" lang="es-ES" altLang="es-ES" sz="1000" b="0" i="0" u="none" strike="noStrike" cap="none" normalizeH="0" baseline="0" dirty="0" err="1">
                <a:ln>
                  <a:noFill/>
                </a:ln>
                <a:solidFill>
                  <a:srgbClr val="859900"/>
                </a:solidFill>
                <a:effectLst/>
                <a:latin typeface="Consolas" panose="020B0609020204030204" pitchFamily="49" charset="0"/>
              </a:rPr>
              <a:t>recibir.php</a:t>
            </a:r>
            <a:r>
              <a:rPr kumimoji="0" lang="es-ES" altLang="es-ES" sz="1000" b="0" i="0" u="none" strike="noStrike" cap="none" normalizeH="0" baseline="0" dirty="0">
                <a:ln>
                  <a:noFill/>
                </a:ln>
                <a:solidFill>
                  <a:srgbClr val="586E75"/>
                </a:solidFill>
                <a:effectLst/>
                <a:latin typeface="Consolas" panose="020B0609020204030204" pitchFamily="49" charset="0"/>
              </a:rPr>
              <a:t>"</a:t>
            </a:r>
            <a:r>
              <a:rPr kumimoji="0" lang="es-ES" altLang="es-ES" sz="1000" b="0" i="0" u="none" strike="noStrike" cap="none" normalizeH="0" baseline="0" dirty="0">
                <a:ln>
                  <a:noFill/>
                </a:ln>
                <a:solidFill>
                  <a:srgbClr val="268BD2"/>
                </a:solidFill>
                <a:effectLst/>
                <a:latin typeface="Consolas" panose="020B0609020204030204" pitchFamily="49" charset="0"/>
              </a:rPr>
              <a:t> </a:t>
            </a:r>
            <a:r>
              <a:rPr kumimoji="0" lang="es-ES" altLang="es-ES" sz="1000" b="0" i="0" u="none" strike="noStrike" cap="none" normalizeH="0" baseline="0" dirty="0" err="1">
                <a:ln>
                  <a:noFill/>
                </a:ln>
                <a:solidFill>
                  <a:srgbClr val="2AA198"/>
                </a:solidFill>
                <a:effectLst/>
                <a:latin typeface="Consolas" panose="020B0609020204030204" pitchFamily="49" charset="0"/>
              </a:rPr>
              <a:t>method</a:t>
            </a:r>
            <a:r>
              <a:rPr kumimoji="0" lang="es-ES" altLang="es-ES" sz="1000" b="0" i="0" u="none" strike="noStrike" cap="none" normalizeH="0" baseline="0" dirty="0">
                <a:ln>
                  <a:noFill/>
                </a:ln>
                <a:solidFill>
                  <a:srgbClr val="586E75"/>
                </a:solidFill>
                <a:effectLst/>
                <a:latin typeface="Consolas" panose="020B0609020204030204" pitchFamily="49" charset="0"/>
              </a:rPr>
              <a:t>="</a:t>
            </a:r>
            <a:r>
              <a:rPr kumimoji="0" lang="es-ES" altLang="es-ES" sz="1000" b="0" i="0" u="none" strike="noStrike" cap="none" normalizeH="0" baseline="0" dirty="0">
                <a:ln>
                  <a:noFill/>
                </a:ln>
                <a:solidFill>
                  <a:srgbClr val="859900"/>
                </a:solidFill>
                <a:effectLst/>
                <a:latin typeface="Consolas" panose="020B0609020204030204" pitchFamily="49" charset="0"/>
              </a:rPr>
              <a:t>post</a:t>
            </a:r>
            <a:r>
              <a:rPr kumimoji="0" lang="es-ES" altLang="es-ES" sz="1000" b="0" i="0" u="none" strike="noStrike" cap="none" normalizeH="0" baseline="0" dirty="0">
                <a:ln>
                  <a:noFill/>
                </a:ln>
                <a:solidFill>
                  <a:srgbClr val="586E75"/>
                </a:solidFill>
                <a:effectLst/>
                <a:latin typeface="Consolas" panose="020B0609020204030204" pitchFamily="49" charset="0"/>
              </a:rPr>
              <a:t>"&gt;</a:t>
            </a:r>
            <a:r>
              <a:rPr kumimoji="0" lang="es-ES" altLang="es-ES" sz="10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0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000" b="0" i="0" u="none" strike="noStrike" cap="none" normalizeH="0" baseline="0" dirty="0">
                <a:ln>
                  <a:noFill/>
                </a:ln>
                <a:solidFill>
                  <a:srgbClr val="586E75"/>
                </a:solidFill>
                <a:effectLst/>
                <a:latin typeface="Consolas" panose="020B0609020204030204" pitchFamily="49" charset="0"/>
              </a:rPr>
              <a:t>&lt;/</a:t>
            </a:r>
            <a:r>
              <a:rPr kumimoji="0" lang="es-ES" altLang="es-ES" sz="1000" b="0" i="0" u="none" strike="noStrike" cap="none" normalizeH="0" baseline="0" dirty="0" err="1">
                <a:ln>
                  <a:noFill/>
                </a:ln>
                <a:solidFill>
                  <a:srgbClr val="268BD2"/>
                </a:solidFill>
                <a:effectLst/>
                <a:latin typeface="Consolas" panose="020B0609020204030204" pitchFamily="49" charset="0"/>
              </a:rPr>
              <a:t>form</a:t>
            </a:r>
            <a:r>
              <a:rPr kumimoji="0" lang="es-ES" altLang="es-ES" sz="1000" b="0" i="0" u="none" strike="noStrike" cap="none" normalizeH="0" baseline="0" dirty="0">
                <a:ln>
                  <a:noFill/>
                </a:ln>
                <a:solidFill>
                  <a:srgbClr val="586E75"/>
                </a:solidFill>
                <a:effectLst/>
                <a:latin typeface="Consolas" panose="020B0609020204030204" pitchFamily="49" charset="0"/>
              </a:rPr>
              <a:t>&gt;</a:t>
            </a:r>
            <a:r>
              <a:rPr kumimoji="0" lang="es-ES" altLang="es-ES" sz="600" b="0" i="0" u="none" strike="noStrike" cap="none" normalizeH="0" baseline="0" dirty="0">
                <a:ln>
                  <a:noFill/>
                </a:ln>
                <a:solidFill>
                  <a:schemeClr val="tx1"/>
                </a:solidFill>
                <a:effectLst/>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16BAE429-E20C-624B-007B-07F350B057D7}"/>
              </a:ext>
            </a:extLst>
          </p:cNvPr>
          <p:cNvSpPr>
            <a:spLocks noChangeArrowheads="1"/>
          </p:cNvSpPr>
          <p:nvPr/>
        </p:nvSpPr>
        <p:spPr bwMode="auto">
          <a:xfrm>
            <a:off x="683568" y="4016462"/>
            <a:ext cx="3329438" cy="375693"/>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a:ln>
                  <a:noFill/>
                </a:ln>
                <a:solidFill>
                  <a:srgbClr val="586E75"/>
                </a:solidFill>
                <a:effectLst/>
                <a:latin typeface="Consolas" panose="020B0609020204030204" pitchFamily="49" charset="0"/>
              </a:rPr>
              <a:t>&lt;</a:t>
            </a:r>
            <a:r>
              <a:rPr kumimoji="0" lang="es-ES" altLang="es-ES" b="0" i="0" u="none" strike="noStrike" cap="none" normalizeH="0" baseline="0">
                <a:ln>
                  <a:noFill/>
                </a:ln>
                <a:solidFill>
                  <a:srgbClr val="268BD2"/>
                </a:solidFill>
                <a:effectLst/>
                <a:latin typeface="Consolas" panose="020B0609020204030204" pitchFamily="49" charset="0"/>
              </a:rPr>
              <a:t>input </a:t>
            </a:r>
            <a:r>
              <a:rPr kumimoji="0" lang="es-ES" altLang="es-ES" b="0" i="0" u="none" strike="noStrike" cap="none" normalizeH="0" baseline="0">
                <a:ln>
                  <a:noFill/>
                </a:ln>
                <a:solidFill>
                  <a:srgbClr val="2AA198"/>
                </a:solidFill>
                <a:effectLst/>
                <a:latin typeface="Consolas" panose="020B0609020204030204" pitchFamily="49" charset="0"/>
              </a:rPr>
              <a:t>type</a:t>
            </a:r>
            <a:r>
              <a:rPr kumimoji="0" lang="es-ES" altLang="es-ES" b="0" i="0" u="none" strike="noStrike" cap="none" normalizeH="0" baseline="0">
                <a:ln>
                  <a:noFill/>
                </a:ln>
                <a:solidFill>
                  <a:srgbClr val="586E75"/>
                </a:solidFill>
                <a:effectLst/>
                <a:latin typeface="Consolas" panose="020B0609020204030204" pitchFamily="49" charset="0"/>
              </a:rPr>
              <a:t>="</a:t>
            </a:r>
            <a:r>
              <a:rPr kumimoji="0" lang="es-ES" altLang="es-ES" b="0" i="0" u="none" strike="noStrike" cap="none" normalizeH="0" baseline="0">
                <a:ln>
                  <a:noFill/>
                </a:ln>
                <a:solidFill>
                  <a:srgbClr val="859900"/>
                </a:solidFill>
                <a:effectLst/>
                <a:latin typeface="Consolas" panose="020B0609020204030204" pitchFamily="49" charset="0"/>
              </a:rPr>
              <a:t>text</a:t>
            </a:r>
            <a:r>
              <a:rPr kumimoji="0" lang="es-ES" altLang="es-ES" b="0" i="0" u="none" strike="noStrike" cap="none" normalizeH="0" baseline="0">
                <a:ln>
                  <a:noFill/>
                </a:ln>
                <a:solidFill>
                  <a:srgbClr val="586E75"/>
                </a:solidFill>
                <a:effectLst/>
                <a:latin typeface="Consolas" panose="020B0609020204030204" pitchFamily="49" charset="0"/>
              </a:rPr>
              <a:t>"</a:t>
            </a:r>
            <a:r>
              <a:rPr kumimoji="0" lang="es-ES" altLang="es-ES" b="0" i="0" u="none" strike="noStrike" cap="none" normalizeH="0" baseline="0">
                <a:ln>
                  <a:noFill/>
                </a:ln>
                <a:solidFill>
                  <a:srgbClr val="268BD2"/>
                </a:solidFill>
                <a:effectLst/>
                <a:latin typeface="Consolas" panose="020B0609020204030204" pitchFamily="49" charset="0"/>
              </a:rPr>
              <a:t> </a:t>
            </a:r>
            <a:r>
              <a:rPr kumimoji="0" lang="es-ES" altLang="es-ES" b="0" i="0" u="none" strike="noStrike" cap="none" normalizeH="0" baseline="0">
                <a:ln>
                  <a:noFill/>
                </a:ln>
                <a:solidFill>
                  <a:srgbClr val="2AA198"/>
                </a:solidFill>
                <a:effectLst/>
                <a:latin typeface="Consolas" panose="020B0609020204030204" pitchFamily="49" charset="0"/>
              </a:rPr>
              <a:t>name</a:t>
            </a:r>
            <a:r>
              <a:rPr kumimoji="0" lang="es-ES" altLang="es-ES" b="0" i="0" u="none" strike="noStrike" cap="none" normalizeH="0" baseline="0">
                <a:ln>
                  <a:noFill/>
                </a:ln>
                <a:solidFill>
                  <a:srgbClr val="586E75"/>
                </a:solidFill>
                <a:effectLst/>
                <a:latin typeface="Consolas" panose="020B0609020204030204" pitchFamily="49" charset="0"/>
              </a:rPr>
              <a:t>="</a:t>
            </a:r>
            <a:r>
              <a:rPr kumimoji="0" lang="es-ES" altLang="es-ES" b="0" i="0" u="none" strike="noStrike" cap="none" normalizeH="0" baseline="0">
                <a:ln>
                  <a:noFill/>
                </a:ln>
                <a:solidFill>
                  <a:srgbClr val="859900"/>
                </a:solidFill>
                <a:effectLst/>
                <a:latin typeface="Consolas" panose="020B0609020204030204" pitchFamily="49" charset="0"/>
              </a:rPr>
              <a:t>midato</a:t>
            </a:r>
            <a:r>
              <a:rPr kumimoji="0" lang="es-ES" altLang="es-ES" b="0" i="0" u="none" strike="noStrike" cap="none" normalizeH="0" baseline="0">
                <a:ln>
                  <a:noFill/>
                </a:ln>
                <a:solidFill>
                  <a:srgbClr val="586E75"/>
                </a:solidFill>
                <a:effectLst/>
                <a:latin typeface="Consolas" panose="020B0609020204030204" pitchFamily="49" charset="0"/>
              </a:rPr>
              <a:t>"&gt;</a:t>
            </a:r>
            <a:r>
              <a:rPr kumimoji="0" lang="es-ES" altLang="es-ES" b="0" i="0" u="none" strike="noStrike" cap="none" normalizeH="0" baseline="0">
                <a:ln>
                  <a:noFill/>
                </a:ln>
                <a:solidFill>
                  <a:schemeClr val="tx1"/>
                </a:solidFill>
                <a:effectLst/>
              </a:rPr>
              <a:t> </a:t>
            </a:r>
            <a:endParaRPr kumimoji="0" lang="es-ES" altLang="es-ES"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259528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A7FA55-7582-2C1C-C48D-B282B61A631C}"/>
              </a:ext>
            </a:extLst>
          </p:cNvPr>
          <p:cNvSpPr>
            <a:spLocks noGrp="1"/>
          </p:cNvSpPr>
          <p:nvPr>
            <p:ph type="title"/>
          </p:nvPr>
        </p:nvSpPr>
        <p:spPr/>
        <p:txBody>
          <a:bodyPr/>
          <a:lstStyle/>
          <a:p>
            <a:endParaRPr lang="es-ES" dirty="0"/>
          </a:p>
        </p:txBody>
      </p:sp>
      <p:sp>
        <p:nvSpPr>
          <p:cNvPr id="3" name="Marcador de texto 2">
            <a:extLst>
              <a:ext uri="{FF2B5EF4-FFF2-40B4-BE49-F238E27FC236}">
                <a16:creationId xmlns:a16="http://schemas.microsoft.com/office/drawing/2014/main" id="{3270DFA4-F402-F1B4-05EB-690843FB1E28}"/>
              </a:ext>
            </a:extLst>
          </p:cNvPr>
          <p:cNvSpPr>
            <a:spLocks noGrp="1"/>
          </p:cNvSpPr>
          <p:nvPr>
            <p:ph type="body" idx="1"/>
          </p:nvPr>
        </p:nvSpPr>
        <p:spPr>
          <a:xfrm>
            <a:off x="179512" y="1373588"/>
            <a:ext cx="8928992" cy="3552300"/>
          </a:xfrm>
        </p:spPr>
        <p:txBody>
          <a:bodyPr/>
          <a:lstStyle/>
          <a:p>
            <a:r>
              <a:rPr lang="es-ES" sz="1800" dirty="0"/>
              <a:t>En el campo de texto anterior, hemos indicado </a:t>
            </a:r>
            <a:r>
              <a:rPr lang="es-ES" sz="1800" dirty="0" err="1"/>
              <a:t>name</a:t>
            </a:r>
            <a:r>
              <a:rPr lang="es-ES" sz="1800" dirty="0"/>
              <a:t>="</a:t>
            </a:r>
            <a:r>
              <a:rPr lang="es-ES" sz="1800" dirty="0" err="1"/>
              <a:t>midato</a:t>
            </a:r>
            <a:r>
              <a:rPr lang="es-ES" sz="1800" dirty="0"/>
              <a:t>" por lo tanto, el valor lo vamos a recibir con el nombre "</a:t>
            </a:r>
            <a:r>
              <a:rPr lang="es-ES" sz="1800" dirty="0" err="1"/>
              <a:t>midato</a:t>
            </a:r>
            <a:r>
              <a:rPr lang="es-ES" sz="1800" dirty="0"/>
              <a:t>".</a:t>
            </a:r>
          </a:p>
          <a:p>
            <a:endParaRPr lang="es-ES" sz="1800" dirty="0"/>
          </a:p>
          <a:p>
            <a:r>
              <a:rPr lang="es-ES" sz="1800" dirty="0"/>
              <a:t>Ya en la página PHP, el campo de formulario lo vamos a recibir con el array </a:t>
            </a:r>
            <a:r>
              <a:rPr lang="es-ES" sz="1800" dirty="0" err="1"/>
              <a:t>superglobal</a:t>
            </a:r>
            <a:r>
              <a:rPr lang="es-ES" sz="1800" dirty="0"/>
              <a:t> $_POST. Este es un array asociativo que se crea automáticamente por PHP y que está disponible en cualquier lugar del código de la página donde recibimos el formulario. El nombre del campo de formulario es el que usaremos como índice del array $_POST, tal que así.</a:t>
            </a:r>
          </a:p>
        </p:txBody>
      </p:sp>
      <p:sp>
        <p:nvSpPr>
          <p:cNvPr id="4" name="Marcador de número de diapositiva 3">
            <a:extLst>
              <a:ext uri="{FF2B5EF4-FFF2-40B4-BE49-F238E27FC236}">
                <a16:creationId xmlns:a16="http://schemas.microsoft.com/office/drawing/2014/main" id="{FF819A9C-D931-2EBD-8764-C1AC2A6C8298}"/>
              </a:ext>
            </a:extLst>
          </p:cNvPr>
          <p:cNvSpPr>
            <a:spLocks noGrp="1"/>
          </p:cNvSpPr>
          <p:nvPr>
            <p:ph type="sldNum" idx="10"/>
          </p:nvPr>
        </p:nvSpPr>
        <p:spPr/>
        <p:txBody>
          <a:bodyPr/>
          <a:lstStyle/>
          <a:p>
            <a:fld id="{00000000-1234-1234-1234-123412341234}" type="slidenum">
              <a:rPr lang="es-ES" smtClean="0"/>
              <a:pPr/>
              <a:t>17</a:t>
            </a:fld>
            <a:endParaRPr lang="es-ES" dirty="0"/>
          </a:p>
        </p:txBody>
      </p:sp>
      <p:sp>
        <p:nvSpPr>
          <p:cNvPr id="6" name="Rectangle 1">
            <a:extLst>
              <a:ext uri="{FF2B5EF4-FFF2-40B4-BE49-F238E27FC236}">
                <a16:creationId xmlns:a16="http://schemas.microsoft.com/office/drawing/2014/main" id="{50F51264-8260-163C-1577-1AF48629999D}"/>
              </a:ext>
            </a:extLst>
          </p:cNvPr>
          <p:cNvSpPr>
            <a:spLocks noChangeArrowheads="1"/>
          </p:cNvSpPr>
          <p:nvPr/>
        </p:nvSpPr>
        <p:spPr bwMode="auto">
          <a:xfrm>
            <a:off x="1979712" y="4155926"/>
            <a:ext cx="2236190" cy="375693"/>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a:ln>
                  <a:noFill/>
                </a:ln>
                <a:solidFill>
                  <a:srgbClr val="859900"/>
                </a:solidFill>
                <a:effectLst/>
                <a:latin typeface="Consolas" panose="020B0609020204030204" pitchFamily="49" charset="0"/>
              </a:rPr>
              <a:t>echo</a:t>
            </a:r>
            <a:r>
              <a:rPr kumimoji="0" lang="es-ES" altLang="es-ES" b="0" i="0" u="none" strike="noStrike" cap="none" normalizeH="0" baseline="0">
                <a:ln>
                  <a:noFill/>
                </a:ln>
                <a:solidFill>
                  <a:srgbClr val="657B83"/>
                </a:solidFill>
                <a:effectLst/>
                <a:latin typeface="Consolas" panose="020B0609020204030204" pitchFamily="49" charset="0"/>
              </a:rPr>
              <a:t> $_POST</a:t>
            </a:r>
            <a:r>
              <a:rPr kumimoji="0" lang="es-ES" altLang="es-ES" b="0" i="0" u="none" strike="noStrike" cap="none" normalizeH="0" baseline="0">
                <a:ln>
                  <a:noFill/>
                </a:ln>
                <a:solidFill>
                  <a:srgbClr val="586E75"/>
                </a:solidFill>
                <a:effectLst/>
                <a:latin typeface="Consolas" panose="020B0609020204030204" pitchFamily="49" charset="0"/>
              </a:rPr>
              <a:t>[</a:t>
            </a:r>
            <a:r>
              <a:rPr kumimoji="0" lang="es-ES" altLang="es-ES" b="0" i="0" u="none" strike="noStrike" cap="none" normalizeH="0" baseline="0">
                <a:ln>
                  <a:noFill/>
                </a:ln>
                <a:solidFill>
                  <a:srgbClr val="2AA198"/>
                </a:solidFill>
                <a:effectLst/>
                <a:latin typeface="Consolas" panose="020B0609020204030204" pitchFamily="49" charset="0"/>
              </a:rPr>
              <a:t>"midato"</a:t>
            </a:r>
            <a:r>
              <a:rPr kumimoji="0" lang="es-ES" altLang="es-ES" b="0" i="0" u="none" strike="noStrike" cap="none" normalizeH="0" baseline="0">
                <a:ln>
                  <a:noFill/>
                </a:ln>
                <a:solidFill>
                  <a:srgbClr val="586E75"/>
                </a:solidFill>
                <a:effectLst/>
                <a:latin typeface="Consolas" panose="020B0609020204030204" pitchFamily="49" charset="0"/>
              </a:rPr>
              <a:t>];</a:t>
            </a:r>
            <a:r>
              <a:rPr kumimoji="0" lang="es-ES" altLang="es-ES" b="0" i="0" u="none" strike="noStrike" cap="none" normalizeH="0" baseline="0">
                <a:ln>
                  <a:noFill/>
                </a:ln>
                <a:solidFill>
                  <a:schemeClr val="tx1"/>
                </a:solidFill>
                <a:effectLst/>
              </a:rPr>
              <a:t> </a:t>
            </a:r>
            <a:endParaRPr kumimoji="0" lang="es-ES" altLang="es-ES"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089455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A7FA55-7582-2C1C-C48D-B282B61A631C}"/>
              </a:ext>
            </a:extLst>
          </p:cNvPr>
          <p:cNvSpPr>
            <a:spLocks noGrp="1"/>
          </p:cNvSpPr>
          <p:nvPr>
            <p:ph type="title"/>
          </p:nvPr>
        </p:nvSpPr>
        <p:spPr/>
        <p:txBody>
          <a:bodyPr/>
          <a:lstStyle/>
          <a:p>
            <a:pPr algn="l"/>
            <a:r>
              <a:rPr lang="es-ES" b="0" i="0" dirty="0">
                <a:solidFill>
                  <a:srgbClr val="000000"/>
                </a:solidFill>
                <a:effectLst/>
                <a:latin typeface="Roboto" panose="02000000000000000000" pitchFamily="2" charset="0"/>
              </a:rPr>
              <a:t>Ejemplo de envío y recepción por POST en PHP</a:t>
            </a:r>
          </a:p>
        </p:txBody>
      </p:sp>
      <p:sp>
        <p:nvSpPr>
          <p:cNvPr id="3" name="Marcador de texto 2">
            <a:extLst>
              <a:ext uri="{FF2B5EF4-FFF2-40B4-BE49-F238E27FC236}">
                <a16:creationId xmlns:a16="http://schemas.microsoft.com/office/drawing/2014/main" id="{3270DFA4-F402-F1B4-05EB-690843FB1E28}"/>
              </a:ext>
            </a:extLst>
          </p:cNvPr>
          <p:cNvSpPr>
            <a:spLocks noGrp="1"/>
          </p:cNvSpPr>
          <p:nvPr>
            <p:ph type="body" idx="1"/>
          </p:nvPr>
        </p:nvSpPr>
        <p:spPr>
          <a:xfrm>
            <a:off x="611560" y="1373588"/>
            <a:ext cx="7848872" cy="3552300"/>
          </a:xfrm>
        </p:spPr>
        <p:txBody>
          <a:bodyPr/>
          <a:lstStyle/>
          <a:p>
            <a:r>
              <a:rPr lang="es-ES" dirty="0"/>
              <a:t>El siguiente código te ilustra una página HTML con un formulario que se va a enviar a otra página </a:t>
            </a:r>
            <a:r>
              <a:rPr lang="es-ES" dirty="0" err="1"/>
              <a:t>php</a:t>
            </a:r>
            <a:r>
              <a:rPr lang="es-ES" dirty="0"/>
              <a:t>.</a:t>
            </a:r>
          </a:p>
        </p:txBody>
      </p:sp>
      <p:sp>
        <p:nvSpPr>
          <p:cNvPr id="4" name="Marcador de número de diapositiva 3">
            <a:extLst>
              <a:ext uri="{FF2B5EF4-FFF2-40B4-BE49-F238E27FC236}">
                <a16:creationId xmlns:a16="http://schemas.microsoft.com/office/drawing/2014/main" id="{FF819A9C-D931-2EBD-8764-C1AC2A6C8298}"/>
              </a:ext>
            </a:extLst>
          </p:cNvPr>
          <p:cNvSpPr>
            <a:spLocks noGrp="1"/>
          </p:cNvSpPr>
          <p:nvPr>
            <p:ph type="sldNum" idx="10"/>
          </p:nvPr>
        </p:nvSpPr>
        <p:spPr/>
        <p:txBody>
          <a:bodyPr/>
          <a:lstStyle/>
          <a:p>
            <a:fld id="{00000000-1234-1234-1234-123412341234}" type="slidenum">
              <a:rPr lang="es-ES" smtClean="0"/>
              <a:pPr/>
              <a:t>18</a:t>
            </a:fld>
            <a:endParaRPr lang="es-ES" dirty="0"/>
          </a:p>
        </p:txBody>
      </p:sp>
    </p:spTree>
    <p:extLst>
      <p:ext uri="{BB962C8B-B14F-4D97-AF65-F5344CB8AC3E}">
        <p14:creationId xmlns:p14="http://schemas.microsoft.com/office/powerpoint/2010/main" val="34932115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FF819A9C-D931-2EBD-8764-C1AC2A6C8298}"/>
              </a:ext>
            </a:extLst>
          </p:cNvPr>
          <p:cNvSpPr>
            <a:spLocks noGrp="1"/>
          </p:cNvSpPr>
          <p:nvPr>
            <p:ph type="sldNum" idx="10"/>
          </p:nvPr>
        </p:nvSpPr>
        <p:spPr/>
        <p:txBody>
          <a:bodyPr/>
          <a:lstStyle/>
          <a:p>
            <a:fld id="{00000000-1234-1234-1234-123412341234}" type="slidenum">
              <a:rPr lang="es-ES" smtClean="0"/>
              <a:pPr/>
              <a:t>19</a:t>
            </a:fld>
            <a:endParaRPr lang="es-ES" dirty="0"/>
          </a:p>
        </p:txBody>
      </p:sp>
      <p:sp>
        <p:nvSpPr>
          <p:cNvPr id="6" name="Título 5">
            <a:extLst>
              <a:ext uri="{FF2B5EF4-FFF2-40B4-BE49-F238E27FC236}">
                <a16:creationId xmlns:a16="http://schemas.microsoft.com/office/drawing/2014/main" id="{341F895F-7775-DC65-58A2-A1647AECFF1D}"/>
              </a:ext>
            </a:extLst>
          </p:cNvPr>
          <p:cNvSpPr>
            <a:spLocks noGrp="1"/>
          </p:cNvSpPr>
          <p:nvPr>
            <p:ph type="title"/>
          </p:nvPr>
        </p:nvSpPr>
        <p:spPr/>
        <p:txBody>
          <a:bodyPr/>
          <a:lstStyle/>
          <a:p>
            <a:endParaRPr lang="es-ES"/>
          </a:p>
        </p:txBody>
      </p:sp>
      <p:sp>
        <p:nvSpPr>
          <p:cNvPr id="7" name="Rectangle 1">
            <a:extLst>
              <a:ext uri="{FF2B5EF4-FFF2-40B4-BE49-F238E27FC236}">
                <a16:creationId xmlns:a16="http://schemas.microsoft.com/office/drawing/2014/main" id="{30EDFEBA-8314-DF6F-B035-12ACC699C046}"/>
              </a:ext>
            </a:extLst>
          </p:cNvPr>
          <p:cNvSpPr>
            <a:spLocks noChangeArrowheads="1"/>
          </p:cNvSpPr>
          <p:nvPr/>
        </p:nvSpPr>
        <p:spPr bwMode="auto">
          <a:xfrm>
            <a:off x="251520" y="1347614"/>
            <a:ext cx="4671151" cy="3176460"/>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HTML</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586E75"/>
                </a:solidFill>
                <a:effectLst/>
                <a:latin typeface="Consolas" panose="020B0609020204030204" pitchFamily="49" charset="0"/>
              </a:rPr>
              <a:t>   &lt;</a:t>
            </a:r>
            <a:r>
              <a:rPr kumimoji="0" lang="es-ES" altLang="es-ES" b="0" i="0" u="none" strike="noStrike" cap="none" normalizeH="0" baseline="0" dirty="0">
                <a:ln>
                  <a:noFill/>
                </a:ln>
                <a:solidFill>
                  <a:srgbClr val="268BD2"/>
                </a:solidFill>
                <a:effectLst/>
                <a:latin typeface="Consolas" panose="020B0609020204030204" pitchFamily="49" charset="0"/>
              </a:rPr>
              <a:t>HEAD</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586E75"/>
                </a:solidFill>
                <a:effectLst/>
                <a:latin typeface="Consolas" panose="020B0609020204030204" pitchFamily="49" charset="0"/>
              </a:rPr>
              <a:t>   &lt;</a:t>
            </a:r>
            <a:r>
              <a:rPr kumimoji="0" lang="es-ES" altLang="es-ES" b="0" i="0" u="none" strike="noStrike" cap="none" normalizeH="0" baseline="0" dirty="0">
                <a:ln>
                  <a:noFill/>
                </a:ln>
                <a:solidFill>
                  <a:srgbClr val="268BD2"/>
                </a:solidFill>
                <a:effectLst/>
                <a:latin typeface="Consolas" panose="020B0609020204030204" pitchFamily="49" charset="0"/>
              </a:rPr>
              <a:t>TITLE</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formulario.html</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TITLE</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HEAD</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BODY</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FORM </a:t>
            </a:r>
            <a:r>
              <a:rPr kumimoji="0" lang="es-ES" altLang="es-ES" b="0" i="0" u="none" strike="noStrike" cap="none" normalizeH="0" baseline="0" dirty="0">
                <a:ln>
                  <a:noFill/>
                </a:ln>
                <a:solidFill>
                  <a:srgbClr val="2AA198"/>
                </a:solidFill>
                <a:effectLst/>
                <a:latin typeface="Consolas" panose="020B0609020204030204" pitchFamily="49" charset="0"/>
              </a:rPr>
              <a:t>METHOD</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859900"/>
                </a:solidFill>
                <a:effectLst/>
                <a:latin typeface="Consolas" panose="020B0609020204030204" pitchFamily="49" charset="0"/>
              </a:rPr>
              <a:t>POST</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268BD2"/>
                </a:solidFill>
                <a:effectLst/>
                <a:latin typeface="Consolas" panose="020B0609020204030204" pitchFamily="49" charset="0"/>
              </a:rPr>
              <a:t> </a:t>
            </a:r>
            <a:r>
              <a:rPr kumimoji="0" lang="es-ES" altLang="es-ES" b="0" i="0" u="none" strike="noStrike" cap="none" normalizeH="0" baseline="0" dirty="0">
                <a:ln>
                  <a:noFill/>
                </a:ln>
                <a:solidFill>
                  <a:srgbClr val="2AA198"/>
                </a:solidFill>
                <a:effectLst/>
                <a:latin typeface="Consolas" panose="020B0609020204030204" pitchFamily="49" charset="0"/>
              </a:rPr>
              <a:t>ACTION</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859900"/>
                </a:solidFill>
                <a:effectLst/>
                <a:latin typeface="Consolas" panose="020B0609020204030204" pitchFamily="49" charset="0"/>
              </a:rPr>
              <a:t>destino2.php</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657B83"/>
                </a:solidFill>
                <a:effectLst/>
                <a:latin typeface="Consolas" panose="020B0609020204030204" pitchFamily="49" charset="0"/>
              </a:rPr>
              <a:t>Nombre</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err="1">
                <a:ln>
                  <a:noFill/>
                </a:ln>
                <a:solidFill>
                  <a:srgbClr val="268BD2"/>
                </a:solidFill>
                <a:effectLst/>
                <a:latin typeface="Consolas" panose="020B0609020204030204" pitchFamily="49" charset="0"/>
              </a:rPr>
              <a:t>br</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INPUT </a:t>
            </a:r>
            <a:r>
              <a:rPr kumimoji="0" lang="es-ES" altLang="es-ES" b="0" i="0" u="none" strike="noStrike" cap="none" normalizeH="0" baseline="0" dirty="0">
                <a:ln>
                  <a:noFill/>
                </a:ln>
                <a:solidFill>
                  <a:srgbClr val="2AA198"/>
                </a:solidFill>
                <a:effectLst/>
                <a:latin typeface="Consolas" panose="020B0609020204030204" pitchFamily="49" charset="0"/>
              </a:rPr>
              <a:t>TYPE</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859900"/>
                </a:solidFill>
                <a:effectLst/>
                <a:latin typeface="Consolas" panose="020B0609020204030204" pitchFamily="49" charset="0"/>
              </a:rPr>
              <a:t>TEXT</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268BD2"/>
                </a:solidFill>
                <a:effectLst/>
                <a:latin typeface="Consolas" panose="020B0609020204030204" pitchFamily="49" charset="0"/>
              </a:rPr>
              <a:t> </a:t>
            </a:r>
            <a:r>
              <a:rPr kumimoji="0" lang="es-ES" altLang="es-ES" b="0" i="0" u="none" strike="noStrike" cap="none" normalizeH="0" baseline="0" dirty="0">
                <a:ln>
                  <a:noFill/>
                </a:ln>
                <a:solidFill>
                  <a:srgbClr val="2AA198"/>
                </a:solidFill>
                <a:effectLst/>
                <a:latin typeface="Consolas" panose="020B0609020204030204" pitchFamily="49" charset="0"/>
              </a:rPr>
              <a:t>NAME</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859900"/>
                </a:solidFill>
                <a:effectLst/>
                <a:latin typeface="Consolas" panose="020B0609020204030204" pitchFamily="49" charset="0"/>
              </a:rPr>
              <a:t>nombre</a:t>
            </a:r>
            <a:r>
              <a:rPr kumimoji="0" lang="es-ES" altLang="es-ES" b="0" i="0" u="none" strike="noStrike" cap="none" normalizeH="0" baseline="0" dirty="0">
                <a:ln>
                  <a:noFill/>
                </a:ln>
                <a:solidFill>
                  <a:srgbClr val="586E75"/>
                </a:solidFill>
                <a:effectLst/>
                <a:latin typeface="Consolas" panose="020B0609020204030204" pitchFamily="49" charset="0"/>
              </a:rPr>
              <a:t>"&gt;&lt;</a:t>
            </a:r>
            <a:r>
              <a:rPr kumimoji="0" lang="es-ES" altLang="es-ES" b="0" i="0" u="none" strike="noStrike" cap="none" normalizeH="0" baseline="0" dirty="0" err="1">
                <a:ln>
                  <a:noFill/>
                </a:ln>
                <a:solidFill>
                  <a:srgbClr val="268BD2"/>
                </a:solidFill>
                <a:effectLst/>
                <a:latin typeface="Consolas" panose="020B0609020204030204" pitchFamily="49" charset="0"/>
              </a:rPr>
              <a:t>br</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657B83"/>
                </a:solidFill>
                <a:effectLst/>
                <a:latin typeface="Consolas" panose="020B0609020204030204" pitchFamily="49" charset="0"/>
              </a:rPr>
              <a:t>Apellidos</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err="1">
                <a:ln>
                  <a:noFill/>
                </a:ln>
                <a:solidFill>
                  <a:srgbClr val="268BD2"/>
                </a:solidFill>
                <a:effectLst/>
                <a:latin typeface="Consolas" panose="020B0609020204030204" pitchFamily="49" charset="0"/>
              </a:rPr>
              <a:t>br</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INPUT </a:t>
            </a:r>
            <a:r>
              <a:rPr kumimoji="0" lang="es-ES" altLang="es-ES" b="0" i="0" u="none" strike="noStrike" cap="none" normalizeH="0" baseline="0" dirty="0">
                <a:ln>
                  <a:noFill/>
                </a:ln>
                <a:solidFill>
                  <a:srgbClr val="2AA198"/>
                </a:solidFill>
                <a:effectLst/>
                <a:latin typeface="Consolas" panose="020B0609020204030204" pitchFamily="49" charset="0"/>
              </a:rPr>
              <a:t>TYPE</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859900"/>
                </a:solidFill>
                <a:effectLst/>
                <a:latin typeface="Consolas" panose="020B0609020204030204" pitchFamily="49" charset="0"/>
              </a:rPr>
              <a:t>TEXT</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268BD2"/>
                </a:solidFill>
                <a:effectLst/>
                <a:latin typeface="Consolas" panose="020B0609020204030204" pitchFamily="49" charset="0"/>
              </a:rPr>
              <a:t> </a:t>
            </a:r>
            <a:r>
              <a:rPr kumimoji="0" lang="es-ES" altLang="es-ES" b="0" i="0" u="none" strike="noStrike" cap="none" normalizeH="0" baseline="0" dirty="0">
                <a:ln>
                  <a:noFill/>
                </a:ln>
                <a:solidFill>
                  <a:srgbClr val="2AA198"/>
                </a:solidFill>
                <a:effectLst/>
                <a:latin typeface="Consolas" panose="020B0609020204030204" pitchFamily="49" charset="0"/>
              </a:rPr>
              <a:t>NAME</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859900"/>
                </a:solidFill>
                <a:effectLst/>
                <a:latin typeface="Consolas" panose="020B0609020204030204" pitchFamily="49" charset="0"/>
              </a:rPr>
              <a:t>apellidos</a:t>
            </a:r>
            <a:r>
              <a:rPr kumimoji="0" lang="es-ES" altLang="es-ES" b="0" i="0" u="none" strike="noStrike" cap="none" normalizeH="0" baseline="0" dirty="0">
                <a:ln>
                  <a:noFill/>
                </a:ln>
                <a:solidFill>
                  <a:srgbClr val="586E75"/>
                </a:solidFill>
                <a:effectLst/>
                <a:latin typeface="Consolas" panose="020B0609020204030204" pitchFamily="49" charset="0"/>
              </a:rPr>
              <a:t>"&gt;&lt;</a:t>
            </a:r>
            <a:r>
              <a:rPr kumimoji="0" lang="es-ES" altLang="es-ES" b="0" i="0" u="none" strike="noStrike" cap="none" normalizeH="0" baseline="0" dirty="0" err="1">
                <a:ln>
                  <a:noFill/>
                </a:ln>
                <a:solidFill>
                  <a:srgbClr val="268BD2"/>
                </a:solidFill>
                <a:effectLst/>
                <a:latin typeface="Consolas" panose="020B0609020204030204" pitchFamily="49" charset="0"/>
              </a:rPr>
              <a:t>br</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INPUT </a:t>
            </a:r>
            <a:r>
              <a:rPr kumimoji="0" lang="es-ES" altLang="es-ES" b="0" i="0" u="none" strike="noStrike" cap="none" normalizeH="0" baseline="0" dirty="0">
                <a:ln>
                  <a:noFill/>
                </a:ln>
                <a:solidFill>
                  <a:srgbClr val="2AA198"/>
                </a:solidFill>
                <a:effectLst/>
                <a:latin typeface="Consolas" panose="020B0609020204030204" pitchFamily="49" charset="0"/>
              </a:rPr>
              <a:t>TYPE</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859900"/>
                </a:solidFill>
                <a:effectLst/>
                <a:latin typeface="Consolas" panose="020B0609020204030204" pitchFamily="49" charset="0"/>
              </a:rPr>
              <a:t>SUBMIT</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FORM</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BODY</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HTML</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chemeClr val="tx1"/>
                </a:solidFill>
                <a:effectLst/>
              </a:rPr>
              <a:t> </a:t>
            </a:r>
            <a:endParaRPr kumimoji="0" lang="es-ES" altLang="es-ES" b="0" i="0" u="none" strike="noStrike" cap="none" normalizeH="0" baseline="0" dirty="0">
              <a:ln>
                <a:noFill/>
              </a:ln>
              <a:solidFill>
                <a:schemeClr val="tx1"/>
              </a:solidFill>
              <a:effectLst/>
              <a:latin typeface="Arial" panose="020B0604020202020204" pitchFamily="34" charset="0"/>
            </a:endParaRPr>
          </a:p>
        </p:txBody>
      </p:sp>
      <p:sp>
        <p:nvSpPr>
          <p:cNvPr id="9" name="CuadroTexto 8">
            <a:extLst>
              <a:ext uri="{FF2B5EF4-FFF2-40B4-BE49-F238E27FC236}">
                <a16:creationId xmlns:a16="http://schemas.microsoft.com/office/drawing/2014/main" id="{53E585C6-17AE-3854-7558-FC5F61866EB7}"/>
              </a:ext>
            </a:extLst>
          </p:cNvPr>
          <p:cNvSpPr txBox="1"/>
          <p:nvPr/>
        </p:nvSpPr>
        <p:spPr>
          <a:xfrm>
            <a:off x="5148064" y="2067694"/>
            <a:ext cx="3384376" cy="1477328"/>
          </a:xfrm>
          <a:prstGeom prst="rect">
            <a:avLst/>
          </a:prstGeom>
          <a:noFill/>
        </p:spPr>
        <p:txBody>
          <a:bodyPr wrap="square">
            <a:spAutoFit/>
          </a:bodyPr>
          <a:lstStyle/>
          <a:p>
            <a:r>
              <a:rPr lang="es-ES" sz="1800" dirty="0">
                <a:solidFill>
                  <a:schemeClr val="dk1"/>
                </a:solidFill>
                <a:latin typeface="Lato"/>
                <a:ea typeface="Lato"/>
                <a:cs typeface="Lato"/>
                <a:sym typeface="Lato"/>
              </a:rPr>
              <a:t>Fíjate que la página donde se enviará el formulario se llama "destino2.php". El código de esta página podría ser más o menos como este:</a:t>
            </a:r>
          </a:p>
        </p:txBody>
      </p:sp>
    </p:spTree>
    <p:extLst>
      <p:ext uri="{BB962C8B-B14F-4D97-AF65-F5344CB8AC3E}">
        <p14:creationId xmlns:p14="http://schemas.microsoft.com/office/powerpoint/2010/main" val="21285970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A7FA55-7582-2C1C-C48D-B282B61A631C}"/>
              </a:ext>
            </a:extLst>
          </p:cNvPr>
          <p:cNvSpPr>
            <a:spLocks noGrp="1"/>
          </p:cNvSpPr>
          <p:nvPr>
            <p:ph type="title"/>
          </p:nvPr>
        </p:nvSpPr>
        <p:spPr/>
        <p:txBody>
          <a:bodyPr/>
          <a:lstStyle/>
          <a:p>
            <a:endParaRPr lang="es-ES"/>
          </a:p>
        </p:txBody>
      </p:sp>
      <p:sp>
        <p:nvSpPr>
          <p:cNvPr id="3" name="Marcador de texto 2">
            <a:extLst>
              <a:ext uri="{FF2B5EF4-FFF2-40B4-BE49-F238E27FC236}">
                <a16:creationId xmlns:a16="http://schemas.microsoft.com/office/drawing/2014/main" id="{3270DFA4-F402-F1B4-05EB-690843FB1E28}"/>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FF819A9C-D931-2EBD-8764-C1AC2A6C8298}"/>
              </a:ext>
            </a:extLst>
          </p:cNvPr>
          <p:cNvSpPr>
            <a:spLocks noGrp="1"/>
          </p:cNvSpPr>
          <p:nvPr>
            <p:ph type="sldNum" idx="10"/>
          </p:nvPr>
        </p:nvSpPr>
        <p:spPr/>
        <p:txBody>
          <a:bodyPr/>
          <a:lstStyle/>
          <a:p>
            <a:fld id="{00000000-1234-1234-1234-123412341234}" type="slidenum">
              <a:rPr lang="es-ES" smtClean="0"/>
              <a:pPr/>
              <a:t>20</a:t>
            </a:fld>
            <a:endParaRPr lang="es-ES" dirty="0"/>
          </a:p>
        </p:txBody>
      </p:sp>
      <p:sp>
        <p:nvSpPr>
          <p:cNvPr id="6" name="Rectangle 1">
            <a:extLst>
              <a:ext uri="{FF2B5EF4-FFF2-40B4-BE49-F238E27FC236}">
                <a16:creationId xmlns:a16="http://schemas.microsoft.com/office/drawing/2014/main" id="{9A94062A-85F4-10F1-41B8-A9A6DD9DFAD7}"/>
              </a:ext>
            </a:extLst>
          </p:cNvPr>
          <p:cNvSpPr>
            <a:spLocks noChangeArrowheads="1"/>
          </p:cNvSpPr>
          <p:nvPr/>
        </p:nvSpPr>
        <p:spPr bwMode="auto">
          <a:xfrm>
            <a:off x="251520" y="787088"/>
            <a:ext cx="6758260" cy="2530129"/>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HTML</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586E75"/>
                </a:solidFill>
                <a:effectLst/>
                <a:latin typeface="Consolas" panose="020B0609020204030204" pitchFamily="49" charset="0"/>
              </a:rPr>
              <a:t>   &lt;</a:t>
            </a:r>
            <a:r>
              <a:rPr kumimoji="0" lang="es-ES" altLang="es-ES" b="0" i="0" u="none" strike="noStrike" cap="none" normalizeH="0" baseline="0" dirty="0">
                <a:ln>
                  <a:noFill/>
                </a:ln>
                <a:solidFill>
                  <a:srgbClr val="268BD2"/>
                </a:solidFill>
                <a:effectLst/>
                <a:latin typeface="Consolas" panose="020B0609020204030204" pitchFamily="49" charset="0"/>
              </a:rPr>
              <a:t>HEAD</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TITLE</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destino2.php</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TITLE</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HEAD</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BODY</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1" i="0" u="none" strike="noStrike" cap="none" normalizeH="0" baseline="0" dirty="0">
                <a:ln>
                  <a:noFill/>
                </a:ln>
                <a:solidFill>
                  <a:srgbClr val="CB4B16"/>
                </a:solidFill>
                <a:effectLst/>
                <a:latin typeface="Consolas" panose="020B0609020204030204" pitchFamily="49" charset="0"/>
              </a:rPr>
              <a:t>&lt;?</a:t>
            </a:r>
            <a:r>
              <a:rPr kumimoji="0" lang="es-ES" altLang="es-ES" b="1" i="0" u="none" strike="noStrike" cap="none" normalizeH="0" baseline="0" dirty="0" err="1">
                <a:ln>
                  <a:noFill/>
                </a:ln>
                <a:solidFill>
                  <a:srgbClr val="CB4B16"/>
                </a:solidFill>
                <a:effectLst/>
                <a:latin typeface="Consolas" panose="020B0609020204030204" pitchFamily="49" charset="0"/>
              </a:rPr>
              <a:t>php</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859900"/>
                </a:solidFill>
                <a:effectLst/>
                <a:latin typeface="Consolas" panose="020B0609020204030204" pitchFamily="49" charset="0"/>
              </a:rPr>
              <a:t>echo</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2AA198"/>
                </a:solidFill>
                <a:effectLst/>
                <a:latin typeface="Consolas" panose="020B0609020204030204" pitchFamily="49" charset="0"/>
              </a:rPr>
              <a:t>"Variable </a:t>
            </a:r>
            <a:r>
              <a:rPr kumimoji="0" lang="es-ES" altLang="es-ES" b="0" i="0" u="none" strike="noStrike" cap="none" normalizeH="0" baseline="0" dirty="0">
                <a:ln>
                  <a:noFill/>
                </a:ln>
                <a:solidFill>
                  <a:srgbClr val="CB4B16"/>
                </a:solidFill>
                <a:effectLst/>
                <a:latin typeface="Consolas" panose="020B0609020204030204" pitchFamily="49" charset="0"/>
              </a:rPr>
              <a:t>$nombre</a:t>
            </a:r>
            <a:r>
              <a:rPr kumimoji="0" lang="es-ES" altLang="es-ES" b="0" i="0" u="none" strike="noStrike" cap="none" normalizeH="0" baseline="0" dirty="0">
                <a:ln>
                  <a:noFill/>
                </a:ln>
                <a:solidFill>
                  <a:srgbClr val="2AA198"/>
                </a:solidFill>
                <a:effectLst/>
                <a:latin typeface="Consolas" panose="020B0609020204030204" pitchFamily="49" charset="0"/>
              </a:rPr>
              <a:t>: "</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$_POST</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2AA198"/>
                </a:solidFill>
                <a:effectLst/>
                <a:latin typeface="Consolas" panose="020B0609020204030204" pitchFamily="49" charset="0"/>
              </a:rPr>
              <a:t>"nombre"</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2AA198"/>
                </a:solidFill>
                <a:effectLst/>
                <a:latin typeface="Consolas" panose="020B0609020204030204" pitchFamily="49" charset="0"/>
              </a:rPr>
              <a:t>"&lt;</a:t>
            </a:r>
            <a:r>
              <a:rPr kumimoji="0" lang="es-ES" altLang="es-ES" b="0" i="0" u="none" strike="noStrike" cap="none" normalizeH="0" baseline="0" dirty="0" err="1">
                <a:ln>
                  <a:noFill/>
                </a:ln>
                <a:solidFill>
                  <a:srgbClr val="2AA198"/>
                </a:solidFill>
                <a:effectLst/>
                <a:latin typeface="Consolas" panose="020B0609020204030204" pitchFamily="49" charset="0"/>
              </a:rPr>
              <a:t>br</a:t>
            </a:r>
            <a:r>
              <a:rPr kumimoji="0" lang="es-ES" altLang="es-ES" b="0" i="0" u="none" strike="noStrike" cap="none" normalizeH="0" baseline="0" dirty="0">
                <a:ln>
                  <a:noFill/>
                </a:ln>
                <a:solidFill>
                  <a:srgbClr val="2AA198"/>
                </a:solidFill>
                <a:effectLst/>
                <a:latin typeface="Consolas" panose="020B0609020204030204" pitchFamily="49" charset="0"/>
              </a:rPr>
              <a:t>&gt;n"</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859900"/>
                </a:solidFill>
                <a:effectLst/>
                <a:latin typeface="Consolas" panose="020B0609020204030204" pitchFamily="49" charset="0"/>
              </a:rPr>
              <a:t>echo</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2AA198"/>
                </a:solidFill>
                <a:effectLst/>
                <a:latin typeface="Consolas" panose="020B0609020204030204" pitchFamily="49" charset="0"/>
              </a:rPr>
              <a:t>"Variable </a:t>
            </a:r>
            <a:r>
              <a:rPr kumimoji="0" lang="es-ES" altLang="es-ES" b="0" i="0" u="none" strike="noStrike" cap="none" normalizeH="0" baseline="0" dirty="0">
                <a:ln>
                  <a:noFill/>
                </a:ln>
                <a:solidFill>
                  <a:srgbClr val="CB4B16"/>
                </a:solidFill>
                <a:effectLst/>
                <a:latin typeface="Consolas" panose="020B0609020204030204" pitchFamily="49" charset="0"/>
              </a:rPr>
              <a:t>$apellidos</a:t>
            </a:r>
            <a:r>
              <a:rPr kumimoji="0" lang="es-ES" altLang="es-ES" b="0" i="0" u="none" strike="noStrike" cap="none" normalizeH="0" baseline="0" dirty="0">
                <a:ln>
                  <a:noFill/>
                </a:ln>
                <a:solidFill>
                  <a:srgbClr val="2AA198"/>
                </a:solidFill>
                <a:effectLst/>
                <a:latin typeface="Consolas" panose="020B0609020204030204" pitchFamily="49" charset="0"/>
              </a:rPr>
              <a:t>: "</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$_POST</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2AA198"/>
                </a:solidFill>
                <a:effectLst/>
                <a:latin typeface="Consolas" panose="020B0609020204030204" pitchFamily="49" charset="0"/>
              </a:rPr>
              <a:t>"apellidos"</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2AA198"/>
                </a:solidFill>
                <a:effectLst/>
                <a:latin typeface="Consolas" panose="020B0609020204030204" pitchFamily="49" charset="0"/>
              </a:rPr>
              <a:t>"&lt;</a:t>
            </a:r>
            <a:r>
              <a:rPr kumimoji="0" lang="es-ES" altLang="es-ES" b="0" i="0" u="none" strike="noStrike" cap="none" normalizeH="0" baseline="0" dirty="0" err="1">
                <a:ln>
                  <a:noFill/>
                </a:ln>
                <a:solidFill>
                  <a:srgbClr val="2AA198"/>
                </a:solidFill>
                <a:effectLst/>
                <a:latin typeface="Consolas" panose="020B0609020204030204" pitchFamily="49" charset="0"/>
              </a:rPr>
              <a:t>br</a:t>
            </a:r>
            <a:r>
              <a:rPr kumimoji="0" lang="es-ES" altLang="es-ES" b="0" i="0" u="none" strike="noStrike" cap="none" normalizeH="0" baseline="0" dirty="0">
                <a:ln>
                  <a:noFill/>
                </a:ln>
                <a:solidFill>
                  <a:srgbClr val="2AA198"/>
                </a:solidFill>
                <a:effectLst/>
                <a:latin typeface="Consolas" panose="020B0609020204030204" pitchFamily="49" charset="0"/>
              </a:rPr>
              <a:t>&gt;n"</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1" i="0" u="none" strike="noStrike" cap="none" normalizeH="0" baseline="0" dirty="0">
                <a:ln>
                  <a:noFill/>
                </a:ln>
                <a:solidFill>
                  <a:srgbClr val="CB4B16"/>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BODY</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HTML</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chemeClr val="tx1"/>
                </a:solidFill>
                <a:effectLst/>
              </a:rPr>
              <a:t> </a:t>
            </a:r>
            <a:endParaRPr kumimoji="0" lang="es-ES" altLang="es-E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63398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A7FA55-7582-2C1C-C48D-B282B61A631C}"/>
              </a:ext>
            </a:extLst>
          </p:cNvPr>
          <p:cNvSpPr>
            <a:spLocks noGrp="1"/>
          </p:cNvSpPr>
          <p:nvPr>
            <p:ph type="title"/>
          </p:nvPr>
        </p:nvSpPr>
        <p:spPr/>
        <p:txBody>
          <a:bodyPr/>
          <a:lstStyle/>
          <a:p>
            <a:pPr algn="l"/>
            <a:r>
              <a:rPr lang="es-ES" b="0" i="0" dirty="0">
                <a:solidFill>
                  <a:srgbClr val="000000"/>
                </a:solidFill>
                <a:effectLst/>
                <a:latin typeface="Roboto" panose="02000000000000000000" pitchFamily="2" charset="0"/>
              </a:rPr>
              <a:t>Ejemplo de restricción de acceso por edad</a:t>
            </a:r>
          </a:p>
        </p:txBody>
      </p:sp>
      <p:sp>
        <p:nvSpPr>
          <p:cNvPr id="3" name="Marcador de texto 2">
            <a:extLst>
              <a:ext uri="{FF2B5EF4-FFF2-40B4-BE49-F238E27FC236}">
                <a16:creationId xmlns:a16="http://schemas.microsoft.com/office/drawing/2014/main" id="{3270DFA4-F402-F1B4-05EB-690843FB1E28}"/>
              </a:ext>
            </a:extLst>
          </p:cNvPr>
          <p:cNvSpPr>
            <a:spLocks noGrp="1"/>
          </p:cNvSpPr>
          <p:nvPr>
            <p:ph type="body" idx="1"/>
          </p:nvPr>
        </p:nvSpPr>
        <p:spPr>
          <a:xfrm>
            <a:off x="179512" y="1215788"/>
            <a:ext cx="8784976" cy="3552300"/>
          </a:xfrm>
        </p:spPr>
        <p:txBody>
          <a:bodyPr/>
          <a:lstStyle/>
          <a:p>
            <a:r>
              <a:rPr lang="es-ES" sz="1600" dirty="0"/>
              <a:t>Para continuar aportando ejemplos al uso de formularios vamos a realizar una página que muestra solicita la edad del visitante y, dependiendo de dicha edad, permita o no visualizar el contenido de la web. A los mayores de 18 años se les permite ver la página y a los menores no.</a:t>
            </a:r>
          </a:p>
          <a:p>
            <a:endParaRPr lang="es-ES" sz="1600" dirty="0"/>
          </a:p>
          <a:p>
            <a:r>
              <a:rPr lang="es-ES" sz="1600" dirty="0"/>
              <a:t>El ejemplo es muy sencillo y no valdría tal cual está para utilizarlo a modo de una verdadera restricción de acceso. Únicamente nos sirve para saber cómo obtener datos de un formulario y como tratarlos para realizar una u otra acción, dependiendo de su valor.</a:t>
            </a:r>
          </a:p>
          <a:p>
            <a:endParaRPr lang="es-ES" sz="1600" dirty="0"/>
          </a:p>
          <a:p>
            <a:r>
              <a:rPr lang="es-ES" sz="1600" dirty="0"/>
              <a:t>La página del formulario, que hemos llamado </a:t>
            </a:r>
            <a:r>
              <a:rPr lang="es-ES" sz="1600" dirty="0" err="1"/>
              <a:t>edad.php</a:t>
            </a:r>
            <a:r>
              <a:rPr lang="es-ES" sz="1600" dirty="0"/>
              <a:t> tendría esta forma:</a:t>
            </a:r>
          </a:p>
        </p:txBody>
      </p:sp>
      <p:sp>
        <p:nvSpPr>
          <p:cNvPr id="4" name="Marcador de número de diapositiva 3">
            <a:extLst>
              <a:ext uri="{FF2B5EF4-FFF2-40B4-BE49-F238E27FC236}">
                <a16:creationId xmlns:a16="http://schemas.microsoft.com/office/drawing/2014/main" id="{FF819A9C-D931-2EBD-8764-C1AC2A6C8298}"/>
              </a:ext>
            </a:extLst>
          </p:cNvPr>
          <p:cNvSpPr>
            <a:spLocks noGrp="1"/>
          </p:cNvSpPr>
          <p:nvPr>
            <p:ph type="sldNum" idx="10"/>
          </p:nvPr>
        </p:nvSpPr>
        <p:spPr/>
        <p:txBody>
          <a:bodyPr/>
          <a:lstStyle/>
          <a:p>
            <a:fld id="{00000000-1234-1234-1234-123412341234}" type="slidenum">
              <a:rPr lang="es-ES" smtClean="0"/>
              <a:pPr/>
              <a:t>21</a:t>
            </a:fld>
            <a:endParaRPr lang="es-ES" dirty="0"/>
          </a:p>
        </p:txBody>
      </p:sp>
    </p:spTree>
    <p:extLst>
      <p:ext uri="{BB962C8B-B14F-4D97-AF65-F5344CB8AC3E}">
        <p14:creationId xmlns:p14="http://schemas.microsoft.com/office/powerpoint/2010/main" val="33113290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A7FA55-7582-2C1C-C48D-B282B61A631C}"/>
              </a:ext>
            </a:extLst>
          </p:cNvPr>
          <p:cNvSpPr>
            <a:spLocks noGrp="1"/>
          </p:cNvSpPr>
          <p:nvPr>
            <p:ph type="title"/>
          </p:nvPr>
        </p:nvSpPr>
        <p:spPr/>
        <p:txBody>
          <a:bodyPr/>
          <a:lstStyle/>
          <a:p>
            <a:endParaRPr lang="es-ES"/>
          </a:p>
        </p:txBody>
      </p:sp>
      <p:sp>
        <p:nvSpPr>
          <p:cNvPr id="3" name="Marcador de texto 2">
            <a:extLst>
              <a:ext uri="{FF2B5EF4-FFF2-40B4-BE49-F238E27FC236}">
                <a16:creationId xmlns:a16="http://schemas.microsoft.com/office/drawing/2014/main" id="{3270DFA4-F402-F1B4-05EB-690843FB1E28}"/>
              </a:ext>
            </a:extLst>
          </p:cNvPr>
          <p:cNvSpPr>
            <a:spLocks noGrp="1"/>
          </p:cNvSpPr>
          <p:nvPr>
            <p:ph type="body" idx="1"/>
          </p:nvPr>
        </p:nvSpPr>
        <p:spPr>
          <a:xfrm>
            <a:off x="34662" y="2939421"/>
            <a:ext cx="7494724" cy="1585057"/>
          </a:xfrm>
        </p:spPr>
        <p:txBody>
          <a:bodyPr/>
          <a:lstStyle/>
          <a:p>
            <a:r>
              <a:rPr lang="es-ES" sz="1800" dirty="0"/>
              <a:t>Esta es una página sin ningún código PHP, simplemente tiene un formulario. Fijémonos en el </a:t>
            </a:r>
            <a:r>
              <a:rPr lang="es-ES" sz="1800" dirty="0" err="1"/>
              <a:t>action</a:t>
            </a:r>
            <a:r>
              <a:rPr lang="es-ES" sz="1800" dirty="0"/>
              <a:t> del formulario, que está dirigido hacia una página llamada edad2.php, que es la que recibirá el dato de la edad y mostrará un contenido u otro dependiendo de ese valor. Su código es el siguiente:</a:t>
            </a:r>
          </a:p>
        </p:txBody>
      </p:sp>
      <p:sp>
        <p:nvSpPr>
          <p:cNvPr id="4" name="Marcador de número de diapositiva 3">
            <a:extLst>
              <a:ext uri="{FF2B5EF4-FFF2-40B4-BE49-F238E27FC236}">
                <a16:creationId xmlns:a16="http://schemas.microsoft.com/office/drawing/2014/main" id="{FF819A9C-D931-2EBD-8764-C1AC2A6C8298}"/>
              </a:ext>
            </a:extLst>
          </p:cNvPr>
          <p:cNvSpPr>
            <a:spLocks noGrp="1"/>
          </p:cNvSpPr>
          <p:nvPr>
            <p:ph type="sldNum" idx="10"/>
          </p:nvPr>
        </p:nvSpPr>
        <p:spPr/>
        <p:txBody>
          <a:bodyPr/>
          <a:lstStyle/>
          <a:p>
            <a:fld id="{00000000-1234-1234-1234-123412341234}" type="slidenum">
              <a:rPr lang="es-ES" smtClean="0"/>
              <a:pPr/>
              <a:t>22</a:t>
            </a:fld>
            <a:endParaRPr lang="es-ES" dirty="0"/>
          </a:p>
        </p:txBody>
      </p:sp>
      <p:sp>
        <p:nvSpPr>
          <p:cNvPr id="5" name="Rectangle 1">
            <a:extLst>
              <a:ext uri="{FF2B5EF4-FFF2-40B4-BE49-F238E27FC236}">
                <a16:creationId xmlns:a16="http://schemas.microsoft.com/office/drawing/2014/main" id="{EDB2B6F3-06C4-648B-C4A1-AC8D32ED7B72}"/>
              </a:ext>
            </a:extLst>
          </p:cNvPr>
          <p:cNvSpPr>
            <a:spLocks noChangeArrowheads="1"/>
          </p:cNvSpPr>
          <p:nvPr/>
        </p:nvSpPr>
        <p:spPr bwMode="auto">
          <a:xfrm>
            <a:off x="34662" y="393452"/>
            <a:ext cx="6360716" cy="2530129"/>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err="1">
                <a:ln>
                  <a:noFill/>
                </a:ln>
                <a:solidFill>
                  <a:srgbClr val="268BD2"/>
                </a:solidFill>
                <a:effectLst/>
                <a:latin typeface="Consolas" panose="020B0609020204030204" pitchFamily="49" charset="0"/>
              </a:rPr>
              <a:t>html</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586E75"/>
                </a:solidFill>
                <a:effectLst/>
                <a:latin typeface="Consolas" panose="020B0609020204030204" pitchFamily="49" charset="0"/>
              </a:rPr>
              <a:t>   &lt;</a:t>
            </a:r>
            <a:r>
              <a:rPr kumimoji="0" lang="es-ES" altLang="es-ES" b="0" i="0" u="none" strike="noStrike" cap="none" normalizeH="0" baseline="0" dirty="0">
                <a:ln>
                  <a:noFill/>
                </a:ln>
                <a:solidFill>
                  <a:srgbClr val="268BD2"/>
                </a:solidFill>
                <a:effectLst/>
                <a:latin typeface="Consolas" panose="020B0609020204030204" pitchFamily="49" charset="0"/>
              </a:rPr>
              <a:t>head</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err="1">
                <a:ln>
                  <a:noFill/>
                </a:ln>
                <a:solidFill>
                  <a:srgbClr val="268BD2"/>
                </a:solidFill>
                <a:effectLst/>
                <a:latin typeface="Consolas" panose="020B0609020204030204" pitchFamily="49" charset="0"/>
              </a:rPr>
              <a:t>title</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Restringir por edad</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err="1">
                <a:ln>
                  <a:noFill/>
                </a:ln>
                <a:solidFill>
                  <a:srgbClr val="268BD2"/>
                </a:solidFill>
                <a:effectLst/>
                <a:latin typeface="Consolas" panose="020B0609020204030204" pitchFamily="49" charset="0"/>
              </a:rPr>
              <a:t>title</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head</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err="1">
                <a:ln>
                  <a:noFill/>
                </a:ln>
                <a:solidFill>
                  <a:srgbClr val="268BD2"/>
                </a:solidFill>
                <a:effectLst/>
                <a:latin typeface="Consolas" panose="020B0609020204030204" pitchFamily="49" charset="0"/>
              </a:rPr>
              <a:t>body</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err="1">
                <a:ln>
                  <a:noFill/>
                </a:ln>
                <a:solidFill>
                  <a:srgbClr val="268BD2"/>
                </a:solidFill>
                <a:effectLst/>
                <a:latin typeface="Consolas" panose="020B0609020204030204" pitchFamily="49" charset="0"/>
              </a:rPr>
              <a:t>form</a:t>
            </a:r>
            <a:r>
              <a:rPr kumimoji="0" lang="es-ES" altLang="es-ES" b="0" i="0" u="none" strike="noStrike" cap="none" normalizeH="0" baseline="0" dirty="0">
                <a:ln>
                  <a:noFill/>
                </a:ln>
                <a:solidFill>
                  <a:srgbClr val="268BD2"/>
                </a:solidFill>
                <a:effectLst/>
                <a:latin typeface="Consolas" panose="020B0609020204030204" pitchFamily="49" charset="0"/>
              </a:rPr>
              <a:t> </a:t>
            </a:r>
            <a:r>
              <a:rPr kumimoji="0" lang="es-ES" altLang="es-ES" b="0" i="0" u="none" strike="noStrike" cap="none" normalizeH="0" baseline="0" dirty="0" err="1">
                <a:ln>
                  <a:noFill/>
                </a:ln>
                <a:solidFill>
                  <a:srgbClr val="2AA198"/>
                </a:solidFill>
                <a:effectLst/>
                <a:latin typeface="Consolas" panose="020B0609020204030204" pitchFamily="49" charset="0"/>
              </a:rPr>
              <a:t>action</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859900"/>
                </a:solidFill>
                <a:effectLst/>
                <a:latin typeface="Consolas" panose="020B0609020204030204" pitchFamily="49" charset="0"/>
              </a:rPr>
              <a:t>edad2.php</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268BD2"/>
                </a:solidFill>
                <a:effectLst/>
                <a:latin typeface="Consolas" panose="020B0609020204030204" pitchFamily="49" charset="0"/>
              </a:rPr>
              <a:t> </a:t>
            </a:r>
            <a:r>
              <a:rPr kumimoji="0" lang="es-ES" altLang="es-ES" b="0" i="0" u="none" strike="noStrike" cap="none" normalizeH="0" baseline="0" dirty="0" err="1">
                <a:ln>
                  <a:noFill/>
                </a:ln>
                <a:solidFill>
                  <a:srgbClr val="2AA198"/>
                </a:solidFill>
                <a:effectLst/>
                <a:latin typeface="Consolas" panose="020B0609020204030204" pitchFamily="49" charset="0"/>
              </a:rPr>
              <a:t>method</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859900"/>
                </a:solidFill>
                <a:effectLst/>
                <a:latin typeface="Consolas" panose="020B0609020204030204" pitchFamily="49" charset="0"/>
              </a:rPr>
              <a:t>post</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657B83"/>
                </a:solidFill>
                <a:effectLst/>
                <a:latin typeface="Consolas" panose="020B0609020204030204" pitchFamily="49" charset="0"/>
              </a:rPr>
              <a:t>Escribe tu edad: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input </a:t>
            </a:r>
            <a:r>
              <a:rPr kumimoji="0" lang="es-ES" altLang="es-ES" b="0" i="0" u="none" strike="noStrike" cap="none" normalizeH="0" baseline="0" dirty="0" err="1">
                <a:ln>
                  <a:noFill/>
                </a:ln>
                <a:solidFill>
                  <a:srgbClr val="2AA198"/>
                </a:solidFill>
                <a:effectLst/>
                <a:latin typeface="Consolas" panose="020B0609020204030204" pitchFamily="49" charset="0"/>
              </a:rPr>
              <a:t>type</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err="1">
                <a:ln>
                  <a:noFill/>
                </a:ln>
                <a:solidFill>
                  <a:srgbClr val="859900"/>
                </a:solidFill>
                <a:effectLst/>
                <a:latin typeface="Consolas" panose="020B0609020204030204" pitchFamily="49" charset="0"/>
              </a:rPr>
              <a:t>text</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268BD2"/>
                </a:solidFill>
                <a:effectLst/>
                <a:latin typeface="Consolas" panose="020B0609020204030204" pitchFamily="49" charset="0"/>
              </a:rPr>
              <a:t> </a:t>
            </a:r>
            <a:r>
              <a:rPr kumimoji="0" lang="es-ES" altLang="es-ES" b="0" i="0" u="none" strike="noStrike" cap="none" normalizeH="0" baseline="0" dirty="0" err="1">
                <a:ln>
                  <a:noFill/>
                </a:ln>
                <a:solidFill>
                  <a:srgbClr val="2AA198"/>
                </a:solidFill>
                <a:effectLst/>
                <a:latin typeface="Consolas" panose="020B0609020204030204" pitchFamily="49" charset="0"/>
              </a:rPr>
              <a:t>name</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859900"/>
                </a:solidFill>
                <a:effectLst/>
                <a:latin typeface="Consolas" panose="020B0609020204030204" pitchFamily="49" charset="0"/>
              </a:rPr>
              <a:t>edad</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268BD2"/>
                </a:solidFill>
                <a:effectLst/>
                <a:latin typeface="Consolas" panose="020B0609020204030204" pitchFamily="49" charset="0"/>
              </a:rPr>
              <a:t> </a:t>
            </a:r>
            <a:r>
              <a:rPr kumimoji="0" lang="es-ES" altLang="es-ES" b="0" i="0" u="none" strike="noStrike" cap="none" normalizeH="0" baseline="0" dirty="0" err="1">
                <a:ln>
                  <a:noFill/>
                </a:ln>
                <a:solidFill>
                  <a:srgbClr val="2AA198"/>
                </a:solidFill>
                <a:effectLst/>
                <a:latin typeface="Consolas" panose="020B0609020204030204" pitchFamily="49" charset="0"/>
              </a:rPr>
              <a:t>size</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859900"/>
                </a:solidFill>
                <a:effectLst/>
                <a:latin typeface="Consolas" panose="020B0609020204030204" pitchFamily="49" charset="0"/>
              </a:rPr>
              <a:t>2</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input </a:t>
            </a:r>
            <a:r>
              <a:rPr kumimoji="0" lang="es-ES" altLang="es-ES" b="0" i="0" u="none" strike="noStrike" cap="none" normalizeH="0" baseline="0" dirty="0" err="1">
                <a:ln>
                  <a:noFill/>
                </a:ln>
                <a:solidFill>
                  <a:srgbClr val="2AA198"/>
                </a:solidFill>
                <a:effectLst/>
                <a:latin typeface="Consolas" panose="020B0609020204030204" pitchFamily="49" charset="0"/>
              </a:rPr>
              <a:t>type</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err="1">
                <a:ln>
                  <a:noFill/>
                </a:ln>
                <a:solidFill>
                  <a:srgbClr val="859900"/>
                </a:solidFill>
                <a:effectLst/>
                <a:latin typeface="Consolas" panose="020B0609020204030204" pitchFamily="49" charset="0"/>
              </a:rPr>
              <a:t>submit</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268BD2"/>
                </a:solidFill>
                <a:effectLst/>
                <a:latin typeface="Consolas" panose="020B0609020204030204" pitchFamily="49" charset="0"/>
              </a:rPr>
              <a:t> </a:t>
            </a:r>
            <a:r>
              <a:rPr kumimoji="0" lang="es-ES" altLang="es-ES" b="0" i="0" u="none" strike="noStrike" cap="none" normalizeH="0" baseline="0" dirty="0" err="1">
                <a:ln>
                  <a:noFill/>
                </a:ln>
                <a:solidFill>
                  <a:srgbClr val="2AA198"/>
                </a:solidFill>
                <a:effectLst/>
                <a:latin typeface="Consolas" panose="020B0609020204030204" pitchFamily="49" charset="0"/>
              </a:rPr>
              <a:t>value</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859900"/>
                </a:solidFill>
                <a:effectLst/>
                <a:latin typeface="Consolas" panose="020B0609020204030204" pitchFamily="49" charset="0"/>
              </a:rPr>
              <a:t>Entrar</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err="1">
                <a:ln>
                  <a:noFill/>
                </a:ln>
                <a:solidFill>
                  <a:srgbClr val="268BD2"/>
                </a:solidFill>
                <a:effectLst/>
                <a:latin typeface="Consolas" panose="020B0609020204030204" pitchFamily="49" charset="0"/>
              </a:rPr>
              <a:t>form</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err="1">
                <a:ln>
                  <a:noFill/>
                </a:ln>
                <a:solidFill>
                  <a:srgbClr val="268BD2"/>
                </a:solidFill>
                <a:effectLst/>
                <a:latin typeface="Consolas" panose="020B0609020204030204" pitchFamily="49" charset="0"/>
              </a:rPr>
              <a:t>body</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err="1">
                <a:ln>
                  <a:noFill/>
                </a:ln>
                <a:solidFill>
                  <a:srgbClr val="268BD2"/>
                </a:solidFill>
                <a:effectLst/>
                <a:latin typeface="Consolas" panose="020B0609020204030204" pitchFamily="49" charset="0"/>
              </a:rPr>
              <a:t>html</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chemeClr val="tx1"/>
                </a:solidFill>
                <a:effectLst/>
              </a:rPr>
              <a:t> </a:t>
            </a:r>
            <a:endParaRPr kumimoji="0" lang="es-ES" altLang="es-E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897013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69A900-E8FF-9522-CBAF-BC1DF21BC361}"/>
              </a:ext>
            </a:extLst>
          </p:cNvPr>
          <p:cNvSpPr>
            <a:spLocks noGrp="1"/>
          </p:cNvSpPr>
          <p:nvPr>
            <p:ph type="title"/>
          </p:nvPr>
        </p:nvSpPr>
        <p:spPr/>
        <p:txBody>
          <a:bodyPr/>
          <a:lstStyle/>
          <a:p>
            <a:endParaRPr lang="es-ES"/>
          </a:p>
        </p:txBody>
      </p:sp>
      <p:sp>
        <p:nvSpPr>
          <p:cNvPr id="3" name="Marcador de texto 2">
            <a:extLst>
              <a:ext uri="{FF2B5EF4-FFF2-40B4-BE49-F238E27FC236}">
                <a16:creationId xmlns:a16="http://schemas.microsoft.com/office/drawing/2014/main" id="{4B77FEF5-3935-8A7D-FEC0-50BF338732F7}"/>
              </a:ext>
            </a:extLst>
          </p:cNvPr>
          <p:cNvSpPr>
            <a:spLocks noGrp="1"/>
          </p:cNvSpPr>
          <p:nvPr>
            <p:ph type="body" idx="1"/>
          </p:nvPr>
        </p:nvSpPr>
        <p:spPr>
          <a:xfrm>
            <a:off x="4211960" y="1373588"/>
            <a:ext cx="4680520" cy="3552300"/>
          </a:xfrm>
        </p:spPr>
        <p:txBody>
          <a:bodyPr/>
          <a:lstStyle/>
          <a:p>
            <a:r>
              <a:rPr lang="es-ES" sz="1600" dirty="0"/>
              <a:t>implemente se recibe la edad, utilizando el array $_POST. Luego se muestra la edad y se ejecuta una expresión condicional en función de que la edad sea menor que 18. En caso positivo (edad menor que 18), se muestra un mensaje que informa de que no se deja acceder al página. En caso negativo (mayor o igual a 18) se muestra un mensaje de bienvenida.</a:t>
            </a:r>
          </a:p>
          <a:p>
            <a:endParaRPr lang="es-ES" sz="1600" dirty="0"/>
          </a:p>
          <a:p>
            <a:r>
              <a:rPr lang="es-ES" sz="1600" dirty="0"/>
              <a:t>Estas son las bases del envío y recepción de datos mediante formularios en PHP. </a:t>
            </a:r>
          </a:p>
        </p:txBody>
      </p:sp>
      <p:sp>
        <p:nvSpPr>
          <p:cNvPr id="4" name="Marcador de número de diapositiva 3">
            <a:extLst>
              <a:ext uri="{FF2B5EF4-FFF2-40B4-BE49-F238E27FC236}">
                <a16:creationId xmlns:a16="http://schemas.microsoft.com/office/drawing/2014/main" id="{3C3ECE2E-FED3-A27D-50AA-7C0EDA45B688}"/>
              </a:ext>
            </a:extLst>
          </p:cNvPr>
          <p:cNvSpPr>
            <a:spLocks noGrp="1"/>
          </p:cNvSpPr>
          <p:nvPr>
            <p:ph type="sldNum" idx="10"/>
          </p:nvPr>
        </p:nvSpPr>
        <p:spPr/>
        <p:txBody>
          <a:bodyPr/>
          <a:lstStyle/>
          <a:p>
            <a:fld id="{00000000-1234-1234-1234-123412341234}" type="slidenum">
              <a:rPr lang="es-ES" smtClean="0"/>
              <a:pPr/>
              <a:t>23</a:t>
            </a:fld>
            <a:endParaRPr lang="es-ES" dirty="0"/>
          </a:p>
        </p:txBody>
      </p:sp>
      <p:sp>
        <p:nvSpPr>
          <p:cNvPr id="5" name="Rectangle 1">
            <a:extLst>
              <a:ext uri="{FF2B5EF4-FFF2-40B4-BE49-F238E27FC236}">
                <a16:creationId xmlns:a16="http://schemas.microsoft.com/office/drawing/2014/main" id="{C8DE87B8-70D8-8248-734F-07062E950F9B}"/>
              </a:ext>
            </a:extLst>
          </p:cNvPr>
          <p:cNvSpPr>
            <a:spLocks noChangeArrowheads="1"/>
          </p:cNvSpPr>
          <p:nvPr/>
        </p:nvSpPr>
        <p:spPr bwMode="auto">
          <a:xfrm>
            <a:off x="383376" y="555526"/>
            <a:ext cx="3776675" cy="3607347"/>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err="1">
                <a:ln>
                  <a:noFill/>
                </a:ln>
                <a:solidFill>
                  <a:srgbClr val="268BD2"/>
                </a:solidFill>
                <a:effectLst/>
                <a:latin typeface="Consolas" panose="020B0609020204030204" pitchFamily="49" charset="0"/>
              </a:rPr>
              <a:t>html</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head</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err="1">
                <a:ln>
                  <a:noFill/>
                </a:ln>
                <a:solidFill>
                  <a:srgbClr val="268BD2"/>
                </a:solidFill>
                <a:effectLst/>
                <a:latin typeface="Consolas" panose="020B0609020204030204" pitchFamily="49" charset="0"/>
              </a:rPr>
              <a:t>title</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Restringir por edad</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err="1">
                <a:ln>
                  <a:noFill/>
                </a:ln>
                <a:solidFill>
                  <a:srgbClr val="268BD2"/>
                </a:solidFill>
                <a:effectLst/>
                <a:latin typeface="Consolas" panose="020B0609020204030204" pitchFamily="49" charset="0"/>
              </a:rPr>
              <a:t>title</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head</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err="1">
                <a:ln>
                  <a:noFill/>
                </a:ln>
                <a:solidFill>
                  <a:srgbClr val="268BD2"/>
                </a:solidFill>
                <a:effectLst/>
                <a:latin typeface="Consolas" panose="020B0609020204030204" pitchFamily="49" charset="0"/>
              </a:rPr>
              <a:t>body</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1" i="0" u="none" strike="noStrike" cap="none" normalizeH="0" baseline="0" dirty="0">
                <a:ln>
                  <a:noFill/>
                </a:ln>
                <a:solidFill>
                  <a:srgbClr val="CB4B16"/>
                </a:solidFill>
                <a:effectLst/>
                <a:latin typeface="Consolas" panose="020B0609020204030204" pitchFamily="49" charset="0"/>
              </a:rPr>
              <a:t>&lt;?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CB4B16"/>
                </a:solidFill>
                <a:effectLst/>
                <a:latin typeface="Consolas" panose="020B0609020204030204" pitchFamily="49" charset="0"/>
              </a:rPr>
              <a:t>$edad</a:t>
            </a:r>
            <a:r>
              <a:rPr kumimoji="0" lang="es-ES" altLang="es-ES" b="0" i="0" u="none" strike="noStrike" cap="none" normalizeH="0" baseline="0" dirty="0">
                <a:ln>
                  <a:noFill/>
                </a:ln>
                <a:solidFill>
                  <a:srgbClr val="657B83"/>
                </a:solidFill>
                <a:effectLst/>
                <a:latin typeface="Consolas" panose="020B0609020204030204" pitchFamily="49" charset="0"/>
              </a:rPr>
              <a:t> = $_POST</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2AA198"/>
                </a:solidFill>
                <a:effectLst/>
                <a:latin typeface="Consolas" panose="020B0609020204030204" pitchFamily="49" charset="0"/>
              </a:rPr>
              <a:t>"edad"</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859900"/>
                </a:solidFill>
                <a:effectLst/>
                <a:latin typeface="Consolas" panose="020B0609020204030204" pitchFamily="49" charset="0"/>
              </a:rPr>
              <a:t>echo</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2AA198"/>
                </a:solidFill>
                <a:effectLst/>
                <a:latin typeface="Consolas" panose="020B0609020204030204" pitchFamily="49" charset="0"/>
              </a:rPr>
              <a:t>"Tu edad: </a:t>
            </a:r>
            <a:r>
              <a:rPr kumimoji="0" lang="es-ES" altLang="es-ES" b="0" i="0" u="none" strike="noStrike" cap="none" normalizeH="0" baseline="0" dirty="0">
                <a:ln>
                  <a:noFill/>
                </a:ln>
                <a:solidFill>
                  <a:srgbClr val="CB4B16"/>
                </a:solidFill>
                <a:effectLst/>
                <a:latin typeface="Consolas" panose="020B0609020204030204" pitchFamily="49" charset="0"/>
              </a:rPr>
              <a:t>$edad</a:t>
            </a:r>
            <a:r>
              <a:rPr kumimoji="0" lang="es-ES" altLang="es-ES" b="0" i="0" u="none" strike="noStrike" cap="none" normalizeH="0" baseline="0" dirty="0">
                <a:ln>
                  <a:noFill/>
                </a:ln>
                <a:solidFill>
                  <a:srgbClr val="2AA198"/>
                </a:solidFill>
                <a:effectLst/>
                <a:latin typeface="Consolas" panose="020B0609020204030204" pitchFamily="49" charset="0"/>
              </a:rPr>
              <a:t>&lt;p&gt;"</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err="1">
                <a:ln>
                  <a:noFill/>
                </a:ln>
                <a:solidFill>
                  <a:srgbClr val="859900"/>
                </a:solidFill>
                <a:effectLst/>
                <a:latin typeface="Consolas" panose="020B0609020204030204" pitchFamily="49" charset="0"/>
              </a:rPr>
              <a:t>if</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CB4B16"/>
                </a:solidFill>
                <a:effectLst/>
                <a:latin typeface="Consolas" panose="020B0609020204030204" pitchFamily="49" charset="0"/>
              </a:rPr>
              <a:t>$edad</a:t>
            </a:r>
            <a:r>
              <a:rPr kumimoji="0" lang="es-ES" altLang="es-ES" b="0" i="0" u="none" strike="noStrike" cap="none" normalizeH="0" baseline="0" dirty="0">
                <a:ln>
                  <a:noFill/>
                </a:ln>
                <a:solidFill>
                  <a:srgbClr val="657B83"/>
                </a:solidFill>
                <a:effectLst/>
                <a:latin typeface="Consolas" panose="020B0609020204030204" pitchFamily="49" charset="0"/>
              </a:rPr>
              <a:t> &lt; </a:t>
            </a:r>
            <a:r>
              <a:rPr kumimoji="0" lang="es-ES" altLang="es-ES" b="0" i="0" u="none" strike="noStrike" cap="none" normalizeH="0" baseline="0" dirty="0">
                <a:ln>
                  <a:noFill/>
                </a:ln>
                <a:solidFill>
                  <a:srgbClr val="268BD2"/>
                </a:solidFill>
                <a:effectLst/>
                <a:latin typeface="Consolas" panose="020B0609020204030204" pitchFamily="49" charset="0"/>
              </a:rPr>
              <a:t>18</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859900"/>
                </a:solidFill>
                <a:effectLst/>
                <a:latin typeface="Consolas" panose="020B0609020204030204" pitchFamily="49" charset="0"/>
              </a:rPr>
              <a:t>echo</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2AA198"/>
                </a:solidFill>
                <a:effectLst/>
                <a:latin typeface="Consolas" panose="020B0609020204030204" pitchFamily="49" charset="0"/>
              </a:rPr>
              <a:t>"No puedes entrar"</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err="1">
                <a:ln>
                  <a:noFill/>
                </a:ln>
                <a:solidFill>
                  <a:srgbClr val="859900"/>
                </a:solidFill>
                <a:effectLst/>
                <a:latin typeface="Consolas" panose="020B0609020204030204" pitchFamily="49" charset="0"/>
              </a:rPr>
              <a:t>else</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859900"/>
                </a:solidFill>
                <a:effectLst/>
                <a:latin typeface="Consolas" panose="020B0609020204030204" pitchFamily="49" charset="0"/>
              </a:rPr>
              <a:t>echo</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2AA198"/>
                </a:solidFill>
                <a:effectLst/>
                <a:latin typeface="Consolas" panose="020B0609020204030204" pitchFamily="49" charset="0"/>
              </a:rPr>
              <a:t>"Bienvenido"</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1" i="0" u="none" strike="noStrike" cap="none" normalizeH="0" baseline="0" dirty="0">
                <a:ln>
                  <a:noFill/>
                </a:ln>
                <a:solidFill>
                  <a:srgbClr val="CB4B16"/>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err="1">
                <a:ln>
                  <a:noFill/>
                </a:ln>
                <a:solidFill>
                  <a:srgbClr val="268BD2"/>
                </a:solidFill>
                <a:effectLst/>
                <a:latin typeface="Consolas" panose="020B0609020204030204" pitchFamily="49" charset="0"/>
              </a:rPr>
              <a:t>body</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err="1">
                <a:ln>
                  <a:noFill/>
                </a:ln>
                <a:solidFill>
                  <a:srgbClr val="268BD2"/>
                </a:solidFill>
                <a:effectLst/>
                <a:latin typeface="Consolas" panose="020B0609020204030204" pitchFamily="49" charset="0"/>
              </a:rPr>
              <a:t>html</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chemeClr val="tx1"/>
                </a:solidFill>
                <a:effectLst/>
              </a:rPr>
              <a:t> </a:t>
            </a:r>
            <a:endParaRPr kumimoji="0" lang="es-ES" altLang="es-E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754249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5"/>
          <p:cNvSpPr txBox="1">
            <a:spLocks noGrp="1"/>
          </p:cNvSpPr>
          <p:nvPr>
            <p:ph type="ctrTitle"/>
          </p:nvPr>
        </p:nvSpPr>
        <p:spPr>
          <a:xfrm>
            <a:off x="685800" y="1583342"/>
            <a:ext cx="7772400" cy="1159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7200" dirty="0">
                <a:solidFill>
                  <a:schemeClr val="accent2"/>
                </a:solidFill>
              </a:rPr>
              <a:t>1.</a:t>
            </a:r>
            <a:endParaRPr sz="7200" dirty="0">
              <a:solidFill>
                <a:schemeClr val="accent2"/>
              </a:solidFill>
            </a:endParaRPr>
          </a:p>
        </p:txBody>
      </p:sp>
      <p:sp>
        <p:nvSpPr>
          <p:cNvPr id="3" name="Subtítulo 2">
            <a:extLst>
              <a:ext uri="{FF2B5EF4-FFF2-40B4-BE49-F238E27FC236}">
                <a16:creationId xmlns:a16="http://schemas.microsoft.com/office/drawing/2014/main" id="{39EF6ABD-C778-4438-A8AE-7173C4644250}"/>
              </a:ext>
            </a:extLst>
          </p:cNvPr>
          <p:cNvSpPr>
            <a:spLocks noGrp="1"/>
          </p:cNvSpPr>
          <p:nvPr>
            <p:ph type="subTitle" idx="1"/>
          </p:nvPr>
        </p:nvSpPr>
        <p:spPr/>
        <p:txBody>
          <a:bodyPr/>
          <a:lstStyle/>
          <a:p>
            <a:endParaRPr lang="es-ES"/>
          </a:p>
        </p:txBody>
      </p:sp>
      <p:sp>
        <p:nvSpPr>
          <p:cNvPr id="2" name="CuadroTexto 1">
            <a:extLst>
              <a:ext uri="{FF2B5EF4-FFF2-40B4-BE49-F238E27FC236}">
                <a16:creationId xmlns:a16="http://schemas.microsoft.com/office/drawing/2014/main" id="{23E35EFC-194F-7BF1-DBEA-23C9A4D2EAF3}"/>
              </a:ext>
            </a:extLst>
          </p:cNvPr>
          <p:cNvSpPr txBox="1"/>
          <p:nvPr/>
        </p:nvSpPr>
        <p:spPr>
          <a:xfrm>
            <a:off x="2156201" y="2403332"/>
            <a:ext cx="4668864" cy="307777"/>
          </a:xfrm>
          <a:prstGeom prst="rect">
            <a:avLst/>
          </a:prstGeom>
          <a:noFill/>
        </p:spPr>
        <p:txBody>
          <a:bodyPr wrap="square">
            <a:spAutoFit/>
          </a:bodyPr>
          <a:lstStyle/>
          <a:p>
            <a:r>
              <a:rPr lang="es-ES" dirty="0"/>
              <a:t>https://www.sitiolibre.com/curso/gallery.xml</a:t>
            </a:r>
          </a:p>
        </p:txBody>
      </p:sp>
    </p:spTree>
    <p:extLst>
      <p:ext uri="{BB962C8B-B14F-4D97-AF65-F5344CB8AC3E}">
        <p14:creationId xmlns:p14="http://schemas.microsoft.com/office/powerpoint/2010/main" val="3509798785"/>
      </p:ext>
    </p:extLst>
  </p:cSld>
  <p:clrMapOvr>
    <a:masterClrMapping/>
  </p:clrMapOvr>
</p:sld>
</file>

<file path=ppt/theme/theme1.xml><?xml version="1.0" encoding="utf-8"?>
<a:theme xmlns:a="http://schemas.openxmlformats.org/drawingml/2006/main" name="Antonio template">
  <a:themeElements>
    <a:clrScheme name="Custom 347">
      <a:dk1>
        <a:srgbClr val="677480"/>
      </a:dk1>
      <a:lt1>
        <a:srgbClr val="FFFFFF"/>
      </a:lt1>
      <a:dk2>
        <a:srgbClr val="2185C5"/>
      </a:dk2>
      <a:lt2>
        <a:srgbClr val="DEE2E6"/>
      </a:lt2>
      <a:accent1>
        <a:srgbClr val="2185C5"/>
      </a:accent1>
      <a:accent2>
        <a:srgbClr val="7ECEFD"/>
      </a:accent2>
      <a:accent3>
        <a:srgbClr val="F20253"/>
      </a:accent3>
      <a:accent4>
        <a:srgbClr val="FF9715"/>
      </a:accent4>
      <a:accent5>
        <a:srgbClr val="1C3AA9"/>
      </a:accent5>
      <a:accent6>
        <a:srgbClr val="97ABBC"/>
      </a:accent6>
      <a:hlink>
        <a:srgbClr val="2185C5"/>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24302</TotalTime>
  <Words>2174</Words>
  <Application>Microsoft Office PowerPoint</Application>
  <PresentationFormat>Presentación en pantalla (16:9)</PresentationFormat>
  <Paragraphs>175</Paragraphs>
  <Slides>24</Slides>
  <Notes>4</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24</vt:i4>
      </vt:variant>
    </vt:vector>
  </HeadingPairs>
  <TitlesOfParts>
    <vt:vector size="32" baseType="lpstr">
      <vt:lpstr>Arial</vt:lpstr>
      <vt:lpstr>Calibri</vt:lpstr>
      <vt:lpstr>Raleway</vt:lpstr>
      <vt:lpstr>Roboto</vt:lpstr>
      <vt:lpstr>Lato</vt:lpstr>
      <vt:lpstr>Helvetica Neue</vt:lpstr>
      <vt:lpstr>Consolas</vt:lpstr>
      <vt:lpstr>Antonio template</vt:lpstr>
      <vt:lpstr>Pasar variables por la URL con PHP</vt:lpstr>
      <vt:lpstr>Licencia</vt:lpstr>
      <vt:lpstr>Presentación de PowerPoint</vt:lpstr>
      <vt:lpstr>Presentación de PowerPoint</vt:lpstr>
      <vt:lpstr>Pasar variables por URL</vt:lpstr>
      <vt:lpstr>Presentación de PowerPoint</vt:lpstr>
      <vt:lpstr>Presentación de PowerPoint</vt:lpstr>
      <vt:lpstr>Presentación de PowerPoint</vt:lpstr>
      <vt:lpstr>Presentación de PowerPoint</vt:lpstr>
      <vt:lpstr>$HTTP_GET_VARS vs $_GET</vt:lpstr>
      <vt:lpstr>Presentación de PowerPoint</vt:lpstr>
      <vt:lpstr>Conclusión sobre el envío de variables por GET en PHP</vt:lpstr>
      <vt:lpstr>1.</vt:lpstr>
      <vt:lpstr>Presentación de PowerPoint</vt:lpstr>
      <vt:lpstr>Explicación básica del envío de formularios con PHP</vt:lpstr>
      <vt:lpstr>Presentación de PowerPoint</vt:lpstr>
      <vt:lpstr>Presentación de PowerPoint</vt:lpstr>
      <vt:lpstr>Ejemplo de envío y recepción por POST en PHP</vt:lpstr>
      <vt:lpstr>Presentación de PowerPoint</vt:lpstr>
      <vt:lpstr>Presentación de PowerPoint</vt:lpstr>
      <vt:lpstr>Ejemplo de restricción de acceso por edad</vt:lpstr>
      <vt:lpstr>Presentación de PowerPoint</vt:lpstr>
      <vt:lpstr>Presentación de PowerPoint</vt:lpstr>
      <vt:lpstr>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YOUR PRESENTATION TITLE</dc:title>
  <dc:creator>Antonio Pérez</dc:creator>
  <cp:lastModifiedBy>Antonio Francisco Pérez Fernandez</cp:lastModifiedBy>
  <cp:revision>62</cp:revision>
  <dcterms:modified xsi:type="dcterms:W3CDTF">2023-09-26T22:07:37Z</dcterms:modified>
</cp:coreProperties>
</file>