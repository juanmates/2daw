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42"/>
  </p:notesMasterIdLst>
  <p:sldIdLst>
    <p:sldId id="475" r:id="rId2"/>
    <p:sldId id="476" r:id="rId3"/>
    <p:sldId id="477" r:id="rId4"/>
    <p:sldId id="461" r:id="rId5"/>
    <p:sldId id="499" r:id="rId6"/>
    <p:sldId id="500" r:id="rId7"/>
    <p:sldId id="501" r:id="rId8"/>
    <p:sldId id="502" r:id="rId9"/>
    <p:sldId id="503" r:id="rId10"/>
    <p:sldId id="504" r:id="rId11"/>
    <p:sldId id="505" r:id="rId12"/>
    <p:sldId id="506" r:id="rId13"/>
    <p:sldId id="532" r:id="rId14"/>
    <p:sldId id="556" r:id="rId15"/>
    <p:sldId id="557" r:id="rId16"/>
    <p:sldId id="558" r:id="rId17"/>
    <p:sldId id="559" r:id="rId18"/>
    <p:sldId id="560" r:id="rId19"/>
    <p:sldId id="561" r:id="rId20"/>
    <p:sldId id="562" r:id="rId21"/>
    <p:sldId id="539" r:id="rId22"/>
    <p:sldId id="533" r:id="rId23"/>
    <p:sldId id="534" r:id="rId24"/>
    <p:sldId id="507" r:id="rId25"/>
    <p:sldId id="508" r:id="rId26"/>
    <p:sldId id="509" r:id="rId27"/>
    <p:sldId id="535" r:id="rId28"/>
    <p:sldId id="536" r:id="rId29"/>
    <p:sldId id="537" r:id="rId30"/>
    <p:sldId id="540" r:id="rId31"/>
    <p:sldId id="538" r:id="rId32"/>
    <p:sldId id="541" r:id="rId33"/>
    <p:sldId id="542" r:id="rId34"/>
    <p:sldId id="543" r:id="rId35"/>
    <p:sldId id="544" r:id="rId36"/>
    <p:sldId id="545" r:id="rId37"/>
    <p:sldId id="546" r:id="rId38"/>
    <p:sldId id="547" r:id="rId39"/>
    <p:sldId id="555" r:id="rId40"/>
    <p:sldId id="318" r:id="rId41"/>
  </p:sldIdLst>
  <p:sldSz cx="9144000" cy="5143500" type="screen16x9"/>
  <p:notesSz cx="6858000" cy="9144000"/>
  <p:embeddedFontLst>
    <p:embeddedFont>
      <p:font typeface="Calibri" panose="020F0502020204030204" pitchFamily="34" charset="0"/>
      <p:regular r:id="rId43"/>
      <p:bold r:id="rId44"/>
      <p:italic r:id="rId45"/>
      <p:boldItalic r:id="rId46"/>
    </p:embeddedFont>
    <p:embeddedFont>
      <p:font typeface="Consolas" panose="020B0609020204030204" pitchFamily="49" charset="0"/>
      <p:regular r:id="rId47"/>
      <p:bold r:id="rId48"/>
      <p:italic r:id="rId49"/>
      <p:boldItalic r:id="rId50"/>
    </p:embeddedFont>
    <p:embeddedFont>
      <p:font typeface="Lato" panose="020F0502020204030203" pitchFamily="34" charset="0"/>
      <p:regular r:id="rId51"/>
      <p:bold r:id="rId52"/>
      <p:italic r:id="rId53"/>
      <p:boldItalic r:id="rId54"/>
    </p:embeddedFont>
    <p:embeddedFont>
      <p:font typeface="Raleway" pitchFamily="2" charset="0"/>
      <p:regular r:id="rId55"/>
      <p:bold r:id="rId56"/>
      <p:italic r:id="rId57"/>
      <p:boldItalic r:id="rId58"/>
    </p:embeddedFont>
    <p:embeddedFont>
      <p:font typeface="Roboto" panose="02000000000000000000" pitchFamily="2"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8665B7-6574-423E-A4B5-A6C020D860FF}">
  <a:tblStyle styleId="{C98665B7-6574-423E-A4B5-A6C020D860F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8698C-63BC-4B6A-AE92-7E62379B444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848" y="6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62"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7965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827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6194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8" name="7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893700" y="1373588"/>
            <a:ext cx="6462600" cy="3552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Clr>
                <a:schemeClr val="accent6"/>
              </a:buClr>
              <a:buSzPts val="1800"/>
              <a:buChar char="▷"/>
              <a:defRPr>
                <a:solidFill>
                  <a:schemeClr val="dk1"/>
                </a:solidFill>
              </a:defRPr>
            </a:lvl1pPr>
            <a:lvl2pPr marL="914400" lvl="1" indent="-381000">
              <a:spcBef>
                <a:spcPts val="0"/>
              </a:spcBef>
              <a:spcAft>
                <a:spcPts val="0"/>
              </a:spcAft>
              <a:buClr>
                <a:schemeClr val="dk1"/>
              </a:buClr>
              <a:buSzPts val="2400"/>
              <a:buChar char="○"/>
              <a:defRPr>
                <a:solidFill>
                  <a:schemeClr val="dk1"/>
                </a:solidFill>
              </a:defRPr>
            </a:lvl2pPr>
            <a:lvl3pPr marL="1371600" lvl="2" indent="-381000">
              <a:spcBef>
                <a:spcPts val="0"/>
              </a:spcBef>
              <a:spcAft>
                <a:spcPts val="0"/>
              </a:spcAft>
              <a:buClr>
                <a:schemeClr val="dk1"/>
              </a:buClr>
              <a:buSzPts val="2400"/>
              <a:buChar char="■"/>
              <a:defRPr>
                <a:solidFill>
                  <a:schemeClr val="dk1"/>
                </a:solidFill>
              </a:defRPr>
            </a:lvl3pPr>
            <a:lvl4pPr marL="1828800" lvl="3" indent="-381000">
              <a:spcBef>
                <a:spcPts val="0"/>
              </a:spcBef>
              <a:spcAft>
                <a:spcPts val="0"/>
              </a:spcAft>
              <a:buClr>
                <a:schemeClr val="dk1"/>
              </a:buClr>
              <a:buSzPts val="2400"/>
              <a:buChar char="●"/>
              <a:defRPr>
                <a:solidFill>
                  <a:schemeClr val="dk1"/>
                </a:solidFill>
              </a:defRPr>
            </a:lvl4pPr>
            <a:lvl5pPr marL="2286000" lvl="4" indent="-381000">
              <a:spcBef>
                <a:spcPts val="0"/>
              </a:spcBef>
              <a:spcAft>
                <a:spcPts val="0"/>
              </a:spcAft>
              <a:buClr>
                <a:schemeClr val="dk1"/>
              </a:buClr>
              <a:buSzPts val="2400"/>
              <a:buChar char="○"/>
              <a:defRPr>
                <a:solidFill>
                  <a:schemeClr val="dk1"/>
                </a:solidFill>
              </a:defRPr>
            </a:lvl5pPr>
            <a:lvl6pPr marL="2743200" lvl="5" indent="-381000">
              <a:spcBef>
                <a:spcPts val="0"/>
              </a:spcBef>
              <a:spcAft>
                <a:spcPts val="0"/>
              </a:spcAft>
              <a:buClr>
                <a:schemeClr val="dk1"/>
              </a:buClr>
              <a:buSzPts val="2400"/>
              <a:buChar char="■"/>
              <a:defRPr>
                <a:solidFill>
                  <a:schemeClr val="dk1"/>
                </a:solidFill>
              </a:defRPr>
            </a:lvl6pPr>
            <a:lvl7pPr marL="3200400" lvl="6" indent="-381000">
              <a:spcBef>
                <a:spcPts val="0"/>
              </a:spcBef>
              <a:spcAft>
                <a:spcPts val="0"/>
              </a:spcAft>
              <a:buClr>
                <a:schemeClr val="dk1"/>
              </a:buClr>
              <a:buSzPts val="2400"/>
              <a:buChar char="●"/>
              <a:defRPr>
                <a:solidFill>
                  <a:schemeClr val="dk1"/>
                </a:solidFill>
              </a:defRPr>
            </a:lvl7pPr>
            <a:lvl8pPr marL="3657600" lvl="7" indent="-381000">
              <a:spcBef>
                <a:spcPts val="0"/>
              </a:spcBef>
              <a:spcAft>
                <a:spcPts val="0"/>
              </a:spcAft>
              <a:buClr>
                <a:schemeClr val="dk1"/>
              </a:buClr>
              <a:buSzPts val="2400"/>
              <a:buChar char="○"/>
              <a:defRPr>
                <a:solidFill>
                  <a:schemeClr val="dk1"/>
                </a:solidFill>
              </a:defRPr>
            </a:lvl8pPr>
            <a:lvl9pPr marL="4114800" lvl="8" indent="-381000">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10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2"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822960" y="214953"/>
            <a:ext cx="7543800" cy="1088068"/>
          </a:xfrm>
          <a:prstGeom prst="rect">
            <a:avLst/>
          </a:prstGeom>
          <a:noFill/>
          <a:ln>
            <a:noFill/>
          </a:ln>
        </p:spPr>
        <p:txBody>
          <a:bodyPr spcFirstLastPara="1" wrap="square" lIns="68569" tIns="34275" rIns="68569" bIns="34275" anchor="b" anchorCtr="0">
            <a:noAutofit/>
          </a:bodyPr>
          <a:lstStyle>
            <a:lvl1pPr marR="0" lvl="0" algn="l">
              <a:lnSpc>
                <a:spcPct val="85000"/>
              </a:lnSpc>
              <a:spcBef>
                <a:spcPts val="0"/>
              </a:spcBef>
              <a:spcAft>
                <a:spcPts val="0"/>
              </a:spcAft>
              <a:buClr>
                <a:srgbClr val="3F3F3F"/>
              </a:buClr>
              <a:buSzPts val="4800"/>
              <a:buFont typeface="Calibri"/>
              <a:buNone/>
              <a:defRPr sz="36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a:endParaRPr/>
          </a:p>
        </p:txBody>
      </p:sp>
      <p:sp>
        <p:nvSpPr>
          <p:cNvPr id="29" name="Google Shape;29;p3"/>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Autofit/>
          </a:bodyPr>
          <a:lstStyle>
            <a:lvl1pPr marL="342900" marR="0" lvl="0" indent="-266700" algn="l">
              <a:lnSpc>
                <a:spcPct val="90000"/>
              </a:lnSpc>
              <a:spcBef>
                <a:spcPts val="900"/>
              </a:spcBef>
              <a:spcAft>
                <a:spcPts val="0"/>
              </a:spcAft>
              <a:buClr>
                <a:schemeClr val="accent1"/>
              </a:buClr>
              <a:buSzPts val="2000"/>
              <a:buFont typeface="Calibri"/>
              <a:buChar char=" "/>
              <a:defRPr sz="1500" b="0" i="0" u="none" strike="noStrike" cap="none">
                <a:solidFill>
                  <a:srgbClr val="3F3F3F"/>
                </a:solidFill>
                <a:latin typeface="Calibri"/>
                <a:ea typeface="Calibri"/>
                <a:cs typeface="Calibri"/>
                <a:sym typeface="Calibri"/>
              </a:defRPr>
            </a:lvl1pPr>
            <a:lvl2pPr marL="685800" marR="0" lvl="1" indent="-257175" algn="l">
              <a:lnSpc>
                <a:spcPct val="90000"/>
              </a:lnSpc>
              <a:spcBef>
                <a:spcPts val="15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2pPr>
            <a:lvl3pPr marL="1028700" marR="0" lvl="2"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371600" marR="0" lvl="3"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1714500" marR="0" lvl="4"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057400" marR="0" lvl="5"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2400300" marR="0" lvl="6"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2743200" marR="0" lvl="7"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3086100" marR="0" lvl="8" indent="-238125" algn="l">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3">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 name="4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9" name="6 Marcador de número de diapositiva"/>
          <p:cNvSpPr txBox="1">
            <a:spLocks/>
          </p:cNvSpPr>
          <p:nvPr userDrawn="1"/>
        </p:nvSpPr>
        <p:spPr>
          <a:xfrm>
            <a:off x="8215338" y="4830000"/>
            <a:ext cx="548700" cy="313500"/>
          </a:xfrm>
          <a:prstGeom prst="rect">
            <a:avLst/>
          </a:prstGeom>
        </p:spPr>
        <p:txBody>
          <a:bodyPr/>
          <a:lstStyle>
            <a:lvl1pPr>
              <a:defRPr>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ES" sz="1400" b="0" i="0" u="none" strike="noStrike" kern="0" cap="none" spc="0" normalizeH="0" baseline="0" noProof="0" smtClean="0">
                <a:ln>
                  <a:noFill/>
                </a:ln>
                <a:solidFill>
                  <a:schemeClr val="bg2">
                    <a:lumMod val="50000"/>
                  </a:schemeClr>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‹Nº›</a:t>
            </a:fld>
            <a:endParaRPr kumimoji="0" lang="es-ES" sz="1400" b="0" i="0" u="none" strike="noStrike" kern="0" cap="none" spc="0" normalizeH="0" baseline="0" noProof="0" dirty="0">
              <a:ln>
                <a:noFill/>
              </a:ln>
              <a:solidFill>
                <a:schemeClr val="bg2">
                  <a:lumMod val="50000"/>
                </a:schemeClr>
              </a:solidFill>
              <a:effectLst/>
              <a:uLnTx/>
              <a:uFillTx/>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1" r:id="rId3"/>
    <p:sldLayoutId id="2147483659"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creativecommons.org/licenses/by-nc-nd/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285720" y="2762725"/>
            <a:ext cx="8246720" cy="1159800"/>
          </a:xfrm>
          <a:prstGeom prst="rect">
            <a:avLst/>
          </a:prstGeom>
        </p:spPr>
        <p:txBody>
          <a:bodyPr spcFirstLastPara="1" wrap="square" lIns="91425" tIns="91425" rIns="91425" bIns="91425" anchor="t" anchorCtr="0">
            <a:noAutofit/>
          </a:bodyPr>
          <a:lstStyle/>
          <a:p>
            <a:pPr lvl="0"/>
            <a:r>
              <a:rPr lang="sv-SE" sz="4000" dirty="0"/>
              <a:t>Condicionales IF en PHP</a:t>
            </a:r>
            <a:endParaRPr lang="es-E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499382" y="124457"/>
            <a:ext cx="7886700" cy="994172"/>
          </a:xfrm>
          <a:prstGeom prst="rect">
            <a:avLst/>
          </a:prstGeom>
          <a:noFill/>
          <a:ln>
            <a:noFill/>
          </a:ln>
        </p:spPr>
        <p:txBody>
          <a:bodyPr spcFirstLastPara="1" wrap="square" lIns="68569" tIns="34275" rIns="68569" bIns="34275" anchor="b" anchorCtr="0">
            <a:noAutofit/>
          </a:bodyPr>
          <a:lstStyle/>
          <a:p>
            <a:pPr algn="ctr"/>
            <a:r>
              <a:rPr lang="en-US" b="1" dirty="0" err="1"/>
              <a:t>Licencia</a:t>
            </a:r>
            <a:endParaRPr/>
          </a:p>
        </p:txBody>
      </p:sp>
      <p:sp>
        <p:nvSpPr>
          <p:cNvPr id="113" name="Google Shape;113;p14"/>
          <p:cNvSpPr txBox="1"/>
          <p:nvPr/>
        </p:nvSpPr>
        <p:spPr>
          <a:xfrm>
            <a:off x="370115" y="1541274"/>
            <a:ext cx="8145234" cy="3052498"/>
          </a:xfrm>
          <a:prstGeom prst="rect">
            <a:avLst/>
          </a:prstGeom>
          <a:noFill/>
          <a:ln>
            <a:noFill/>
          </a:ln>
        </p:spPr>
        <p:txBody>
          <a:bodyPr spcFirstLastPara="1" wrap="square" lIns="0" tIns="34275" rIns="0" bIns="34275" anchor="t" anchorCtr="0">
            <a:noAutofit/>
          </a:bodyPr>
          <a:lstStyle/>
          <a:p>
            <a:pPr marL="272653" algn="ctr">
              <a:lnSpc>
                <a:spcPct val="90000"/>
              </a:lnSpc>
              <a:buClr>
                <a:schemeClr val="accent1"/>
              </a:buClr>
              <a:buSzPts val="2400"/>
            </a:pPr>
            <a:r>
              <a:rPr lang="en-US" sz="1800" b="1" dirty="0">
                <a:solidFill>
                  <a:srgbClr val="3F3F3F"/>
                </a:solidFill>
                <a:latin typeface="Calibri"/>
                <a:ea typeface="Calibri"/>
                <a:cs typeface="Calibri"/>
                <a:sym typeface="Calibri"/>
              </a:rPr>
              <a:t>Toda la </a:t>
            </a:r>
            <a:r>
              <a:rPr lang="en-US" sz="1800" b="1" dirty="0" err="1">
                <a:solidFill>
                  <a:srgbClr val="3F3F3F"/>
                </a:solidFill>
                <a:latin typeface="Calibri"/>
                <a:ea typeface="Calibri"/>
                <a:cs typeface="Calibri"/>
                <a:sym typeface="Calibri"/>
              </a:rPr>
              <a:t>documentación</a:t>
            </a:r>
            <a:r>
              <a:rPr lang="en-US" sz="1800" b="1" dirty="0">
                <a:solidFill>
                  <a:srgbClr val="3F3F3F"/>
                </a:solidFill>
                <a:latin typeface="Calibri"/>
                <a:ea typeface="Calibri"/>
                <a:cs typeface="Calibri"/>
                <a:sym typeface="Calibri"/>
              </a:rPr>
              <a:t> de </a:t>
            </a:r>
            <a:r>
              <a:rPr lang="en-US" sz="1800" b="1" dirty="0" err="1">
                <a:solidFill>
                  <a:srgbClr val="3F3F3F"/>
                </a:solidFill>
                <a:latin typeface="Calibri"/>
                <a:ea typeface="Calibri"/>
                <a:cs typeface="Calibri"/>
                <a:sym typeface="Calibri"/>
              </a:rPr>
              <a:t>esta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asignatura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queda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recogida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bajo</a:t>
            </a:r>
            <a:r>
              <a:rPr lang="en-US" sz="1800" b="1" dirty="0">
                <a:solidFill>
                  <a:srgbClr val="3F3F3F"/>
                </a:solidFill>
                <a:latin typeface="Calibri"/>
                <a:ea typeface="Calibri"/>
                <a:cs typeface="Calibri"/>
                <a:sym typeface="Calibri"/>
              </a:rPr>
              <a:t> la </a:t>
            </a:r>
            <a:r>
              <a:rPr lang="en-US" sz="1800" b="1" dirty="0" err="1">
                <a:solidFill>
                  <a:srgbClr val="3F3F3F"/>
                </a:solidFill>
                <a:latin typeface="Calibri"/>
                <a:ea typeface="Calibri"/>
                <a:cs typeface="Calibri"/>
                <a:sym typeface="Calibri"/>
              </a:rPr>
              <a:t>licencia</a:t>
            </a:r>
            <a:r>
              <a:rPr lang="en-US" sz="1800" b="1" dirty="0">
                <a:solidFill>
                  <a:srgbClr val="3F3F3F"/>
                </a:solidFill>
                <a:latin typeface="Calibri"/>
                <a:ea typeface="Calibri"/>
                <a:cs typeface="Calibri"/>
                <a:sym typeface="Calibri"/>
              </a:rPr>
              <a:t> de Creative Commons</a:t>
            </a:r>
            <a:endParaRPr sz="1800" b="1">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marL="68580" indent="-1903">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p:txBody>
      </p:sp>
      <p:pic>
        <p:nvPicPr>
          <p:cNvPr id="114" name="Google Shape;114;p14" descr="Licencia Creative Commons"/>
          <p:cNvPicPr preferRelativeResize="0"/>
          <p:nvPr/>
        </p:nvPicPr>
        <p:blipFill rotWithShape="1">
          <a:blip r:embed="rId3">
            <a:alphaModFix/>
          </a:blip>
          <a:srcRect/>
          <a:stretch/>
        </p:blipFill>
        <p:spPr>
          <a:xfrm>
            <a:off x="3400927" y="2398382"/>
            <a:ext cx="2083610" cy="733999"/>
          </a:xfrm>
          <a:prstGeom prst="rect">
            <a:avLst/>
          </a:prstGeom>
          <a:noFill/>
          <a:ln>
            <a:noFill/>
          </a:ln>
        </p:spPr>
      </p:pic>
      <p:sp>
        <p:nvSpPr>
          <p:cNvPr id="115" name="Google Shape;115;p14"/>
          <p:cNvSpPr/>
          <p:nvPr/>
        </p:nvSpPr>
        <p:spPr>
          <a:xfrm>
            <a:off x="2508212" y="3162748"/>
            <a:ext cx="4135490" cy="484748"/>
          </a:xfrm>
          <a:prstGeom prst="rect">
            <a:avLst/>
          </a:prstGeom>
          <a:noFill/>
          <a:ln>
            <a:noFill/>
          </a:ln>
        </p:spPr>
        <p:txBody>
          <a:bodyPr spcFirstLastPara="1" wrap="square" lIns="68569" tIns="34275" rIns="68569" bIns="34275" anchor="t" anchorCtr="0">
            <a:noAutofit/>
          </a:bodyPr>
          <a:lstStyle/>
          <a:p>
            <a:pPr>
              <a:buSzPts val="1800"/>
            </a:pPr>
            <a:r>
              <a:rPr lang="en-US" u="sng" dirty="0">
                <a:solidFill>
                  <a:schemeClr val="hlink"/>
                </a:solidFill>
                <a:latin typeface="Calibri"/>
                <a:ea typeface="Calibri"/>
                <a:cs typeface="Calibri"/>
                <a:sym typeface="Calibri"/>
                <a:hlinkClick r:id="rId4"/>
              </a:rPr>
              <a:t>https://creativecommons.org/licenses/by-nc-nd/4.0/</a:t>
            </a:r>
            <a:endParaRPr>
              <a:solidFill>
                <a:schemeClr val="dk1"/>
              </a:solidFill>
              <a:latin typeface="Calibri"/>
              <a:ea typeface="Calibri"/>
              <a:cs typeface="Calibri"/>
              <a:sym typeface="Calibri"/>
            </a:endParaRPr>
          </a:p>
          <a:p>
            <a:pPr>
              <a:buSzPts val="1800"/>
            </a:pPr>
            <a:endParaRPr>
              <a:solidFill>
                <a:schemeClr val="dk1"/>
              </a:solidFill>
              <a:latin typeface="Calibri"/>
              <a:ea typeface="Calibri"/>
              <a:cs typeface="Calibri"/>
              <a:sym typeface="Calibri"/>
            </a:endParaRPr>
          </a:p>
        </p:txBody>
      </p:sp>
      <p:sp>
        <p:nvSpPr>
          <p:cNvPr id="116" name="Google Shape;116;p14"/>
          <p:cNvSpPr/>
          <p:nvPr/>
        </p:nvSpPr>
        <p:spPr>
          <a:xfrm>
            <a:off x="604094" y="3585394"/>
            <a:ext cx="8145233" cy="1038746"/>
          </a:xfrm>
          <a:prstGeom prst="rect">
            <a:avLst/>
          </a:prstGeom>
          <a:noFill/>
          <a:ln>
            <a:noFill/>
          </a:ln>
        </p:spPr>
        <p:txBody>
          <a:bodyPr spcFirstLastPara="1" wrap="square" lIns="68569" tIns="34275" rIns="68569" bIns="34275" anchor="t" anchorCtr="0">
            <a:noAutofit/>
          </a:bodyPr>
          <a:lstStyle/>
          <a:p>
            <a:pPr algn="just">
              <a:buSzPts val="1200"/>
            </a:pPr>
            <a:r>
              <a:rPr lang="en-US" sz="900" i="1" dirty="0">
                <a:solidFill>
                  <a:srgbClr val="333333"/>
                </a:solidFill>
                <a:latin typeface="Helvetica Neue"/>
                <a:ea typeface="Helvetica Neue"/>
                <a:cs typeface="Helvetica Neue"/>
                <a:sym typeface="Helvetica Neue"/>
              </a:rPr>
              <a:t>En el </a:t>
            </a:r>
            <a:r>
              <a:rPr lang="en-US" sz="900" i="1" dirty="0" err="1">
                <a:solidFill>
                  <a:srgbClr val="333333"/>
                </a:solidFill>
                <a:latin typeface="Helvetica Neue"/>
                <a:ea typeface="Helvetica Neue"/>
                <a:cs typeface="Helvetica Neue"/>
                <a:sym typeface="Helvetica Neue"/>
              </a:rPr>
              <a:t>caso</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otra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habrá</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recurrir</a:t>
            </a:r>
            <a:r>
              <a:rPr lang="en-US" sz="900" i="1" dirty="0">
                <a:solidFill>
                  <a:srgbClr val="333333"/>
                </a:solidFill>
                <a:latin typeface="Helvetica Neue"/>
                <a:ea typeface="Helvetica Neue"/>
                <a:cs typeface="Helvetica Neue"/>
                <a:sym typeface="Helvetica Neue"/>
              </a:rPr>
              <a:t> a los </a:t>
            </a:r>
            <a:r>
              <a:rPr lang="en-US" sz="900" i="1" dirty="0" err="1">
                <a:solidFill>
                  <a:srgbClr val="333333"/>
                </a:solidFill>
                <a:latin typeface="Helvetica Neue"/>
                <a:ea typeface="Helvetica Neue"/>
                <a:cs typeface="Helvetica Neue"/>
                <a:sym typeface="Helvetica Neue"/>
              </a:rPr>
              <a:t>tribunales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Cuando</a:t>
            </a:r>
            <a:r>
              <a:rPr lang="en-US" sz="900" i="1" dirty="0">
                <a:solidFill>
                  <a:srgbClr val="333333"/>
                </a:solidFill>
                <a:latin typeface="Helvetica Neue"/>
                <a:ea typeface="Helvetica Neue"/>
                <a:cs typeface="Helvetica Neue"/>
                <a:sym typeface="Helvetica Neue"/>
              </a:rPr>
              <a:t> se </a:t>
            </a:r>
            <a:r>
              <a:rPr lang="en-US" sz="900" i="1" dirty="0" err="1">
                <a:solidFill>
                  <a:srgbClr val="333333"/>
                </a:solidFill>
                <a:latin typeface="Helvetica Neue"/>
                <a:ea typeface="Helvetica Neue"/>
                <a:cs typeface="Helvetica Neue"/>
                <a:sym typeface="Helvetica Neue"/>
              </a:rPr>
              <a:t>trate</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le </a:t>
            </a:r>
            <a:r>
              <a:rPr lang="en-US" sz="900" i="1" dirty="0" err="1">
                <a:solidFill>
                  <a:srgbClr val="333333"/>
                </a:solidFill>
                <a:latin typeface="Helvetica Neue"/>
                <a:ea typeface="Helvetica Neue"/>
                <a:cs typeface="Helvetica Neue"/>
                <a:sym typeface="Helvetica Neue"/>
              </a:rPr>
              <a:t>podrá</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propiedad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intelectual</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contractual (</a:t>
            </a:r>
            <a:r>
              <a:rPr lang="en-US" sz="900" i="1" dirty="0" err="1">
                <a:solidFill>
                  <a:srgbClr val="333333"/>
                </a:solidFill>
                <a:latin typeface="Helvetica Neue"/>
                <a:ea typeface="Helvetica Neue"/>
                <a:cs typeface="Helvetica Neue"/>
                <a:sym typeface="Helvetica Neue"/>
              </a:rPr>
              <a:t>ya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crea</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vínculo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directo</a:t>
            </a:r>
            <a:r>
              <a:rPr lang="en-US" sz="900" i="1" dirty="0">
                <a:solidFill>
                  <a:srgbClr val="333333"/>
                </a:solidFill>
                <a:latin typeface="Helvetica Neue"/>
                <a:ea typeface="Helvetica Neue"/>
                <a:cs typeface="Helvetica Neue"/>
                <a:sym typeface="Helvetica Neue"/>
              </a:rPr>
              <a:t> entre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a:t>
            </a:r>
            <a:r>
              <a:rPr lang="en-US" sz="900" i="1" dirty="0" err="1">
                <a:solidFill>
                  <a:srgbClr val="333333"/>
                </a:solidFill>
                <a:latin typeface="Helvetica Neue"/>
                <a:ea typeface="Helvetica Neue"/>
                <a:cs typeface="Helvetica Neue"/>
                <a:sym typeface="Helvetica Neue"/>
              </a:rPr>
              <a:t>licenciatario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derecho</a:t>
            </a:r>
            <a:r>
              <a:rPr lang="en-US" sz="900" i="1" dirty="0">
                <a:solidFill>
                  <a:srgbClr val="333333"/>
                </a:solidFill>
                <a:latin typeface="Helvetica Neue"/>
                <a:ea typeface="Helvetica Neue"/>
                <a:cs typeface="Helvetica Neue"/>
                <a:sym typeface="Helvetica Neue"/>
              </a:rPr>
              <a:t> moral de </a:t>
            </a:r>
            <a:r>
              <a:rPr lang="en-US" sz="900" i="1" dirty="0" err="1">
                <a:solidFill>
                  <a:srgbClr val="333333"/>
                </a:solidFill>
                <a:latin typeface="Helvetica Neue"/>
                <a:ea typeface="Helvetica Neue"/>
                <a:cs typeface="Helvetica Neue"/>
                <a:sym typeface="Helvetica Neue"/>
              </a:rPr>
              <a:t>integridad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recogido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legislación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española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protegido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aunque</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aparezca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las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Estas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sustituyen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ni</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reducen</a:t>
            </a:r>
            <a:r>
              <a:rPr lang="en-US" sz="900" i="1" dirty="0">
                <a:solidFill>
                  <a:srgbClr val="333333"/>
                </a:solidFill>
                <a:latin typeface="Helvetica Neue"/>
                <a:ea typeface="Helvetica Neue"/>
                <a:cs typeface="Helvetica Neue"/>
                <a:sym typeface="Helvetica Neue"/>
              </a:rPr>
              <a:t> los </a:t>
            </a:r>
            <a:r>
              <a:rPr lang="en-US" sz="900" i="1" dirty="0" err="1">
                <a:solidFill>
                  <a:srgbClr val="333333"/>
                </a:solidFill>
                <a:latin typeface="Helvetica Neue"/>
                <a:ea typeface="Helvetica Neue"/>
                <a:cs typeface="Helvetica Neue"/>
                <a:sym typeface="Helvetica Neue"/>
              </a:rPr>
              <a:t>derechos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ley</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confiere</a:t>
            </a:r>
            <a:r>
              <a:rPr lang="en-US" sz="900" i="1" dirty="0">
                <a:solidFill>
                  <a:srgbClr val="333333"/>
                </a:solidFill>
                <a:latin typeface="Helvetica Neue"/>
                <a:ea typeface="Helvetica Neue"/>
                <a:cs typeface="Helvetica Neue"/>
                <a:sym typeface="Helvetica Neue"/>
              </a:rPr>
              <a:t> al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podría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hubiera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modificado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mutilado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causando</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perjuicio</a:t>
            </a:r>
            <a:r>
              <a:rPr lang="en-US" sz="900" i="1" dirty="0">
                <a:solidFill>
                  <a:srgbClr val="333333"/>
                </a:solidFill>
                <a:latin typeface="Helvetica Neue"/>
                <a:ea typeface="Helvetica Neue"/>
                <a:cs typeface="Helvetica Neue"/>
                <a:sym typeface="Helvetica Neue"/>
              </a:rPr>
              <a:t> a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sus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descontado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decisión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ha </a:t>
            </a:r>
            <a:r>
              <a:rPr lang="en-US" sz="900" i="1" dirty="0" err="1">
                <a:solidFill>
                  <a:srgbClr val="333333"/>
                </a:solidFill>
                <a:latin typeface="Helvetica Neue"/>
                <a:ea typeface="Helvetica Neue"/>
                <a:cs typeface="Helvetica Neue"/>
                <a:sym typeface="Helvetica Neue"/>
              </a:rPr>
              <a:t>habido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y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perjudica</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los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del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quedaría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manos</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cada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Juez</a:t>
            </a:r>
            <a:r>
              <a:rPr lang="en-US" sz="900" i="1" dirty="0">
                <a:solidFill>
                  <a:srgbClr val="333333"/>
                </a:solidFill>
                <a:latin typeface="Helvetica Neue"/>
                <a:ea typeface="Helvetica Neue"/>
                <a:cs typeface="Helvetica Neue"/>
                <a:sym typeface="Helvetica Neue"/>
              </a:rPr>
              <a:t> o Tribunal.</a:t>
            </a:r>
            <a:endParaRPr sz="900" i="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7100C31C-9A77-D374-A099-85DC6520A305}"/>
              </a:ext>
            </a:extLst>
          </p:cNvPr>
          <p:cNvSpPr txBox="1"/>
          <p:nvPr/>
        </p:nvSpPr>
        <p:spPr>
          <a:xfrm>
            <a:off x="107504" y="843558"/>
            <a:ext cx="8640960" cy="3046988"/>
          </a:xfrm>
          <a:prstGeom prst="rect">
            <a:avLst/>
          </a:prstGeom>
          <a:noFill/>
        </p:spPr>
        <p:txBody>
          <a:bodyPr wrap="square">
            <a:spAutoFit/>
          </a:bodyPr>
          <a:lstStyle/>
          <a:p>
            <a:pPr algn="l"/>
            <a:r>
              <a:rPr lang="es-ES" sz="2400" dirty="0">
                <a:solidFill>
                  <a:schemeClr val="bg2">
                    <a:lumMod val="50000"/>
                  </a:schemeClr>
                </a:solidFill>
                <a:latin typeface="Calibri" panose="020F0502020204030204" pitchFamily="34" charset="0"/>
                <a:ea typeface="Lato"/>
                <a:cs typeface="Calibri" panose="020F0502020204030204" pitchFamily="34" charset="0"/>
                <a:sym typeface="Lato"/>
              </a:rPr>
              <a:t>Antes de comenzar vamos a ver brevemente qué son las estructuras de control de flujo o simplemente estructuras de control, que son componentes esenciales de la programación imperativa.</a:t>
            </a:r>
          </a:p>
          <a:p>
            <a:pPr algn="l"/>
            <a:endParaRPr lang="es-ES" sz="2400" dirty="0">
              <a:solidFill>
                <a:schemeClr val="bg2">
                  <a:lumMod val="50000"/>
                </a:schemeClr>
              </a:solidFill>
              <a:latin typeface="Calibri" panose="020F0502020204030204" pitchFamily="34" charset="0"/>
              <a:ea typeface="Lato"/>
              <a:cs typeface="Calibri" panose="020F0502020204030204" pitchFamily="34" charset="0"/>
              <a:sym typeface="Lato"/>
            </a:endParaRPr>
          </a:p>
          <a:p>
            <a:pPr algn="l"/>
            <a:r>
              <a:rPr lang="es-ES" sz="2400" dirty="0">
                <a:solidFill>
                  <a:schemeClr val="bg2">
                    <a:lumMod val="50000"/>
                  </a:schemeClr>
                </a:solidFill>
                <a:latin typeface="Calibri" panose="020F0502020204030204" pitchFamily="34" charset="0"/>
                <a:ea typeface="Lato"/>
                <a:cs typeface="Calibri" panose="020F0502020204030204" pitchFamily="34" charset="0"/>
                <a:sym typeface="Lato"/>
              </a:rPr>
              <a:t>La programación exige en muchas ocasiones de estructuras de control de flujo para poder realizar los algoritmos. </a:t>
            </a:r>
          </a:p>
          <a:p>
            <a:pPr algn="l"/>
            <a:endParaRPr lang="es-ES" sz="2400" dirty="0">
              <a:solidFill>
                <a:schemeClr val="bg2">
                  <a:lumMod val="50000"/>
                </a:schemeClr>
              </a:solidFill>
              <a:latin typeface="Calibri" panose="020F0502020204030204" pitchFamily="34" charset="0"/>
              <a:ea typeface="Lato"/>
              <a:cs typeface="Calibri" panose="020F0502020204030204" pitchFamily="34" charset="0"/>
              <a:sym typeface="Lato"/>
            </a:endParaRPr>
          </a:p>
          <a:p>
            <a:pPr algn="l"/>
            <a:r>
              <a:rPr lang="es-ES" sz="2400" dirty="0">
                <a:solidFill>
                  <a:schemeClr val="bg2">
                    <a:lumMod val="50000"/>
                  </a:schemeClr>
                </a:solidFill>
                <a:latin typeface="Calibri" panose="020F0502020204030204" pitchFamily="34" charset="0"/>
                <a:ea typeface="Lato"/>
                <a:cs typeface="Calibri" panose="020F0502020204030204" pitchFamily="34" charset="0"/>
                <a:sym typeface="Lato"/>
              </a:rPr>
              <a:t>Existen dos tipos de estructuras de control básicas: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a:t>
            </a:fld>
            <a:endParaRPr lang="es-ES" dirty="0"/>
          </a:p>
        </p:txBody>
      </p:sp>
      <p:sp>
        <p:nvSpPr>
          <p:cNvPr id="12" name="Marcador de texto 11">
            <a:extLst>
              <a:ext uri="{FF2B5EF4-FFF2-40B4-BE49-F238E27FC236}">
                <a16:creationId xmlns:a16="http://schemas.microsoft.com/office/drawing/2014/main" id="{90697A68-85C6-7BA0-B29A-E6218C4C04B6}"/>
              </a:ext>
            </a:extLst>
          </p:cNvPr>
          <p:cNvSpPr>
            <a:spLocks noGrp="1"/>
          </p:cNvSpPr>
          <p:nvPr>
            <p:ph type="body" idx="1"/>
          </p:nvPr>
        </p:nvSpPr>
        <p:spPr>
          <a:xfrm>
            <a:off x="208768" y="915566"/>
            <a:ext cx="8280920" cy="3552300"/>
          </a:xfrm>
        </p:spPr>
        <p:txBody>
          <a:bodyPr/>
          <a:lstStyle/>
          <a:p>
            <a:r>
              <a:rPr lang="es-ES" sz="1800" b="1" dirty="0">
                <a:solidFill>
                  <a:schemeClr val="bg2">
                    <a:lumMod val="50000"/>
                  </a:schemeClr>
                </a:solidFill>
                <a:latin typeface="Calibri" panose="020F0502020204030204" pitchFamily="34" charset="0"/>
                <a:ea typeface="Lato"/>
                <a:cs typeface="Calibri" panose="020F0502020204030204" pitchFamily="34" charset="0"/>
                <a:sym typeface="Lato"/>
              </a:rPr>
              <a:t>Condicionales: </a:t>
            </a:r>
            <a:r>
              <a:rPr lang="es-ES" sz="1800" dirty="0">
                <a:solidFill>
                  <a:schemeClr val="bg2">
                    <a:lumMod val="50000"/>
                  </a:schemeClr>
                </a:solidFill>
                <a:latin typeface="Calibri" panose="020F0502020204030204" pitchFamily="34" charset="0"/>
                <a:ea typeface="Lato"/>
                <a:cs typeface="Calibri" panose="020F0502020204030204" pitchFamily="34" charset="0"/>
                <a:sym typeface="Lato"/>
              </a:rPr>
              <a:t>permiten ejecutar unas sentencias u otras en función de una comprobación. Es decir, existe un condicional que se evalúa y si ese condicional tiene una evaluación positiva el programa se va por una rama del código, ejecutando unas instrucciones. Por contra, si se evalúa de manera negativa, se va por otra rama del código.</a:t>
            </a:r>
          </a:p>
          <a:p>
            <a:endParaRPr lang="es-ES" sz="1800" dirty="0">
              <a:solidFill>
                <a:schemeClr val="bg2">
                  <a:lumMod val="50000"/>
                </a:schemeClr>
              </a:solidFill>
              <a:latin typeface="Calibri" panose="020F0502020204030204" pitchFamily="34" charset="0"/>
              <a:cs typeface="Calibri" panose="020F0502020204030204" pitchFamily="34" charset="0"/>
            </a:endParaRPr>
          </a:p>
          <a:p>
            <a:endParaRPr lang="es-ES" sz="1800" dirty="0">
              <a:solidFill>
                <a:schemeClr val="bg2">
                  <a:lumMod val="50000"/>
                </a:schemeClr>
              </a:solidFill>
              <a:latin typeface="Calibri" panose="020F0502020204030204" pitchFamily="34" charset="0"/>
              <a:ea typeface="Lato"/>
              <a:cs typeface="Calibri" panose="020F0502020204030204" pitchFamily="34" charset="0"/>
              <a:sym typeface="Lato"/>
            </a:endParaRPr>
          </a:p>
          <a:p>
            <a:r>
              <a:rPr lang="es-ES" sz="1800" b="1" dirty="0">
                <a:solidFill>
                  <a:schemeClr val="bg2">
                    <a:lumMod val="50000"/>
                  </a:schemeClr>
                </a:solidFill>
                <a:latin typeface="Calibri" panose="020F0502020204030204" pitchFamily="34" charset="0"/>
                <a:ea typeface="Lato"/>
                <a:cs typeface="Calibri" panose="020F0502020204030204" pitchFamily="34" charset="0"/>
                <a:sym typeface="Lato"/>
              </a:rPr>
              <a:t>Repeticiones o bucles: </a:t>
            </a:r>
            <a:r>
              <a:rPr lang="es-ES" sz="1800" dirty="0">
                <a:solidFill>
                  <a:schemeClr val="bg2">
                    <a:lumMod val="50000"/>
                  </a:schemeClr>
                </a:solidFill>
                <a:latin typeface="Calibri" panose="020F0502020204030204" pitchFamily="34" charset="0"/>
                <a:ea typeface="Lato"/>
                <a:cs typeface="Calibri" panose="020F0502020204030204" pitchFamily="34" charset="0"/>
                <a:sym typeface="Lato"/>
              </a:rPr>
              <a:t>que nos permite realizar de acciones sucesivas, ejecutando un conjunto de instrucciones repetidas veces. El concepto de bucle es muy fácil de entender pero en el fondo tienen un poco más de complicación y variantes que veremos un poco más adelante.</a:t>
            </a:r>
            <a:endParaRPr lang="es-ES" sz="1800" dirty="0"/>
          </a:p>
        </p:txBody>
      </p:sp>
    </p:spTree>
    <p:extLst>
      <p:ext uri="{BB962C8B-B14F-4D97-AF65-F5344CB8AC3E}">
        <p14:creationId xmlns:p14="http://schemas.microsoft.com/office/powerpoint/2010/main" val="2781003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5</a:t>
            </a:fld>
            <a:endParaRPr lang="es-ES" dirty="0"/>
          </a:p>
        </p:txBody>
      </p:sp>
      <p:sp>
        <p:nvSpPr>
          <p:cNvPr id="3" name="Marcador de texto 2">
            <a:extLst>
              <a:ext uri="{FF2B5EF4-FFF2-40B4-BE49-F238E27FC236}">
                <a16:creationId xmlns:a16="http://schemas.microsoft.com/office/drawing/2014/main" id="{0DF5DE14-AB8C-C9D2-B109-B988CB6F2310}"/>
              </a:ext>
            </a:extLst>
          </p:cNvPr>
          <p:cNvSpPr>
            <a:spLocks noGrp="1"/>
          </p:cNvSpPr>
          <p:nvPr>
            <p:ph type="body" idx="1"/>
          </p:nvPr>
        </p:nvSpPr>
        <p:spPr>
          <a:xfrm>
            <a:off x="366599" y="1692686"/>
            <a:ext cx="8384076" cy="2638322"/>
          </a:xfrm>
        </p:spPr>
        <p:txBody>
          <a:bodyPr/>
          <a:lstStyle/>
          <a:p>
            <a:r>
              <a:rPr lang="es-ES" sz="1600" dirty="0"/>
              <a:t>Como hemos dicho, las estructuras condicionales nos permiten tomar decisiones. Esas decisiones se representan en base a expresiones compuestas por operadores condicionales, los cuales ya introdujimos en el capítulo dedicado a operadores en PHP.</a:t>
            </a:r>
          </a:p>
          <a:p>
            <a:endParaRPr lang="es-ES" sz="1600" dirty="0"/>
          </a:p>
          <a:p>
            <a:r>
              <a:rPr lang="es-ES" sz="1600" dirty="0"/>
              <a:t>En función de la evaluación de las expresiones condicionales se realiza la toma de decisiones. Enseguida veremos ejemplos y quedará más claro, pero para ir concretando, un caso de uso de un condicional, podría ser un script que ejecute una secuencia diferente de instrucciones en función del día de la semana en el que nos encontramos.</a:t>
            </a:r>
          </a:p>
        </p:txBody>
      </p:sp>
      <p:sp>
        <p:nvSpPr>
          <p:cNvPr id="6" name="CuadroTexto 5">
            <a:extLst>
              <a:ext uri="{FF2B5EF4-FFF2-40B4-BE49-F238E27FC236}">
                <a16:creationId xmlns:a16="http://schemas.microsoft.com/office/drawing/2014/main" id="{296ECD00-B3BA-20BB-0522-0BEF582D6CA1}"/>
              </a:ext>
            </a:extLst>
          </p:cNvPr>
          <p:cNvSpPr txBox="1"/>
          <p:nvPr/>
        </p:nvSpPr>
        <p:spPr>
          <a:xfrm>
            <a:off x="532109" y="217612"/>
            <a:ext cx="8208912" cy="1569660"/>
          </a:xfrm>
          <a:prstGeom prst="rect">
            <a:avLst/>
          </a:prstGeom>
          <a:noFill/>
        </p:spPr>
        <p:txBody>
          <a:bodyPr wrap="square">
            <a:spAutoFit/>
          </a:bodyPr>
          <a:lstStyle/>
          <a:p>
            <a:pPr algn="l"/>
            <a:r>
              <a:rPr lang="es-ES" sz="4800" b="0" i="0" dirty="0">
                <a:solidFill>
                  <a:srgbClr val="000000"/>
                </a:solidFill>
                <a:effectLst/>
                <a:latin typeface="Roboto" panose="02000000000000000000" pitchFamily="2" charset="0"/>
              </a:rPr>
              <a:t>Estructuras de control condicionales</a:t>
            </a:r>
          </a:p>
        </p:txBody>
      </p:sp>
    </p:spTree>
    <p:extLst>
      <p:ext uri="{BB962C8B-B14F-4D97-AF65-F5344CB8AC3E}">
        <p14:creationId xmlns:p14="http://schemas.microsoft.com/office/powerpoint/2010/main" val="81495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518779" y="320750"/>
            <a:ext cx="8388932" cy="857400"/>
          </a:xfrm>
        </p:spPr>
        <p:txBody>
          <a:bodyPr/>
          <a:lstStyle/>
          <a:p>
            <a:pPr algn="l"/>
            <a:endParaRPr lang="es-ES" sz="3200"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94743" y="1277344"/>
            <a:ext cx="8712968" cy="3552300"/>
          </a:xfrm>
        </p:spPr>
        <p:txBody>
          <a:bodyPr/>
          <a:lstStyle/>
          <a:p>
            <a:pPr marL="114300" indent="0">
              <a:buNone/>
            </a:pPr>
            <a:r>
              <a:rPr lang="es-ES" sz="1800" dirty="0"/>
              <a:t>Este tipo de acciones pueden ser llevadas a cabo gracias a varias instrucciones que están presentes en la mayoría de los lenguajes. </a:t>
            </a:r>
          </a:p>
          <a:p>
            <a:pPr marL="114300" indent="0">
              <a:buNone/>
            </a:pPr>
            <a:endParaRPr lang="es-ES" sz="1800" dirty="0"/>
          </a:p>
          <a:p>
            <a:pPr marL="114300" indent="0">
              <a:buNone/>
            </a:pPr>
            <a:r>
              <a:rPr lang="es-ES" sz="1800" dirty="0"/>
              <a:t>En este capítulo describiremos una de las que permite PHP que es la sentencia </a:t>
            </a:r>
            <a:r>
              <a:rPr lang="es-ES" sz="1800" dirty="0" err="1"/>
              <a:t>if</a:t>
            </a:r>
            <a:r>
              <a:rPr lang="es-ES" sz="1800" dirty="0"/>
              <a:t>.</a:t>
            </a:r>
          </a:p>
        </p:txBody>
      </p:sp>
    </p:spTree>
    <p:extLst>
      <p:ext uri="{BB962C8B-B14F-4D97-AF65-F5344CB8AC3E}">
        <p14:creationId xmlns:p14="http://schemas.microsoft.com/office/powerpoint/2010/main" val="2553485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181041"/>
            <a:ext cx="8712968" cy="857400"/>
          </a:xfrm>
        </p:spPr>
        <p:txBody>
          <a:bodyPr/>
          <a:lstStyle/>
          <a:p>
            <a:r>
              <a:rPr lang="es-ES" sz="3200" dirty="0">
                <a:solidFill>
                  <a:schemeClr val="bg2">
                    <a:lumMod val="25000"/>
                  </a:schemeClr>
                </a:solidFill>
              </a:rPr>
              <a:t>Las condiciones </a:t>
            </a:r>
            <a:r>
              <a:rPr lang="es-ES" sz="3200" dirty="0" err="1">
                <a:solidFill>
                  <a:schemeClr val="bg2">
                    <a:lumMod val="25000"/>
                  </a:schemeClr>
                </a:solidFill>
              </a:rPr>
              <a:t>if</a:t>
            </a:r>
            <a:endParaRPr lang="es-ES" sz="3200" b="0" i="0" dirty="0">
              <a:solidFill>
                <a:schemeClr val="bg2">
                  <a:lumMod val="25000"/>
                </a:schemeClr>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5758" y="1635646"/>
            <a:ext cx="8640960" cy="1625803"/>
          </a:xfrm>
        </p:spPr>
        <p:txBody>
          <a:bodyPr/>
          <a:lstStyle/>
          <a:p>
            <a:r>
              <a:rPr lang="es-ES" sz="1600" dirty="0"/>
              <a:t>Cuando queremos que el programa, llegado a un cierto punto, tome un camino concreto en determinados casos y otro diferente si las condiciones de ejecución difieren, nos servimos del conjunto de instrucciones </a:t>
            </a:r>
            <a:r>
              <a:rPr lang="es-ES" sz="1600" dirty="0" err="1"/>
              <a:t>if</a:t>
            </a:r>
            <a:r>
              <a:rPr lang="es-ES" sz="1600" dirty="0"/>
              <a:t>, </a:t>
            </a:r>
            <a:r>
              <a:rPr lang="es-ES" sz="1600" dirty="0" err="1"/>
              <a:t>else</a:t>
            </a:r>
            <a:r>
              <a:rPr lang="es-ES" sz="1600" dirty="0"/>
              <a:t> y </a:t>
            </a:r>
            <a:r>
              <a:rPr lang="es-ES" sz="1600" dirty="0" err="1"/>
              <a:t>elseif</a:t>
            </a:r>
            <a:r>
              <a:rPr lang="es-ES" sz="1600" dirty="0"/>
              <a:t>. </a:t>
            </a:r>
          </a:p>
          <a:p>
            <a:endParaRPr lang="es-ES" sz="1600" dirty="0"/>
          </a:p>
          <a:p>
            <a:r>
              <a:rPr lang="es-ES" sz="1600" dirty="0"/>
              <a:t>La estructura de base de este tipo de instrucciones es la siguiente:</a:t>
            </a:r>
          </a:p>
        </p:txBody>
      </p:sp>
    </p:spTree>
    <p:extLst>
      <p:ext uri="{BB962C8B-B14F-4D97-AF65-F5344CB8AC3E}">
        <p14:creationId xmlns:p14="http://schemas.microsoft.com/office/powerpoint/2010/main" val="829502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339502"/>
            <a:ext cx="8496944" cy="857400"/>
          </a:xfrm>
        </p:spPr>
        <p:txBody>
          <a:bodyPr/>
          <a:lstStyle/>
          <a:p>
            <a:r>
              <a:rPr lang="es-ES" sz="3200" dirty="0">
                <a:solidFill>
                  <a:schemeClr val="bg2">
                    <a:lumMod val="25000"/>
                  </a:schemeClr>
                </a:solidFill>
              </a:rPr>
              <a:t>Bloque </a:t>
            </a:r>
            <a:r>
              <a:rPr lang="es-ES" sz="3200" dirty="0" err="1">
                <a:solidFill>
                  <a:schemeClr val="bg2">
                    <a:lumMod val="25000"/>
                  </a:schemeClr>
                </a:solidFill>
              </a:rPr>
              <a:t>if</a:t>
            </a:r>
            <a:endParaRPr lang="es-ES" sz="3200" dirty="0">
              <a:solidFill>
                <a:schemeClr val="bg2">
                  <a:lumMod val="25000"/>
                </a:schemeClr>
              </a:solidFill>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8</a:t>
            </a:fld>
            <a:endParaRPr lang="es-ES" dirty="0"/>
          </a:p>
        </p:txBody>
      </p:sp>
      <p:sp>
        <p:nvSpPr>
          <p:cNvPr id="6" name="Marcador de texto 5">
            <a:extLst>
              <a:ext uri="{FF2B5EF4-FFF2-40B4-BE49-F238E27FC236}">
                <a16:creationId xmlns:a16="http://schemas.microsoft.com/office/drawing/2014/main" id="{556A9302-4D8C-11C5-0E20-56F20F84A1D6}"/>
              </a:ext>
            </a:extLst>
          </p:cNvPr>
          <p:cNvSpPr>
            <a:spLocks noGrp="1"/>
          </p:cNvSpPr>
          <p:nvPr>
            <p:ph type="body" idx="1"/>
          </p:nvPr>
        </p:nvSpPr>
        <p:spPr>
          <a:xfrm>
            <a:off x="217712" y="1172916"/>
            <a:ext cx="8546326" cy="3552300"/>
          </a:xfrm>
        </p:spPr>
        <p:txBody>
          <a:bodyPr/>
          <a:lstStyle/>
          <a:p>
            <a:pPr marL="114300" indent="0">
              <a:buNone/>
            </a:pPr>
            <a:r>
              <a:rPr lang="es-ES" sz="1600" dirty="0"/>
              <a:t>Vamos a verlas por partes. Primero la estructura condicional más simple, que solamente usa la instrucción </a:t>
            </a:r>
            <a:r>
              <a:rPr lang="es-ES" sz="1600" dirty="0" err="1"/>
              <a:t>if</a:t>
            </a:r>
            <a:r>
              <a:rPr lang="es-ES" sz="1600" dirty="0"/>
              <a:t>.</a:t>
            </a:r>
          </a:p>
          <a:p>
            <a:pPr marL="114300" indent="0">
              <a:buNone/>
            </a:pPr>
            <a:endParaRPr lang="es-ES" sz="1600" dirty="0"/>
          </a:p>
          <a:p>
            <a:pPr marL="114300" indent="0">
              <a:buNone/>
            </a:pPr>
            <a:endParaRPr lang="es-ES" sz="1600" dirty="0"/>
          </a:p>
          <a:p>
            <a:pPr marL="114300" indent="0">
              <a:buNone/>
            </a:pPr>
            <a:endParaRPr lang="es-ES" sz="1600" dirty="0"/>
          </a:p>
          <a:p>
            <a:pPr marL="114300" indent="0">
              <a:buNone/>
            </a:pPr>
            <a:endParaRPr lang="es-ES" sz="1600" dirty="0"/>
          </a:p>
          <a:p>
            <a:pPr marL="114300" indent="0">
              <a:buNone/>
            </a:pPr>
            <a:endParaRPr lang="es-ES" sz="1600" dirty="0"/>
          </a:p>
          <a:p>
            <a:pPr marL="114300" indent="0">
              <a:buNone/>
            </a:pPr>
            <a:r>
              <a:rPr lang="es-ES" sz="1600" dirty="0"/>
              <a:t>Este ejemplo de </a:t>
            </a:r>
            <a:r>
              <a:rPr lang="es-ES" sz="1600" dirty="0" err="1"/>
              <a:t>pseudo-código</a:t>
            </a:r>
            <a:r>
              <a:rPr lang="es-ES" sz="1600" dirty="0"/>
              <a:t> quiere mostrar cómo se toma una decisión en un código. Simplemente se </a:t>
            </a:r>
            <a:r>
              <a:rPr lang="es-ES" sz="1600" dirty="0" err="1"/>
              <a:t>evalua</a:t>
            </a:r>
            <a:r>
              <a:rPr lang="es-ES" sz="1600" dirty="0"/>
              <a:t> la expresión condición. </a:t>
            </a:r>
          </a:p>
          <a:p>
            <a:pPr marL="114300" indent="0">
              <a:buNone/>
            </a:pPr>
            <a:r>
              <a:rPr lang="es-ES" sz="1600" dirty="0"/>
              <a:t>Si esa evaluación fuese correcta, entonces se ejecutan las instrucciones que hay entre las llaves: Instrucción 1, Instrucción 2 y todas las que hubiera.</a:t>
            </a:r>
          </a:p>
        </p:txBody>
      </p:sp>
      <p:sp>
        <p:nvSpPr>
          <p:cNvPr id="3" name="Rectangle 1">
            <a:extLst>
              <a:ext uri="{FF2B5EF4-FFF2-40B4-BE49-F238E27FC236}">
                <a16:creationId xmlns:a16="http://schemas.microsoft.com/office/drawing/2014/main" id="{4EBE24FC-A7F3-5B9A-D781-C028398399B5}"/>
              </a:ext>
            </a:extLst>
          </p:cNvPr>
          <p:cNvSpPr>
            <a:spLocks noChangeArrowheads="1"/>
          </p:cNvSpPr>
          <p:nvPr/>
        </p:nvSpPr>
        <p:spPr bwMode="auto">
          <a:xfrm>
            <a:off x="1187624" y="2029960"/>
            <a:ext cx="5079743" cy="108357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if</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condición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470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67094" y="146895"/>
            <a:ext cx="8496944" cy="857400"/>
          </a:xfrm>
        </p:spPr>
        <p:txBody>
          <a:bodyPr/>
          <a:lstStyle/>
          <a:p>
            <a:pPr algn="l"/>
            <a:r>
              <a:rPr lang="es-ES" b="0" i="0" dirty="0">
                <a:solidFill>
                  <a:srgbClr val="000000"/>
                </a:solidFill>
                <a:effectLst/>
                <a:latin typeface="Roboto" panose="02000000000000000000" pitchFamily="2" charset="0"/>
              </a:rPr>
              <a:t>Estructurar el código de una aplicación con nuestras propias librerías de funciones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9</a:t>
            </a:fld>
            <a:endParaRPr lang="es-ES" dirty="0"/>
          </a:p>
        </p:txBody>
      </p:sp>
      <p:sp>
        <p:nvSpPr>
          <p:cNvPr id="12" name="CuadroTexto 11">
            <a:extLst>
              <a:ext uri="{FF2B5EF4-FFF2-40B4-BE49-F238E27FC236}">
                <a16:creationId xmlns:a16="http://schemas.microsoft.com/office/drawing/2014/main" id="{970C48E1-56EE-208B-8B19-5584C688C71D}"/>
              </a:ext>
            </a:extLst>
          </p:cNvPr>
          <p:cNvSpPr txBox="1"/>
          <p:nvPr/>
        </p:nvSpPr>
        <p:spPr>
          <a:xfrm>
            <a:off x="179512" y="1270543"/>
            <a:ext cx="8784976" cy="3293209"/>
          </a:xfrm>
          <a:prstGeom prst="rect">
            <a:avLst/>
          </a:prstGeom>
          <a:noFill/>
        </p:spPr>
        <p:txBody>
          <a:bodyPr wrap="square">
            <a:spAutoFit/>
          </a:bodyPr>
          <a:lstStyle/>
          <a:p>
            <a:r>
              <a:rPr lang="es-ES" sz="1600" dirty="0">
                <a:solidFill>
                  <a:schemeClr val="dk1"/>
                </a:solidFill>
                <a:latin typeface="Lato"/>
                <a:ea typeface="Lato"/>
                <a:cs typeface="Lato"/>
                <a:sym typeface="Lato"/>
              </a:rPr>
              <a:t>La función ha de ser definida para poder ser utilizada, ya que no se encuentra integrada en PHP sino que la hemos creado nosotros.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Si pensamos que en una aplicación web completa podemos tener cientos de funciones definidas por nosotros mismos quizás te asuste que tengas demasiado código de funciones que deben ser definidas antes de ser usadas.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Pero esto en realidad no pone ninguna pega, ya que pueden ser incluidas desde un archivo externo.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De hecho es muy común que tengamos archivos donde solo colocamos el código de las funciones, almacenando definiciones de las funciones que vayamos creando para realizar un sitio web.</a:t>
            </a:r>
          </a:p>
        </p:txBody>
      </p:sp>
    </p:spTree>
    <p:extLst>
      <p:ext uri="{BB962C8B-B14F-4D97-AF65-F5344CB8AC3E}">
        <p14:creationId xmlns:p14="http://schemas.microsoft.com/office/powerpoint/2010/main" val="790137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01135"/>
            <a:ext cx="8712968" cy="857400"/>
          </a:xfrm>
        </p:spPr>
        <p:txBody>
          <a:bodyPr/>
          <a:lstStyle/>
          <a:p>
            <a:r>
              <a:rPr lang="es-ES" sz="3200" dirty="0">
                <a:solidFill>
                  <a:schemeClr val="bg2">
                    <a:lumMod val="25000"/>
                  </a:schemeClr>
                </a:solidFill>
              </a:rPr>
              <a:t>Bloque </a:t>
            </a:r>
            <a:r>
              <a:rPr lang="es-ES" sz="3200" dirty="0" err="1">
                <a:solidFill>
                  <a:schemeClr val="bg2">
                    <a:lumMod val="25000"/>
                  </a:schemeClr>
                </a:solidFill>
              </a:rPr>
              <a:t>else</a:t>
            </a:r>
            <a:endParaRPr lang="es-ES" sz="3200" dirty="0">
              <a:solidFill>
                <a:schemeClr val="bg2">
                  <a:lumMod val="25000"/>
                </a:schemeClr>
              </a:solidFill>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71500" y="1277700"/>
            <a:ext cx="8856984" cy="3552300"/>
          </a:xfrm>
        </p:spPr>
        <p:txBody>
          <a:bodyPr/>
          <a:lstStyle/>
          <a:p>
            <a:r>
              <a:rPr lang="es-ES" sz="1600" dirty="0"/>
              <a:t>Pero además, la instrucción </a:t>
            </a:r>
            <a:r>
              <a:rPr lang="es-ES" sz="1600" dirty="0" err="1"/>
              <a:t>if</a:t>
            </a:r>
            <a:r>
              <a:rPr lang="es-ES" sz="1600" dirty="0"/>
              <a:t> puede acompañarse por un bloque </a:t>
            </a:r>
            <a:r>
              <a:rPr lang="es-ES" sz="1600" dirty="0" err="1"/>
              <a:t>else</a:t>
            </a:r>
            <a:r>
              <a:rPr lang="es-ES" sz="1600" dirty="0"/>
              <a:t> para indicar qué se debe realizar en el caso que la expresión de la condición no sea evaluada positivamente.</a:t>
            </a:r>
            <a:endParaRPr lang="es-ES" sz="1500" i="1" dirty="0"/>
          </a:p>
        </p:txBody>
      </p:sp>
      <p:sp>
        <p:nvSpPr>
          <p:cNvPr id="5" name="Rectangle 1">
            <a:extLst>
              <a:ext uri="{FF2B5EF4-FFF2-40B4-BE49-F238E27FC236}">
                <a16:creationId xmlns:a16="http://schemas.microsoft.com/office/drawing/2014/main" id="{53B14876-8934-4B38-18B9-36F15A60444D}"/>
              </a:ext>
            </a:extLst>
          </p:cNvPr>
          <p:cNvSpPr>
            <a:spLocks noChangeArrowheads="1"/>
          </p:cNvSpPr>
          <p:nvPr/>
        </p:nvSpPr>
        <p:spPr bwMode="auto">
          <a:xfrm>
            <a:off x="467544" y="2139702"/>
            <a:ext cx="3672408" cy="219157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if</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condición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Instrucción </a:t>
            </a:r>
            <a:r>
              <a:rPr kumimoji="0" lang="es-ES" altLang="es-ES" sz="1200" b="0" i="0" u="none" strike="noStrike" cap="none" normalizeH="0" baseline="0" dirty="0">
                <a:ln>
                  <a:noFill/>
                </a:ln>
                <a:solidFill>
                  <a:srgbClr val="268BD2"/>
                </a:solidFill>
                <a:effectLst/>
                <a:latin typeface="Consolas" panose="020B0609020204030204" pitchFamily="49" charset="0"/>
              </a:rPr>
              <a:t>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else</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B</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
        <p:nvSpPr>
          <p:cNvPr id="12" name="CuadroTexto 11">
            <a:extLst>
              <a:ext uri="{FF2B5EF4-FFF2-40B4-BE49-F238E27FC236}">
                <a16:creationId xmlns:a16="http://schemas.microsoft.com/office/drawing/2014/main" id="{58507841-A452-5F72-DCF9-CE192DAAF8B4}"/>
              </a:ext>
            </a:extLst>
          </p:cNvPr>
          <p:cNvSpPr txBox="1"/>
          <p:nvPr/>
        </p:nvSpPr>
        <p:spPr>
          <a:xfrm>
            <a:off x="4572000" y="2283718"/>
            <a:ext cx="4104456" cy="1569660"/>
          </a:xfrm>
          <a:prstGeom prst="rect">
            <a:avLst/>
          </a:prstGeom>
          <a:noFill/>
        </p:spPr>
        <p:txBody>
          <a:bodyPr wrap="square">
            <a:spAutoFit/>
          </a:bodyPr>
          <a:lstStyle/>
          <a:p>
            <a:r>
              <a:rPr lang="es-ES" sz="1600" dirty="0">
                <a:solidFill>
                  <a:schemeClr val="dk1"/>
                </a:solidFill>
                <a:latin typeface="Lato"/>
                <a:ea typeface="Lato"/>
                <a:cs typeface="Lato"/>
                <a:sym typeface="Lato"/>
              </a:rPr>
              <a:t>Llegados a este punto, el programa verificará el cumplimiento o no de la condición. Si la condición es cierta las instrucciones 1 y 2 serán ejecutadas. De lo contrario (</a:t>
            </a:r>
            <a:r>
              <a:rPr lang="es-ES" sz="1600" dirty="0" err="1">
                <a:solidFill>
                  <a:schemeClr val="dk1"/>
                </a:solidFill>
                <a:latin typeface="Lato"/>
                <a:ea typeface="Lato"/>
                <a:cs typeface="Lato"/>
                <a:sym typeface="Lato"/>
              </a:rPr>
              <a:t>else</a:t>
            </a:r>
            <a:r>
              <a:rPr lang="es-ES" sz="1600" dirty="0">
                <a:solidFill>
                  <a:schemeClr val="dk1"/>
                </a:solidFill>
                <a:latin typeface="Lato"/>
                <a:ea typeface="Lato"/>
                <a:cs typeface="Lato"/>
                <a:sym typeface="Lato"/>
              </a:rPr>
              <a:t>), las instrucciones A y B serán llevadas a cabo.</a:t>
            </a:r>
          </a:p>
        </p:txBody>
      </p:sp>
    </p:spTree>
    <p:extLst>
      <p:ext uri="{BB962C8B-B14F-4D97-AF65-F5344CB8AC3E}">
        <p14:creationId xmlns:p14="http://schemas.microsoft.com/office/powerpoint/2010/main" val="188675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79512" y="253652"/>
            <a:ext cx="8640960" cy="857400"/>
          </a:xfrm>
        </p:spPr>
        <p:txBody>
          <a:bodyPr/>
          <a:lstStyle/>
          <a:p>
            <a:pPr algn="l"/>
            <a:r>
              <a:rPr lang="es-ES" b="0" i="0" dirty="0">
                <a:solidFill>
                  <a:srgbClr val="000000"/>
                </a:solidFill>
                <a:effectLst/>
                <a:latin typeface="Roboto" panose="02000000000000000000" pitchFamily="2" charset="0"/>
              </a:rPr>
              <a:t>Estructurar el código de una aplicación con nuestras propias librerías de funciones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11</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9512" y="1275606"/>
            <a:ext cx="8640960" cy="1224136"/>
          </a:xfrm>
        </p:spPr>
        <p:txBody>
          <a:bodyPr/>
          <a:lstStyle/>
          <a:p>
            <a:pPr algn="l"/>
            <a:r>
              <a:rPr lang="es-ES" sz="1600" dirty="0"/>
              <a:t>En resumen, cuando usas archivos con código de funciones (librerías) y los incluyes para usarlos desde otras páginas de la aplicación, la cosa quedaría así:</a:t>
            </a:r>
          </a:p>
          <a:p>
            <a:pPr algn="l"/>
            <a:r>
              <a:rPr lang="es-ES" sz="1600" dirty="0"/>
              <a:t>Tendríamos un archivo </a:t>
            </a:r>
            <a:r>
              <a:rPr lang="es-ES" sz="1600" dirty="0" err="1"/>
              <a:t>libreria.php</a:t>
            </a:r>
            <a:r>
              <a:rPr lang="es-ES" sz="1600" dirty="0"/>
              <a:t> como sigue</a:t>
            </a:r>
          </a:p>
          <a:p>
            <a:pPr marL="114300" indent="0">
              <a:buNone/>
            </a:pPr>
            <a:r>
              <a:rPr lang="es-ES" sz="1800" dirty="0"/>
              <a:t>.</a:t>
            </a:r>
          </a:p>
        </p:txBody>
      </p:sp>
      <p:sp>
        <p:nvSpPr>
          <p:cNvPr id="3" name="Rectangle 1">
            <a:extLst>
              <a:ext uri="{FF2B5EF4-FFF2-40B4-BE49-F238E27FC236}">
                <a16:creationId xmlns:a16="http://schemas.microsoft.com/office/drawing/2014/main" id="{A2D72977-59FE-C2C2-2342-3CD86DFF43A0}"/>
              </a:ext>
            </a:extLst>
          </p:cNvPr>
          <p:cNvSpPr>
            <a:spLocks noChangeArrowheads="1"/>
          </p:cNvSpPr>
          <p:nvPr/>
        </p:nvSpPr>
        <p:spPr bwMode="auto">
          <a:xfrm>
            <a:off x="539552" y="2319681"/>
            <a:ext cx="5904656" cy="1345190"/>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1" i="0" u="none" strike="noStrike" cap="none" normalizeH="0" baseline="0" dirty="0">
                <a:ln>
                  <a:noFill/>
                </a:ln>
                <a:solidFill>
                  <a:srgbClr val="CB4B16"/>
                </a:solidFill>
                <a:effectLst/>
                <a:latin typeface="Consolas" panose="020B0609020204030204" pitchFamily="49" charset="0"/>
              </a:rPr>
              <a:t>&lt;?</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0" i="0" u="none" strike="noStrike" cap="none" normalizeH="0" baseline="0" dirty="0">
                <a:ln>
                  <a:noFill/>
                </a:ln>
                <a:solidFill>
                  <a:srgbClr val="93A1A1"/>
                </a:solidFill>
                <a:effectLst/>
                <a:latin typeface="Consolas" panose="020B0609020204030204" pitchFamily="49" charset="0"/>
              </a:rPr>
              <a:t>//función de encabezado y colocación del titulo</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0" i="0" u="none" strike="noStrike" cap="none" normalizeH="0" baseline="0" dirty="0" err="1">
                <a:ln>
                  <a:noFill/>
                </a:ln>
                <a:solidFill>
                  <a:srgbClr val="859900"/>
                </a:solidFill>
                <a:effectLst/>
                <a:latin typeface="Consolas" panose="020B0609020204030204" pitchFamily="49" charset="0"/>
              </a:rPr>
              <a:t>function</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err="1">
                <a:ln>
                  <a:noFill/>
                </a:ln>
                <a:solidFill>
                  <a:srgbClr val="B58900"/>
                </a:solidFill>
                <a:effectLst/>
                <a:latin typeface="Consolas" panose="020B0609020204030204" pitchFamily="49" charset="0"/>
              </a:rPr>
              <a:t>hacer_encabezado</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CB4B16"/>
                </a:solidFill>
                <a:effectLst/>
                <a:latin typeface="Consolas" panose="020B0609020204030204" pitchFamily="49" charset="0"/>
              </a:rPr>
              <a:t>$titulo</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CB4B16"/>
                </a:solidFill>
                <a:effectLst/>
                <a:latin typeface="Consolas" panose="020B0609020204030204" pitchFamily="49" charset="0"/>
              </a:rPr>
              <a:t>$encabezado</a:t>
            </a:r>
            <a:r>
              <a:rPr kumimoji="0" lang="es-ES" altLang="es-ES" sz="1100" b="0" i="0" u="none" strike="noStrike" cap="none" normalizeH="0" baseline="0" dirty="0">
                <a:ln>
                  <a:noFill/>
                </a:ln>
                <a:solidFill>
                  <a:srgbClr val="657B83"/>
                </a:solidFill>
                <a:effectLst/>
                <a:latin typeface="Consolas" panose="020B0609020204030204" pitchFamily="49" charset="0"/>
              </a:rPr>
              <a:t>=</a:t>
            </a:r>
            <a:r>
              <a:rPr kumimoji="0" lang="es-ES" altLang="es-ES" sz="1100" b="0" i="0" u="none" strike="noStrike" cap="none" normalizeH="0" baseline="0" dirty="0">
                <a:ln>
                  <a:noFill/>
                </a:ln>
                <a:solidFill>
                  <a:srgbClr val="2AA198"/>
                </a:solidFill>
                <a:effectLst/>
                <a:latin typeface="Consolas" panose="020B0609020204030204" pitchFamily="49" charset="0"/>
              </a:rPr>
              <a:t>"&lt;</a:t>
            </a:r>
            <a:r>
              <a:rPr kumimoji="0" lang="es-ES" altLang="es-ES" sz="1100" b="0" i="0" u="none" strike="noStrike" cap="none" normalizeH="0" baseline="0" dirty="0" err="1">
                <a:ln>
                  <a:noFill/>
                </a:ln>
                <a:solidFill>
                  <a:srgbClr val="2AA198"/>
                </a:solidFill>
                <a:effectLst/>
                <a:latin typeface="Consolas" panose="020B0609020204030204" pitchFamily="49" charset="0"/>
              </a:rPr>
              <a:t>html</a:t>
            </a:r>
            <a:r>
              <a:rPr kumimoji="0" lang="es-ES" altLang="es-ES" sz="1100" b="0" i="0" u="none" strike="noStrike" cap="none" normalizeH="0" baseline="0" dirty="0">
                <a:ln>
                  <a:noFill/>
                </a:ln>
                <a:solidFill>
                  <a:srgbClr val="2AA198"/>
                </a:solidFill>
                <a:effectLst/>
                <a:latin typeface="Consolas" panose="020B0609020204030204" pitchFamily="49" charset="0"/>
              </a:rPr>
              <a:t>&gt;n&lt;head&gt;</a:t>
            </a:r>
            <a:r>
              <a:rPr kumimoji="0" lang="es-ES" altLang="es-ES" sz="1100" b="0" i="0" u="none" strike="noStrike" cap="none" normalizeH="0" baseline="0" dirty="0" err="1">
                <a:ln>
                  <a:noFill/>
                </a:ln>
                <a:solidFill>
                  <a:srgbClr val="2AA198"/>
                </a:solidFill>
                <a:effectLst/>
                <a:latin typeface="Consolas" panose="020B0609020204030204" pitchFamily="49" charset="0"/>
              </a:rPr>
              <a:t>nt</a:t>
            </a:r>
            <a:r>
              <a:rPr kumimoji="0" lang="es-ES" altLang="es-ES" sz="1100" b="0" i="0" u="none" strike="noStrike" cap="none" normalizeH="0" baseline="0" dirty="0">
                <a:ln>
                  <a:noFill/>
                </a:ln>
                <a:solidFill>
                  <a:srgbClr val="2AA198"/>
                </a:solidFill>
                <a:effectLst/>
                <a:latin typeface="Consolas" panose="020B0609020204030204" pitchFamily="49" charset="0"/>
              </a:rPr>
              <a:t>&lt;</a:t>
            </a:r>
            <a:r>
              <a:rPr kumimoji="0" lang="es-ES" altLang="es-ES" sz="1100" b="0" i="0" u="none" strike="noStrike" cap="none" normalizeH="0" baseline="0" dirty="0" err="1">
                <a:ln>
                  <a:noFill/>
                </a:ln>
                <a:solidFill>
                  <a:srgbClr val="2AA198"/>
                </a:solidFill>
                <a:effectLst/>
                <a:latin typeface="Consolas" panose="020B0609020204030204" pitchFamily="49" charset="0"/>
              </a:rPr>
              <a:t>title</a:t>
            </a:r>
            <a:r>
              <a:rPr kumimoji="0" lang="es-ES" altLang="es-ES" sz="1100" b="0" i="0" u="none" strike="noStrike" cap="none" normalizeH="0" baseline="0" dirty="0">
                <a:ln>
                  <a:noFill/>
                </a:ln>
                <a:solidFill>
                  <a:srgbClr val="2AA198"/>
                </a:solidFill>
                <a:effectLst/>
                <a:latin typeface="Consolas" panose="020B0609020204030204" pitchFamily="49" charset="0"/>
              </a:rPr>
              <a:t>&gt;</a:t>
            </a:r>
            <a:r>
              <a:rPr kumimoji="0" lang="es-ES" altLang="es-ES" sz="1100" b="0" i="0" u="none" strike="noStrike" cap="none" normalizeH="0" baseline="0" dirty="0">
                <a:ln>
                  <a:noFill/>
                </a:ln>
                <a:solidFill>
                  <a:srgbClr val="CB4B16"/>
                </a:solidFill>
                <a:effectLst/>
                <a:latin typeface="Consolas" panose="020B0609020204030204" pitchFamily="49" charset="0"/>
              </a:rPr>
              <a:t>$titulo</a:t>
            </a:r>
            <a:r>
              <a:rPr kumimoji="0" lang="es-ES" altLang="es-ES" sz="1100" b="0" i="0" u="none" strike="noStrike" cap="none" normalizeH="0" baseline="0" dirty="0">
                <a:ln>
                  <a:noFill/>
                </a:ln>
                <a:solidFill>
                  <a:srgbClr val="2AA198"/>
                </a:solidFill>
                <a:effectLst/>
                <a:latin typeface="Consolas" panose="020B0609020204030204" pitchFamily="49" charset="0"/>
              </a:rPr>
              <a:t>&lt;/</a:t>
            </a:r>
            <a:r>
              <a:rPr kumimoji="0" lang="es-ES" altLang="es-ES" sz="1100" b="0" i="0" u="none" strike="noStrike" cap="none" normalizeH="0" baseline="0" dirty="0" err="1">
                <a:ln>
                  <a:noFill/>
                </a:ln>
                <a:solidFill>
                  <a:srgbClr val="2AA198"/>
                </a:solidFill>
                <a:effectLst/>
                <a:latin typeface="Consolas" panose="020B0609020204030204" pitchFamily="49" charset="0"/>
              </a:rPr>
              <a:t>title</a:t>
            </a:r>
            <a:r>
              <a:rPr kumimoji="0" lang="es-ES" altLang="es-ES" sz="1100" b="0" i="0" u="none" strike="noStrike" cap="none" normalizeH="0" baseline="0" dirty="0">
                <a:ln>
                  <a:noFill/>
                </a:ln>
                <a:solidFill>
                  <a:srgbClr val="2AA198"/>
                </a:solidFill>
                <a:effectLst/>
                <a:latin typeface="Consolas" panose="020B0609020204030204" pitchFamily="49" charset="0"/>
              </a:rPr>
              <a:t>&gt;n&lt;/head&gt;n"</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100" dirty="0">
                <a:solidFill>
                  <a:srgbClr val="657B83"/>
                </a:solidFill>
                <a:latin typeface="Consolas" panose="020B0609020204030204" pitchFamily="49" charset="0"/>
              </a:rPr>
              <a:t>   </a:t>
            </a:r>
            <a:r>
              <a:rPr kumimoji="0" lang="es-ES" altLang="es-ES" sz="1100" b="0" i="0" u="none" strike="noStrike" cap="none" normalizeH="0" baseline="0" dirty="0">
                <a:ln>
                  <a:noFill/>
                </a:ln>
                <a:solidFill>
                  <a:srgbClr val="859900"/>
                </a:solidFill>
                <a:effectLst/>
                <a:latin typeface="Consolas" panose="020B0609020204030204" pitchFamily="49" charset="0"/>
              </a:rPr>
              <a:t>echo</a:t>
            </a:r>
            <a:r>
              <a:rPr kumimoji="0" lang="es-ES" altLang="es-ES" sz="1100" b="0" i="0" u="none" strike="noStrike" cap="none" normalizeH="0" baseline="0" dirty="0">
                <a:ln>
                  <a:noFill/>
                </a:ln>
                <a:solidFill>
                  <a:srgbClr val="657B83"/>
                </a:solidFill>
                <a:effectLst/>
                <a:latin typeface="Consolas" panose="020B0609020204030204" pitchFamily="49" charset="0"/>
              </a:rPr>
              <a:t> </a:t>
            </a:r>
            <a:r>
              <a:rPr kumimoji="0" lang="es-ES" altLang="es-ES" sz="1100" b="0" i="0" u="none" strike="noStrike" cap="none" normalizeH="0" baseline="0" dirty="0">
                <a:ln>
                  <a:noFill/>
                </a:ln>
                <a:solidFill>
                  <a:srgbClr val="CB4B16"/>
                </a:solidFill>
                <a:effectLst/>
                <a:latin typeface="Consolas" panose="020B0609020204030204" pitchFamily="49" charset="0"/>
              </a:rPr>
              <a:t>$encabezado</a:t>
            </a:r>
            <a:r>
              <a:rPr kumimoji="0" lang="es-ES" altLang="es-ES" sz="1100" b="0" i="0" u="none" strike="noStrike" cap="none" normalizeH="0" baseline="0" dirty="0">
                <a:ln>
                  <a:noFill/>
                </a:ln>
                <a:solidFill>
                  <a:srgbClr val="586E75"/>
                </a:solidFill>
                <a:effectLst/>
                <a:latin typeface="Consolas" panose="020B0609020204030204" pitchFamily="49" charset="0"/>
              </a:rPr>
              <a:t>;</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0" i="0" u="none" strike="noStrike" cap="none" normalizeH="0" baseline="0" dirty="0">
                <a:ln>
                  <a:noFill/>
                </a:ln>
                <a:solidFill>
                  <a:srgbClr val="586E75"/>
                </a:solidFill>
                <a:effectLst/>
                <a:latin typeface="Consolas" panose="020B0609020204030204" pitchFamily="49" charset="0"/>
              </a:rPr>
              <a:t>   }</a:t>
            </a:r>
            <a:r>
              <a:rPr kumimoji="0" lang="es-ES" altLang="es-ES" sz="11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100" b="1" i="0" u="none" strike="noStrike" cap="none" normalizeH="0" baseline="0" dirty="0">
                <a:ln>
                  <a:noFill/>
                </a:ln>
                <a:solidFill>
                  <a:srgbClr val="CB4B16"/>
                </a:solidFill>
                <a:effectLst/>
                <a:latin typeface="Consolas" panose="020B0609020204030204" pitchFamily="49" charset="0"/>
              </a:rPr>
              <a:t>?&gt;</a:t>
            </a:r>
            <a:r>
              <a:rPr kumimoji="0" lang="es-ES" altLang="es-ES" sz="1100" b="0" i="0" u="none" strike="noStrike" cap="none" normalizeH="0" baseline="0" dirty="0">
                <a:ln>
                  <a:noFill/>
                </a:ln>
                <a:solidFill>
                  <a:schemeClr val="tx1"/>
                </a:solidFill>
                <a:effectLst/>
              </a:rPr>
              <a:t> </a:t>
            </a:r>
            <a:endParaRPr kumimoji="0" lang="es-ES" altLang="es-ES" sz="11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61FBC24E-320E-C6C3-A03B-7C6D9ECF7DBB}"/>
              </a:ext>
            </a:extLst>
          </p:cNvPr>
          <p:cNvSpPr>
            <a:spLocks noChangeArrowheads="1"/>
          </p:cNvSpPr>
          <p:nvPr/>
        </p:nvSpPr>
        <p:spPr bwMode="auto">
          <a:xfrm>
            <a:off x="5780794" y="3341878"/>
            <a:ext cx="2823654" cy="139135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1" i="0" u="none" strike="noStrike" cap="none" normalizeH="0" baseline="0" dirty="0">
                <a:ln>
                  <a:noFill/>
                </a:ln>
                <a:solidFill>
                  <a:srgbClr val="CB4B16"/>
                </a:solidFill>
                <a:effectLst/>
                <a:latin typeface="Consolas" panose="020B0609020204030204" pitchFamily="49" charset="0"/>
              </a:rPr>
              <a:t>&lt;?</a:t>
            </a:r>
            <a:r>
              <a:rPr kumimoji="0" lang="es-ES" altLang="es-ES" sz="1000" b="0" i="0" u="none" strike="noStrike" cap="none" normalizeH="0" baseline="0" dirty="0">
                <a:ln>
                  <a:noFill/>
                </a:ln>
                <a:solidFill>
                  <a:srgbClr val="657B83"/>
                </a:solidFill>
                <a:effectLst/>
                <a:latin typeface="Consolas" panose="020B0609020204030204" pitchFamily="49" charset="0"/>
              </a:rPr>
              <a:t> </a:t>
            </a:r>
            <a:r>
              <a:rPr kumimoji="0" lang="es-ES" altLang="es-ES" sz="1000" b="0" i="0" u="none" strike="noStrike" cap="none" normalizeH="0" baseline="0" dirty="0" err="1">
                <a:ln>
                  <a:noFill/>
                </a:ln>
                <a:solidFill>
                  <a:srgbClr val="859900"/>
                </a:solidFill>
                <a:effectLst/>
                <a:latin typeface="Consolas" panose="020B0609020204030204" pitchFamily="49" charset="0"/>
              </a:rPr>
              <a:t>include</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2AA198"/>
                </a:solidFill>
                <a:effectLst/>
                <a:latin typeface="Consolas" panose="020B0609020204030204" pitchFamily="49" charset="0"/>
              </a:rPr>
              <a:t>"</a:t>
            </a:r>
            <a:r>
              <a:rPr kumimoji="0" lang="es-ES" altLang="es-ES" sz="1000" b="0" i="0" u="none" strike="noStrike" cap="none" normalizeH="0" baseline="0" dirty="0" err="1">
                <a:ln>
                  <a:noFill/>
                </a:ln>
                <a:solidFill>
                  <a:srgbClr val="2AA198"/>
                </a:solidFill>
                <a:effectLst/>
                <a:latin typeface="Consolas" panose="020B0609020204030204" pitchFamily="49" charset="0"/>
              </a:rPr>
              <a:t>libreria.php</a:t>
            </a:r>
            <a:r>
              <a:rPr kumimoji="0" lang="es-ES" altLang="es-ES" sz="1000" b="0" i="0" u="none" strike="noStrike" cap="none" normalizeH="0" baseline="0" dirty="0">
                <a:ln>
                  <a:noFill/>
                </a:ln>
                <a:solidFill>
                  <a:srgbClr val="2AA198"/>
                </a:solidFill>
                <a:effectLst/>
                <a:latin typeface="Consolas" panose="020B0609020204030204" pitchFamily="49" charset="0"/>
              </a:rPr>
              <a:t>"</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CB4B16"/>
                </a:solidFill>
                <a:effectLst/>
                <a:latin typeface="Consolas" panose="020B0609020204030204" pitchFamily="49" charset="0"/>
              </a:rPr>
              <a:t>$titulo</a:t>
            </a:r>
            <a:r>
              <a:rPr kumimoji="0" lang="es-ES" altLang="es-ES" sz="1000" b="0" i="0" u="none" strike="noStrike" cap="none" normalizeH="0" baseline="0" dirty="0">
                <a:ln>
                  <a:noFill/>
                </a:ln>
                <a:solidFill>
                  <a:srgbClr val="657B83"/>
                </a:solidFill>
                <a:effectLst/>
                <a:latin typeface="Consolas" panose="020B0609020204030204" pitchFamily="49" charset="0"/>
              </a:rPr>
              <a:t>=</a:t>
            </a:r>
            <a:r>
              <a:rPr kumimoji="0" lang="es-ES" altLang="es-ES" sz="1000" b="0" i="0" u="none" strike="noStrike" cap="none" normalizeH="0" baseline="0" dirty="0">
                <a:ln>
                  <a:noFill/>
                </a:ln>
                <a:solidFill>
                  <a:srgbClr val="2AA198"/>
                </a:solidFill>
                <a:effectLst/>
                <a:latin typeface="Consolas" panose="020B0609020204030204" pitchFamily="49" charset="0"/>
              </a:rPr>
              <a:t>"Mi Web"</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err="1">
                <a:ln>
                  <a:noFill/>
                </a:ln>
                <a:solidFill>
                  <a:srgbClr val="B58900"/>
                </a:solidFill>
                <a:effectLst/>
                <a:latin typeface="Consolas" panose="020B0609020204030204" pitchFamily="49" charset="0"/>
              </a:rPr>
              <a:t>hacer_encabezado</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CB4B16"/>
                </a:solidFill>
                <a:effectLst/>
                <a:latin typeface="Consolas" panose="020B0609020204030204" pitchFamily="49" charset="0"/>
              </a:rPr>
              <a:t>$titulo</a:t>
            </a:r>
            <a:r>
              <a:rPr kumimoji="0" lang="es-ES" altLang="es-ES" sz="1000" b="0" i="0" u="none" strike="noStrike" cap="none" normalizeH="0" baseline="0" dirty="0">
                <a:ln>
                  <a:noFill/>
                </a:ln>
                <a:solidFill>
                  <a:srgbClr val="586E75"/>
                </a:solidFill>
                <a:effectLst/>
                <a:latin typeface="Consolas" panose="020B0609020204030204" pitchFamily="49" charset="0"/>
              </a:rPr>
              <a: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1" i="0" u="none" strike="noStrike" cap="none" normalizeH="0" baseline="0" dirty="0">
                <a:ln>
                  <a:noFill/>
                </a:ln>
                <a:solidFill>
                  <a:srgbClr val="CB4B16"/>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657B83"/>
                </a:solidFill>
                <a:effectLst/>
                <a:latin typeface="Consolas" panose="020B0609020204030204" pitchFamily="49" charset="0"/>
              </a:rPr>
              <a:t> </a:t>
            </a: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body</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657B83"/>
                </a:solidFill>
                <a:effectLst/>
                <a:latin typeface="Consolas" panose="020B0609020204030204" pitchFamily="49" charset="0"/>
              </a:rPr>
              <a:t>El cuerpo de la página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body</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10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000" b="0" i="0" u="none" strike="noStrike" cap="none" normalizeH="0" baseline="0" dirty="0">
                <a:ln>
                  <a:noFill/>
                </a:ln>
                <a:solidFill>
                  <a:srgbClr val="586E75"/>
                </a:solidFill>
                <a:effectLst/>
                <a:latin typeface="Consolas" panose="020B0609020204030204" pitchFamily="49" charset="0"/>
              </a:rPr>
              <a:t>&lt;/</a:t>
            </a:r>
            <a:r>
              <a:rPr kumimoji="0" lang="es-ES" altLang="es-ES" sz="1000" b="0" i="0" u="none" strike="noStrike" cap="none" normalizeH="0" baseline="0" dirty="0" err="1">
                <a:ln>
                  <a:noFill/>
                </a:ln>
                <a:solidFill>
                  <a:srgbClr val="268BD2"/>
                </a:solidFill>
                <a:effectLst/>
                <a:latin typeface="Consolas" panose="020B0609020204030204" pitchFamily="49" charset="0"/>
              </a:rPr>
              <a:t>html</a:t>
            </a:r>
            <a:r>
              <a:rPr kumimoji="0" lang="es-ES" altLang="es-ES" sz="1000" b="0" i="0" u="none" strike="noStrike" cap="none" normalizeH="0" baseline="0" dirty="0">
                <a:ln>
                  <a:noFill/>
                </a:ln>
                <a:solidFill>
                  <a:srgbClr val="586E75"/>
                </a:solidFill>
                <a:effectLst/>
                <a:latin typeface="Consolas" panose="020B0609020204030204" pitchFamily="49" charset="0"/>
              </a:rPr>
              <a:t>&gt;</a:t>
            </a:r>
            <a:r>
              <a:rPr kumimoji="0" lang="es-ES" altLang="es-ES" sz="1000" b="0" i="0" u="none" strike="noStrike" cap="none" normalizeH="0" baseline="0" dirty="0">
                <a:ln>
                  <a:noFill/>
                </a:ln>
                <a:solidFill>
                  <a:schemeClr val="tx1"/>
                </a:solidFill>
                <a:effectLst/>
              </a:rPr>
              <a:t> </a:t>
            </a:r>
            <a:endParaRPr kumimoji="0" lang="es-ES" altLang="es-E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2782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23314"/>
            <a:ext cx="8856984" cy="857400"/>
          </a:xfrm>
        </p:spPr>
        <p:txBody>
          <a:bodyPr/>
          <a:lstStyle/>
          <a:p>
            <a:r>
              <a:rPr lang="es-ES" sz="3200" dirty="0">
                <a:solidFill>
                  <a:schemeClr val="bg2">
                    <a:lumMod val="25000"/>
                  </a:schemeClr>
                </a:solidFill>
                <a:latin typeface="Lato"/>
                <a:ea typeface="Lato"/>
                <a:cs typeface="Lato"/>
                <a:sym typeface="Lato"/>
              </a:rPr>
              <a:t>Bloque </a:t>
            </a:r>
            <a:r>
              <a:rPr lang="es-ES" sz="3200" dirty="0" err="1">
                <a:solidFill>
                  <a:schemeClr val="bg2">
                    <a:lumMod val="25000"/>
                  </a:schemeClr>
                </a:solidFill>
                <a:latin typeface="Lato"/>
                <a:ea typeface="Lato"/>
                <a:cs typeface="Lato"/>
                <a:sym typeface="Lato"/>
              </a:rPr>
              <a:t>elseif</a:t>
            </a:r>
            <a:endParaRPr lang="es-ES" sz="3200" dirty="0">
              <a:solidFill>
                <a:schemeClr val="bg2">
                  <a:lumMod val="25000"/>
                </a:schemeClr>
              </a:solidFill>
              <a:latin typeface="Lato"/>
              <a:ea typeface="Lato"/>
              <a:cs typeface="Lato"/>
              <a:sym typeface="Lato"/>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12</a:t>
            </a:fld>
            <a:endParaRPr lang="es-ES" dirty="0"/>
          </a:p>
        </p:txBody>
      </p:sp>
      <p:sp>
        <p:nvSpPr>
          <p:cNvPr id="12" name="CuadroTexto 11">
            <a:extLst>
              <a:ext uri="{FF2B5EF4-FFF2-40B4-BE49-F238E27FC236}">
                <a16:creationId xmlns:a16="http://schemas.microsoft.com/office/drawing/2014/main" id="{CF8AB5A5-D9A3-083A-CFA1-9C4FE1355C47}"/>
              </a:ext>
            </a:extLst>
          </p:cNvPr>
          <p:cNvSpPr txBox="1"/>
          <p:nvPr/>
        </p:nvSpPr>
        <p:spPr>
          <a:xfrm>
            <a:off x="353145" y="1080714"/>
            <a:ext cx="8136904" cy="1077218"/>
          </a:xfrm>
          <a:prstGeom prst="rect">
            <a:avLst/>
          </a:prstGeom>
          <a:noFill/>
        </p:spPr>
        <p:txBody>
          <a:bodyPr wrap="square">
            <a:spAutoFit/>
          </a:bodyPr>
          <a:lstStyle/>
          <a:p>
            <a:r>
              <a:rPr lang="es-ES" sz="1600" dirty="0">
                <a:solidFill>
                  <a:schemeClr val="dk1"/>
                </a:solidFill>
                <a:latin typeface="Lato"/>
                <a:ea typeface="Lato"/>
                <a:cs typeface="Lato"/>
                <a:sym typeface="Lato"/>
              </a:rPr>
              <a:t>El conjunto de instrucciones de la familia del </a:t>
            </a:r>
            <a:r>
              <a:rPr lang="es-ES" sz="1600" dirty="0" err="1">
                <a:solidFill>
                  <a:schemeClr val="dk1"/>
                </a:solidFill>
                <a:latin typeface="Lato"/>
                <a:ea typeface="Lato"/>
                <a:cs typeface="Lato"/>
                <a:sym typeface="Lato"/>
              </a:rPr>
              <a:t>if</a:t>
            </a:r>
            <a:r>
              <a:rPr lang="es-ES" sz="1600" dirty="0">
                <a:solidFill>
                  <a:schemeClr val="dk1"/>
                </a:solidFill>
                <a:latin typeface="Lato"/>
                <a:ea typeface="Lato"/>
                <a:cs typeface="Lato"/>
                <a:sym typeface="Lato"/>
              </a:rPr>
              <a:t> se completa con la instrucción </a:t>
            </a:r>
            <a:r>
              <a:rPr lang="es-ES" sz="1600" dirty="0" err="1">
                <a:solidFill>
                  <a:schemeClr val="dk1"/>
                </a:solidFill>
                <a:latin typeface="Lato"/>
                <a:ea typeface="Lato"/>
                <a:cs typeface="Lato"/>
                <a:sym typeface="Lato"/>
              </a:rPr>
              <a:t>elseif</a:t>
            </a:r>
            <a:r>
              <a:rPr lang="es-ES" sz="1600" dirty="0">
                <a:solidFill>
                  <a:schemeClr val="dk1"/>
                </a:solidFill>
                <a:latin typeface="Lato"/>
                <a:ea typeface="Lato"/>
                <a:cs typeface="Lato"/>
                <a:sym typeface="Lato"/>
              </a:rPr>
              <a:t>, que permite en una sola línea introducir una condición adicional. Es decir, en lugar de dos caminos, positivo y negativo, podemos introducir nuevos caminos que dependan de nuevas condiciones.</a:t>
            </a:r>
            <a:endParaRPr lang="es-ES" sz="1600" dirty="0">
              <a:solidFill>
                <a:schemeClr val="dk1"/>
              </a:solidFill>
              <a:latin typeface="Lato"/>
              <a:ea typeface="Lato"/>
              <a:cs typeface="Lato"/>
            </a:endParaRPr>
          </a:p>
        </p:txBody>
      </p:sp>
      <p:sp>
        <p:nvSpPr>
          <p:cNvPr id="3" name="Rectangle 1">
            <a:extLst>
              <a:ext uri="{FF2B5EF4-FFF2-40B4-BE49-F238E27FC236}">
                <a16:creationId xmlns:a16="http://schemas.microsoft.com/office/drawing/2014/main" id="{BCABFD88-5A42-F269-24E9-F5BAE494AFFB}"/>
              </a:ext>
            </a:extLst>
          </p:cNvPr>
          <p:cNvSpPr>
            <a:spLocks noChangeArrowheads="1"/>
          </p:cNvSpPr>
          <p:nvPr/>
        </p:nvSpPr>
        <p:spPr bwMode="auto">
          <a:xfrm>
            <a:off x="3419872" y="2127656"/>
            <a:ext cx="3168352" cy="237624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if</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condición1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elseif</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condición2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Instrucción </a:t>
            </a:r>
            <a:r>
              <a:rPr kumimoji="0" lang="es-ES" altLang="es-ES" sz="1200" b="0" i="0" u="none" strike="noStrike" cap="none" normalizeH="0" baseline="0" dirty="0">
                <a:ln>
                  <a:noFill/>
                </a:ln>
                <a:solidFill>
                  <a:srgbClr val="268BD2"/>
                </a:solidFill>
                <a:effectLst/>
                <a:latin typeface="Consolas" panose="020B0609020204030204" pitchFamily="49" charset="0"/>
              </a:rPr>
              <a:t>B</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else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X;</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222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223314"/>
            <a:ext cx="8856984" cy="857400"/>
          </a:xfrm>
        </p:spPr>
        <p:txBody>
          <a:bodyPr/>
          <a:lstStyle/>
          <a:p>
            <a:r>
              <a:rPr lang="es-ES" sz="3200" dirty="0">
                <a:solidFill>
                  <a:schemeClr val="bg2">
                    <a:lumMod val="25000"/>
                  </a:schemeClr>
                </a:solidFill>
                <a:latin typeface="Lato"/>
                <a:ea typeface="Lato"/>
                <a:cs typeface="Lato"/>
                <a:sym typeface="Lato"/>
              </a:rPr>
              <a:t>Anidación de condicionales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13</a:t>
            </a:fld>
            <a:endParaRPr lang="es-ES" dirty="0"/>
          </a:p>
        </p:txBody>
      </p:sp>
      <p:sp>
        <p:nvSpPr>
          <p:cNvPr id="12" name="CuadroTexto 11">
            <a:extLst>
              <a:ext uri="{FF2B5EF4-FFF2-40B4-BE49-F238E27FC236}">
                <a16:creationId xmlns:a16="http://schemas.microsoft.com/office/drawing/2014/main" id="{CF8AB5A5-D9A3-083A-CFA1-9C4FE1355C47}"/>
              </a:ext>
            </a:extLst>
          </p:cNvPr>
          <p:cNvSpPr txBox="1"/>
          <p:nvPr/>
        </p:nvSpPr>
        <p:spPr>
          <a:xfrm>
            <a:off x="174735" y="1347614"/>
            <a:ext cx="8625775" cy="1569660"/>
          </a:xfrm>
          <a:prstGeom prst="rect">
            <a:avLst/>
          </a:prstGeom>
          <a:noFill/>
        </p:spPr>
        <p:txBody>
          <a:bodyPr wrap="square">
            <a:spAutoFit/>
          </a:bodyPr>
          <a:lstStyle/>
          <a:p>
            <a:r>
              <a:rPr lang="es-ES" sz="1600" dirty="0">
                <a:solidFill>
                  <a:schemeClr val="dk1"/>
                </a:solidFill>
                <a:latin typeface="Lato"/>
                <a:ea typeface="Lato"/>
                <a:cs typeface="Lato"/>
                <a:sym typeface="Lato"/>
              </a:rPr>
              <a:t>Esta estructura de base puede complicarse un poco más si tenemos cuenta que no necesariamente todo es blanco o negro y que muchas posibilidades pueden darse. Es por ello que otras condiciones pueden plantearse dentro de la condición principal.</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Así que, en la práctica en los programas muchas veces tenemos condicionales anidados, que tendrían una estructura del siguiente tipo:</a:t>
            </a:r>
            <a:endParaRPr lang="es-ES" sz="1600" dirty="0">
              <a:solidFill>
                <a:schemeClr val="dk1"/>
              </a:solidFill>
              <a:latin typeface="Lato"/>
              <a:ea typeface="Lato"/>
              <a:cs typeface="Lato"/>
            </a:endParaRPr>
          </a:p>
        </p:txBody>
      </p:sp>
    </p:spTree>
    <p:extLst>
      <p:ext uri="{BB962C8B-B14F-4D97-AF65-F5344CB8AC3E}">
        <p14:creationId xmlns:p14="http://schemas.microsoft.com/office/powerpoint/2010/main" val="4031336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4B4631-A63E-707E-324E-3D4E8356D688}"/>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659E91BB-38EE-AFE7-999F-4F3B4ADDF7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7A74CCD-16A1-C6DF-DBC9-69E9CEF83E66}"/>
              </a:ext>
            </a:extLst>
          </p:cNvPr>
          <p:cNvSpPr>
            <a:spLocks noGrp="1"/>
          </p:cNvSpPr>
          <p:nvPr>
            <p:ph type="sldNum" idx="10"/>
          </p:nvPr>
        </p:nvSpPr>
        <p:spPr/>
        <p:txBody>
          <a:bodyPr/>
          <a:lstStyle/>
          <a:p>
            <a:fld id="{00000000-1234-1234-1234-123412341234}" type="slidenum">
              <a:rPr lang="es-ES" smtClean="0"/>
              <a:pPr/>
              <a:t>14</a:t>
            </a:fld>
            <a:endParaRPr lang="es-ES" dirty="0"/>
          </a:p>
        </p:txBody>
      </p:sp>
      <p:sp>
        <p:nvSpPr>
          <p:cNvPr id="7" name="Rectangle 1">
            <a:extLst>
              <a:ext uri="{FF2B5EF4-FFF2-40B4-BE49-F238E27FC236}">
                <a16:creationId xmlns:a16="http://schemas.microsoft.com/office/drawing/2014/main" id="{8FF5134B-8D5E-3AFE-951D-45D441A974A6}"/>
              </a:ext>
            </a:extLst>
          </p:cNvPr>
          <p:cNvSpPr>
            <a:spLocks noChangeArrowheads="1"/>
          </p:cNvSpPr>
          <p:nvPr/>
        </p:nvSpPr>
        <p:spPr bwMode="auto">
          <a:xfrm>
            <a:off x="1907704" y="1491630"/>
            <a:ext cx="3168352" cy="2745573"/>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if</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condición1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else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if</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condición2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B</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else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657B83"/>
                </a:solidFill>
                <a:effectLst/>
                <a:latin typeface="Consolas" panose="020B0609020204030204" pitchFamily="49" charset="0"/>
              </a:rPr>
              <a:t>Instrucción </a:t>
            </a:r>
            <a:r>
              <a:rPr kumimoji="0" lang="es-ES" altLang="es-ES" sz="1200" b="0" i="0" u="none" strike="noStrike" cap="none" normalizeH="0" baseline="0" dirty="0">
                <a:ln>
                  <a:noFill/>
                </a:ln>
                <a:solidFill>
                  <a:srgbClr val="268BD2"/>
                </a:solidFill>
                <a:effectLst/>
                <a:latin typeface="Consolas" panose="020B0609020204030204" pitchFamily="49" charset="0"/>
              </a:rPr>
              <a:t>X;</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2403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5089DA-7165-B1B7-39ED-76CF5EC58D4D}"/>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Ejemplo práctico de condicionales en PHP</a:t>
            </a:r>
            <a:endParaRPr lang="es-ES" dirty="0"/>
          </a:p>
        </p:txBody>
      </p:sp>
      <p:sp>
        <p:nvSpPr>
          <p:cNvPr id="3" name="Marcador de texto 2">
            <a:extLst>
              <a:ext uri="{FF2B5EF4-FFF2-40B4-BE49-F238E27FC236}">
                <a16:creationId xmlns:a16="http://schemas.microsoft.com/office/drawing/2014/main" id="{5A752D16-AE56-0003-7CE7-46AAA5D49658}"/>
              </a:ext>
            </a:extLst>
          </p:cNvPr>
          <p:cNvSpPr>
            <a:spLocks noGrp="1"/>
          </p:cNvSpPr>
          <p:nvPr>
            <p:ph type="body" idx="1"/>
          </p:nvPr>
        </p:nvSpPr>
        <p:spPr>
          <a:xfrm>
            <a:off x="893700" y="1373588"/>
            <a:ext cx="7926772" cy="3552300"/>
          </a:xfrm>
        </p:spPr>
        <p:txBody>
          <a:bodyPr/>
          <a:lstStyle/>
          <a:p>
            <a:pPr marL="114300" indent="0">
              <a:buNone/>
            </a:pPr>
            <a:r>
              <a:rPr lang="es-ES" sz="1800" dirty="0"/>
              <a:t>En este caso vamos comprobar con PHP si estamos en el primer día del mes, para luego mostrar un mensaje si eso ocurre.</a:t>
            </a:r>
          </a:p>
          <a:p>
            <a:pPr marL="114300" indent="0">
              <a:buNone/>
            </a:pPr>
            <a:endParaRPr lang="es-ES" sz="1800" dirty="0"/>
          </a:p>
          <a:p>
            <a:pPr marL="114300" indent="0">
              <a:buNone/>
            </a:pPr>
            <a:r>
              <a:rPr lang="es-ES" sz="1800" dirty="0"/>
              <a:t>Para poder saber el día del mes podemos utilizar la función date(). Esta función es muy básica y existen otras más complejas para trabajar con fechas en PHP, pero de ella podemos extraer mucha información del día actual.</a:t>
            </a:r>
          </a:p>
        </p:txBody>
      </p:sp>
      <p:sp>
        <p:nvSpPr>
          <p:cNvPr id="4" name="Marcador de número de diapositiva 3">
            <a:extLst>
              <a:ext uri="{FF2B5EF4-FFF2-40B4-BE49-F238E27FC236}">
                <a16:creationId xmlns:a16="http://schemas.microsoft.com/office/drawing/2014/main" id="{91D659D4-6E7A-837A-96EE-25B47D89D9C2}"/>
              </a:ext>
            </a:extLst>
          </p:cNvPr>
          <p:cNvSpPr>
            <a:spLocks noGrp="1"/>
          </p:cNvSpPr>
          <p:nvPr>
            <p:ph type="sldNum" idx="10"/>
          </p:nvPr>
        </p:nvSpPr>
        <p:spPr/>
        <p:txBody>
          <a:bodyPr/>
          <a:lstStyle/>
          <a:p>
            <a:fld id="{00000000-1234-1234-1234-123412341234}" type="slidenum">
              <a:rPr lang="es-ES" smtClean="0"/>
              <a:pPr/>
              <a:t>15</a:t>
            </a:fld>
            <a:endParaRPr lang="es-ES" dirty="0"/>
          </a:p>
        </p:txBody>
      </p:sp>
    </p:spTree>
    <p:extLst>
      <p:ext uri="{BB962C8B-B14F-4D97-AF65-F5344CB8AC3E}">
        <p14:creationId xmlns:p14="http://schemas.microsoft.com/office/powerpoint/2010/main" val="2861260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30B667-7FA7-E1E4-395F-5AFB81831049}"/>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D4EF9F4B-2514-46F9-CA3F-1FA558FF0FC7}"/>
              </a:ext>
            </a:extLst>
          </p:cNvPr>
          <p:cNvSpPr>
            <a:spLocks noGrp="1"/>
          </p:cNvSpPr>
          <p:nvPr>
            <p:ph type="body" idx="1"/>
          </p:nvPr>
        </p:nvSpPr>
        <p:spPr>
          <a:xfrm>
            <a:off x="251520" y="2667574"/>
            <a:ext cx="8568952" cy="1850082"/>
          </a:xfrm>
        </p:spPr>
        <p:txBody>
          <a:bodyPr/>
          <a:lstStyle/>
          <a:p>
            <a:pPr marL="114300" indent="0">
              <a:buNone/>
            </a:pPr>
            <a:r>
              <a:rPr lang="es-ES" sz="1600" dirty="0"/>
              <a:t>Estamos usando la función date('j') que nos da el día del mes sin ceros iniciales (por lo que obtendrás valores del 1 al 31). En el condicional se verifica si este día es el número 1, y si lo es, muestra el mensaje indicado.</a:t>
            </a:r>
          </a:p>
          <a:p>
            <a:pPr marL="114300" indent="0">
              <a:buNone/>
            </a:pPr>
            <a:endParaRPr lang="es-ES" sz="1600" dirty="0"/>
          </a:p>
          <a:p>
            <a:pPr marL="114300" indent="0">
              <a:buNone/>
            </a:pPr>
            <a:r>
              <a:rPr lang="es-ES" sz="1600" dirty="0"/>
              <a:t>Si quisieras mostrar un mensaje distinto en el caso que no sea el primer día del mes podrías usar el bloque </a:t>
            </a:r>
            <a:r>
              <a:rPr lang="es-ES" sz="1600" dirty="0" err="1"/>
              <a:t>else</a:t>
            </a:r>
            <a:r>
              <a:rPr lang="es-ES" sz="1600" dirty="0"/>
              <a:t>. Un ejemplo sería el siguiente:</a:t>
            </a:r>
          </a:p>
        </p:txBody>
      </p:sp>
      <p:sp>
        <p:nvSpPr>
          <p:cNvPr id="4" name="Marcador de número de diapositiva 3">
            <a:extLst>
              <a:ext uri="{FF2B5EF4-FFF2-40B4-BE49-F238E27FC236}">
                <a16:creationId xmlns:a16="http://schemas.microsoft.com/office/drawing/2014/main" id="{80F7C562-0E8C-F432-41FA-33C08A81C7CA}"/>
              </a:ext>
            </a:extLst>
          </p:cNvPr>
          <p:cNvSpPr>
            <a:spLocks noGrp="1"/>
          </p:cNvSpPr>
          <p:nvPr>
            <p:ph type="sldNum" idx="10"/>
          </p:nvPr>
        </p:nvSpPr>
        <p:spPr/>
        <p:txBody>
          <a:bodyPr/>
          <a:lstStyle/>
          <a:p>
            <a:fld id="{00000000-1234-1234-1234-123412341234}" type="slidenum">
              <a:rPr lang="es-ES" smtClean="0"/>
              <a:pPr/>
              <a:t>16</a:t>
            </a:fld>
            <a:endParaRPr lang="es-ES" dirty="0"/>
          </a:p>
        </p:txBody>
      </p:sp>
      <p:sp>
        <p:nvSpPr>
          <p:cNvPr id="5" name="Rectangle 1">
            <a:extLst>
              <a:ext uri="{FF2B5EF4-FFF2-40B4-BE49-F238E27FC236}">
                <a16:creationId xmlns:a16="http://schemas.microsoft.com/office/drawing/2014/main" id="{04B7595C-57C0-BB54-EF66-884CA33FE12B}"/>
              </a:ext>
            </a:extLst>
          </p:cNvPr>
          <p:cNvSpPr>
            <a:spLocks noChangeArrowheads="1"/>
          </p:cNvSpPr>
          <p:nvPr/>
        </p:nvSpPr>
        <p:spPr bwMode="auto">
          <a:xfrm>
            <a:off x="323528" y="902320"/>
            <a:ext cx="8249053" cy="145291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diaActual</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B58900"/>
                </a:solidFill>
                <a:effectLst/>
                <a:latin typeface="Consolas" panose="020B0609020204030204" pitchFamily="49" charset="0"/>
              </a:rPr>
              <a:t>date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'j'</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93A1A1"/>
                </a:solidFill>
                <a:effectLst/>
                <a:latin typeface="Consolas" panose="020B0609020204030204" pitchFamily="49" charset="0"/>
              </a:rPr>
              <a:t>// Obtiene el día del mes sin ceros iniciales (1 a 31)</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if</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diaActual</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68BD2"/>
                </a:solidFill>
                <a:effectLst/>
                <a:latin typeface="Consolas" panose="020B0609020204030204" pitchFamily="49" charset="0"/>
              </a:rPr>
              <a:t>1</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"¡Hoy es el primer día del mes!"</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54783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7AA70D-A5DC-7976-3A07-A110BC0045E8}"/>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BF4D537D-9579-16D3-FDD3-3F174B843B2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B209220-57E0-B353-0289-55A0D400A1E2}"/>
              </a:ext>
            </a:extLst>
          </p:cNvPr>
          <p:cNvSpPr>
            <a:spLocks noGrp="1"/>
          </p:cNvSpPr>
          <p:nvPr>
            <p:ph type="sldNum" idx="10"/>
          </p:nvPr>
        </p:nvSpPr>
        <p:spPr/>
        <p:txBody>
          <a:bodyPr/>
          <a:lstStyle/>
          <a:p>
            <a:fld id="{00000000-1234-1234-1234-123412341234}" type="slidenum">
              <a:rPr lang="es-ES" smtClean="0"/>
              <a:pPr/>
              <a:t>17</a:t>
            </a:fld>
            <a:endParaRPr lang="es-ES" dirty="0"/>
          </a:p>
        </p:txBody>
      </p:sp>
      <p:sp>
        <p:nvSpPr>
          <p:cNvPr id="7" name="Rectangle 1">
            <a:extLst>
              <a:ext uri="{FF2B5EF4-FFF2-40B4-BE49-F238E27FC236}">
                <a16:creationId xmlns:a16="http://schemas.microsoft.com/office/drawing/2014/main" id="{E2907AA7-0CAF-D739-1CAA-F292EDECD5F6}"/>
              </a:ext>
            </a:extLst>
          </p:cNvPr>
          <p:cNvSpPr>
            <a:spLocks noChangeArrowheads="1"/>
          </p:cNvSpPr>
          <p:nvPr/>
        </p:nvSpPr>
        <p:spPr bwMode="auto">
          <a:xfrm>
            <a:off x="755576" y="1858451"/>
            <a:ext cx="8249053" cy="188379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diaActual</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B58900"/>
                </a:solidFill>
                <a:effectLst/>
                <a:latin typeface="Consolas" panose="020B0609020204030204" pitchFamily="49" charset="0"/>
              </a:rPr>
              <a:t>date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'j'</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93A1A1"/>
                </a:solidFill>
                <a:effectLst/>
                <a:latin typeface="Consolas" panose="020B0609020204030204" pitchFamily="49" charset="0"/>
              </a:rPr>
              <a:t>// Obtiene el día del mes sin ceros iniciales (1 a 31)</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if</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diaActual</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68BD2"/>
                </a:solidFill>
                <a:effectLst/>
                <a:latin typeface="Consolas" panose="020B0609020204030204" pitchFamily="49" charset="0"/>
              </a:rPr>
              <a:t>1</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"¡Hoy es el primer día del mes!"</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else</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"No es el primer día del mes, sino el día </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diaActual</a:t>
            </a:r>
            <a:r>
              <a:rPr kumimoji="0" lang="es-ES" altLang="es-ES" b="0" i="0" u="none" strike="noStrike" cap="none" normalizeH="0" baseline="0" dirty="0">
                <a:ln>
                  <a:noFill/>
                </a:ln>
                <a:solidFill>
                  <a:srgbClr val="2AA198"/>
                </a:solidFill>
                <a:effectLst/>
                <a:latin typeface="Consolas" panose="020B0609020204030204" pitchFamily="49" charset="0"/>
              </a:rPr>
              <a: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419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6AC5F-1333-EA97-820B-7D573C63822A}"/>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4495B136-35D1-560B-BBB3-018B11AC2C2D}"/>
              </a:ext>
            </a:extLst>
          </p:cNvPr>
          <p:cNvSpPr>
            <a:spLocks noGrp="1"/>
          </p:cNvSpPr>
          <p:nvPr>
            <p:ph type="body" idx="1"/>
          </p:nvPr>
        </p:nvSpPr>
        <p:spPr>
          <a:xfrm>
            <a:off x="893700" y="1373588"/>
            <a:ext cx="7870338" cy="3552300"/>
          </a:xfrm>
        </p:spPr>
        <p:txBody>
          <a:bodyPr/>
          <a:lstStyle/>
          <a:p>
            <a:r>
              <a:rPr lang="es-ES" sz="1800" dirty="0"/>
              <a:t>Ahora vamos a ver otro ejemplo de condicional un poco más complejo. El siguiente programa permitiría detectar la lengua empleada por el navegador y visualizar un mensaje en dicha lengua.</a:t>
            </a:r>
          </a:p>
        </p:txBody>
      </p:sp>
      <p:sp>
        <p:nvSpPr>
          <p:cNvPr id="4" name="Marcador de número de diapositiva 3">
            <a:extLst>
              <a:ext uri="{FF2B5EF4-FFF2-40B4-BE49-F238E27FC236}">
                <a16:creationId xmlns:a16="http://schemas.microsoft.com/office/drawing/2014/main" id="{573820BB-979A-F226-E9FF-ECC91382EC4C}"/>
              </a:ext>
            </a:extLst>
          </p:cNvPr>
          <p:cNvSpPr>
            <a:spLocks noGrp="1"/>
          </p:cNvSpPr>
          <p:nvPr>
            <p:ph type="sldNum" idx="10"/>
          </p:nvPr>
        </p:nvSpPr>
        <p:spPr/>
        <p:txBody>
          <a:bodyPr/>
          <a:lstStyle/>
          <a:p>
            <a:fld id="{00000000-1234-1234-1234-123412341234}" type="slidenum">
              <a:rPr lang="es-ES" smtClean="0"/>
              <a:pPr/>
              <a:t>18</a:t>
            </a:fld>
            <a:endParaRPr lang="es-ES" dirty="0"/>
          </a:p>
        </p:txBody>
      </p:sp>
    </p:spTree>
    <p:extLst>
      <p:ext uri="{BB962C8B-B14F-4D97-AF65-F5344CB8AC3E}">
        <p14:creationId xmlns:p14="http://schemas.microsoft.com/office/powerpoint/2010/main" val="2830840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071491-2AF3-E4B9-78A4-07C79A55D0E5}"/>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ED2E4FF1-788D-0379-CF2D-68BD37AB848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083ED3F-C1C2-9DEE-5079-CA7918320B63}"/>
              </a:ext>
            </a:extLst>
          </p:cNvPr>
          <p:cNvSpPr>
            <a:spLocks noGrp="1"/>
          </p:cNvSpPr>
          <p:nvPr>
            <p:ph type="sldNum" idx="10"/>
          </p:nvPr>
        </p:nvSpPr>
        <p:spPr/>
        <p:txBody>
          <a:bodyPr/>
          <a:lstStyle/>
          <a:p>
            <a:fld id="{00000000-1234-1234-1234-123412341234}" type="slidenum">
              <a:rPr lang="es-ES" smtClean="0"/>
              <a:pPr/>
              <a:t>19</a:t>
            </a:fld>
            <a:endParaRPr lang="es-ES" dirty="0"/>
          </a:p>
        </p:txBody>
      </p:sp>
      <p:sp>
        <p:nvSpPr>
          <p:cNvPr id="5" name="Rectangle 1">
            <a:extLst>
              <a:ext uri="{FF2B5EF4-FFF2-40B4-BE49-F238E27FC236}">
                <a16:creationId xmlns:a16="http://schemas.microsoft.com/office/drawing/2014/main" id="{F74132F0-15F0-E602-04B3-FFD0AEC5302B}"/>
              </a:ext>
            </a:extLst>
          </p:cNvPr>
          <p:cNvSpPr>
            <a:spLocks noChangeArrowheads="1"/>
          </p:cNvSpPr>
          <p:nvPr/>
        </p:nvSpPr>
        <p:spPr bwMode="auto">
          <a:xfrm>
            <a:off x="1115616" y="123478"/>
            <a:ext cx="5607304" cy="440756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&lt;</a:t>
            </a:r>
            <a:r>
              <a:rPr kumimoji="0" lang="es-ES" altLang="es-ES" sz="1200" b="0" i="0" u="none" strike="noStrike" cap="none" normalizeH="0" baseline="0" dirty="0">
                <a:ln>
                  <a:noFill/>
                </a:ln>
                <a:solidFill>
                  <a:srgbClr val="268BD2"/>
                </a:solidFill>
                <a:effectLst/>
                <a:latin typeface="Consolas" panose="020B0609020204030204" pitchFamily="49" charset="0"/>
              </a:rPr>
              <a:t>HTML</a:t>
            </a:r>
            <a:r>
              <a:rPr kumimoji="0" lang="es-ES" altLang="es-ES" sz="1200" b="0" i="0" u="none" strike="noStrike" cap="none" normalizeH="0" baseline="0" dirty="0">
                <a:ln>
                  <a:noFill/>
                </a:ln>
                <a:solidFill>
                  <a:srgbClr val="586E75"/>
                </a:solidFill>
                <a:effectLst/>
                <a:latin typeface="Consolas" panose="020B0609020204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 &lt;</a:t>
            </a:r>
            <a:r>
              <a:rPr kumimoji="0" lang="es-ES" altLang="es-ES" sz="1200" b="0" i="0" u="none" strike="noStrike" cap="none" normalizeH="0" baseline="0" dirty="0">
                <a:ln>
                  <a:noFill/>
                </a:ln>
                <a:solidFill>
                  <a:srgbClr val="268BD2"/>
                </a:solidFill>
                <a:effectLst/>
                <a:latin typeface="Consolas" panose="020B0609020204030204" pitchFamily="49" charset="0"/>
              </a:rPr>
              <a:t>HEAD</a:t>
            </a:r>
            <a:r>
              <a:rPr kumimoji="0" lang="es-ES" altLang="es-ES" sz="1200" b="0" i="0" u="none" strike="noStrike" cap="none" normalizeH="0" baseline="0" dirty="0">
                <a:ln>
                  <a:noFill/>
                </a:ln>
                <a:solidFill>
                  <a:srgbClr val="586E75"/>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  &lt;</a:t>
            </a:r>
            <a:r>
              <a:rPr kumimoji="0" lang="es-ES" altLang="es-ES" sz="1200" b="0" i="0" u="none" strike="noStrike" cap="none" normalizeH="0" baseline="0" dirty="0">
                <a:ln>
                  <a:noFill/>
                </a:ln>
                <a:solidFill>
                  <a:srgbClr val="268BD2"/>
                </a:solidFill>
                <a:effectLst/>
                <a:latin typeface="Consolas" panose="020B0609020204030204" pitchFamily="49" charset="0"/>
              </a:rPr>
              <a:t>TITLE</a:t>
            </a:r>
            <a:r>
              <a:rPr kumimoji="0" lang="es-ES" altLang="es-ES" sz="1200" b="0" i="0" u="none" strike="noStrike" cap="none" normalizeH="0" baseline="0" dirty="0">
                <a:ln>
                  <a:noFill/>
                </a:ln>
                <a:solidFill>
                  <a:srgbClr val="586E75"/>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Detector de idioma</a:t>
            </a:r>
            <a:r>
              <a:rPr kumimoji="0" lang="es-ES" altLang="es-ES" sz="1200" b="0" i="0" u="none" strike="noStrike" cap="none" normalizeH="0" baseline="0" dirty="0">
                <a:ln>
                  <a:noFill/>
                </a:ln>
                <a:solidFill>
                  <a:srgbClr val="586E75"/>
                </a:solidFill>
                <a:effectLst/>
                <a:latin typeface="Consolas" panose="020B0609020204030204" pitchFamily="49" charset="0"/>
              </a:rPr>
              <a:t>&lt;/</a:t>
            </a:r>
            <a:r>
              <a:rPr kumimoji="0" lang="es-ES" altLang="es-ES" sz="1200" b="0" i="0" u="none" strike="noStrike" cap="none" normalizeH="0" baseline="0" dirty="0">
                <a:ln>
                  <a:noFill/>
                </a:ln>
                <a:solidFill>
                  <a:srgbClr val="268BD2"/>
                </a:solidFill>
                <a:effectLst/>
                <a:latin typeface="Consolas" panose="020B0609020204030204" pitchFamily="49" charset="0"/>
              </a:rPr>
              <a:t>TITLE</a:t>
            </a:r>
            <a:r>
              <a:rPr kumimoji="0" lang="es-ES" altLang="es-ES" sz="1200" b="0" i="0" u="none" strike="noStrike" cap="none" normalizeH="0" baseline="0" dirty="0">
                <a:ln>
                  <a:noFill/>
                </a:ln>
                <a:solidFill>
                  <a:srgbClr val="586E75"/>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  &lt;/</a:t>
            </a:r>
            <a:r>
              <a:rPr kumimoji="0" lang="es-ES" altLang="es-ES" sz="1200" b="0" i="0" u="none" strike="noStrike" cap="none" normalizeH="0" baseline="0" dirty="0">
                <a:ln>
                  <a:noFill/>
                </a:ln>
                <a:solidFill>
                  <a:srgbClr val="268BD2"/>
                </a:solidFill>
                <a:effectLst/>
                <a:latin typeface="Consolas" panose="020B0609020204030204" pitchFamily="49" charset="0"/>
              </a:rPr>
              <a:t>HEAD</a:t>
            </a:r>
            <a:r>
              <a:rPr kumimoji="0" lang="es-ES" altLang="es-ES" sz="1200" b="0" i="0" u="none" strike="noStrike" cap="none" normalizeH="0" baseline="0" dirty="0">
                <a:ln>
                  <a:noFill/>
                </a:ln>
                <a:solidFill>
                  <a:srgbClr val="586E75"/>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&lt;</a:t>
            </a:r>
            <a:r>
              <a:rPr kumimoji="0" lang="es-ES" altLang="es-ES" sz="1200" b="0" i="0" u="none" strike="noStrike" cap="none" normalizeH="0" baseline="0" dirty="0">
                <a:ln>
                  <a:noFill/>
                </a:ln>
                <a:solidFill>
                  <a:srgbClr val="268BD2"/>
                </a:solidFill>
                <a:effectLst/>
                <a:latin typeface="Consolas" panose="020B0609020204030204" pitchFamily="49" charset="0"/>
              </a:rPr>
              <a:t>BODY</a:t>
            </a:r>
            <a:r>
              <a:rPr kumimoji="0" lang="es-ES" altLang="es-ES" sz="1200" b="0" i="0" u="none" strike="noStrike" cap="none" normalizeH="0" baseline="0" dirty="0">
                <a:ln>
                  <a:noFill/>
                </a:ln>
                <a:solidFill>
                  <a:srgbClr val="586E75"/>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1" i="0" u="none" strike="noStrike" cap="none" normalizeH="0" baseline="0" dirty="0">
                <a:ln>
                  <a:noFill/>
                </a:ln>
                <a:solidFill>
                  <a:srgbClr val="CB4B16"/>
                </a:solidFill>
                <a:effectLst/>
                <a:latin typeface="Consolas" panose="020B0609020204030204" pitchFamily="49" charset="0"/>
              </a:rPr>
              <a:t>&lt;?</a:t>
            </a:r>
            <a:r>
              <a:rPr kumimoji="0" lang="es-ES" altLang="es-ES" sz="1200" b="1" i="0" u="none" strike="noStrike" cap="none" normalizeH="0" baseline="0" dirty="0" err="1">
                <a:ln>
                  <a:noFill/>
                </a:ln>
                <a:solidFill>
                  <a:srgbClr val="CB4B16"/>
                </a:solidFill>
                <a:effectLst/>
                <a:latin typeface="Consolas" panose="020B0609020204030204" pitchFamily="49" charset="0"/>
              </a:rPr>
              <a:t>php</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//Antes de nada introducimos mensajes en forma de variables</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espanol</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AA198"/>
                </a:solidFill>
                <a:effectLst/>
                <a:latin typeface="Consolas" panose="020B0609020204030204" pitchFamily="49" charset="0"/>
              </a:rPr>
              <a:t>"Hola"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$ingles</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err="1">
                <a:ln>
                  <a:noFill/>
                </a:ln>
                <a:solidFill>
                  <a:srgbClr val="2AA198"/>
                </a:solidFill>
                <a:effectLst/>
                <a:latin typeface="Consolas" panose="020B0609020204030204" pitchFamily="49" charset="0"/>
              </a:rPr>
              <a:t>Hello</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frances</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err="1">
                <a:ln>
                  <a:noFill/>
                </a:ln>
                <a:solidFill>
                  <a:srgbClr val="2AA198"/>
                </a:solidFill>
                <a:effectLst/>
                <a:latin typeface="Consolas" panose="020B0609020204030204" pitchFamily="49" charset="0"/>
              </a:rPr>
              <a:t>Bonjour</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//Ahora leemos del navegador cuál es su lengua oficial</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$idioma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err="1">
                <a:ln>
                  <a:noFill/>
                </a:ln>
                <a:solidFill>
                  <a:srgbClr val="B58900"/>
                </a:solidFill>
                <a:effectLst/>
                <a:latin typeface="Consolas" panose="020B0609020204030204" pitchFamily="49" charset="0"/>
              </a:rPr>
              <a:t>substr</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$_SERVER</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"HTTP_ACCEPT_LANGUAGE"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68BD2"/>
                </a:solidFill>
                <a:effectLst/>
                <a:latin typeface="Consolas" panose="020B0609020204030204" pitchFamily="49" charset="0"/>
              </a:rPr>
              <a:t>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68BD2"/>
                </a:solidFill>
                <a:effectLst/>
                <a:latin typeface="Consolas" panose="020B0609020204030204" pitchFamily="49" charset="0"/>
              </a:rPr>
              <a:t>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//Formulamos las posibilidades que se pueden dar</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if</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$idioma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AA198"/>
                </a:solidFill>
                <a:effectLst/>
                <a:latin typeface="Consolas" panose="020B0609020204030204" pitchFamily="49" charset="0"/>
              </a:rPr>
              <a:t>"es"</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espanol</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elseif</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$idioma</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err="1">
                <a:ln>
                  <a:noFill/>
                </a:ln>
                <a:solidFill>
                  <a:srgbClr val="2AA198"/>
                </a:solidFill>
                <a:effectLst/>
                <a:latin typeface="Consolas" panose="020B0609020204030204" pitchFamily="49" charset="0"/>
              </a:rPr>
              <a:t>fr</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frances</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else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$ingles</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1" i="0" u="none" strike="noStrike" cap="none" normalizeH="0" baseline="0" dirty="0">
                <a:ln>
                  <a:noFill/>
                </a:ln>
                <a:solidFill>
                  <a:srgbClr val="CB4B16"/>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  &lt;/</a:t>
            </a:r>
            <a:r>
              <a:rPr kumimoji="0" lang="es-ES" altLang="es-ES" sz="1200" b="0" i="0" u="none" strike="noStrike" cap="none" normalizeH="0" baseline="0" dirty="0">
                <a:ln>
                  <a:noFill/>
                </a:ln>
                <a:solidFill>
                  <a:srgbClr val="268BD2"/>
                </a:solidFill>
                <a:effectLst/>
                <a:latin typeface="Consolas" panose="020B0609020204030204" pitchFamily="49" charset="0"/>
              </a:rPr>
              <a:t>BODY</a:t>
            </a:r>
            <a:r>
              <a:rPr kumimoji="0" lang="es-ES" altLang="es-ES" sz="1200" b="0" i="0" u="none" strike="noStrike" cap="none" normalizeH="0" baseline="0" dirty="0">
                <a:ln>
                  <a:noFill/>
                </a:ln>
                <a:solidFill>
                  <a:srgbClr val="586E75"/>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&lt;/</a:t>
            </a:r>
            <a:r>
              <a:rPr kumimoji="0" lang="es-ES" altLang="es-ES" sz="1200" b="0" i="0" u="none" strike="noStrike" cap="none" normalizeH="0" baseline="0" dirty="0">
                <a:ln>
                  <a:noFill/>
                </a:ln>
                <a:solidFill>
                  <a:srgbClr val="268BD2"/>
                </a:solidFill>
                <a:effectLst/>
                <a:latin typeface="Consolas" panose="020B0609020204030204" pitchFamily="49" charset="0"/>
              </a:rPr>
              <a:t>HTML</a:t>
            </a:r>
            <a:r>
              <a:rPr kumimoji="0" lang="es-ES" altLang="es-ES" sz="1200" b="0" i="0" u="none" strike="noStrike" cap="none" normalizeH="0" baseline="0" dirty="0">
                <a:ln>
                  <a:noFill/>
                </a:ln>
                <a:solidFill>
                  <a:srgbClr val="586E75"/>
                </a:solidFill>
                <a:effectLst/>
                <a:latin typeface="Consolas" panose="020B0609020204030204" pitchFamily="49" charset="0"/>
              </a:rPr>
              <a:t>&gt;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22054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9D748FCA-A8F9-FC30-773F-069BB97CA344}"/>
              </a:ext>
            </a:extLst>
          </p:cNvPr>
          <p:cNvSpPr>
            <a:spLocks noGrp="1"/>
          </p:cNvSpPr>
          <p:nvPr>
            <p:ph type="body" idx="1"/>
          </p:nvPr>
        </p:nvSpPr>
        <p:spPr>
          <a:xfrm>
            <a:off x="179512" y="483518"/>
            <a:ext cx="8712968" cy="3552300"/>
          </a:xfrm>
        </p:spPr>
        <p:txBody>
          <a:bodyPr/>
          <a:lstStyle/>
          <a:p>
            <a:r>
              <a:rPr lang="es-ES" sz="1600" dirty="0"/>
              <a:t>Para leer la lengua aceptada por el navegador lo que hacemos es definir una variable ($idioma) y, mediante la función </a:t>
            </a:r>
            <a:r>
              <a:rPr lang="es-ES" sz="1600" dirty="0" err="1"/>
              <a:t>substr</a:t>
            </a:r>
            <a:r>
              <a:rPr lang="es-ES" sz="1600" dirty="0"/>
              <a:t>, recogemos las dos primeras letras del código correspondiente al idioma aceptado por el navegador ($_SERVER["HTTP_ACCEPT_LANGUAGE"]).</a:t>
            </a:r>
          </a:p>
          <a:p>
            <a:endParaRPr lang="es-ES" sz="1600" dirty="0"/>
          </a:p>
          <a:p>
            <a:r>
              <a:rPr lang="es-ES" sz="1600" dirty="0"/>
              <a:t>La tercera parte de script se encarga de ver si el navegador está en español (es), francés (</a:t>
            </a:r>
            <a:r>
              <a:rPr lang="es-ES" sz="1600" dirty="0" err="1"/>
              <a:t>fr</a:t>
            </a:r>
            <a:r>
              <a:rPr lang="es-ES" sz="1600" dirty="0"/>
              <a:t>) o en cualquier otro idioma que no sea ninguno de estos dos y de imprimir el mensaje que proceda en cada caso.</a:t>
            </a:r>
          </a:p>
          <a:p>
            <a:endParaRPr lang="es-ES" sz="1600" dirty="0"/>
          </a:p>
          <a:p>
            <a:r>
              <a:rPr lang="es-ES" sz="1600" dirty="0"/>
              <a:t>Es muy importante notar que, cuando se trata de comparar variables, ponemos un doble igual "==" en lugar de un simple "=". Recuerda siempre que el doble igual es para comparar y el igual simple se usa exclusivamente para asignar valores a variables.</a:t>
            </a:r>
          </a:p>
        </p:txBody>
      </p:sp>
      <p:sp>
        <p:nvSpPr>
          <p:cNvPr id="4" name="Marcador de número de diapositiva 3">
            <a:extLst>
              <a:ext uri="{FF2B5EF4-FFF2-40B4-BE49-F238E27FC236}">
                <a16:creationId xmlns:a16="http://schemas.microsoft.com/office/drawing/2014/main" id="{263CFEF1-206E-EE04-2991-0C6193FD2202}"/>
              </a:ext>
            </a:extLst>
          </p:cNvPr>
          <p:cNvSpPr>
            <a:spLocks noGrp="1"/>
          </p:cNvSpPr>
          <p:nvPr>
            <p:ph type="sldNum" idx="10"/>
          </p:nvPr>
        </p:nvSpPr>
        <p:spPr/>
        <p:txBody>
          <a:bodyPr/>
          <a:lstStyle/>
          <a:p>
            <a:fld id="{00000000-1234-1234-1234-123412341234}" type="slidenum">
              <a:rPr lang="es-ES" smtClean="0"/>
              <a:pPr/>
              <a:t>20</a:t>
            </a:fld>
            <a:endParaRPr lang="es-ES" dirty="0"/>
          </a:p>
        </p:txBody>
      </p:sp>
    </p:spTree>
    <p:extLst>
      <p:ext uri="{BB962C8B-B14F-4D97-AF65-F5344CB8AC3E}">
        <p14:creationId xmlns:p14="http://schemas.microsoft.com/office/powerpoint/2010/main" val="3736311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2.</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b="0" dirty="0">
                <a:solidFill>
                  <a:schemeClr val="accent2"/>
                </a:solidFill>
                <a:latin typeface="Raleway"/>
                <a:sym typeface="Raleway"/>
              </a:rPr>
              <a:t>Paso de parámetros en funciones PHP</a:t>
            </a:r>
          </a:p>
          <a:p>
            <a:endParaRPr lang="es-ES" dirty="0"/>
          </a:p>
        </p:txBody>
      </p:sp>
    </p:spTree>
    <p:extLst>
      <p:ext uri="{BB962C8B-B14F-4D97-AF65-F5344CB8AC3E}">
        <p14:creationId xmlns:p14="http://schemas.microsoft.com/office/powerpoint/2010/main" val="1213823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FE46F-5C5F-42E4-0EE0-DCA8DD93D77D}"/>
              </a:ext>
            </a:extLst>
          </p:cNvPr>
          <p:cNvSpPr>
            <a:spLocks noGrp="1"/>
          </p:cNvSpPr>
          <p:nvPr>
            <p:ph type="title"/>
          </p:nvPr>
        </p:nvSpPr>
        <p:spPr>
          <a:xfrm>
            <a:off x="323528" y="358388"/>
            <a:ext cx="8568952" cy="857400"/>
          </a:xfrm>
        </p:spPr>
        <p:txBody>
          <a:bodyPr/>
          <a:lstStyle/>
          <a:p>
            <a:endParaRPr lang="es-ES" dirty="0"/>
          </a:p>
        </p:txBody>
      </p:sp>
      <p:sp>
        <p:nvSpPr>
          <p:cNvPr id="3" name="Marcador de texto 2">
            <a:extLst>
              <a:ext uri="{FF2B5EF4-FFF2-40B4-BE49-F238E27FC236}">
                <a16:creationId xmlns:a16="http://schemas.microsoft.com/office/drawing/2014/main" id="{B1014993-C5BC-6AF9-01D2-3AF47E53C390}"/>
              </a:ext>
            </a:extLst>
          </p:cNvPr>
          <p:cNvSpPr>
            <a:spLocks noGrp="1"/>
          </p:cNvSpPr>
          <p:nvPr>
            <p:ph type="body" idx="1"/>
          </p:nvPr>
        </p:nvSpPr>
        <p:spPr>
          <a:xfrm>
            <a:off x="323528" y="1373588"/>
            <a:ext cx="8568952" cy="3552300"/>
          </a:xfrm>
        </p:spPr>
        <p:txBody>
          <a:bodyPr/>
          <a:lstStyle/>
          <a:p>
            <a:r>
              <a:rPr lang="es-ES" sz="1800" dirty="0"/>
              <a:t>Hablaremos sobre los parámetros en las funciones, ya que hay mucho más que decir para abarcar todas las posibilidades de PHP: </a:t>
            </a:r>
          </a:p>
          <a:p>
            <a:endParaRPr lang="es-ES" sz="1800" dirty="0"/>
          </a:p>
          <a:p>
            <a:r>
              <a:rPr lang="es-ES" sz="1800" dirty="0"/>
              <a:t>el paso de parámetros por valor, </a:t>
            </a:r>
          </a:p>
          <a:p>
            <a:r>
              <a:rPr lang="es-ES" sz="1800" dirty="0"/>
              <a:t>paso por referencia, </a:t>
            </a:r>
          </a:p>
          <a:p>
            <a:r>
              <a:rPr lang="es-ES" sz="1800" dirty="0"/>
              <a:t>los valores predeterminados, </a:t>
            </a:r>
          </a:p>
          <a:p>
            <a:r>
              <a:rPr lang="es-ES" sz="1800" dirty="0"/>
              <a:t>etc.</a:t>
            </a:r>
          </a:p>
        </p:txBody>
      </p:sp>
      <p:sp>
        <p:nvSpPr>
          <p:cNvPr id="4" name="Marcador de número de diapositiva 3">
            <a:extLst>
              <a:ext uri="{FF2B5EF4-FFF2-40B4-BE49-F238E27FC236}">
                <a16:creationId xmlns:a16="http://schemas.microsoft.com/office/drawing/2014/main" id="{B084EE17-E59F-9057-41C3-47CB1C7FB1AA}"/>
              </a:ext>
            </a:extLst>
          </p:cNvPr>
          <p:cNvSpPr>
            <a:spLocks noGrp="1"/>
          </p:cNvSpPr>
          <p:nvPr>
            <p:ph type="sldNum" idx="10"/>
          </p:nvPr>
        </p:nvSpPr>
        <p:spPr/>
        <p:txBody>
          <a:bodyPr/>
          <a:lstStyle/>
          <a:p>
            <a:fld id="{00000000-1234-1234-1234-123412341234}" type="slidenum">
              <a:rPr lang="es-ES" smtClean="0"/>
              <a:pPr/>
              <a:t>22</a:t>
            </a:fld>
            <a:endParaRPr lang="es-ES" dirty="0"/>
          </a:p>
        </p:txBody>
      </p:sp>
    </p:spTree>
    <p:extLst>
      <p:ext uri="{BB962C8B-B14F-4D97-AF65-F5344CB8AC3E}">
        <p14:creationId xmlns:p14="http://schemas.microsoft.com/office/powerpoint/2010/main" val="636686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9FFDA0-A287-AFF7-91E4-37C5A71C890C}"/>
              </a:ext>
            </a:extLst>
          </p:cNvPr>
          <p:cNvSpPr>
            <a:spLocks noGrp="1"/>
          </p:cNvSpPr>
          <p:nvPr>
            <p:ph type="title"/>
          </p:nvPr>
        </p:nvSpPr>
        <p:spPr>
          <a:xfrm>
            <a:off x="251520" y="358388"/>
            <a:ext cx="8712968" cy="857400"/>
          </a:xfrm>
        </p:spPr>
        <p:txBody>
          <a:bodyPr/>
          <a:lstStyle/>
          <a:p>
            <a:pPr algn="l"/>
            <a:r>
              <a:rPr lang="es-ES" b="0" i="0" dirty="0">
                <a:solidFill>
                  <a:srgbClr val="000000"/>
                </a:solidFill>
                <a:effectLst/>
                <a:latin typeface="Roboto" panose="02000000000000000000" pitchFamily="2" charset="0"/>
              </a:rPr>
              <a:t>Paso de parámetros</a:t>
            </a:r>
          </a:p>
        </p:txBody>
      </p:sp>
      <p:sp>
        <p:nvSpPr>
          <p:cNvPr id="3" name="Marcador de texto 2">
            <a:extLst>
              <a:ext uri="{FF2B5EF4-FFF2-40B4-BE49-F238E27FC236}">
                <a16:creationId xmlns:a16="http://schemas.microsoft.com/office/drawing/2014/main" id="{8248F34A-677B-8599-E8E2-7AFBDAD94672}"/>
              </a:ext>
            </a:extLst>
          </p:cNvPr>
          <p:cNvSpPr>
            <a:spLocks noGrp="1"/>
          </p:cNvSpPr>
          <p:nvPr>
            <p:ph type="body" idx="1"/>
          </p:nvPr>
        </p:nvSpPr>
        <p:spPr>
          <a:xfrm>
            <a:off x="107504" y="1232811"/>
            <a:ext cx="8656534" cy="3552300"/>
          </a:xfrm>
        </p:spPr>
        <p:txBody>
          <a:bodyPr/>
          <a:lstStyle/>
          <a:p>
            <a:r>
              <a:rPr lang="es-ES" sz="1600" dirty="0"/>
              <a:t>Los parámetros son los datos que reciben las funciones y que utilizan para realizar las operaciones de esa función. Una función puede recibir cualquier número de parámetros, incluso ninguno.</a:t>
            </a:r>
          </a:p>
          <a:p>
            <a:endParaRPr lang="es-ES" sz="1600" dirty="0"/>
          </a:p>
          <a:p>
            <a:r>
              <a:rPr lang="es-ES" sz="1600" dirty="0"/>
              <a:t>Si la función que estamos construyendo no necesita recibir ningún parámetro, al declararla, simplemente indicamos los paréntesis vacíos en la cabecera. Por ejemplo en la siguiente función mostramos la fecha del día de hoy. Para ello nos apoyamos en otra función incluida en PHP: date().</a:t>
            </a:r>
          </a:p>
        </p:txBody>
      </p:sp>
      <p:sp>
        <p:nvSpPr>
          <p:cNvPr id="4" name="Marcador de número de diapositiva 3">
            <a:extLst>
              <a:ext uri="{FF2B5EF4-FFF2-40B4-BE49-F238E27FC236}">
                <a16:creationId xmlns:a16="http://schemas.microsoft.com/office/drawing/2014/main" id="{E6A00363-BBF8-CB92-C57B-7677FD8623E3}"/>
              </a:ext>
            </a:extLst>
          </p:cNvPr>
          <p:cNvSpPr>
            <a:spLocks noGrp="1"/>
          </p:cNvSpPr>
          <p:nvPr>
            <p:ph type="sldNum" idx="10"/>
          </p:nvPr>
        </p:nvSpPr>
        <p:spPr/>
        <p:txBody>
          <a:bodyPr/>
          <a:lstStyle/>
          <a:p>
            <a:fld id="{00000000-1234-1234-1234-123412341234}" type="slidenum">
              <a:rPr lang="es-ES" smtClean="0"/>
              <a:pPr/>
              <a:t>23</a:t>
            </a:fld>
            <a:endParaRPr lang="es-ES" dirty="0"/>
          </a:p>
        </p:txBody>
      </p:sp>
      <p:sp>
        <p:nvSpPr>
          <p:cNvPr id="5" name="Rectangle 1">
            <a:extLst>
              <a:ext uri="{FF2B5EF4-FFF2-40B4-BE49-F238E27FC236}">
                <a16:creationId xmlns:a16="http://schemas.microsoft.com/office/drawing/2014/main" id="{CF815110-877A-FA8A-449B-32A655F3E0EA}"/>
              </a:ext>
            </a:extLst>
          </p:cNvPr>
          <p:cNvSpPr>
            <a:spLocks noChangeArrowheads="1"/>
          </p:cNvSpPr>
          <p:nvPr/>
        </p:nvSpPr>
        <p:spPr bwMode="auto">
          <a:xfrm>
            <a:off x="1403648" y="3795886"/>
            <a:ext cx="4032448" cy="7604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err="1">
                <a:ln>
                  <a:noFill/>
                </a:ln>
                <a:solidFill>
                  <a:srgbClr val="859900"/>
                </a:solidFill>
                <a:effectLst/>
                <a:latin typeface="Consolas" panose="020B0609020204030204" pitchFamily="49" charset="0"/>
              </a:rPr>
              <a:t>function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fecha_hoy</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B58900"/>
                </a:solidFill>
                <a:effectLst/>
                <a:latin typeface="Consolas" panose="020B0609020204030204" pitchFamily="49" charset="0"/>
              </a:rPr>
              <a:t>date</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AA198"/>
                </a:solidFill>
                <a:effectLst/>
                <a:latin typeface="Consolas" panose="020B0609020204030204" pitchFamily="49" charset="0"/>
              </a:rPr>
              <a:t>'d/m/Y’</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chemeClr val="tx1"/>
                </a:solidFill>
                <a:effectLst/>
              </a:rPr>
              <a:t> </a:t>
            </a:r>
            <a:endParaRPr kumimoji="0" lang="es-ES" altLang="es-ES" sz="1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6477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81041"/>
            <a:ext cx="8928992" cy="857400"/>
          </a:xfrm>
        </p:spPr>
        <p:txBody>
          <a:bodyPr/>
          <a:lstStyle/>
          <a:p>
            <a:pPr algn="l"/>
            <a:r>
              <a:rPr lang="es-ES" b="0" i="0">
                <a:solidFill>
                  <a:srgbClr val="000000"/>
                </a:solidFill>
                <a:effectLst/>
                <a:latin typeface="Roboto" panose="02000000000000000000" pitchFamily="2" charset="0"/>
              </a:rPr>
              <a:t>Paso de parámetros</a:t>
            </a:r>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24</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352928" cy="3552300"/>
          </a:xfrm>
        </p:spPr>
        <p:txBody>
          <a:bodyPr/>
          <a:lstStyle/>
          <a:p>
            <a:r>
              <a:rPr lang="es-ES" sz="1600" dirty="0"/>
              <a:t>La intención de la anterior función es mostrar la fecha del día actual. Como siempre mostrará el día de hoy, no necesito pasarle ningún parámetro, siempre hará lo mismo. Las funciones que no requieren parámetros se las invoca indicando los paréntesis vacíos.</a:t>
            </a:r>
          </a:p>
        </p:txBody>
      </p:sp>
      <p:sp>
        <p:nvSpPr>
          <p:cNvPr id="3" name="Rectangle 1">
            <a:extLst>
              <a:ext uri="{FF2B5EF4-FFF2-40B4-BE49-F238E27FC236}">
                <a16:creationId xmlns:a16="http://schemas.microsoft.com/office/drawing/2014/main" id="{A3EFF478-791E-8EDB-27C2-3CE47C69BC1A}"/>
              </a:ext>
            </a:extLst>
          </p:cNvPr>
          <p:cNvSpPr>
            <a:spLocks noChangeArrowheads="1"/>
          </p:cNvSpPr>
          <p:nvPr/>
        </p:nvSpPr>
        <p:spPr bwMode="auto">
          <a:xfrm>
            <a:off x="2483768" y="2746374"/>
            <a:ext cx="3168352" cy="375693"/>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a:ln>
                  <a:noFill/>
                </a:ln>
                <a:solidFill>
                  <a:srgbClr val="B58900"/>
                </a:solidFill>
                <a:effectLst/>
                <a:latin typeface="Consolas" panose="020B0609020204030204" pitchFamily="49" charset="0"/>
              </a:rPr>
              <a:t>fecha_hoy</a:t>
            </a:r>
            <a:r>
              <a:rPr kumimoji="0" lang="es-ES" altLang="es-ES" b="0" i="0" u="none" strike="noStrike" cap="none" normalizeH="0" baseline="0">
                <a:ln>
                  <a:noFill/>
                </a:ln>
                <a:solidFill>
                  <a:srgbClr val="586E75"/>
                </a:solidFill>
                <a:effectLst/>
                <a:latin typeface="Consolas" panose="020B0609020204030204" pitchFamily="49" charset="0"/>
              </a:rPr>
              <a:t>();</a:t>
            </a:r>
            <a:r>
              <a:rPr kumimoji="0" lang="es-ES" altLang="es-ES" b="0" i="0" u="none" strike="noStrike" cap="none" normalizeH="0" baseline="0">
                <a:ln>
                  <a:noFill/>
                </a:ln>
                <a:solidFill>
                  <a:schemeClr val="tx1"/>
                </a:solidFill>
                <a:effectLst/>
              </a:rPr>
              <a:t> </a:t>
            </a:r>
            <a:endParaRPr kumimoji="0" lang="es-ES" altLang="es-E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5226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68748"/>
            <a:ext cx="8496944" cy="857400"/>
          </a:xfrm>
        </p:spPr>
        <p:txBody>
          <a:bodyPr/>
          <a:lstStyle/>
          <a:p>
            <a:pPr algn="l"/>
            <a:r>
              <a:rPr lang="es-ES" b="0" i="0" dirty="0">
                <a:solidFill>
                  <a:srgbClr val="000000"/>
                </a:solidFill>
                <a:effectLst/>
                <a:latin typeface="Roboto" panose="02000000000000000000" pitchFamily="2" charset="0"/>
              </a:rPr>
              <a:t>Paso de parámetros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07504" y="987574"/>
            <a:ext cx="8712968" cy="1080120"/>
          </a:xfrm>
        </p:spPr>
        <p:txBody>
          <a:bodyPr/>
          <a:lstStyle/>
          <a:p>
            <a:r>
              <a:rPr lang="es-ES" sz="1600" dirty="0"/>
              <a:t>En el caso que queramos, o necesitemos, recibir parámetros para implementar una función, a la hora de definirla, en la cabecera, se definen los parámetros que va a recibir.</a:t>
            </a:r>
          </a:p>
        </p:txBody>
      </p:sp>
      <p:sp>
        <p:nvSpPr>
          <p:cNvPr id="5" name="Rectangle 1">
            <a:extLst>
              <a:ext uri="{FF2B5EF4-FFF2-40B4-BE49-F238E27FC236}">
                <a16:creationId xmlns:a16="http://schemas.microsoft.com/office/drawing/2014/main" id="{C5BE4D3B-7F0B-DF00-22B1-4A1751331232}"/>
              </a:ext>
            </a:extLst>
          </p:cNvPr>
          <p:cNvSpPr>
            <a:spLocks noChangeArrowheads="1"/>
          </p:cNvSpPr>
          <p:nvPr/>
        </p:nvSpPr>
        <p:spPr bwMode="auto">
          <a:xfrm>
            <a:off x="971600" y="1895236"/>
            <a:ext cx="4032448" cy="34491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859900"/>
                </a:solidFill>
                <a:effectLst/>
                <a:latin typeface="Consolas" panose="020B0609020204030204" pitchFamily="49" charset="0"/>
              </a:rPr>
              <a:t>function</a:t>
            </a:r>
            <a:r>
              <a:rPr kumimoji="0" lang="es-ES" altLang="es-ES" sz="1200" b="0" i="0" u="none" strike="noStrike" cap="none" normalizeH="0" baseline="0">
                <a:ln>
                  <a:noFill/>
                </a:ln>
                <a:solidFill>
                  <a:srgbClr val="657B83"/>
                </a:solidFill>
                <a:effectLst/>
                <a:latin typeface="Consolas" panose="020B0609020204030204" pitchFamily="49" charset="0"/>
              </a:rPr>
              <a:t> f1 </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CB4B16"/>
                </a:solidFill>
                <a:effectLst/>
                <a:latin typeface="Consolas" panose="020B0609020204030204" pitchFamily="49" charset="0"/>
              </a:rPr>
              <a:t>$parametro1</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657B83"/>
                </a:solidFill>
                <a:effectLst/>
                <a:latin typeface="Consolas" panose="020B0609020204030204" pitchFamily="49" charset="0"/>
              </a:rPr>
              <a:t> </a:t>
            </a:r>
            <a:r>
              <a:rPr kumimoji="0" lang="es-ES" altLang="es-ES" sz="1200" b="0" i="0" u="none" strike="noStrike" cap="none" normalizeH="0" baseline="0">
                <a:ln>
                  <a:noFill/>
                </a:ln>
                <a:solidFill>
                  <a:srgbClr val="CB4B16"/>
                </a:solidFill>
                <a:effectLst/>
                <a:latin typeface="Consolas" panose="020B0609020204030204" pitchFamily="49" charset="0"/>
              </a:rPr>
              <a:t>$parametro2</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chemeClr val="tx1"/>
                </a:solidFill>
                <a:effectLst/>
              </a:rPr>
              <a:t> </a:t>
            </a:r>
            <a:endParaRPr kumimoji="0" lang="es-ES" altLang="es-ES" sz="1200" b="0" i="0" u="none" strike="noStrike" cap="none" normalizeH="0" baseline="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EBB6E74E-1DD0-C2E0-D227-8B8D213C81B5}"/>
              </a:ext>
            </a:extLst>
          </p:cNvPr>
          <p:cNvSpPr txBox="1"/>
          <p:nvPr/>
        </p:nvSpPr>
        <p:spPr>
          <a:xfrm>
            <a:off x="107504" y="2786520"/>
            <a:ext cx="8748464" cy="1815882"/>
          </a:xfrm>
          <a:prstGeom prst="rect">
            <a:avLst/>
          </a:prstGeom>
          <a:noFill/>
        </p:spPr>
        <p:txBody>
          <a:bodyPr wrap="square">
            <a:spAutoFit/>
          </a:bodyPr>
          <a:lstStyle/>
          <a:p>
            <a:pPr algn="l"/>
            <a:r>
              <a:rPr lang="es-ES" sz="1600" dirty="0">
                <a:solidFill>
                  <a:schemeClr val="dk1"/>
                </a:solidFill>
                <a:latin typeface="Lato"/>
                <a:ea typeface="Lato"/>
                <a:cs typeface="Lato"/>
                <a:sym typeface="Lato"/>
              </a:rPr>
              <a:t>Así definimos una función llamada f1 que recibe dos parámetros. Como se puede observar, no se tiene que definir el tipo de datos de cada parámetro. </a:t>
            </a:r>
          </a:p>
          <a:p>
            <a:pPr algn="l"/>
            <a:r>
              <a:rPr lang="es-ES" sz="1600" dirty="0">
                <a:solidFill>
                  <a:schemeClr val="dk1"/>
                </a:solidFill>
                <a:latin typeface="Lato"/>
                <a:ea typeface="Lato"/>
                <a:cs typeface="Lato"/>
                <a:sym typeface="Lato"/>
              </a:rPr>
              <a:t>Es decir, la función necesitará que le enviemos dos datos, pero no le importará que sean de un tipo u otro.</a:t>
            </a:r>
          </a:p>
          <a:p>
            <a:pPr algn="l"/>
            <a:r>
              <a:rPr lang="es-ES" sz="1600" dirty="0">
                <a:solidFill>
                  <a:schemeClr val="dk1"/>
                </a:solidFill>
                <a:latin typeface="Lato"/>
                <a:ea typeface="Lato"/>
                <a:cs typeface="Lato"/>
                <a:sym typeface="Lato"/>
              </a:rPr>
              <a:t>Los parámetros tienen validez durante la ejecución de la función. Se dice que tienen un ámbito local a la función donde se están recibiendo. </a:t>
            </a:r>
          </a:p>
          <a:p>
            <a:pPr algn="l"/>
            <a:r>
              <a:rPr lang="es-ES" sz="1600" dirty="0">
                <a:solidFill>
                  <a:schemeClr val="dk1"/>
                </a:solidFill>
                <a:latin typeface="Lato"/>
                <a:ea typeface="Lato"/>
                <a:cs typeface="Lato"/>
                <a:sym typeface="Lato"/>
              </a:rPr>
              <a:t>Cuando la función se termina, los parámetros dejan de existir.</a:t>
            </a:r>
          </a:p>
        </p:txBody>
      </p:sp>
    </p:spTree>
    <p:extLst>
      <p:ext uri="{BB962C8B-B14F-4D97-AF65-F5344CB8AC3E}">
        <p14:creationId xmlns:p14="http://schemas.microsoft.com/office/powerpoint/2010/main" val="1686013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734" y="11772"/>
            <a:ext cx="8856984" cy="857400"/>
          </a:xfrm>
        </p:spPr>
        <p:txBody>
          <a:bodyPr/>
          <a:lstStyle/>
          <a:p>
            <a:pPr algn="l"/>
            <a:r>
              <a:rPr lang="es-ES" b="0" i="0" dirty="0">
                <a:solidFill>
                  <a:srgbClr val="000000"/>
                </a:solidFill>
                <a:effectLst/>
                <a:latin typeface="Roboto" panose="02000000000000000000" pitchFamily="2" charset="0"/>
              </a:rPr>
              <a:t>Los parámetros se pasan por valor</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07734" y="902170"/>
            <a:ext cx="8496944" cy="1669580"/>
          </a:xfrm>
        </p:spPr>
        <p:txBody>
          <a:bodyPr/>
          <a:lstStyle/>
          <a:p>
            <a:r>
              <a:rPr lang="es-ES" sz="1600" dirty="0"/>
              <a:t>El paso de parámetros en PHP se realiza por valor. </a:t>
            </a:r>
          </a:p>
          <a:p>
            <a:r>
              <a:rPr lang="es-ES" sz="1600" dirty="0"/>
              <a:t>"Por valor" es una manera típica de pasar parámetros en funciones, quiere decir que el cambio de un dato de un parámetro no actualiza el dato de la variable que se pasó a la función. </a:t>
            </a:r>
          </a:p>
          <a:p>
            <a:r>
              <a:rPr lang="es-ES" sz="1600" dirty="0"/>
              <a:t>Por ejemplo, cuando invocamos una función pasando una variable como parámetro, a pesar de que cambiemos el valor del parámetro dentro de la función, la variable original no se ve afectada por ese cambio. </a:t>
            </a:r>
          </a:p>
        </p:txBody>
      </p:sp>
      <p:sp>
        <p:nvSpPr>
          <p:cNvPr id="10" name="Rectangle 1">
            <a:extLst>
              <a:ext uri="{FF2B5EF4-FFF2-40B4-BE49-F238E27FC236}">
                <a16:creationId xmlns:a16="http://schemas.microsoft.com/office/drawing/2014/main" id="{93386666-6A8F-5F2E-CC3D-56DBAF007C4C}"/>
              </a:ext>
            </a:extLst>
          </p:cNvPr>
          <p:cNvSpPr>
            <a:spLocks noChangeArrowheads="1"/>
          </p:cNvSpPr>
          <p:nvPr/>
        </p:nvSpPr>
        <p:spPr bwMode="auto">
          <a:xfrm>
            <a:off x="395536" y="3003798"/>
            <a:ext cx="4896544" cy="1637577"/>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657B83"/>
                </a:solidFill>
                <a:effectLst/>
                <a:latin typeface="Consolas" panose="020B0609020204030204" pitchFamily="49" charset="0"/>
              </a:rPr>
              <a:t>porvalor</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$parametro1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$parametro1</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"hola"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$parametro1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//imprime "hola"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mivariable</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AA198"/>
                </a:solidFill>
                <a:effectLst/>
                <a:latin typeface="Consolas" panose="020B0609020204030204" pitchFamily="49" charset="0"/>
              </a:rPr>
              <a:t>"esto no cambia"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657B83"/>
                </a:solidFill>
                <a:effectLst/>
                <a:latin typeface="Consolas" panose="020B0609020204030204" pitchFamily="49" charset="0"/>
              </a:rPr>
              <a:t>porvalor</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mivariable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mivariable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//imprime "esto no cambia"</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8020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pPr algn="l"/>
            <a:r>
              <a:rPr lang="es-ES" b="0" i="0" dirty="0">
                <a:solidFill>
                  <a:srgbClr val="000000"/>
                </a:solidFill>
                <a:effectLst/>
                <a:latin typeface="Roboto" panose="02000000000000000000" pitchFamily="2" charset="0"/>
              </a:rPr>
              <a:t>Paso de parámetros por referencia</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233622" y="1217429"/>
            <a:ext cx="7782756" cy="1944216"/>
          </a:xfrm>
        </p:spPr>
        <p:txBody>
          <a:bodyPr/>
          <a:lstStyle/>
          <a:p>
            <a:r>
              <a:rPr lang="es-ES" sz="1600" dirty="0"/>
              <a:t>En contraposición al paso de parámetros por valor, está el paso de parámetros por referencia. En este último caso, el cambio del valor de un parámetro dentro de una función sí afecta al valor de la variable original.</a:t>
            </a:r>
          </a:p>
          <a:p>
            <a:endParaRPr lang="es-ES" sz="1600" dirty="0"/>
          </a:p>
          <a:p>
            <a:r>
              <a:rPr lang="es-ES" sz="1600" dirty="0"/>
              <a:t>Podemos pasar los parámetros por referencia si, en la declaración de la función, colocamos un "&amp;" antes del parámetro.</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27</a:t>
            </a:fld>
            <a:endParaRPr lang="es-ES" dirty="0"/>
          </a:p>
        </p:txBody>
      </p:sp>
      <p:sp>
        <p:nvSpPr>
          <p:cNvPr id="6" name="Rectangle 2">
            <a:extLst>
              <a:ext uri="{FF2B5EF4-FFF2-40B4-BE49-F238E27FC236}">
                <a16:creationId xmlns:a16="http://schemas.microsoft.com/office/drawing/2014/main" id="{08F9399D-07E5-B0A1-704E-3FA3EAA2473F}"/>
              </a:ext>
            </a:extLst>
          </p:cNvPr>
          <p:cNvSpPr>
            <a:spLocks noChangeArrowheads="1"/>
          </p:cNvSpPr>
          <p:nvPr/>
        </p:nvSpPr>
        <p:spPr bwMode="auto">
          <a:xfrm>
            <a:off x="755576" y="3161645"/>
            <a:ext cx="4536504" cy="166835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err="1">
                <a:ln>
                  <a:noFill/>
                </a:ln>
                <a:solidFill>
                  <a:srgbClr val="859900"/>
                </a:solidFill>
                <a:effectLst/>
                <a:latin typeface="Consolas" panose="020B0609020204030204" pitchFamily="49" charset="0"/>
              </a:rPr>
              <a:t>function</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err="1">
                <a:ln>
                  <a:noFill/>
                </a:ln>
                <a:solidFill>
                  <a:srgbClr val="B58900"/>
                </a:solidFill>
                <a:effectLst/>
                <a:latin typeface="Consolas" panose="020B0609020204030204" pitchFamily="49" charset="0"/>
              </a:rPr>
              <a:t>porreferencia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&amp;</a:t>
            </a:r>
            <a:r>
              <a:rPr kumimoji="0" lang="es-ES" altLang="es-ES" b="0" i="0" u="none" strike="noStrike" cap="none" normalizeH="0" baseline="0" dirty="0">
                <a:ln>
                  <a:noFill/>
                </a:ln>
                <a:solidFill>
                  <a:srgbClr val="CB4B16"/>
                </a:solidFill>
                <a:effectLst/>
                <a:latin typeface="Consolas" panose="020B0609020204030204" pitchFamily="49" charset="0"/>
              </a:rPr>
              <a:t>$cadena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$cadena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AA198"/>
                </a:solidFill>
                <a:effectLst/>
                <a:latin typeface="Consolas" panose="020B0609020204030204" pitchFamily="49" charset="0"/>
              </a:rPr>
              <a:t>'Si cambia’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str</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AA198"/>
                </a:solidFill>
                <a:effectLst/>
                <a:latin typeface="Consolas" panose="020B0609020204030204" pitchFamily="49" charset="0"/>
              </a:rPr>
              <a:t>'Esto es una cadena’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err="1">
                <a:ln>
                  <a:noFill/>
                </a:ln>
                <a:solidFill>
                  <a:srgbClr val="657B83"/>
                </a:solidFill>
                <a:effectLst/>
                <a:latin typeface="Consolas" panose="020B0609020204030204" pitchFamily="49" charset="0"/>
              </a:rPr>
              <a:t>porreferencia</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str</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a:t>
            </a:r>
            <a:r>
              <a:rPr kumimoji="0" lang="es-ES" altLang="es-ES" b="0" i="0" u="none" strike="noStrike" cap="none" normalizeH="0" baseline="0" dirty="0" err="1">
                <a:ln>
                  <a:noFill/>
                </a:ln>
                <a:solidFill>
                  <a:srgbClr val="CB4B16"/>
                </a:solidFill>
                <a:effectLst/>
                <a:latin typeface="Consolas" panose="020B0609020204030204" pitchFamily="49" charset="0"/>
              </a:rPr>
              <a:t>str</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93A1A1"/>
                </a:solidFill>
                <a:effectLst/>
                <a:latin typeface="Consolas" panose="020B0609020204030204" pitchFamily="49" charset="0"/>
              </a:rPr>
              <a:t>// Imprime 'Si cambia'</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1928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a:xfrm>
            <a:off x="611560" y="123478"/>
            <a:ext cx="6462600" cy="857400"/>
          </a:xfrm>
        </p:spPr>
        <p:txBody>
          <a:bodyPr/>
          <a:lstStyle/>
          <a:p>
            <a:pPr algn="l"/>
            <a:r>
              <a:rPr lang="es-ES" b="0" i="0" dirty="0">
                <a:solidFill>
                  <a:srgbClr val="000000"/>
                </a:solidFill>
                <a:effectLst/>
                <a:latin typeface="Roboto" panose="02000000000000000000" pitchFamily="2" charset="0"/>
              </a:rPr>
              <a:t>Parámetros por defecto</a:t>
            </a:r>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0" y="1043330"/>
            <a:ext cx="9036496" cy="3552300"/>
          </a:xfrm>
        </p:spPr>
        <p:txBody>
          <a:bodyPr/>
          <a:lstStyle/>
          <a:p>
            <a:r>
              <a:rPr lang="es-ES" sz="1600" dirty="0"/>
              <a:t>Podemos definir valores por defecto para los parámetros. Los valores por defecto sirven para que los parámetros contengan un dato predefinido, con el que se inicializarán si no se le pasa ningún valor en la llamada de la función. Los valores por defecto se definen asignando un dato al parámetro al declararlo en la función.</a:t>
            </a:r>
          </a:p>
          <a:p>
            <a:endParaRPr lang="es-ES" sz="1600" dirty="0"/>
          </a:p>
          <a:p>
            <a:endParaRPr lang="es-ES" sz="1600" dirty="0"/>
          </a:p>
          <a:p>
            <a:endParaRPr lang="es-ES" sz="1600" dirty="0"/>
          </a:p>
          <a:p>
            <a:r>
              <a:rPr lang="es-ES" sz="1600" dirty="0"/>
              <a:t>Para la definición de función anterior, $parametro1 tiene como valor por defecto "pepe", mientras que $parametro2 tiene 3 como valor por defecto.</a:t>
            </a:r>
          </a:p>
          <a:p>
            <a:r>
              <a:rPr lang="es-ES" sz="1600" dirty="0"/>
              <a:t>Si llamamos a la función sin indicar valores a los parámetros, estos tomarán los valores asignados por defecto:</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28</a:t>
            </a:fld>
            <a:endParaRPr lang="es-ES" dirty="0"/>
          </a:p>
        </p:txBody>
      </p:sp>
      <p:sp>
        <p:nvSpPr>
          <p:cNvPr id="6" name="Rectangle 2">
            <a:extLst>
              <a:ext uri="{FF2B5EF4-FFF2-40B4-BE49-F238E27FC236}">
                <a16:creationId xmlns:a16="http://schemas.microsoft.com/office/drawing/2014/main" id="{303B652F-D373-B978-EFAE-8BB1AE7A4F2E}"/>
              </a:ext>
            </a:extLst>
          </p:cNvPr>
          <p:cNvSpPr>
            <a:spLocks noChangeArrowheads="1"/>
          </p:cNvSpPr>
          <p:nvPr/>
        </p:nvSpPr>
        <p:spPr bwMode="auto">
          <a:xfrm>
            <a:off x="625844" y="2399292"/>
            <a:ext cx="4896544" cy="34491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657B83"/>
                </a:solidFill>
                <a:effectLst/>
                <a:latin typeface="Consolas" panose="020B0609020204030204" pitchFamily="49" charset="0"/>
              </a:rPr>
              <a:t>pordefecto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$parametro1</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"pepe"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$parametro2</a:t>
            </a:r>
            <a:r>
              <a:rPr kumimoji="0" lang="es-ES" altLang="es-ES" sz="1200" b="0" i="0" u="none" strike="noStrike" cap="none" normalizeH="0" baseline="0" dirty="0">
                <a:ln>
                  <a:noFill/>
                </a:ln>
                <a:solidFill>
                  <a:srgbClr val="657B83"/>
                </a:solidFill>
                <a:effectLst/>
                <a:latin typeface="Consolas" panose="020B0609020204030204" pitchFamily="49" charset="0"/>
              </a:rPr>
              <a:t>=</a:t>
            </a:r>
            <a:r>
              <a:rPr kumimoji="0" lang="es-ES" altLang="es-ES" sz="1200" b="0" i="0" u="none" strike="noStrike" cap="none" normalizeH="0" baseline="0" dirty="0">
                <a:ln>
                  <a:noFill/>
                </a:ln>
                <a:solidFill>
                  <a:srgbClr val="268BD2"/>
                </a:solidFill>
                <a:effectLst/>
                <a:latin typeface="Consolas" panose="020B0609020204030204" pitchFamily="49" charset="0"/>
              </a:rPr>
              <a:t>3</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510BBB72-F4F4-BC42-0BFA-4281201AD73E}"/>
              </a:ext>
            </a:extLst>
          </p:cNvPr>
          <p:cNvSpPr>
            <a:spLocks noChangeArrowheads="1"/>
          </p:cNvSpPr>
          <p:nvPr/>
        </p:nvSpPr>
        <p:spPr bwMode="auto">
          <a:xfrm>
            <a:off x="2987824" y="4148563"/>
            <a:ext cx="5227514" cy="34491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a:ln>
                  <a:noFill/>
                </a:ln>
                <a:solidFill>
                  <a:srgbClr val="657B83"/>
                </a:solidFill>
                <a:effectLst/>
                <a:latin typeface="Consolas" panose="020B0609020204030204" pitchFamily="49" charset="0"/>
              </a:rPr>
              <a:t>pordefecto </a:t>
            </a:r>
            <a:r>
              <a:rPr kumimoji="0" lang="es-ES" altLang="es-ES" sz="1200" b="0" i="0" u="none" strike="noStrike" cap="none" normalizeH="0" baseline="0">
                <a:ln>
                  <a:noFill/>
                </a:ln>
                <a:solidFill>
                  <a:srgbClr val="586E75"/>
                </a:solidFill>
                <a:effectLst/>
                <a:latin typeface="Consolas" panose="020B0609020204030204" pitchFamily="49" charset="0"/>
              </a:rPr>
              <a:t>()</a:t>
            </a:r>
            <a:r>
              <a:rPr kumimoji="0" lang="es-ES" altLang="es-ES" sz="1200" b="0" i="0" u="none" strike="noStrike" cap="none" normalizeH="0" baseline="0">
                <a:ln>
                  <a:noFill/>
                </a:ln>
                <a:solidFill>
                  <a:srgbClr val="657B83"/>
                </a:solidFill>
                <a:effectLst/>
                <a:latin typeface="Consolas" panose="020B0609020204030204" pitchFamily="49" charset="0"/>
              </a:rPr>
              <a:t> </a:t>
            </a:r>
            <a:r>
              <a:rPr kumimoji="0" lang="es-ES" altLang="es-ES" sz="1200" b="0" i="0" u="none" strike="noStrike" cap="none" normalizeH="0" baseline="0">
                <a:ln>
                  <a:noFill/>
                </a:ln>
                <a:solidFill>
                  <a:srgbClr val="93A1A1"/>
                </a:solidFill>
                <a:effectLst/>
                <a:latin typeface="Consolas" panose="020B0609020204030204" pitchFamily="49" charset="0"/>
              </a:rPr>
              <a:t>// $parametro1 vale "pepe" y $parametro2 vale 3</a:t>
            </a:r>
            <a:r>
              <a:rPr kumimoji="0" lang="es-ES" altLang="es-ES" sz="1200" b="0" i="0" u="none" strike="noStrike" cap="none" normalizeH="0" baseline="0">
                <a:ln>
                  <a:noFill/>
                </a:ln>
                <a:solidFill>
                  <a:schemeClr val="tx1"/>
                </a:solidFill>
                <a:effectLst/>
              </a:rPr>
              <a:t> </a:t>
            </a:r>
            <a:endParaRPr kumimoji="0" lang="es-ES" altLang="es-ES" sz="1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567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Parámetros por defecto</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07504" y="1215788"/>
            <a:ext cx="8928992" cy="3552300"/>
          </a:xfrm>
        </p:spPr>
        <p:txBody>
          <a:bodyPr/>
          <a:lstStyle/>
          <a:p>
            <a:r>
              <a:rPr lang="es-ES" sz="1500" dirty="0"/>
              <a:t>Si llamamos a la función indicando un valor, este será tenido en cuenta para el primer parámetro.</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29</a:t>
            </a:fld>
            <a:endParaRPr lang="es-ES" dirty="0"/>
          </a:p>
        </p:txBody>
      </p:sp>
      <p:sp>
        <p:nvSpPr>
          <p:cNvPr id="6" name="Rectangle 2">
            <a:extLst>
              <a:ext uri="{FF2B5EF4-FFF2-40B4-BE49-F238E27FC236}">
                <a16:creationId xmlns:a16="http://schemas.microsoft.com/office/drawing/2014/main" id="{7B473967-E33A-C954-E891-4EA9C6C31501}"/>
              </a:ext>
            </a:extLst>
          </p:cNvPr>
          <p:cNvSpPr>
            <a:spLocks noChangeArrowheads="1"/>
          </p:cNvSpPr>
          <p:nvPr/>
        </p:nvSpPr>
        <p:spPr bwMode="auto">
          <a:xfrm>
            <a:off x="1043608" y="2089268"/>
            <a:ext cx="6192688" cy="36030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a:ln>
                  <a:noFill/>
                </a:ln>
                <a:solidFill>
                  <a:srgbClr val="657B83"/>
                </a:solidFill>
                <a:effectLst/>
                <a:latin typeface="Consolas" panose="020B0609020204030204" pitchFamily="49" charset="0"/>
              </a:rPr>
              <a:t>pordefecto </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rgbClr val="2AA198"/>
                </a:solidFill>
                <a:effectLst/>
                <a:latin typeface="Consolas" panose="020B0609020204030204" pitchFamily="49" charset="0"/>
              </a:rPr>
              <a:t>"hola"</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rgbClr val="657B83"/>
                </a:solidFill>
                <a:effectLst/>
                <a:latin typeface="Consolas" panose="020B0609020204030204" pitchFamily="49" charset="0"/>
              </a:rPr>
              <a:t> </a:t>
            </a:r>
            <a:r>
              <a:rPr kumimoji="0" lang="es-ES" altLang="es-ES" sz="1300" b="0" i="0" u="none" strike="noStrike" cap="none" normalizeH="0" baseline="0">
                <a:ln>
                  <a:noFill/>
                </a:ln>
                <a:solidFill>
                  <a:srgbClr val="93A1A1"/>
                </a:solidFill>
                <a:effectLst/>
                <a:latin typeface="Consolas" panose="020B0609020204030204" pitchFamily="49" charset="0"/>
              </a:rPr>
              <a:t>// $parametro1 vale "hola" y $parametro2 vale 3</a:t>
            </a:r>
            <a:r>
              <a:rPr kumimoji="0" lang="es-ES" altLang="es-ES" sz="1300" b="0" i="0" u="none" strike="noStrike" cap="none" normalizeH="0" baseline="0">
                <a:ln>
                  <a:noFill/>
                </a:ln>
                <a:solidFill>
                  <a:schemeClr val="tx1"/>
                </a:solidFill>
                <a:effectLst/>
              </a:rPr>
              <a:t> </a:t>
            </a:r>
            <a:endParaRPr kumimoji="0" lang="es-ES" altLang="es-ES" sz="1300" b="0" i="0" u="none" strike="noStrike" cap="none" normalizeH="0" baseline="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FD0A2473-63C1-8D06-5792-B426F34E1886}"/>
              </a:ext>
            </a:extLst>
          </p:cNvPr>
          <p:cNvSpPr txBox="1"/>
          <p:nvPr/>
        </p:nvSpPr>
        <p:spPr>
          <a:xfrm>
            <a:off x="755576" y="3116425"/>
            <a:ext cx="7704856" cy="784830"/>
          </a:xfrm>
          <a:prstGeom prst="rect">
            <a:avLst/>
          </a:prstGeom>
          <a:noFill/>
        </p:spPr>
        <p:txBody>
          <a:bodyPr wrap="square">
            <a:spAutoFit/>
          </a:bodyPr>
          <a:lstStyle/>
          <a:p>
            <a:r>
              <a:rPr lang="es-ES" sz="1500" dirty="0">
                <a:solidFill>
                  <a:schemeClr val="dk1"/>
                </a:solidFill>
                <a:latin typeface="Lato"/>
                <a:ea typeface="Lato"/>
                <a:cs typeface="Lato"/>
                <a:sym typeface="Lato"/>
              </a:rPr>
              <a:t>Ten en cuenta que, en el caso que quieras usar parámetros con valores por defecto, estás obligado a que éstos se declaren al final en la lista de parámetros de la cabecera de la función.</a:t>
            </a:r>
          </a:p>
        </p:txBody>
      </p:sp>
    </p:spTree>
    <p:extLst>
      <p:ext uri="{BB962C8B-B14F-4D97-AF65-F5344CB8AC3E}">
        <p14:creationId xmlns:p14="http://schemas.microsoft.com/office/powerpoint/2010/main" val="2144570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3.</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r>
              <a:rPr lang="es-ES" dirty="0"/>
              <a:t>Retorno de valores en funciones PHP</a:t>
            </a:r>
          </a:p>
        </p:txBody>
      </p:sp>
    </p:spTree>
    <p:extLst>
      <p:ext uri="{BB962C8B-B14F-4D97-AF65-F5344CB8AC3E}">
        <p14:creationId xmlns:p14="http://schemas.microsoft.com/office/powerpoint/2010/main" val="35647853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r>
              <a:rPr lang="es-ES" sz="1600" dirty="0"/>
              <a:t>Algo que querrás hacer en PHP, y en la programación en general, es crear funciones que, una vez ejecutadas, nos entreguen un valor como resultado. Es algo muy habitual y que implica varias cuestiones que vamos a abordar en el presente artículo.</a:t>
            </a:r>
          </a:p>
          <a:p>
            <a:endParaRPr lang="es-ES" sz="1600" dirty="0"/>
          </a:p>
          <a:p>
            <a:r>
              <a:rPr lang="es-ES" sz="1600" dirty="0"/>
              <a:t>Las funciones pueden, o no, retornar valores. Es decir, no es obligado que las funciones retornen valor alguno, solo se trata de una posibilidad, que encontrarás de mucha utilidad en el desarrollo en general. De hecho, nuestros anteriores ejemplos de funciones no habían retornado ningún valor y ya habíamos visto que realizaban tareas bastante útiles.</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31</a:t>
            </a:fld>
            <a:endParaRPr lang="es-ES" dirty="0"/>
          </a:p>
        </p:txBody>
      </p:sp>
    </p:spTree>
    <p:extLst>
      <p:ext uri="{BB962C8B-B14F-4D97-AF65-F5344CB8AC3E}">
        <p14:creationId xmlns:p14="http://schemas.microsoft.com/office/powerpoint/2010/main" val="1413671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Palabra "</a:t>
            </a:r>
            <a:r>
              <a:rPr lang="es-ES" b="0" i="0" dirty="0" err="1">
                <a:solidFill>
                  <a:srgbClr val="000000"/>
                </a:solidFill>
                <a:effectLst/>
                <a:latin typeface="Roboto" panose="02000000000000000000" pitchFamily="2" charset="0"/>
              </a:rPr>
              <a:t>return</a:t>
            </a:r>
            <a:r>
              <a:rPr lang="es-ES" b="0" i="0" dirty="0">
                <a:solidFill>
                  <a:srgbClr val="000000"/>
                </a:solidFill>
                <a:effectLst/>
                <a:latin typeface="Roboto" panose="02000000000000000000" pitchFamily="2" charset="0"/>
              </a:rPr>
              <a:t>"</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893700" y="1373588"/>
            <a:ext cx="7638740" cy="3552300"/>
          </a:xfrm>
        </p:spPr>
        <p:txBody>
          <a:bodyPr/>
          <a:lstStyle/>
          <a:p>
            <a:r>
              <a:rPr lang="es-ES" sz="1800" dirty="0"/>
              <a:t>Para retornar valores en funciones se utiliza la palabra "</a:t>
            </a:r>
            <a:r>
              <a:rPr lang="es-ES" sz="1800" dirty="0" err="1"/>
              <a:t>return</a:t>
            </a:r>
            <a:r>
              <a:rPr lang="es-ES" sz="1800" dirty="0"/>
              <a:t>", indicando a continuación el dato o variable que tienen que retornar.</a:t>
            </a:r>
          </a:p>
          <a:p>
            <a:endParaRPr lang="es-ES" sz="1800" dirty="0"/>
          </a:p>
          <a:p>
            <a:endParaRPr lang="es-ES" sz="1800" dirty="0"/>
          </a:p>
          <a:p>
            <a:endParaRPr lang="es-ES" sz="1800" dirty="0"/>
          </a:p>
          <a:p>
            <a:r>
              <a:rPr lang="es-ES" sz="1800" dirty="0"/>
              <a:t>La anterior función realiza una operación de suma entre dos valores enviados por parámetro. Para invocarla debemos enviarle los dos valores que debe sumar. Cuando se ejecute la función recibiremos un valor como devolución y podremos hacer cualquier cosa con él.</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32</a:t>
            </a:fld>
            <a:endParaRPr lang="es-ES" dirty="0"/>
          </a:p>
        </p:txBody>
      </p:sp>
      <p:sp>
        <p:nvSpPr>
          <p:cNvPr id="5" name="Rectangle 1">
            <a:extLst>
              <a:ext uri="{FF2B5EF4-FFF2-40B4-BE49-F238E27FC236}">
                <a16:creationId xmlns:a16="http://schemas.microsoft.com/office/drawing/2014/main" id="{71270A21-9CAE-9DAC-28A7-ED2199B57F87}"/>
              </a:ext>
            </a:extLst>
          </p:cNvPr>
          <p:cNvSpPr>
            <a:spLocks noChangeArrowheads="1"/>
          </p:cNvSpPr>
          <p:nvPr/>
        </p:nvSpPr>
        <p:spPr bwMode="auto">
          <a:xfrm>
            <a:off x="1547664" y="2400668"/>
            <a:ext cx="5688632" cy="714248"/>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B58900"/>
                </a:solidFill>
                <a:effectLst/>
                <a:latin typeface="Consolas" panose="020B0609020204030204" pitchFamily="49" charset="0"/>
              </a:rPr>
              <a:t>suma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$valor1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return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$valor1</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9801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Palabra "</a:t>
            </a:r>
            <a:r>
              <a:rPr lang="es-ES" b="0" i="0" dirty="0" err="1">
                <a:solidFill>
                  <a:srgbClr val="000000"/>
                </a:solidFill>
                <a:effectLst/>
                <a:latin typeface="Roboto" panose="02000000000000000000" pitchFamily="2" charset="0"/>
              </a:rPr>
              <a:t>return</a:t>
            </a:r>
            <a:r>
              <a:rPr lang="es-ES" b="0" i="0" dirty="0">
                <a:solidFill>
                  <a:srgbClr val="000000"/>
                </a:solidFill>
                <a:effectLst/>
                <a:latin typeface="Roboto" panose="02000000000000000000" pitchFamily="2" charset="0"/>
              </a:rPr>
              <a:t>"</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251520" y="1373588"/>
            <a:ext cx="8640960" cy="3552300"/>
          </a:xfrm>
        </p:spPr>
        <p:txBody>
          <a:bodyPr/>
          <a:lstStyle/>
          <a:p>
            <a:r>
              <a:rPr lang="es-ES" sz="1800" dirty="0"/>
              <a:t>Por ejemplo, en el siguiente código estamos invocando a la función suma, enviando dos valores numéricos y almacenando el valor de devolución en una variable llamada "$resultado".</a:t>
            </a:r>
          </a:p>
          <a:p>
            <a:endParaRPr lang="es-ES" sz="1800" dirty="0"/>
          </a:p>
          <a:p>
            <a:endParaRPr lang="es-ES" sz="1800" dirty="0"/>
          </a:p>
          <a:p>
            <a:endParaRPr lang="es-ES" sz="1800" dirty="0"/>
          </a:p>
          <a:p>
            <a:r>
              <a:rPr lang="es-ES" sz="1800" dirty="0"/>
              <a:t>Una función puede perfectamente tener múltiples palabras </a:t>
            </a:r>
            <a:r>
              <a:rPr lang="es-ES" sz="1800" dirty="0" err="1"/>
              <a:t>return</a:t>
            </a:r>
            <a:r>
              <a:rPr lang="es-ES" sz="1800" dirty="0"/>
              <a:t> en su código. Sin embargo, aunque esto ocurra, debemos tener en cuenta que una función sólo podrá devolver un único valor. Entre otras cosas esto ocurrirá porque, cuando se usa el </a:t>
            </a:r>
            <a:r>
              <a:rPr lang="es-ES" sz="1800" dirty="0" err="1"/>
              <a:t>return</a:t>
            </a:r>
            <a:r>
              <a:rPr lang="es-ES" sz="1800" dirty="0"/>
              <a:t>, se termina la ejecución de la función devolviendo el dato indicado.</a:t>
            </a:r>
          </a:p>
          <a:p>
            <a:endParaRPr lang="es-ES" sz="1800" dirty="0"/>
          </a:p>
          <a:p>
            <a:endParaRPr lang="es-ES" sz="1800" dirty="0"/>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33</a:t>
            </a:fld>
            <a:endParaRPr lang="es-ES" dirty="0"/>
          </a:p>
        </p:txBody>
      </p:sp>
      <p:sp>
        <p:nvSpPr>
          <p:cNvPr id="5" name="Rectangle 1">
            <a:extLst>
              <a:ext uri="{FF2B5EF4-FFF2-40B4-BE49-F238E27FC236}">
                <a16:creationId xmlns:a16="http://schemas.microsoft.com/office/drawing/2014/main" id="{66BD7C62-3943-CFC9-1025-6E392060ECB1}"/>
              </a:ext>
            </a:extLst>
          </p:cNvPr>
          <p:cNvSpPr>
            <a:spLocks noChangeArrowheads="1"/>
          </p:cNvSpPr>
          <p:nvPr/>
        </p:nvSpPr>
        <p:spPr bwMode="auto">
          <a:xfrm>
            <a:off x="1259632" y="2969586"/>
            <a:ext cx="3744416" cy="36030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a:ln>
                  <a:noFill/>
                </a:ln>
                <a:solidFill>
                  <a:srgbClr val="CB4B16"/>
                </a:solidFill>
                <a:effectLst/>
                <a:latin typeface="Consolas" panose="020B0609020204030204" pitchFamily="49" charset="0"/>
              </a:rPr>
              <a:t>$resultado</a:t>
            </a:r>
            <a:r>
              <a:rPr kumimoji="0" lang="es-ES" altLang="es-ES" sz="1300" b="0" i="0" u="none" strike="noStrike" cap="none" normalizeH="0" baseline="0">
                <a:ln>
                  <a:noFill/>
                </a:ln>
                <a:solidFill>
                  <a:srgbClr val="657B83"/>
                </a:solidFill>
                <a:effectLst/>
                <a:latin typeface="Consolas" panose="020B0609020204030204" pitchFamily="49" charset="0"/>
              </a:rPr>
              <a:t> = </a:t>
            </a:r>
            <a:r>
              <a:rPr kumimoji="0" lang="es-ES" altLang="es-ES" sz="1300" b="0" i="0" u="none" strike="noStrike" cap="none" normalizeH="0" baseline="0">
                <a:ln>
                  <a:noFill/>
                </a:ln>
                <a:solidFill>
                  <a:srgbClr val="B58900"/>
                </a:solidFill>
                <a:effectLst/>
                <a:latin typeface="Consolas" panose="020B0609020204030204" pitchFamily="49" charset="0"/>
              </a:rPr>
              <a:t>suma</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rgbClr val="268BD2"/>
                </a:solidFill>
                <a:effectLst/>
                <a:latin typeface="Consolas" panose="020B0609020204030204" pitchFamily="49" charset="0"/>
              </a:rPr>
              <a:t>3</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rgbClr val="657B83"/>
                </a:solidFill>
                <a:effectLst/>
                <a:latin typeface="Consolas" panose="020B0609020204030204" pitchFamily="49" charset="0"/>
              </a:rPr>
              <a:t> </a:t>
            </a:r>
            <a:r>
              <a:rPr kumimoji="0" lang="es-ES" altLang="es-ES" sz="1300" b="0" i="0" u="none" strike="noStrike" cap="none" normalizeH="0" baseline="0">
                <a:ln>
                  <a:noFill/>
                </a:ln>
                <a:solidFill>
                  <a:srgbClr val="268BD2"/>
                </a:solidFill>
                <a:effectLst/>
                <a:latin typeface="Consolas" panose="020B0609020204030204" pitchFamily="49" charset="0"/>
              </a:rPr>
              <a:t>6</a:t>
            </a:r>
            <a:r>
              <a:rPr kumimoji="0" lang="es-ES" altLang="es-ES" sz="1300" b="0" i="0" u="none" strike="noStrike" cap="none" normalizeH="0" baseline="0">
                <a:ln>
                  <a:noFill/>
                </a:ln>
                <a:solidFill>
                  <a:srgbClr val="586E75"/>
                </a:solidFill>
                <a:effectLst/>
                <a:latin typeface="Consolas" panose="020B0609020204030204" pitchFamily="49" charset="0"/>
              </a:rPr>
              <a:t>);</a:t>
            </a:r>
            <a:r>
              <a:rPr kumimoji="0" lang="es-ES" altLang="es-ES" sz="1300" b="0" i="0" u="none" strike="noStrike" cap="none" normalizeH="0" baseline="0">
                <a:ln>
                  <a:noFill/>
                </a:ln>
                <a:solidFill>
                  <a:schemeClr val="tx1"/>
                </a:solidFill>
                <a:effectLst/>
              </a:rPr>
              <a:t> </a:t>
            </a:r>
            <a:endParaRPr kumimoji="0" lang="es-ES" altLang="es-ES" sz="13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5952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Palabra "</a:t>
            </a:r>
            <a:r>
              <a:rPr lang="es-ES" b="0" i="0" dirty="0" err="1">
                <a:solidFill>
                  <a:srgbClr val="000000"/>
                </a:solidFill>
                <a:effectLst/>
                <a:latin typeface="Roboto" panose="02000000000000000000" pitchFamily="2" charset="0"/>
              </a:rPr>
              <a:t>return</a:t>
            </a:r>
            <a:r>
              <a:rPr lang="es-ES" b="0" i="0" dirty="0">
                <a:solidFill>
                  <a:srgbClr val="000000"/>
                </a:solidFill>
                <a:effectLst/>
                <a:latin typeface="Roboto" panose="02000000000000000000" pitchFamily="2" charset="0"/>
              </a:rPr>
              <a:t>"</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r>
              <a:rPr lang="es-ES" dirty="0"/>
              <a:t>Otro ejemplo:</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34</a:t>
            </a:fld>
            <a:endParaRPr lang="es-ES" dirty="0"/>
          </a:p>
        </p:txBody>
      </p:sp>
      <p:sp>
        <p:nvSpPr>
          <p:cNvPr id="5" name="Rectangle 1">
            <a:extLst>
              <a:ext uri="{FF2B5EF4-FFF2-40B4-BE49-F238E27FC236}">
                <a16:creationId xmlns:a16="http://schemas.microsoft.com/office/drawing/2014/main" id="{4CC4E51A-FCCD-946F-BC02-507D6F6F8869}"/>
              </a:ext>
            </a:extLst>
          </p:cNvPr>
          <p:cNvSpPr>
            <a:spLocks noChangeArrowheads="1"/>
          </p:cNvSpPr>
          <p:nvPr/>
        </p:nvSpPr>
        <p:spPr bwMode="auto">
          <a:xfrm>
            <a:off x="1115616" y="2100291"/>
            <a:ext cx="5544616" cy="145291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B58900"/>
                </a:solidFill>
                <a:effectLst/>
                <a:latin typeface="Consolas" panose="020B0609020204030204" pitchFamily="49" charset="0"/>
              </a:rPr>
              <a:t>division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$valor1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if</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268BD2"/>
                </a:solidFill>
                <a:effectLst/>
                <a:latin typeface="Consolas" panose="020B0609020204030204" pitchFamily="49" charset="0"/>
              </a:rPr>
              <a:t>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return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'No puedo dividir por cero!!’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else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return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$valor1</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CB4B16"/>
                </a:solidFill>
                <a:effectLst/>
                <a:latin typeface="Consolas" panose="020B0609020204030204" pitchFamily="49" charset="0"/>
              </a:rPr>
              <a:t>$valor2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8945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Palabra "</a:t>
            </a:r>
            <a:r>
              <a:rPr lang="es-ES" b="0" i="0" dirty="0" err="1">
                <a:solidFill>
                  <a:srgbClr val="000000"/>
                </a:solidFill>
                <a:effectLst/>
                <a:latin typeface="Roboto" panose="02000000000000000000" pitchFamily="2" charset="0"/>
              </a:rPr>
              <a:t>return</a:t>
            </a:r>
            <a:r>
              <a:rPr lang="es-ES" b="0" i="0" dirty="0">
                <a:solidFill>
                  <a:srgbClr val="000000"/>
                </a:solidFill>
                <a:effectLst/>
                <a:latin typeface="Roboto" panose="02000000000000000000" pitchFamily="2" charset="0"/>
              </a:rPr>
              <a:t>"</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r>
              <a:rPr lang="es-ES" dirty="0"/>
              <a:t>Cual es el error</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35</a:t>
            </a:fld>
            <a:endParaRPr lang="es-ES" dirty="0"/>
          </a:p>
        </p:txBody>
      </p:sp>
      <p:sp>
        <p:nvSpPr>
          <p:cNvPr id="5" name="Rectangle 1">
            <a:extLst>
              <a:ext uri="{FF2B5EF4-FFF2-40B4-BE49-F238E27FC236}">
                <a16:creationId xmlns:a16="http://schemas.microsoft.com/office/drawing/2014/main" id="{963F8956-8538-C2A7-41D6-3AE8BF785001}"/>
              </a:ext>
            </a:extLst>
          </p:cNvPr>
          <p:cNvSpPr>
            <a:spLocks noChangeArrowheads="1"/>
          </p:cNvSpPr>
          <p:nvPr/>
        </p:nvSpPr>
        <p:spPr bwMode="auto">
          <a:xfrm>
            <a:off x="971600" y="2355726"/>
            <a:ext cx="6768752" cy="96046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err="1">
                <a:ln>
                  <a:noFill/>
                </a:ln>
                <a:solidFill>
                  <a:srgbClr val="859900"/>
                </a:solidFill>
                <a:effectLst/>
                <a:latin typeface="Consolas" panose="020B0609020204030204" pitchFamily="49" charset="0"/>
              </a:rPr>
              <a:t>function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B58900"/>
                </a:solidFill>
                <a:effectLst/>
                <a:latin typeface="Consolas" panose="020B0609020204030204" pitchFamily="49" charset="0"/>
              </a:rPr>
              <a:t>cuadrado</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CB4B16"/>
                </a:solidFill>
                <a:effectLst/>
                <a:latin typeface="Consolas" panose="020B0609020204030204" pitchFamily="49" charset="0"/>
              </a:rPr>
              <a:t>$valor</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err="1">
                <a:ln>
                  <a:noFill/>
                </a:ln>
                <a:solidFill>
                  <a:srgbClr val="859900"/>
                </a:solidFill>
                <a:effectLst/>
                <a:latin typeface="Consolas" panose="020B0609020204030204" pitchFamily="49" charset="0"/>
              </a:rPr>
              <a:t>return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$valor</a:t>
            </a:r>
            <a:r>
              <a:rPr kumimoji="0" lang="es-ES" altLang="es-ES" sz="1300" b="0" i="0" u="none" strike="noStrike" cap="none" normalizeH="0" baseline="0" dirty="0">
                <a:ln>
                  <a:noFill/>
                </a:ln>
                <a:solidFill>
                  <a:srgbClr val="657B83"/>
                </a:solidFill>
                <a:effectLst/>
                <a:latin typeface="Consolas" panose="020B0609020204030204" pitchFamily="49" charset="0"/>
              </a:rPr>
              <a:t> * </a:t>
            </a:r>
            <a:r>
              <a:rPr kumimoji="0" lang="es-ES" altLang="es-ES" sz="1300" b="0" i="0" u="none" strike="noStrike" cap="none" normalizeH="0" baseline="0" dirty="0">
                <a:ln>
                  <a:noFill/>
                </a:ln>
                <a:solidFill>
                  <a:srgbClr val="CB4B16"/>
                </a:solidFill>
                <a:effectLst/>
                <a:latin typeface="Consolas" panose="020B0609020204030204" pitchFamily="49" charset="0"/>
              </a:rPr>
              <a:t>$valor</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'Esto nunca se ejecutará!!’</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chemeClr val="tx1"/>
                </a:solidFill>
                <a:effectLst/>
              </a:rPr>
              <a:t> </a:t>
            </a:r>
            <a:endParaRPr kumimoji="0" lang="es-ES" altLang="es-ES" sz="1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32115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Ejemplo de función IVA</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893700" y="1373588"/>
            <a:ext cx="7422716" cy="3552300"/>
          </a:xfrm>
        </p:spPr>
        <p:txBody>
          <a:bodyPr/>
          <a:lstStyle/>
          <a:p>
            <a:r>
              <a:rPr lang="es-ES" dirty="0"/>
              <a:t>Se trata de hacer una función que calcula el IVA y que recibe dos parámetros. </a:t>
            </a:r>
          </a:p>
          <a:p>
            <a:endParaRPr lang="es-ES" dirty="0"/>
          </a:p>
          <a:p>
            <a:r>
              <a:rPr lang="es-ES" dirty="0"/>
              <a:t>Uno el valor sobre el que se calcula y el otro el porcentaje a aplicar. </a:t>
            </a:r>
          </a:p>
          <a:p>
            <a:endParaRPr lang="es-ES" dirty="0"/>
          </a:p>
          <a:p>
            <a:r>
              <a:rPr lang="es-ES" dirty="0"/>
              <a:t>Si no se indica el porcentaje de IVA se entiende que es el 21%.</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36</a:t>
            </a:fld>
            <a:endParaRPr lang="es-ES" dirty="0"/>
          </a:p>
        </p:txBody>
      </p:sp>
    </p:spTree>
    <p:extLst>
      <p:ext uri="{BB962C8B-B14F-4D97-AF65-F5344CB8AC3E}">
        <p14:creationId xmlns:p14="http://schemas.microsoft.com/office/powerpoint/2010/main" val="21285970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37</a:t>
            </a:fld>
            <a:endParaRPr lang="es-ES" dirty="0"/>
          </a:p>
        </p:txBody>
      </p:sp>
      <p:sp>
        <p:nvSpPr>
          <p:cNvPr id="5" name="Rectangle 1">
            <a:extLst>
              <a:ext uri="{FF2B5EF4-FFF2-40B4-BE49-F238E27FC236}">
                <a16:creationId xmlns:a16="http://schemas.microsoft.com/office/drawing/2014/main" id="{251EFCB4-1980-AA0D-090F-F5B0BBA546BD}"/>
              </a:ext>
            </a:extLst>
          </p:cNvPr>
          <p:cNvSpPr>
            <a:spLocks noChangeArrowheads="1"/>
          </p:cNvSpPr>
          <p:nvPr/>
        </p:nvSpPr>
        <p:spPr bwMode="auto">
          <a:xfrm>
            <a:off x="611560" y="555526"/>
            <a:ext cx="7200800" cy="336112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html</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a:ln>
                  <a:noFill/>
                </a:ln>
                <a:solidFill>
                  <a:srgbClr val="268BD2"/>
                </a:solidFill>
                <a:effectLst/>
                <a:latin typeface="Consolas" panose="020B0609020204030204" pitchFamily="49" charset="0"/>
              </a:rPr>
              <a:t>head</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title</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ejemplo IVA</a:t>
            </a: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title</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a:ln>
                  <a:noFill/>
                </a:ln>
                <a:solidFill>
                  <a:srgbClr val="268BD2"/>
                </a:solidFill>
                <a:effectLst/>
                <a:latin typeface="Consolas" panose="020B0609020204030204" pitchFamily="49" charset="0"/>
              </a:rPr>
              <a:t>head</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body</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3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1" i="0" u="none" strike="noStrike" cap="none" normalizeH="0" baseline="0" dirty="0">
                <a:ln>
                  <a:noFill/>
                </a:ln>
                <a:solidFill>
                  <a:srgbClr val="CB4B16"/>
                </a:solidFill>
                <a:effectLst/>
                <a:latin typeface="Consolas" panose="020B0609020204030204" pitchFamily="49" charset="0"/>
              </a:rPr>
              <a:t>&lt;?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err="1">
                <a:ln>
                  <a:noFill/>
                </a:ln>
                <a:solidFill>
                  <a:srgbClr val="859900"/>
                </a:solidFill>
                <a:effectLst/>
                <a:latin typeface="Consolas" panose="020B0609020204030204" pitchFamily="49" charset="0"/>
              </a:rPr>
              <a:t>function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iva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CB4B16"/>
                </a:solidFill>
                <a:effectLst/>
                <a:latin typeface="Consolas" panose="020B0609020204030204" pitchFamily="49" charset="0"/>
              </a:rPr>
              <a:t>$</a:t>
            </a:r>
            <a:r>
              <a:rPr kumimoji="0" lang="es-ES" altLang="es-ES" sz="1300" b="0" i="0" u="none" strike="noStrike" cap="none" normalizeH="0" baseline="0" dirty="0" err="1">
                <a:ln>
                  <a:noFill/>
                </a:ln>
                <a:solidFill>
                  <a:srgbClr val="CB4B16"/>
                </a:solidFill>
                <a:effectLst/>
                <a:latin typeface="Consolas" panose="020B0609020204030204" pitchFamily="49" charset="0"/>
              </a:rPr>
              <a:t>base</a:t>
            </a:r>
            <a:r>
              <a:rPr kumimoji="0" lang="es-ES" altLang="es-ES" sz="1300" b="0" i="0" u="none" strike="noStrike" cap="none" normalizeH="0" baseline="0" dirty="0" err="1">
                <a:ln>
                  <a:noFill/>
                </a:ln>
                <a:solidFill>
                  <a:srgbClr val="586E75"/>
                </a:solidFill>
                <a:effectLst/>
                <a:latin typeface="Consolas" panose="020B0609020204030204" pitchFamily="49" charset="0"/>
              </a:rPr>
              <a:t>,</a:t>
            </a:r>
            <a:r>
              <a:rPr kumimoji="0" lang="es-ES" altLang="es-ES" sz="1300" b="0" i="0" u="none" strike="noStrike" cap="none" normalizeH="0" baseline="0" dirty="0" err="1">
                <a:ln>
                  <a:noFill/>
                </a:ln>
                <a:solidFill>
                  <a:srgbClr val="CB4B16"/>
                </a:solidFill>
                <a:effectLst/>
                <a:latin typeface="Consolas" panose="020B0609020204030204" pitchFamily="49" charset="0"/>
              </a:rPr>
              <a:t>$porcentaje</a:t>
            </a:r>
            <a:r>
              <a:rPr kumimoji="0" lang="es-ES" altLang="es-ES" sz="1300" b="0" i="0" u="none" strike="noStrike" cap="none" normalizeH="0" baseline="0" dirty="0">
                <a:ln>
                  <a:noFill/>
                </a:ln>
                <a:solidFill>
                  <a:srgbClr val="657B83"/>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21</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err="1">
                <a:ln>
                  <a:noFill/>
                </a:ln>
                <a:solidFill>
                  <a:srgbClr val="859900"/>
                </a:solidFill>
                <a:effectLst/>
                <a:latin typeface="Consolas" panose="020B0609020204030204" pitchFamily="49" charset="0"/>
              </a:rPr>
              <a:t>return</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$base</a:t>
            </a:r>
            <a:r>
              <a:rPr kumimoji="0" lang="es-ES" altLang="es-ES" sz="1300" b="0" i="0" u="none" strike="noStrike" cap="none" normalizeH="0" baseline="0" dirty="0">
                <a:ln>
                  <a:noFill/>
                </a:ln>
                <a:solidFill>
                  <a:srgbClr val="657B83"/>
                </a:solidFill>
                <a:effectLst/>
                <a:latin typeface="Consolas" panose="020B0609020204030204" pitchFamily="49" charset="0"/>
              </a:rPr>
              <a:t> * </a:t>
            </a:r>
            <a:r>
              <a:rPr kumimoji="0" lang="es-ES" altLang="es-ES" sz="1300" b="0" i="0" u="none" strike="noStrike" cap="none" normalizeH="0" baseline="0" dirty="0">
                <a:ln>
                  <a:noFill/>
                </a:ln>
                <a:solidFill>
                  <a:srgbClr val="CB4B16"/>
                </a:solidFill>
                <a:effectLst/>
                <a:latin typeface="Consolas" panose="020B0609020204030204" pitchFamily="49" charset="0"/>
              </a:rPr>
              <a:t>$porcentaje</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68BD2"/>
                </a:solidFill>
                <a:effectLst/>
                <a:latin typeface="Consolas" panose="020B0609020204030204" pitchFamily="49" charset="0"/>
              </a:rPr>
              <a:t>100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iva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1000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"&lt;</a:t>
            </a:r>
            <a:r>
              <a:rPr kumimoji="0" lang="es-ES" altLang="es-ES" sz="1300" b="0" i="0" u="none" strike="noStrike" cap="none" normalizeH="0" baseline="0" dirty="0" err="1">
                <a:ln>
                  <a:noFill/>
                </a:ln>
                <a:solidFill>
                  <a:srgbClr val="2AA198"/>
                </a:solidFill>
                <a:effectLst/>
                <a:latin typeface="Consolas" panose="020B0609020204030204" pitchFamily="49" charset="0"/>
              </a:rPr>
              <a:t>br</a:t>
            </a:r>
            <a:r>
              <a:rPr kumimoji="0" lang="es-ES" altLang="es-ES" sz="1300" b="0" i="0" u="none" strike="noStrike" cap="none" normalizeH="0" baseline="0" dirty="0">
                <a:ln>
                  <a:noFill/>
                </a:ln>
                <a:solidFill>
                  <a:srgbClr val="2AA198"/>
                </a:solidFill>
                <a:effectLst/>
                <a:latin typeface="Consolas" panose="020B0609020204030204" pitchFamily="49" charset="0"/>
              </a:rPr>
              <a:t>&gt;"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iva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1000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7</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"&lt;</a:t>
            </a:r>
            <a:r>
              <a:rPr kumimoji="0" lang="es-ES" altLang="es-ES" sz="1300" b="0" i="0" u="none" strike="noStrike" cap="none" normalizeH="0" baseline="0" dirty="0" err="1">
                <a:ln>
                  <a:noFill/>
                </a:ln>
                <a:solidFill>
                  <a:srgbClr val="2AA198"/>
                </a:solidFill>
                <a:effectLst/>
                <a:latin typeface="Consolas" panose="020B0609020204030204" pitchFamily="49" charset="0"/>
              </a:rPr>
              <a:t>br</a:t>
            </a:r>
            <a:r>
              <a:rPr kumimoji="0" lang="es-ES" altLang="es-ES" sz="1300" b="0" i="0" u="none" strike="noStrike" cap="none" normalizeH="0" baseline="0" dirty="0">
                <a:ln>
                  <a:noFill/>
                </a:ln>
                <a:solidFill>
                  <a:srgbClr val="2AA198"/>
                </a:solidFill>
                <a:effectLst/>
                <a:latin typeface="Consolas" panose="020B0609020204030204" pitchFamily="49" charset="0"/>
              </a:rPr>
              <a:t>&gt;"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err="1">
                <a:ln>
                  <a:noFill/>
                </a:ln>
                <a:solidFill>
                  <a:srgbClr val="B58900"/>
                </a:solidFill>
                <a:effectLst/>
                <a:latin typeface="Consolas" panose="020B0609020204030204" pitchFamily="49" charset="0"/>
              </a:rPr>
              <a:t>iva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10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68BD2"/>
                </a:solidFill>
                <a:effectLst/>
                <a:latin typeface="Consolas" panose="020B0609020204030204" pitchFamily="49" charset="0"/>
              </a:rPr>
              <a:t>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"&lt;</a:t>
            </a:r>
            <a:r>
              <a:rPr kumimoji="0" lang="es-ES" altLang="es-ES" sz="1300" b="0" i="0" u="none" strike="noStrike" cap="none" normalizeH="0" baseline="0" dirty="0" err="1">
                <a:ln>
                  <a:noFill/>
                </a:ln>
                <a:solidFill>
                  <a:srgbClr val="2AA198"/>
                </a:solidFill>
                <a:effectLst/>
                <a:latin typeface="Consolas" panose="020B0609020204030204" pitchFamily="49" charset="0"/>
              </a:rPr>
              <a:t>br</a:t>
            </a:r>
            <a:r>
              <a:rPr kumimoji="0" lang="es-ES" altLang="es-ES" sz="1300" b="0" i="0" u="none" strike="noStrike" cap="none" normalizeH="0" baseline="0" dirty="0">
                <a:ln>
                  <a:noFill/>
                </a:ln>
                <a:solidFill>
                  <a:srgbClr val="2AA198"/>
                </a:solidFill>
                <a:effectLst/>
                <a:latin typeface="Consolas" panose="020B0609020204030204" pitchFamily="49" charset="0"/>
              </a:rPr>
              <a:t>&gt;"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1" i="0" u="none" strike="noStrike" cap="none" normalizeH="0" baseline="0" dirty="0">
                <a:ln>
                  <a:noFill/>
                </a:ln>
                <a:solidFill>
                  <a:srgbClr val="CB4B16"/>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body</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586E75"/>
                </a:solidFill>
                <a:effectLst/>
                <a:latin typeface="Consolas" panose="020B0609020204030204" pitchFamily="49" charset="0"/>
              </a:rPr>
              <a:t>&lt;/</a:t>
            </a:r>
            <a:r>
              <a:rPr kumimoji="0" lang="es-ES" altLang="es-ES" sz="1300" b="0" i="0" u="none" strike="noStrike" cap="none" normalizeH="0" baseline="0" dirty="0" err="1">
                <a:ln>
                  <a:noFill/>
                </a:ln>
                <a:solidFill>
                  <a:srgbClr val="268BD2"/>
                </a:solidFill>
                <a:effectLst/>
                <a:latin typeface="Consolas" panose="020B0609020204030204" pitchFamily="49" charset="0"/>
              </a:rPr>
              <a:t>html</a:t>
            </a:r>
            <a:r>
              <a:rPr kumimoji="0" lang="es-ES" altLang="es-ES" sz="1300" b="0" i="0" u="none" strike="noStrike" cap="none" normalizeH="0" baseline="0" dirty="0">
                <a:ln>
                  <a:noFill/>
                </a:ln>
                <a:solidFill>
                  <a:srgbClr val="586E75"/>
                </a:solidFill>
                <a:effectLst/>
                <a:latin typeface="Consolas" panose="020B0609020204030204" pitchFamily="49" charset="0"/>
              </a:rPr>
              <a:t>&gt;</a:t>
            </a:r>
            <a:r>
              <a:rPr kumimoji="0" lang="es-ES" altLang="es-ES" sz="1300" b="0" i="0" u="none" strike="noStrike" cap="none" normalizeH="0" baseline="0" dirty="0">
                <a:ln>
                  <a:noFill/>
                </a:ln>
                <a:solidFill>
                  <a:schemeClr val="tx1"/>
                </a:solidFill>
                <a:effectLst/>
              </a:rPr>
              <a:t> </a:t>
            </a:r>
            <a:endParaRPr kumimoji="0" lang="es-ES" altLang="es-ES" sz="1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339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Retornar múltiples valores en una función</a:t>
            </a:r>
            <a:endParaRPr lang="es-ES" dirty="0"/>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a:xfrm>
            <a:off x="179512" y="1215788"/>
            <a:ext cx="8784976" cy="3552300"/>
          </a:xfrm>
        </p:spPr>
        <p:txBody>
          <a:bodyPr/>
          <a:lstStyle/>
          <a:p>
            <a:r>
              <a:rPr lang="es-ES" sz="1600" dirty="0"/>
              <a:t>Lo dicho anteriormente sobre que "una función devuelve un único valor" puede resultar cortante para las personas que están comenzando en la programación, al ver que ello puede significar una gran limitación a la hora de escribir funciones. No obstante, con las herramientas con las que se cuenta en la programación </a:t>
            </a:r>
            <a:r>
              <a:rPr lang="es-ES" sz="1600" dirty="0" err="1"/>
              <a:t>ésto</a:t>
            </a:r>
            <a:r>
              <a:rPr lang="es-ES" sz="1600" dirty="0"/>
              <a:t> no es así.</a:t>
            </a:r>
          </a:p>
          <a:p>
            <a:endParaRPr lang="es-ES" sz="1600" dirty="0"/>
          </a:p>
          <a:p>
            <a:r>
              <a:rPr lang="es-ES" sz="1600" dirty="0"/>
              <a:t>Si queremos hacer que se puedan devolver varios valores distintos podríamos que recurrir a un truco que consiste en devolver un array.</a:t>
            </a:r>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38</a:t>
            </a:fld>
            <a:endParaRPr lang="es-ES" dirty="0"/>
          </a:p>
        </p:txBody>
      </p:sp>
      <p:sp>
        <p:nvSpPr>
          <p:cNvPr id="5" name="Rectangle 1">
            <a:extLst>
              <a:ext uri="{FF2B5EF4-FFF2-40B4-BE49-F238E27FC236}">
                <a16:creationId xmlns:a16="http://schemas.microsoft.com/office/drawing/2014/main" id="{DA719A77-29E5-5AD0-789D-21FE8376739A}"/>
              </a:ext>
            </a:extLst>
          </p:cNvPr>
          <p:cNvSpPr>
            <a:spLocks noChangeArrowheads="1"/>
          </p:cNvSpPr>
          <p:nvPr/>
        </p:nvSpPr>
        <p:spPr bwMode="auto">
          <a:xfrm>
            <a:off x="1763688" y="3363838"/>
            <a:ext cx="4104456" cy="8989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function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err="1">
                <a:ln>
                  <a:noFill/>
                </a:ln>
                <a:solidFill>
                  <a:srgbClr val="B58900"/>
                </a:solidFill>
                <a:effectLst/>
                <a:latin typeface="Consolas" panose="020B0609020204030204" pitchFamily="49" charset="0"/>
              </a:rPr>
              <a:t>numeros_pequenos</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return</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array</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68BD2"/>
                </a:solidFill>
                <a:effectLst/>
                <a:latin typeface="Consolas" panose="020B0609020204030204" pitchFamily="49" charset="0"/>
              </a:rPr>
              <a:t>0</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68BD2"/>
                </a:solidFill>
                <a:effectLst/>
                <a:latin typeface="Consolas" panose="020B0609020204030204" pitchFamily="49" charset="0"/>
              </a:rPr>
              <a:t>1</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68BD2"/>
                </a:solidFill>
                <a:effectLst/>
                <a:latin typeface="Consolas" panose="020B0609020204030204" pitchFamily="49" charset="0"/>
              </a:rPr>
              <a:t>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err="1">
                <a:ln>
                  <a:noFill/>
                </a:ln>
                <a:solidFill>
                  <a:srgbClr val="859900"/>
                </a:solidFill>
                <a:effectLst/>
                <a:latin typeface="Consolas" panose="020B0609020204030204" pitchFamily="49" charset="0"/>
              </a:rPr>
              <a:t>list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zero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one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two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err="1">
                <a:ln>
                  <a:noFill/>
                </a:ln>
                <a:solidFill>
                  <a:srgbClr val="B58900"/>
                </a:solidFill>
                <a:effectLst/>
                <a:latin typeface="Consolas" panose="020B0609020204030204" pitchFamily="49" charset="0"/>
              </a:rPr>
              <a:t>small_numbers</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13290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7FA55-7582-2C1C-C48D-B282B61A631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3270DFA4-F402-F1B4-05EB-690843FB1E2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F819A9C-D931-2EBD-8764-C1AC2A6C8298}"/>
              </a:ext>
            </a:extLst>
          </p:cNvPr>
          <p:cNvSpPr>
            <a:spLocks noGrp="1"/>
          </p:cNvSpPr>
          <p:nvPr>
            <p:ph type="sldNum" idx="10"/>
          </p:nvPr>
        </p:nvSpPr>
        <p:spPr/>
        <p:txBody>
          <a:bodyPr/>
          <a:lstStyle/>
          <a:p>
            <a:fld id="{00000000-1234-1234-1234-123412341234}" type="slidenum">
              <a:rPr lang="es-ES" smtClean="0"/>
              <a:pPr/>
              <a:t>39</a:t>
            </a:fld>
            <a:endParaRPr lang="es-ES" dirty="0"/>
          </a:p>
        </p:txBody>
      </p:sp>
    </p:spTree>
    <p:extLst>
      <p:ext uri="{BB962C8B-B14F-4D97-AF65-F5344CB8AC3E}">
        <p14:creationId xmlns:p14="http://schemas.microsoft.com/office/powerpoint/2010/main" val="7897013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endParaRPr lang="es-ES"/>
          </a:p>
        </p:txBody>
      </p:sp>
      <p:sp>
        <p:nvSpPr>
          <p:cNvPr id="2" name="CuadroTexto 1">
            <a:extLst>
              <a:ext uri="{FF2B5EF4-FFF2-40B4-BE49-F238E27FC236}">
                <a16:creationId xmlns:a16="http://schemas.microsoft.com/office/drawing/2014/main" id="{23E35EFC-194F-7BF1-DBEA-23C9A4D2EAF3}"/>
              </a:ext>
            </a:extLst>
          </p:cNvPr>
          <p:cNvSpPr txBox="1"/>
          <p:nvPr/>
        </p:nvSpPr>
        <p:spPr>
          <a:xfrm>
            <a:off x="2156201" y="2403332"/>
            <a:ext cx="4668864" cy="307777"/>
          </a:xfrm>
          <a:prstGeom prst="rect">
            <a:avLst/>
          </a:prstGeom>
          <a:noFill/>
        </p:spPr>
        <p:txBody>
          <a:bodyPr wrap="square">
            <a:spAutoFit/>
          </a:bodyPr>
          <a:lstStyle/>
          <a:p>
            <a:r>
              <a:rPr lang="es-ES" dirty="0"/>
              <a:t>https://www.sitiolibre.com/curso/gallery.xml</a:t>
            </a:r>
          </a:p>
        </p:txBody>
      </p:sp>
    </p:spTree>
    <p:extLst>
      <p:ext uri="{BB962C8B-B14F-4D97-AF65-F5344CB8AC3E}">
        <p14:creationId xmlns:p14="http://schemas.microsoft.com/office/powerpoint/2010/main" val="3509798785"/>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24226</TotalTime>
  <Words>3319</Words>
  <Application>Microsoft Office PowerPoint</Application>
  <PresentationFormat>Presentación en pantalla (16:9)</PresentationFormat>
  <Paragraphs>327</Paragraphs>
  <Slides>40</Slides>
  <Notes>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40</vt:i4>
      </vt:variant>
    </vt:vector>
  </HeadingPairs>
  <TitlesOfParts>
    <vt:vector size="48" baseType="lpstr">
      <vt:lpstr>Helvetica Neue</vt:lpstr>
      <vt:lpstr>Consolas</vt:lpstr>
      <vt:lpstr>Raleway</vt:lpstr>
      <vt:lpstr>Arial</vt:lpstr>
      <vt:lpstr>Lato</vt:lpstr>
      <vt:lpstr>Calibri</vt:lpstr>
      <vt:lpstr>Roboto</vt:lpstr>
      <vt:lpstr>Antonio template</vt:lpstr>
      <vt:lpstr>Condicionales IF en PHP</vt:lpstr>
      <vt:lpstr>Licencia</vt:lpstr>
      <vt:lpstr>Presentación de PowerPoint</vt:lpstr>
      <vt:lpstr>Presentación de PowerPoint</vt:lpstr>
      <vt:lpstr>Presentación de PowerPoint</vt:lpstr>
      <vt:lpstr>Presentación de PowerPoint</vt:lpstr>
      <vt:lpstr>Las condiciones if</vt:lpstr>
      <vt:lpstr>Bloque if</vt:lpstr>
      <vt:lpstr>Estructurar el código de una aplicación con nuestras propias librerías de funciones</vt:lpstr>
      <vt:lpstr>Bloque else</vt:lpstr>
      <vt:lpstr>Estructurar el código de una aplicación con nuestras propias librerías de funciones</vt:lpstr>
      <vt:lpstr>Bloque elseif</vt:lpstr>
      <vt:lpstr>Anidación de condicionales</vt:lpstr>
      <vt:lpstr>Presentación de PowerPoint</vt:lpstr>
      <vt:lpstr>Ejemplo práctico de condicionales en PHP</vt:lpstr>
      <vt:lpstr>Presentación de PowerPoint</vt:lpstr>
      <vt:lpstr>Presentación de PowerPoint</vt:lpstr>
      <vt:lpstr>Presentación de PowerPoint</vt:lpstr>
      <vt:lpstr>Presentación de PowerPoint</vt:lpstr>
      <vt:lpstr>Presentación de PowerPoint</vt:lpstr>
      <vt:lpstr>2.</vt:lpstr>
      <vt:lpstr>Presentación de PowerPoint</vt:lpstr>
      <vt:lpstr>Paso de parámetros</vt:lpstr>
      <vt:lpstr>Paso de parámetros</vt:lpstr>
      <vt:lpstr>Paso de parámetros</vt:lpstr>
      <vt:lpstr>Los parámetros se pasan por valor</vt:lpstr>
      <vt:lpstr>Paso de parámetros por referencia</vt:lpstr>
      <vt:lpstr>Parámetros por defecto</vt:lpstr>
      <vt:lpstr>Parámetros por defecto</vt:lpstr>
      <vt:lpstr>3.</vt:lpstr>
      <vt:lpstr>Presentación de PowerPoint</vt:lpstr>
      <vt:lpstr>Palabra "return"</vt:lpstr>
      <vt:lpstr>Palabra "return"</vt:lpstr>
      <vt:lpstr>Palabra "return"</vt:lpstr>
      <vt:lpstr>Palabra "return"</vt:lpstr>
      <vt:lpstr>Ejemplo de función IVA</vt:lpstr>
      <vt:lpstr>Presentación de PowerPoint</vt:lpstr>
      <vt:lpstr>Retornar múltiples valores en una función</vt:lpstr>
      <vt:lpstr>Presentación de PowerPoint</vt:lpstr>
      <vt:lpst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Antonio Pérez</dc:creator>
  <cp:lastModifiedBy>Antonio Francisco Pérez Fernandez</cp:lastModifiedBy>
  <cp:revision>60</cp:revision>
  <dcterms:modified xsi:type="dcterms:W3CDTF">2023-09-25T10:18:52Z</dcterms:modified>
</cp:coreProperties>
</file>