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9"/>
  </p:notesMasterIdLst>
  <p:sldIdLst>
    <p:sldId id="475" r:id="rId2"/>
    <p:sldId id="476" r:id="rId3"/>
    <p:sldId id="477" r:id="rId4"/>
    <p:sldId id="461" r:id="rId5"/>
    <p:sldId id="499" r:id="rId6"/>
    <p:sldId id="500" r:id="rId7"/>
    <p:sldId id="501" r:id="rId8"/>
    <p:sldId id="502" r:id="rId9"/>
    <p:sldId id="503" r:id="rId10"/>
    <p:sldId id="504" r:id="rId11"/>
    <p:sldId id="505" r:id="rId12"/>
    <p:sldId id="506" r:id="rId13"/>
    <p:sldId id="532" r:id="rId14"/>
    <p:sldId id="556" r:id="rId15"/>
    <p:sldId id="557" r:id="rId16"/>
    <p:sldId id="555" r:id="rId17"/>
    <p:sldId id="318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8665B7-6574-423E-A4B5-A6C020D860FF}">
  <a:tblStyle styleId="{C98665B7-6574-423E-A4B5-A6C020D860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8698C-63BC-4B6A-AE92-7E62379B44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748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6194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0" y="4786328"/>
            <a:ext cx="9144000" cy="35717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Antonio Pérez</a:t>
            </a: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idx="10"/>
          </p:nvPr>
        </p:nvSpPr>
        <p:spPr>
          <a:xfrm>
            <a:off x="8215338" y="4830000"/>
            <a:ext cx="548700" cy="313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10 Rectángulo"/>
          <p:cNvSpPr/>
          <p:nvPr userDrawn="1"/>
        </p:nvSpPr>
        <p:spPr>
          <a:xfrm>
            <a:off x="0" y="4786328"/>
            <a:ext cx="9144000" cy="35717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Antonio Pérez</a:t>
            </a:r>
          </a:p>
        </p:txBody>
      </p:sp>
      <p:sp>
        <p:nvSpPr>
          <p:cNvPr id="12" name="6 Marcador de número de diapositiva"/>
          <p:cNvSpPr>
            <a:spLocks noGrp="1"/>
          </p:cNvSpPr>
          <p:nvPr>
            <p:ph type="sldNum" idx="10"/>
          </p:nvPr>
        </p:nvSpPr>
        <p:spPr>
          <a:xfrm>
            <a:off x="8215338" y="4830000"/>
            <a:ext cx="548700" cy="313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3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Autofit/>
          </a:bodyPr>
          <a:lstStyle>
            <a:lvl1pPr marL="342900" marR="0" lvl="0" indent="-2667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57175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3812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3812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3812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3812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3812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3812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3812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Calibri"/>
              <a:buChar char="◦"/>
              <a:defRPr sz="11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Ref idx="1003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" name="4 Rectángulo"/>
          <p:cNvSpPr/>
          <p:nvPr userDrawn="1"/>
        </p:nvSpPr>
        <p:spPr>
          <a:xfrm>
            <a:off x="0" y="4786328"/>
            <a:ext cx="9144000" cy="35717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Antonio Pérez</a:t>
            </a:r>
          </a:p>
        </p:txBody>
      </p:sp>
      <p:sp>
        <p:nvSpPr>
          <p:cNvPr id="9" name="6 Marcador de número de diapositiva"/>
          <p:cNvSpPr txBox="1">
            <a:spLocks/>
          </p:cNvSpPr>
          <p:nvPr userDrawn="1"/>
        </p:nvSpPr>
        <p:spPr>
          <a:xfrm>
            <a:off x="8215338" y="4830000"/>
            <a:ext cx="548700" cy="313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ES" sz="1400" b="0" i="0" u="none" strike="noStrike" kern="0" cap="none" spc="0" normalizeH="0" baseline="0" noProof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‹Nº›</a:t>
            </a:fld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9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nd/4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ctrTitle"/>
          </p:nvPr>
        </p:nvSpPr>
        <p:spPr>
          <a:xfrm>
            <a:off x="285720" y="2762725"/>
            <a:ext cx="824672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v-SE" sz="4000" dirty="0"/>
              <a:t>Conexion VSCODE -PHP</a:t>
            </a:r>
            <a:endParaRPr lang="es-E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>
            <a:off x="499382" y="12445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pPr algn="ctr"/>
            <a:r>
              <a:rPr lang="en-US" b="1" dirty="0" err="1"/>
              <a:t>Licencia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70115" y="1541274"/>
            <a:ext cx="8145234" cy="305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Autofit/>
          </a:bodyPr>
          <a:lstStyle/>
          <a:p>
            <a:pPr marL="272653" algn="ctr">
              <a:lnSpc>
                <a:spcPct val="90000"/>
              </a:lnSpc>
              <a:buClr>
                <a:schemeClr val="accent1"/>
              </a:buClr>
              <a:buSzPts val="2400"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 la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esta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asignatura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queda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recogida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bajo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800" b="1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licencia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 Creative Commons</a:t>
            </a: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050"/>
              </a:spcBef>
              <a:buClr>
                <a:schemeClr val="accent1"/>
              </a:buClr>
              <a:buSzPts val="1400"/>
            </a:pPr>
            <a:endParaRPr sz="11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050"/>
              </a:spcBef>
              <a:buClr>
                <a:schemeClr val="accent1"/>
              </a:buClr>
              <a:buSzPts val="1400"/>
            </a:pPr>
            <a:endParaRPr sz="11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050"/>
              </a:spcBef>
              <a:buClr>
                <a:schemeClr val="accent1"/>
              </a:buClr>
              <a:buSzPts val="1400"/>
            </a:pPr>
            <a:endParaRPr sz="11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" indent="-1903">
              <a:lnSpc>
                <a:spcPct val="90000"/>
              </a:lnSpc>
              <a:spcBef>
                <a:spcPts val="1050"/>
              </a:spcBef>
              <a:buClr>
                <a:schemeClr val="accent1"/>
              </a:buClr>
              <a:buSzPts val="1400"/>
            </a:pPr>
            <a:endParaRPr sz="11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Licencia Creative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0927" y="2398382"/>
            <a:ext cx="2083610" cy="73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2508212" y="3162748"/>
            <a:ext cx="413549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SzPts val="1800"/>
            </a:pP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https://creativecommons.org/licenses/by-nc-nd/4.0/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800"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04094" y="3585394"/>
            <a:ext cx="8145233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just">
              <a:buSzPts val="1200"/>
            </a:pP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incumplimiento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infracción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Creative Commons, el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cualquier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otra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obra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habrá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recurrir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los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tribunales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trate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infracción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usuario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Creative Commons), el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podrá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demandar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tanto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infracción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propiedad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intelectual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incumplimiento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contractual (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vínculo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entre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usuario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licenciatario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El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moral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integridad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recogido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legislación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española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protegido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aunque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aparezca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Creative Commons.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sustituyen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los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derechos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ley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confiere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tanto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podría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demandar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un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usuario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con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cualquier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licencia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Creative Commons,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hubiera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mutilado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obra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causando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perjuicio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reputación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intereses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descontado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cuándo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habido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mutilación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cuándo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mutilación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perjudica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reputación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los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intereses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autor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quedaría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manos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900" i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Juez</a:t>
            </a:r>
            <a:r>
              <a:rPr lang="en-US" sz="900" i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Tribunal.</a:t>
            </a:r>
            <a:endParaRPr sz="9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7100C31C-9A77-D374-A099-85DC6520A305}"/>
              </a:ext>
            </a:extLst>
          </p:cNvPr>
          <p:cNvSpPr txBox="1"/>
          <p:nvPr/>
        </p:nvSpPr>
        <p:spPr>
          <a:xfrm>
            <a:off x="107504" y="843558"/>
            <a:ext cx="86409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Visual Studio </a:t>
            </a:r>
            <a:r>
              <a:rPr lang="es-ES" sz="2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Code</a:t>
            </a: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 utiliza el propio motor de PHP para interpretar la sintaxis del lenguaje de programación. Esto puede sonar trivial, pero es una buenísima noticia ya que esto permite que VS </a:t>
            </a:r>
            <a:r>
              <a:rPr lang="es-ES" sz="2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Code</a:t>
            </a: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 para PHP esté siempre a la última.</a:t>
            </a:r>
          </a:p>
          <a:p>
            <a:pPr algn="l"/>
            <a:endParaRPr lang="es-ES" sz="2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Lato"/>
              <a:cs typeface="Calibri" panose="020F0502020204030204" pitchFamily="34" charset="0"/>
              <a:sym typeface="Lato"/>
            </a:endParaRPr>
          </a:p>
          <a:p>
            <a:pPr algn="l"/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Para permitir que nuestro Visual Studio </a:t>
            </a:r>
            <a:r>
              <a:rPr lang="es-ES" sz="2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Code</a:t>
            </a: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 nos proporcione toda la potencia de PHP, lo primero que tenemos que hacer es modificar los Ajustes para decirle a VS </a:t>
            </a:r>
            <a:r>
              <a:rPr lang="es-ES" sz="2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Code</a:t>
            </a: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 dónde está instalado PHP.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90697A68-85C6-7BA0-B29A-E6218C4C0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512" y="267494"/>
            <a:ext cx="2851064" cy="3552300"/>
          </a:xfrm>
        </p:spPr>
        <p:txBody>
          <a:bodyPr/>
          <a:lstStyle/>
          <a:p>
            <a:r>
              <a:rPr lang="es-ES" sz="1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Para ello, una vez abierto Visual Studio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Code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, vamos a Archivo -&gt; Preferencias -&gt; Ajustes (File -&gt;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Preferences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 -&gt;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Settings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Lato"/>
                <a:cs typeface="Calibri" panose="020F0502020204030204" pitchFamily="34" charset="0"/>
                <a:sym typeface="Lato"/>
              </a:rPr>
              <a:t>), o utilizamos el atajo de teclado «Control+,». Esto nos abrirá el panel de Ajustes que debemos modificar a continuación.</a:t>
            </a:r>
            <a:endParaRPr lang="es-ES" sz="1800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E4883510-5C29-E68E-E2BC-59978294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3" y="110050"/>
            <a:ext cx="4264046" cy="47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0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F5DE14-AB8C-C9D2-B109-B988CB6F2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123478"/>
            <a:ext cx="8384076" cy="2638322"/>
          </a:xfrm>
        </p:spPr>
        <p:txBody>
          <a:bodyPr/>
          <a:lstStyle/>
          <a:p>
            <a:r>
              <a:rPr lang="es-ES" sz="1600" dirty="0"/>
              <a:t>Escribimos «</a:t>
            </a:r>
            <a:r>
              <a:rPr lang="es-ES" sz="1600" dirty="0" err="1"/>
              <a:t>php</a:t>
            </a:r>
            <a:r>
              <a:rPr lang="es-ES" sz="1600" dirty="0"/>
              <a:t>» en la barra superior para filtrar los ajustes y sólo mostrar los que necesitamos:</a:t>
            </a:r>
          </a:p>
        </p:txBody>
      </p:sp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704AD7E4-99B8-FD9B-F73D-14DFF82E5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082" y="801089"/>
            <a:ext cx="5780522" cy="39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5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2064979-CA06-2D1E-F5D4-4A6C72C7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743" y="1277344"/>
            <a:ext cx="4233241" cy="3552300"/>
          </a:xfrm>
        </p:spPr>
        <p:txBody>
          <a:bodyPr/>
          <a:lstStyle/>
          <a:p>
            <a:pPr marL="114300" indent="0">
              <a:buNone/>
            </a:pPr>
            <a:r>
              <a:rPr lang="es-ES" sz="1800" dirty="0"/>
              <a:t>En este panel de ajustes, debemos asegurarnos que las opciones de «</a:t>
            </a:r>
            <a:r>
              <a:rPr lang="es-ES" sz="1800" dirty="0" err="1"/>
              <a:t>Enable</a:t>
            </a:r>
            <a:r>
              <a:rPr lang="es-ES" sz="1800" dirty="0"/>
              <a:t>» y «Run» estén marcadas. Tras esto, vamos a modificar el fichero </a:t>
            </a:r>
            <a:r>
              <a:rPr lang="es-ES" sz="1800" dirty="0" err="1"/>
              <a:t>settings.json</a:t>
            </a:r>
            <a:r>
              <a:rPr lang="es-ES" sz="1800" dirty="0"/>
              <a:t> para incluir la ruta al ejecutable de PHP que tenemos instalado en nuestro ordenador.</a:t>
            </a:r>
          </a:p>
          <a:p>
            <a:pPr marL="114300" indent="0">
              <a:buNone/>
            </a:pPr>
            <a:endParaRPr lang="es-ES" sz="1800" dirty="0"/>
          </a:p>
          <a:p>
            <a:pPr marL="114300" indent="0">
              <a:buNone/>
            </a:pPr>
            <a:r>
              <a:rPr lang="es-ES" sz="1800" dirty="0"/>
              <a:t>Nota: Si no tienes PHP instalado, necesitarás instalarlo previamente.</a:t>
            </a: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95F061F1-83A5-C6EA-FFD6-8B9DE5A4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429" y="2715766"/>
            <a:ext cx="4860828" cy="177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8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2064979-CA06-2D1E-F5D4-4A6C72C7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8" y="1635646"/>
            <a:ext cx="8640960" cy="1625803"/>
          </a:xfrm>
        </p:spPr>
        <p:txBody>
          <a:bodyPr/>
          <a:lstStyle/>
          <a:p>
            <a:r>
              <a:rPr lang="es-ES" sz="1600" dirty="0"/>
              <a:t>La ruta dependerá del Sistema Operativo que estés usando (Windows, Linux o Mac).</a:t>
            </a:r>
          </a:p>
          <a:p>
            <a:endParaRPr lang="es-ES" sz="1600" dirty="0"/>
          </a:p>
          <a:p>
            <a:r>
              <a:rPr lang="es-ES" sz="1600" dirty="0"/>
              <a:t>Llegados a este punto, ya podemos utilizar nuestro Visual Studio </a:t>
            </a:r>
            <a:r>
              <a:rPr lang="es-ES" sz="1600" dirty="0" err="1"/>
              <a:t>Code</a:t>
            </a:r>
            <a:r>
              <a:rPr lang="es-ES" sz="1600" dirty="0"/>
              <a:t> como IDE para desarrollar en PHP.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F89AC1D-8442-D43F-C8D6-8B89C019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950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56A9302-4D8C-11C5-0E20-56F20F84A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712" y="1172916"/>
            <a:ext cx="8546326" cy="3552300"/>
          </a:xfrm>
        </p:spPr>
        <p:txBody>
          <a:bodyPr/>
          <a:lstStyle/>
          <a:p>
            <a:pPr marL="114300" indent="0">
              <a:buNone/>
            </a:pPr>
            <a:r>
              <a:rPr lang="es-ES" sz="1600" dirty="0"/>
              <a:t>Extensiones PHP en Visual Studio </a:t>
            </a:r>
            <a:r>
              <a:rPr lang="es-ES" sz="1600" dirty="0" err="1"/>
              <a:t>Code</a:t>
            </a:r>
            <a:endParaRPr lang="es-ES" sz="1600" dirty="0"/>
          </a:p>
          <a:p>
            <a:pPr marL="114300" indent="0">
              <a:buNone/>
            </a:pPr>
            <a:endParaRPr lang="es-ES" sz="1600" dirty="0"/>
          </a:p>
          <a:p>
            <a:pPr marL="114300" indent="0">
              <a:buNone/>
            </a:pPr>
            <a:r>
              <a:rPr lang="es-ES" sz="1600" dirty="0"/>
              <a:t>Antes de crearnos nuestro primer </a:t>
            </a:r>
            <a:r>
              <a:rPr lang="es-ES" sz="1600" dirty="0" err="1"/>
              <a:t>Hello</a:t>
            </a:r>
            <a:r>
              <a:rPr lang="es-ES" sz="1600" dirty="0"/>
              <a:t> </a:t>
            </a:r>
            <a:r>
              <a:rPr lang="es-ES" sz="1600" dirty="0" err="1"/>
              <a:t>World</a:t>
            </a:r>
            <a:r>
              <a:rPr lang="es-ES" sz="1600" dirty="0"/>
              <a:t> con PHP en Visual Studio, os recomendamos instalar las siguientes extensiones para el IDE que os harán la vida mucho más fácil 🙂</a:t>
            </a:r>
          </a:p>
          <a:p>
            <a:pPr marL="114300" indent="0">
              <a:buNone/>
            </a:pPr>
            <a:endParaRPr lang="es-ES" sz="1600" dirty="0"/>
          </a:p>
          <a:p>
            <a:pPr marL="114300" indent="0">
              <a:buNone/>
            </a:pPr>
            <a:r>
              <a:rPr lang="es-ES" sz="1600" dirty="0"/>
              <a:t>    PHP </a:t>
            </a:r>
            <a:r>
              <a:rPr lang="es-ES" sz="1600" dirty="0" err="1"/>
              <a:t>IntelliSense</a:t>
            </a:r>
            <a:r>
              <a:rPr lang="es-ES" sz="1600" dirty="0"/>
              <a:t>: proporciona autocompletado de código según vayamos escribiendo.</a:t>
            </a:r>
          </a:p>
          <a:p>
            <a:pPr marL="114300" indent="0">
              <a:buNone/>
            </a:pPr>
            <a:r>
              <a:rPr lang="es-ES" sz="1600" dirty="0"/>
              <a:t>    PHP </a:t>
            </a:r>
            <a:r>
              <a:rPr lang="es-ES" sz="1600" dirty="0" err="1"/>
              <a:t>Debug</a:t>
            </a:r>
            <a:r>
              <a:rPr lang="es-ES" sz="1600" dirty="0"/>
              <a:t>: nos permite añadir puntos de interrupción e inspeccionar nuestro código y variables en tiempo real mientras se ejecuta.</a:t>
            </a:r>
          </a:p>
          <a:p>
            <a:pPr marL="114300" indent="0">
              <a:buNone/>
            </a:pPr>
            <a:r>
              <a:rPr lang="es-ES" sz="1600" dirty="0"/>
              <a:t>    PHP </a:t>
            </a:r>
            <a:r>
              <a:rPr lang="es-ES" sz="1600" dirty="0" err="1"/>
              <a:t>Extension</a:t>
            </a:r>
            <a:r>
              <a:rPr lang="es-ES" sz="1600" dirty="0"/>
              <a:t> Pack: contiene las dos anteriores 🙂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EF46F6ED-774F-0F30-E2B1-398B9EA3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470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9</a:t>
            </a:fld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4E913A-2A57-8FC2-D79E-D6AA3F993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0"/>
            <a:ext cx="4053864" cy="4830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36FA3D3-EE4F-814B-A19E-C4E6F519F39D}"/>
              </a:ext>
            </a:extLst>
          </p:cNvPr>
          <p:cNvSpPr txBox="1"/>
          <p:nvPr/>
        </p:nvSpPr>
        <p:spPr>
          <a:xfrm>
            <a:off x="683568" y="1491630"/>
            <a:ext cx="33843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 ello debemos pinchar en el botón de extensiones del menú lateral izquierdo, y filtrar por «</a:t>
            </a:r>
            <a:r>
              <a:rPr lang="es-E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php</a:t>
            </a:r>
            <a:r>
              <a:rPr lang="es-E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». Pinchamos en el botón «</a:t>
            </a:r>
            <a:r>
              <a:rPr lang="es-E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Install</a:t>
            </a:r>
            <a:r>
              <a:rPr lang="es-E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» para cada una de ellas, y listo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013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EFF3A-D3A3-4812-B1C6-3F52A323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08" y="201135"/>
            <a:ext cx="8712968" cy="857400"/>
          </a:xfrm>
        </p:spPr>
        <p:txBody>
          <a:bodyPr/>
          <a:lstStyle/>
          <a:p>
            <a:endParaRPr lang="es-ES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2064979-CA06-2D1E-F5D4-4A6C72C7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00" y="1277700"/>
            <a:ext cx="8856984" cy="3552300"/>
          </a:xfrm>
        </p:spPr>
        <p:txBody>
          <a:bodyPr/>
          <a:lstStyle/>
          <a:p>
            <a:r>
              <a:rPr lang="es-ES" sz="1600" dirty="0" err="1"/>
              <a:t>Debug</a:t>
            </a:r>
            <a:r>
              <a:rPr lang="es-ES" sz="1600" dirty="0"/>
              <a:t> PHP en Visual Studio </a:t>
            </a:r>
            <a:r>
              <a:rPr lang="es-ES" sz="1600" dirty="0" err="1"/>
              <a:t>Code</a:t>
            </a:r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Depurar nuestro código PHP con Visual Studio </a:t>
            </a:r>
            <a:r>
              <a:rPr lang="es-ES" sz="1600" dirty="0" err="1"/>
              <a:t>Code</a:t>
            </a:r>
            <a:r>
              <a:rPr lang="es-ES" sz="1600" dirty="0"/>
              <a:t> es más fácil que nunca gracias a la extensión PHP </a:t>
            </a:r>
            <a:r>
              <a:rPr lang="es-ES" sz="1600" dirty="0" err="1"/>
              <a:t>Debug</a:t>
            </a:r>
            <a:r>
              <a:rPr lang="es-ES" sz="1600" dirty="0"/>
              <a:t> que hemos comentado en la sección anterior.</a:t>
            </a:r>
          </a:p>
          <a:p>
            <a:endParaRPr lang="es-ES" sz="1600" dirty="0"/>
          </a:p>
          <a:p>
            <a:r>
              <a:rPr lang="es-ES" sz="1600" dirty="0"/>
              <a:t>Es muy importante el hecho de poder hacer </a:t>
            </a:r>
            <a:r>
              <a:rPr lang="es-ES" sz="1600" dirty="0" err="1"/>
              <a:t>debug</a:t>
            </a:r>
            <a:r>
              <a:rPr lang="es-ES" sz="1600" dirty="0"/>
              <a:t> de nuestro código, ya que podremos parar la ejecución con puntos de interrupción (</a:t>
            </a:r>
            <a:r>
              <a:rPr lang="es-ES" sz="1600" dirty="0" err="1"/>
              <a:t>breakpoints</a:t>
            </a:r>
            <a:r>
              <a:rPr lang="es-ES" sz="1600" dirty="0"/>
              <a:t>) que nos permitirán ver el valor de variables y/o entender la forma en que ejecuta nuestro código.</a:t>
            </a:r>
          </a:p>
          <a:p>
            <a:endParaRPr lang="es-ES" sz="1600" dirty="0"/>
          </a:p>
          <a:p>
            <a:r>
              <a:rPr lang="es-ES" sz="1600" dirty="0"/>
              <a:t>Para comprender bien cómo funciona la depuración en VS </a:t>
            </a:r>
            <a:r>
              <a:rPr lang="es-ES" sz="1600" dirty="0" err="1"/>
              <a:t>Code</a:t>
            </a:r>
            <a:r>
              <a:rPr lang="es-ES" sz="1600" dirty="0"/>
              <a:t> os recomendamos echar un vistazo a esta guía publicada en la web de Visual Studio.</a:t>
            </a:r>
            <a:endParaRPr lang="es-ES" sz="1500" i="1" dirty="0"/>
          </a:p>
        </p:txBody>
      </p:sp>
    </p:spTree>
    <p:extLst>
      <p:ext uri="{BB962C8B-B14F-4D97-AF65-F5344CB8AC3E}">
        <p14:creationId xmlns:p14="http://schemas.microsoft.com/office/powerpoint/2010/main" val="1886750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2064979-CA06-2D1E-F5D4-4A6C72C7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512" y="1275606"/>
            <a:ext cx="3816424" cy="1224136"/>
          </a:xfrm>
        </p:spPr>
        <p:txBody>
          <a:bodyPr/>
          <a:lstStyle/>
          <a:p>
            <a:pPr algn="l"/>
            <a:r>
              <a:rPr lang="es-ES" sz="1600" dirty="0" err="1"/>
              <a:t>HelloWorld</a:t>
            </a:r>
            <a:r>
              <a:rPr lang="es-ES" sz="1600" dirty="0"/>
              <a:t> en PHP con Visual Studio </a:t>
            </a:r>
            <a:r>
              <a:rPr lang="es-ES" sz="1600" dirty="0" err="1"/>
              <a:t>Code</a:t>
            </a:r>
            <a:endParaRPr lang="es-ES" sz="1600" dirty="0"/>
          </a:p>
          <a:p>
            <a:pPr algn="l"/>
            <a:endParaRPr lang="es-ES" sz="1600" dirty="0"/>
          </a:p>
          <a:p>
            <a:pPr algn="l"/>
            <a:r>
              <a:rPr lang="es-ES" sz="1600" dirty="0"/>
              <a:t>Llegados a este punto, ya tenemos listo nuestro Visual Studio </a:t>
            </a:r>
            <a:r>
              <a:rPr lang="es-ES" sz="1600" dirty="0" err="1"/>
              <a:t>Code</a:t>
            </a:r>
            <a:r>
              <a:rPr lang="es-ES" sz="1600" dirty="0"/>
              <a:t> para </a:t>
            </a:r>
            <a:r>
              <a:rPr lang="es-ES" sz="1600" dirty="0" err="1"/>
              <a:t>comenar</a:t>
            </a:r>
            <a:r>
              <a:rPr lang="es-ES" sz="1600" dirty="0"/>
              <a:t> a desarrollar PHP 🙂</a:t>
            </a:r>
          </a:p>
          <a:p>
            <a:pPr algn="l"/>
            <a:endParaRPr lang="es-ES" sz="1600" dirty="0"/>
          </a:p>
          <a:p>
            <a:pPr algn="l"/>
            <a:r>
              <a:rPr lang="es-ES" sz="1600" dirty="0"/>
              <a:t>Lo primero que tenemos que hacer, como siempre que utilizamos VS </a:t>
            </a:r>
            <a:r>
              <a:rPr lang="es-ES" sz="1600" dirty="0" err="1"/>
              <a:t>Code</a:t>
            </a:r>
            <a:r>
              <a:rPr lang="es-ES" sz="1600" dirty="0"/>
              <a:t>, es abrir una Carpeta o Espacio de trabajo (</a:t>
            </a:r>
            <a:r>
              <a:rPr lang="es-ES" sz="1600" dirty="0" err="1"/>
              <a:t>Workspace</a:t>
            </a:r>
            <a:r>
              <a:rPr lang="es-ES" sz="1600" dirty="0"/>
              <a:t>) para comenzar a trabajar.</a:t>
            </a:r>
            <a:r>
              <a:rPr lang="es-ES" sz="1800" dirty="0"/>
              <a:t>.</a:t>
            </a:r>
          </a:p>
        </p:txBody>
      </p:sp>
      <p:pic>
        <p:nvPicPr>
          <p:cNvPr id="8" name="Imagen 7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6A0B4B35-0ECE-A4E8-8399-E0E9BF05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795" y="797552"/>
            <a:ext cx="4435693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8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EFF3A-D3A3-4812-B1C6-3F52A323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08" y="223314"/>
            <a:ext cx="8856984" cy="857400"/>
          </a:xfrm>
        </p:spPr>
        <p:txBody>
          <a:bodyPr/>
          <a:lstStyle/>
          <a:p>
            <a:endParaRPr lang="es-ES" sz="3200" dirty="0">
              <a:solidFill>
                <a:schemeClr val="bg2">
                  <a:lumMod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F8AB5A5-D9A3-083A-CFA1-9C4FE1355C47}"/>
              </a:ext>
            </a:extLst>
          </p:cNvPr>
          <p:cNvSpPr txBox="1"/>
          <p:nvPr/>
        </p:nvSpPr>
        <p:spPr>
          <a:xfrm>
            <a:off x="539552" y="1185642"/>
            <a:ext cx="194421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 verlo en el navegador, podemos hacer botón derecho sobre el fichero </a:t>
            </a:r>
            <a:r>
              <a:rPr lang="es-E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index.php</a:t>
            </a:r>
            <a:r>
              <a:rPr lang="es-E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y abrirlo con cualquier navegador (Chrome, Firefox, Safari, </a:t>
            </a:r>
            <a:r>
              <a:rPr lang="es-ES" sz="16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etc</a:t>
            </a:r>
            <a:r>
              <a:rPr lang="es-E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). De momento esto nos servirá, ya que aún no hemos añadido código PHP.</a:t>
            </a:r>
            <a:endParaRPr lang="es-ES" sz="16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1E19DC-C453-22D7-1530-6ECE7D3AA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0"/>
            <a:ext cx="5657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2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EFF3A-D3A3-4812-B1C6-3F52A323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08" y="223314"/>
            <a:ext cx="8856984" cy="857400"/>
          </a:xfrm>
        </p:spPr>
        <p:txBody>
          <a:bodyPr/>
          <a:lstStyle/>
          <a:p>
            <a:endParaRPr lang="es-ES" sz="3200" dirty="0">
              <a:solidFill>
                <a:schemeClr val="bg2">
                  <a:lumMod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64924-ED2E-4E97-8602-C90E34E261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13</a:t>
            </a:fld>
            <a:endParaRPr lang="es-ES" dirty="0"/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6E5A1AC-B0E6-61BE-6CB3-152A5E5B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088" y="2152457"/>
            <a:ext cx="72199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3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B4631-A63E-707E-324E-3D4E8356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9E91BB-38EE-AFE7-999F-4F3B4ADD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373588"/>
            <a:ext cx="7062676" cy="3552300"/>
          </a:xfrm>
        </p:spPr>
        <p:txBody>
          <a:bodyPr/>
          <a:lstStyle/>
          <a:p>
            <a:r>
              <a:rPr lang="es-ES" dirty="0"/>
              <a:t>Finalmente, vamos a probar a introducir código PHP en nuestra web, para comprobar que toda la configuración de Visual Studio </a:t>
            </a:r>
            <a:r>
              <a:rPr lang="es-ES" dirty="0" err="1"/>
              <a:t>Code</a:t>
            </a:r>
            <a:r>
              <a:rPr lang="es-ES" dirty="0"/>
              <a:t> es correcta. Por ejemplo, podemos probar a mostrar en nuestra página web información sobre la instalación de PHP (versión, </a:t>
            </a:r>
            <a:r>
              <a:rPr lang="es-ES" dirty="0" err="1"/>
              <a:t>etc</a:t>
            </a:r>
            <a:r>
              <a:rPr lang="es-ES" dirty="0"/>
              <a:t>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A74CCD-16A1-C6DF-DBC9-69E9CEF83E6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240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089DA-7165-B1B7-39ED-76CF5EC5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752D16-AE56-0003-7CE7-46AAA5D49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32" y="195486"/>
            <a:ext cx="2454164" cy="3552300"/>
          </a:xfrm>
        </p:spPr>
        <p:txBody>
          <a:bodyPr/>
          <a:lstStyle/>
          <a:p>
            <a:pPr marL="114300" indent="0">
              <a:buNone/>
            </a:pPr>
            <a:r>
              <a:rPr lang="es-ES" sz="1600" dirty="0"/>
              <a:t>Como veis, el código PHP se introduce entre las etiquetas &lt;?</a:t>
            </a:r>
            <a:r>
              <a:rPr lang="es-ES" sz="1600" dirty="0" err="1"/>
              <a:t>php</a:t>
            </a:r>
            <a:r>
              <a:rPr lang="es-ES" sz="1600" dirty="0"/>
              <a:t> y ?&gt;, ya que es la sintaxis típica de PHP. Mientras escribimos dentro de estas etiquetas, tenemos ayuda por parte de la extensión de </a:t>
            </a:r>
            <a:r>
              <a:rPr lang="es-ES" sz="1600" dirty="0" err="1"/>
              <a:t>IntelliSense</a:t>
            </a:r>
            <a:r>
              <a:rPr lang="es-ES" sz="1600" dirty="0"/>
              <a:t> que hemos activado previamente, de forma que no tenemos que aprendernos de memoria todas las funciones disponibles en PHP.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D659D4-6E7A-837A-96EE-25B47D89D9C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15</a:t>
            </a:fld>
            <a:endParaRPr lang="es-ES" dirty="0"/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BB520C9-2B23-F872-4467-8D10FBA9A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699542"/>
            <a:ext cx="4650904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60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7FA55-7582-2C1C-C48D-B282B61A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70DFA4-F402-F1B4-05EB-690843FB1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819A9C-D931-2EBD-8764-C1AC2A6C829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9701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1.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EF6ABD-C778-4438-A8AE-7173C4644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3E35EFC-194F-7BF1-DBEA-23C9A4D2EAF3}"/>
              </a:ext>
            </a:extLst>
          </p:cNvPr>
          <p:cNvSpPr txBox="1"/>
          <p:nvPr/>
        </p:nvSpPr>
        <p:spPr>
          <a:xfrm>
            <a:off x="2156201" y="2403332"/>
            <a:ext cx="466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https://www.sitiolibre.com/curso/gallery.xml</a:t>
            </a:r>
          </a:p>
        </p:txBody>
      </p:sp>
    </p:spTree>
    <p:extLst>
      <p:ext uri="{BB962C8B-B14F-4D97-AF65-F5344CB8AC3E}">
        <p14:creationId xmlns:p14="http://schemas.microsoft.com/office/powerpoint/2010/main" val="3509798785"/>
      </p:ext>
    </p:extLst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24862</TotalTime>
  <Words>911</Words>
  <Application>Microsoft Office PowerPoint</Application>
  <PresentationFormat>Presentación en pantalla (16:9)</PresentationFormat>
  <Paragraphs>56</Paragraphs>
  <Slides>17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Helvetica Neue</vt:lpstr>
      <vt:lpstr>Raleway</vt:lpstr>
      <vt:lpstr>Arial</vt:lpstr>
      <vt:lpstr>Lato</vt:lpstr>
      <vt:lpstr>Calibri</vt:lpstr>
      <vt:lpstr>Antonio template</vt:lpstr>
      <vt:lpstr>Conexion VSCODE -PHP</vt:lpstr>
      <vt:lpstr>Licencia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1.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Antonio Pérez</dc:creator>
  <cp:lastModifiedBy>Antonio Francisco Pérez Fernandez</cp:lastModifiedBy>
  <cp:revision>61</cp:revision>
  <dcterms:modified xsi:type="dcterms:W3CDTF">2023-09-25T20:55:19Z</dcterms:modified>
</cp:coreProperties>
</file>